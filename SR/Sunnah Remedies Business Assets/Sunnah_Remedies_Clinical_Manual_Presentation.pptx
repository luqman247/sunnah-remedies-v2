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Clinical Manual. This presentation covers the complete Sunnah Remedies Academy Clinical Manual for Certified Hijama Practitioners.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01: Evidence-Informed Practice. Integrating the Sunnah with Contemporary Science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Quranic/Hadith reference: [Quran.com]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1.1 The Evidence Hierarchy. 6 rows. Table 1.1 — The Sunnah Remedies Academy Evidence Hierarchy. All six levels are valid sources of knowledge, but they carry different weights in clinical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1.2 The Evidence &amp; Sunnah Matrix. 4 rows. Table 1.2 — The Evidence &amp; Sunnah Matrix. Empty cells indicate where no claim should be made.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Evidence Summary by Condition. 8 rows. Table 1.3 — Evidence Summary by Condition. The Academy's position is reviewed annually. Practitioners must not exceed these recommendations in patient communication.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02: Scope of Practice. The Boundary Doctrine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2.3 Prohibited Practice. 6 rows. Table 2.1 — Prohibited Practice. These prohibitions are absolute. Academy certification is revoked for violation.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2.4 The Red Line: When to Refer. 5 rows. Table 2.2 — The Red Line. When in doubt, refer. It is better to over-refer than to under-treat.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03: Clinical Protocols. The Sunnah Remedies SAFE Hijama Framework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3.3 Standard Health Detox Protocol. 5 rows. Table 3.1 — Standard Health Detox Protocol Parameters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3.5 Sunnah Points: Anatomical Landmarks. 5 rows. Table 3.2 — Sunnah Points: Anatomical Landmarks and Clinical Applications. All points require anatomical verification by palpation before cup placement.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04: Contraindications &amp; Risk Stratification. Protecting the Vulnerable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4.1 Absolute Contraindications. 8 rows. Table 4.1 — Absolute Contraindications. If ANY absolute contraindication is present, do not proceed. Document and refer.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4.2 Relative Contraindications. 9 rows. Table 4.2 — Relative Contraindications. Proceed with caution. Document all modifications and consultations.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05: Red Flags &amp; Referral Pathways. Recognising What Lies Beyond Our Scope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5.1 Red Flags Requiring Immediate Medical Referral. 7 rows. Table 5.1 — Red Flags by System. When any red flag is present, Hijama is contraindicated until medical clearance is obtained.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06: Infection Prevention &amp; Control. The Sterility Standard</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Sterilisation Parameters by Item Category. 5 rows. Table 6.1 — Sterilisation Parameters. All semi-critical items must be reprocessed according to manufacturer instructions and validated with biological indicators.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07: Informed Consent. The Sacred Conversation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7.1 Elements of Academy Informed Consent. 8 rows. Table 7.1 — The eight elements of Academy Informed Consent. Consent is a process, not a signature.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08: Clinical Documentation. Writing the Trust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8.1 Patient Record Structure. 4 rows. Table 8.1 — Patient Record Structure and Retention. All records must be stored securely with access controls.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09: Patient Safety &amp; Risk Management. The Safety Culture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9.1 Adverse Event Classification. 3 rows. Table 9.1 — Adverse Event Classification. All adverse events must be reported. The classification determines the reporting pathway.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10: Emergency Management. Preparedness as Ihsan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10.1 Emergency Response Sequence. 7 rows. Table 10.1 — Emergency Response Sequence. All practitioners must maintain current BLS/CPR certification.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Emergency Equipment Checklist. 7 rows. Table 10.2 — Emergency Equipment Checklist. All equipment must be checked, maintained, and accessible at all times.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Clinical Governance. Upholding the Standard</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11.1 Governance Structure. 4 rows. Table 11.1 — Governance Structure. Governance is not bureaucracy. It is the system that protects patients when individual practitioners falter.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12: Professional Standards &amp; Ethics. The Ethical Framework</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12.1 Core Ethical Obligations. 5 rows. Table 12.1 — Core Ethical Obligations. These principles are derived from Islamic bioethics and integrated with professional standards.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13: Research References &amp; Evidence Summary. The Living Knowledge Base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Classical Sources. 5 rows. Table 13.1 — Classical Sources. These texts form the scholarly foundation of Academy practice.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Contemporary Research Summary. 4 rows. Table 13.2 — Contemporary Research Summary. The evidence base evolves. Your knowledge must evolve with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Appendix C: Quick Reference — Emergency Response. 5 rows. Table C.1 — Emergency Quick Reference. Print and laminate for clinical wall display. Update emergency contact numbers annually.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Table: Document Control. 1 rows. Table D.2 — Version History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0" y="1371600"/>
            <a:ext cx="4876495" cy="381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80990" y="1645920"/>
            <a:ext cx="1828800" cy="1828800"/>
          </a:xfrm>
          <a:prstGeom prst="ellipse">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80990" y="2286000"/>
            <a:ext cx="1828800" cy="457200"/>
          </a:xfrm>
          <a:prstGeom prst="rect">
            <a:avLst/>
          </a:prstGeom>
          <a:noFill/>
        </p:spPr>
        <p:txBody>
          <a:bodyPr wrap="none">
            <a:spAutoFit/>
          </a:bodyPr>
          <a:lstStyle/>
          <a:p>
            <a:pPr algn="ctr">
              <a:defRPr sz="2800" b="1">
                <a:solidFill>
                  <a:srgbClr val="FAF7F2"/>
                </a:solidFill>
              </a:defRPr>
            </a:pPr>
            <a:r>
              <a:t>SRA</a:t>
            </a:r>
          </a:p>
        </p:txBody>
      </p:sp>
      <p:sp>
        <p:nvSpPr>
          <p:cNvPr id="6" name="TextBox 5"/>
          <p:cNvSpPr txBox="1"/>
          <p:nvPr/>
        </p:nvSpPr>
        <p:spPr>
          <a:xfrm>
            <a:off x="914400" y="3840480"/>
            <a:ext cx="10362895" cy="914400"/>
          </a:xfrm>
          <a:prstGeom prst="rect">
            <a:avLst/>
          </a:prstGeom>
          <a:noFill/>
        </p:spPr>
        <p:txBody>
          <a:bodyPr wrap="square"/>
          <a:lstStyle/>
          <a:p>
            <a:pPr algn="ctr">
              <a:lnSpc>
                <a:spcPct val="120000"/>
              </a:lnSpc>
              <a:spcBef>
                <a:spcPts val="0"/>
              </a:spcBef>
              <a:spcAft>
                <a:spcPts val="0"/>
              </a:spcAft>
              <a:defRPr sz="4800" b="1" i="0">
                <a:solidFill>
                  <a:srgbClr val="003F5C"/>
                </a:solidFill>
                <a:latin typeface="Georgia"/>
              </a:defRPr>
            </a:pPr>
            <a:r>
              <a:t>THE CLINICAL MANUAL</a:t>
            </a:r>
          </a:p>
        </p:txBody>
      </p:sp>
      <p:sp>
        <p:nvSpPr>
          <p:cNvPr id="7" name="TextBox 6"/>
          <p:cNvSpPr txBox="1"/>
          <p:nvPr/>
        </p:nvSpPr>
        <p:spPr>
          <a:xfrm>
            <a:off x="914400" y="4754880"/>
            <a:ext cx="10362895" cy="54864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Practitioner's Reference for Safe, Evidence-Informed, and Ethically Grounded Hijama Practice</a:t>
            </a:r>
          </a:p>
        </p:txBody>
      </p:sp>
      <p:sp>
        <p:nvSpPr>
          <p:cNvPr id="8" name="TextBox 7"/>
          <p:cNvSpPr txBox="1"/>
          <p:nvPr/>
        </p:nvSpPr>
        <p:spPr>
          <a:xfrm>
            <a:off x="914400" y="5669280"/>
            <a:ext cx="10362895" cy="274320"/>
          </a:xfrm>
          <a:prstGeom prst="rect">
            <a:avLst/>
          </a:prstGeom>
          <a:noFill/>
        </p:spPr>
        <p:txBody>
          <a:bodyPr wrap="square"/>
          <a:lstStyle/>
          <a:p>
            <a:pPr algn="ctr">
              <a:lnSpc>
                <a:spcPct val="120000"/>
              </a:lnSpc>
              <a:spcBef>
                <a:spcPts val="0"/>
              </a:spcBef>
              <a:spcAft>
                <a:spcPts val="0"/>
              </a:spcAft>
              <a:defRPr sz="1000" b="0" i="0">
                <a:solidFill>
                  <a:srgbClr val="1A1A1A"/>
                </a:solidFill>
                <a:latin typeface="Calibri"/>
              </a:defRPr>
            </a:pPr>
            <a:r>
              <a:t>SRA-DOC-2026-HJM-001-v1.0 | Classification: PRACTITIONER</a:t>
            </a:r>
          </a:p>
        </p:txBody>
      </p:sp>
      <p:sp>
        <p:nvSpPr>
          <p:cNvPr id="9" name="TextBox 8"/>
          <p:cNvSpPr txBox="1"/>
          <p:nvPr/>
        </p:nvSpPr>
        <p:spPr>
          <a:xfrm>
            <a:off x="914400" y="6217920"/>
            <a:ext cx="10362895" cy="274320"/>
          </a:xfrm>
          <a:prstGeom prst="rect">
            <a:avLst/>
          </a:prstGeom>
          <a:noFill/>
        </p:spPr>
        <p:txBody>
          <a:bodyPr wrap="square"/>
          <a:lstStyle/>
          <a:p>
            <a:pPr algn="ctr">
              <a:lnSpc>
                <a:spcPct val="120000"/>
              </a:lnSpc>
              <a:spcBef>
                <a:spcPts val="0"/>
              </a:spcBef>
              <a:spcAft>
                <a:spcPts val="0"/>
              </a:spcAft>
              <a:defRPr sz="1000" b="0" i="0">
                <a:solidFill>
                  <a:srgbClr val="1A1A1A"/>
                </a:solidFill>
                <a:latin typeface="Calibri"/>
              </a:defRPr>
            </a:pPr>
            <a:r>
              <a:t>SUNNAH REMEDIES ACADEMY | Institute of Prophetic Medicine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200" b="1" i="0">
                <a:solidFill>
                  <a:srgbClr val="003F5C"/>
                </a:solidFill>
                <a:latin typeface="Georgia"/>
              </a:defRPr>
            </a:pPr>
            <a:r>
              <a:t>Copyright &amp; Classification</a:t>
            </a:r>
          </a:p>
        </p:txBody>
      </p:sp>
      <p:sp>
        <p:nvSpPr>
          <p:cNvPr id="4" name="TextBox 3"/>
          <p:cNvSpPr txBox="1"/>
          <p:nvPr/>
        </p:nvSpPr>
        <p:spPr>
          <a:xfrm>
            <a:off x="457200" y="164592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 2026 Sunnah Remedies Academy. All rights reserved.</a:t>
            </a:r>
          </a:p>
        </p:txBody>
      </p:sp>
      <p:sp>
        <p:nvSpPr>
          <p:cNvPr id="5" name="TextBox 4"/>
          <p:cNvSpPr txBox="1"/>
          <p:nvPr/>
        </p:nvSpPr>
        <p:spPr>
          <a:xfrm>
            <a:off x="457200" y="2103120"/>
            <a:ext cx="10972800" cy="109728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No part of this publication may be reproduced, distributed, transmitted, stored, translated, or adapted in any form or by any means without prior written permission from Sunnah Remedies Academy, except where permitted by applicable copyright law.</a:t>
            </a:r>
          </a:p>
        </p:txBody>
      </p:sp>
      <p:sp>
        <p:nvSpPr>
          <p:cNvPr id="6" name="TextBox 5"/>
          <p:cNvSpPr txBox="1"/>
          <p:nvPr/>
        </p:nvSpPr>
        <p:spPr>
          <a:xfrm>
            <a:off x="457200" y="3291840"/>
            <a:ext cx="10972800" cy="7315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This document is classified PRACTITIONER. It contains clinical protocols and patient safety information intended for certified practitioners and enrolled students. Unauthorized distribution is strictly prohibited.</a:t>
            </a:r>
          </a:p>
        </p:txBody>
      </p:sp>
      <p:sp>
        <p:nvSpPr>
          <p:cNvPr id="7" name="TextBox 6"/>
          <p:cNvSpPr txBox="1"/>
          <p:nvPr/>
        </p:nvSpPr>
        <p:spPr>
          <a:xfrm>
            <a:off x="457200" y="4206240"/>
            <a:ext cx="10972800" cy="5486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Sunnah Remedies Academy™, SRA™, the Academy Seal, and all associated logos and trade dress are registered trademarks.</a:t>
            </a:r>
          </a:p>
        </p:txBody>
      </p:sp>
      <p:sp>
        <p:nvSpPr>
          <p:cNvPr id="8" name="TextBox 7"/>
          <p:cNvSpPr txBox="1"/>
          <p:nvPr/>
        </p:nvSpPr>
        <p:spPr>
          <a:xfrm>
            <a:off x="457200" y="5943600"/>
            <a:ext cx="10972800" cy="274320"/>
          </a:xfrm>
          <a:prstGeom prst="rect">
            <a:avLst/>
          </a:prstGeom>
          <a:noFill/>
        </p:spPr>
        <p:txBody>
          <a:bodyPr wrap="square"/>
          <a:lstStyle/>
          <a:p>
            <a:pPr algn="ctr">
              <a:lnSpc>
                <a:spcPct val="120000"/>
              </a:lnSpc>
              <a:spcBef>
                <a:spcPts val="0"/>
              </a:spcBef>
              <a:spcAft>
                <a:spcPts val="0"/>
              </a:spcAft>
              <a:defRPr sz="1000" b="0" i="0">
                <a:solidFill>
                  <a:srgbClr val="1A1A1A"/>
                </a:solidFill>
                <a:latin typeface="Calibri"/>
              </a:defRPr>
            </a:pPr>
            <a:r>
              <a:t>Printed on FSC-certified 100 gsm uncoated cream white paper.</a:t>
            </a:r>
            <a:br/>
            <a:r>
              <a:t>Sunnah Remedies Academy. Healing by the Book and the Sunnah.</a:t>
            </a:r>
          </a:p>
        </p:txBody>
      </p:sp>
      <p:sp>
        <p:nvSpPr>
          <p:cNvPr id="9" name="TextBox 8"/>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2011680"/>
            <a:ext cx="85340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4846320"/>
            <a:ext cx="85340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62895" cy="457200"/>
          </a:xfrm>
          <a:prstGeom prst="rect">
            <a:avLst/>
          </a:prstGeom>
          <a:noFill/>
        </p:spPr>
        <p:txBody>
          <a:bodyPr wrap="square"/>
          <a:lstStyle/>
          <a:p>
            <a:pPr algn="ctr">
              <a:lnSpc>
                <a:spcPct val="120000"/>
              </a:lnSpc>
              <a:spcBef>
                <a:spcPts val="0"/>
              </a:spcBef>
              <a:spcAft>
                <a:spcPts val="0"/>
              </a:spcAft>
              <a:defRPr sz="2200" b="0" i="1">
                <a:solidFill>
                  <a:srgbClr val="003F5C"/>
                </a:solidFill>
                <a:latin typeface="Georgia"/>
              </a:defRPr>
            </a:pPr>
            <a:r>
              <a:t>"And say: My Lord, increase me in knowledge."</a:t>
            </a:r>
          </a:p>
        </p:txBody>
      </p:sp>
      <p:sp>
        <p:nvSpPr>
          <p:cNvPr id="6" name="TextBox 5"/>
          <p:cNvSpPr txBox="1"/>
          <p:nvPr/>
        </p:nvSpPr>
        <p:spPr>
          <a:xfrm>
            <a:off x="914400" y="2834640"/>
            <a:ext cx="10362895" cy="365760"/>
          </a:xfrm>
          <a:prstGeom prst="rect">
            <a:avLst/>
          </a:prstGeom>
          <a:noFill/>
        </p:spPr>
        <p:txBody>
          <a:bodyPr wrap="square"/>
          <a:lstStyle/>
          <a:p>
            <a:pPr algn="ctr">
              <a:lnSpc>
                <a:spcPct val="120000"/>
              </a:lnSpc>
              <a:spcBef>
                <a:spcPts val="0"/>
              </a:spcBef>
              <a:spcAft>
                <a:spcPts val="0"/>
              </a:spcAft>
              <a:defRPr sz="1800" b="0" i="0">
                <a:solidFill>
                  <a:srgbClr val="003F5C"/>
                </a:solidFill>
                <a:latin typeface="Arial"/>
              </a:defRPr>
            </a:pPr>
            <a:r>
              <a:t>وَقُل رَّبِّ زِدْنِي عِلْمًا</a:t>
            </a:r>
          </a:p>
        </p:txBody>
      </p:sp>
      <p:sp>
        <p:nvSpPr>
          <p:cNvPr id="7" name="TextBox 6"/>
          <p:cNvSpPr txBox="1"/>
          <p:nvPr/>
        </p:nvSpPr>
        <p:spPr>
          <a:xfrm>
            <a:off x="914400" y="3291840"/>
            <a:ext cx="10362895" cy="274320"/>
          </a:xfrm>
          <a:prstGeom prst="rect">
            <a:avLst/>
          </a:prstGeom>
          <a:noFill/>
        </p:spPr>
        <p:txBody>
          <a:bodyPr wrap="square"/>
          <a:lstStyle/>
          <a:p>
            <a:pPr algn="ctr">
              <a:lnSpc>
                <a:spcPct val="120000"/>
              </a:lnSpc>
              <a:spcBef>
                <a:spcPts val="0"/>
              </a:spcBef>
              <a:spcAft>
                <a:spcPts val="0"/>
              </a:spcAft>
              <a:defRPr sz="1200" b="0" i="0">
                <a:solidFill>
                  <a:srgbClr val="1A1A1A"/>
                </a:solidFill>
                <a:latin typeface="Calibri"/>
              </a:defRPr>
            </a:pPr>
            <a:r>
              <a:t>— Surah Ta-Ha, 20:114</a:t>
            </a:r>
          </a:p>
        </p:txBody>
      </p:sp>
      <p:sp>
        <p:nvSpPr>
          <p:cNvPr id="8" name="TextBox 7"/>
          <p:cNvSpPr txBox="1"/>
          <p:nvPr/>
        </p:nvSpPr>
        <p:spPr>
          <a:xfrm>
            <a:off x="914400" y="3840480"/>
            <a:ext cx="10362895" cy="1097280"/>
          </a:xfrm>
          <a:prstGeom prst="rect">
            <a:avLst/>
          </a:prstGeom>
          <a:noFill/>
        </p:spPr>
        <p:txBody>
          <a:bodyPr wrap="square"/>
          <a:lstStyle/>
          <a:p>
            <a:pPr algn="ctr">
              <a:lnSpc>
                <a:spcPct val="120000"/>
              </a:lnSpc>
              <a:spcBef>
                <a:spcPts val="0"/>
              </a:spcBef>
              <a:spcAft>
                <a:spcPts val="0"/>
              </a:spcAft>
              <a:defRPr sz="1200" b="0" i="0">
                <a:solidFill>
                  <a:srgbClr val="1A1A1A"/>
                </a:solidFill>
                <a:latin typeface="Calibri"/>
              </a:defRPr>
            </a:pPr>
            <a:r>
              <a:t>This Clinical Manual is the supreme reference for every graduate of the Sunnah Remedies Academy Certified Hijama Practitioner Programme. It exists to protect patients, support practitioners, and uphold the sacred trust (amanah) that exists between healer and those who seek healing.</a:t>
            </a:r>
          </a:p>
        </p:txBody>
      </p:sp>
      <p:sp>
        <p:nvSpPr>
          <p:cNvPr id="9" name="TextBox 8"/>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3200" b="1" i="0">
                <a:solidFill>
                  <a:srgbClr val="003F5C"/>
                </a:solidFill>
                <a:latin typeface="Georgia"/>
              </a:defRPr>
            </a:pPr>
            <a:r>
              <a:t>Contents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74320"/>
          </a:xfrm>
          <a:prstGeom prst="rect">
            <a:avLst/>
          </a:prstGeom>
          <a:noFill/>
        </p:spPr>
        <p:txBody>
          <a:bodyPr wrap="square"/>
          <a:lstStyle/>
          <a:p>
            <a:pPr algn="l">
              <a:lnSpc>
                <a:spcPct val="120000"/>
              </a:lnSpc>
              <a:spcBef>
                <a:spcPts val="0"/>
              </a:spcBef>
              <a:spcAft>
                <a:spcPts val="0"/>
              </a:spcAft>
              <a:defRPr sz="1200" b="1" i="0">
                <a:solidFill>
                  <a:srgbClr val="1A1A1A"/>
                </a:solidFill>
                <a:latin typeface="Calibri"/>
              </a:defRPr>
            </a:pPr>
            <a:r>
              <a:t>PART I: CLINICAL FOUNDATIONS</a:t>
            </a:r>
          </a:p>
        </p:txBody>
      </p:sp>
      <p:sp>
        <p:nvSpPr>
          <p:cNvPr id="6" name="TextBox 5"/>
          <p:cNvSpPr txBox="1"/>
          <p:nvPr/>
        </p:nvSpPr>
        <p:spPr>
          <a:xfrm>
            <a:off x="457200" y="160020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1: Evidence-Informed Practice</a:t>
            </a:r>
          </a:p>
        </p:txBody>
      </p:sp>
      <p:sp>
        <p:nvSpPr>
          <p:cNvPr id="7" name="TextBox 6"/>
          <p:cNvSpPr txBox="1"/>
          <p:nvPr/>
        </p:nvSpPr>
        <p:spPr>
          <a:xfrm>
            <a:off x="9144000" y="160020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1</a:t>
            </a:r>
          </a:p>
        </p:txBody>
      </p:sp>
      <p:sp>
        <p:nvSpPr>
          <p:cNvPr id="8" name="TextBox 7"/>
          <p:cNvSpPr txBox="1"/>
          <p:nvPr/>
        </p:nvSpPr>
        <p:spPr>
          <a:xfrm>
            <a:off x="457200" y="1874519"/>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2: Scope of Practice</a:t>
            </a:r>
          </a:p>
        </p:txBody>
      </p:sp>
      <p:sp>
        <p:nvSpPr>
          <p:cNvPr id="9" name="TextBox 8"/>
          <p:cNvSpPr txBox="1"/>
          <p:nvPr/>
        </p:nvSpPr>
        <p:spPr>
          <a:xfrm>
            <a:off x="9144000" y="1874519"/>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12</a:t>
            </a:r>
          </a:p>
        </p:txBody>
      </p:sp>
      <p:sp>
        <p:nvSpPr>
          <p:cNvPr id="10" name="TextBox 9"/>
          <p:cNvSpPr txBox="1"/>
          <p:nvPr/>
        </p:nvSpPr>
        <p:spPr>
          <a:xfrm>
            <a:off x="457200" y="214884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3: Clinical Protocols</a:t>
            </a:r>
          </a:p>
        </p:txBody>
      </p:sp>
      <p:sp>
        <p:nvSpPr>
          <p:cNvPr id="11" name="TextBox 10"/>
          <p:cNvSpPr txBox="1"/>
          <p:nvPr/>
        </p:nvSpPr>
        <p:spPr>
          <a:xfrm>
            <a:off x="9144000" y="214884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24</a:t>
            </a:r>
          </a:p>
        </p:txBody>
      </p:sp>
      <p:sp>
        <p:nvSpPr>
          <p:cNvPr id="12" name="TextBox 11"/>
          <p:cNvSpPr txBox="1"/>
          <p:nvPr/>
        </p:nvSpPr>
        <p:spPr>
          <a:xfrm>
            <a:off x="457200" y="242316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4: Contraindications &amp; Risk Stratification</a:t>
            </a:r>
          </a:p>
        </p:txBody>
      </p:sp>
      <p:sp>
        <p:nvSpPr>
          <p:cNvPr id="13" name="TextBox 12"/>
          <p:cNvSpPr txBox="1"/>
          <p:nvPr/>
        </p:nvSpPr>
        <p:spPr>
          <a:xfrm>
            <a:off x="9144000" y="242316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42</a:t>
            </a:r>
          </a:p>
        </p:txBody>
      </p:sp>
      <p:sp>
        <p:nvSpPr>
          <p:cNvPr id="14" name="TextBox 13"/>
          <p:cNvSpPr txBox="1"/>
          <p:nvPr/>
        </p:nvSpPr>
        <p:spPr>
          <a:xfrm>
            <a:off x="457200" y="269748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5: Red Flags &amp; Referral Pathways</a:t>
            </a:r>
          </a:p>
        </p:txBody>
      </p:sp>
      <p:sp>
        <p:nvSpPr>
          <p:cNvPr id="15" name="TextBox 14"/>
          <p:cNvSpPr txBox="1"/>
          <p:nvPr/>
        </p:nvSpPr>
        <p:spPr>
          <a:xfrm>
            <a:off x="9144000" y="269748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54</a:t>
            </a:r>
          </a:p>
        </p:txBody>
      </p:sp>
      <p:sp>
        <p:nvSpPr>
          <p:cNvPr id="16" name="TextBox 15"/>
          <p:cNvSpPr txBox="1"/>
          <p:nvPr/>
        </p:nvSpPr>
        <p:spPr>
          <a:xfrm>
            <a:off x="457200" y="3108960"/>
            <a:ext cx="10972800" cy="274320"/>
          </a:xfrm>
          <a:prstGeom prst="rect">
            <a:avLst/>
          </a:prstGeom>
          <a:noFill/>
        </p:spPr>
        <p:txBody>
          <a:bodyPr wrap="square"/>
          <a:lstStyle/>
          <a:p>
            <a:pPr algn="l">
              <a:lnSpc>
                <a:spcPct val="120000"/>
              </a:lnSpc>
              <a:spcBef>
                <a:spcPts val="0"/>
              </a:spcBef>
              <a:spcAft>
                <a:spcPts val="0"/>
              </a:spcAft>
              <a:defRPr sz="1200" b="1" i="0">
                <a:solidFill>
                  <a:srgbClr val="1A1A1A"/>
                </a:solidFill>
                <a:latin typeface="Calibri"/>
              </a:defRPr>
            </a:pPr>
            <a:r>
              <a:t>PART II: SAFETY &amp; GOVERNANCE</a:t>
            </a:r>
          </a:p>
        </p:txBody>
      </p:sp>
      <p:sp>
        <p:nvSpPr>
          <p:cNvPr id="17" name="TextBox 16"/>
          <p:cNvSpPr txBox="1"/>
          <p:nvPr/>
        </p:nvSpPr>
        <p:spPr>
          <a:xfrm>
            <a:off x="457200" y="342900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6: Infection Prevention &amp; Control</a:t>
            </a:r>
          </a:p>
        </p:txBody>
      </p:sp>
      <p:sp>
        <p:nvSpPr>
          <p:cNvPr id="18" name="TextBox 17"/>
          <p:cNvSpPr txBox="1"/>
          <p:nvPr/>
        </p:nvSpPr>
        <p:spPr>
          <a:xfrm>
            <a:off x="9144000" y="342900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64</a:t>
            </a:r>
          </a:p>
        </p:txBody>
      </p:sp>
      <p:sp>
        <p:nvSpPr>
          <p:cNvPr id="19" name="TextBox 18"/>
          <p:cNvSpPr txBox="1"/>
          <p:nvPr/>
        </p:nvSpPr>
        <p:spPr>
          <a:xfrm>
            <a:off x="457200" y="370332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7: Informed Consent</a:t>
            </a:r>
          </a:p>
        </p:txBody>
      </p:sp>
      <p:sp>
        <p:nvSpPr>
          <p:cNvPr id="20" name="TextBox 19"/>
          <p:cNvSpPr txBox="1"/>
          <p:nvPr/>
        </p:nvSpPr>
        <p:spPr>
          <a:xfrm>
            <a:off x="9144000" y="370332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78</a:t>
            </a:r>
          </a:p>
        </p:txBody>
      </p:sp>
      <p:sp>
        <p:nvSpPr>
          <p:cNvPr id="21" name="TextBox 20"/>
          <p:cNvSpPr txBox="1"/>
          <p:nvPr/>
        </p:nvSpPr>
        <p:spPr>
          <a:xfrm>
            <a:off x="457200" y="3977639"/>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8: Clinical Documentation</a:t>
            </a:r>
          </a:p>
        </p:txBody>
      </p:sp>
      <p:sp>
        <p:nvSpPr>
          <p:cNvPr id="22" name="TextBox 21"/>
          <p:cNvSpPr txBox="1"/>
          <p:nvPr/>
        </p:nvSpPr>
        <p:spPr>
          <a:xfrm>
            <a:off x="9144000" y="3977639"/>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88</a:t>
            </a:r>
          </a:p>
        </p:txBody>
      </p:sp>
      <p:sp>
        <p:nvSpPr>
          <p:cNvPr id="23" name="TextBox 22"/>
          <p:cNvSpPr txBox="1"/>
          <p:nvPr/>
        </p:nvSpPr>
        <p:spPr>
          <a:xfrm>
            <a:off x="457200" y="425196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9: Patient Safety &amp; Risk Management</a:t>
            </a:r>
          </a:p>
        </p:txBody>
      </p:sp>
      <p:sp>
        <p:nvSpPr>
          <p:cNvPr id="24" name="TextBox 23"/>
          <p:cNvSpPr txBox="1"/>
          <p:nvPr/>
        </p:nvSpPr>
        <p:spPr>
          <a:xfrm>
            <a:off x="9144000" y="425196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98</a:t>
            </a:r>
          </a:p>
        </p:txBody>
      </p:sp>
      <p:sp>
        <p:nvSpPr>
          <p:cNvPr id="25" name="TextBox 24"/>
          <p:cNvSpPr txBox="1"/>
          <p:nvPr/>
        </p:nvSpPr>
        <p:spPr>
          <a:xfrm>
            <a:off x="457200" y="452628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10: Emergency Management</a:t>
            </a:r>
          </a:p>
        </p:txBody>
      </p:sp>
      <p:sp>
        <p:nvSpPr>
          <p:cNvPr id="26" name="TextBox 25"/>
          <p:cNvSpPr txBox="1"/>
          <p:nvPr/>
        </p:nvSpPr>
        <p:spPr>
          <a:xfrm>
            <a:off x="9144000" y="452628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108</a:t>
            </a:r>
          </a:p>
        </p:txBody>
      </p:sp>
      <p:sp>
        <p:nvSpPr>
          <p:cNvPr id="27" name="TextBox 26"/>
          <p:cNvSpPr txBox="1"/>
          <p:nvPr/>
        </p:nvSpPr>
        <p:spPr>
          <a:xfrm>
            <a:off x="457200" y="480060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11: Clinical Governance</a:t>
            </a:r>
          </a:p>
        </p:txBody>
      </p:sp>
      <p:sp>
        <p:nvSpPr>
          <p:cNvPr id="28" name="TextBox 27"/>
          <p:cNvSpPr txBox="1"/>
          <p:nvPr/>
        </p:nvSpPr>
        <p:spPr>
          <a:xfrm>
            <a:off x="9144000" y="480060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118</a:t>
            </a:r>
          </a:p>
        </p:txBody>
      </p:sp>
      <p:sp>
        <p:nvSpPr>
          <p:cNvPr id="29" name="TextBox 28"/>
          <p:cNvSpPr txBox="1"/>
          <p:nvPr/>
        </p:nvSpPr>
        <p:spPr>
          <a:xfrm>
            <a:off x="457200" y="507492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12: Professional Standards &amp; Ethics</a:t>
            </a:r>
          </a:p>
        </p:txBody>
      </p:sp>
      <p:sp>
        <p:nvSpPr>
          <p:cNvPr id="30" name="TextBox 29"/>
          <p:cNvSpPr txBox="1"/>
          <p:nvPr/>
        </p:nvSpPr>
        <p:spPr>
          <a:xfrm>
            <a:off x="9144000" y="507492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126</a:t>
            </a:r>
          </a:p>
        </p:txBody>
      </p:sp>
      <p:sp>
        <p:nvSpPr>
          <p:cNvPr id="31" name="TextBox 30"/>
          <p:cNvSpPr txBox="1"/>
          <p:nvPr/>
        </p:nvSpPr>
        <p:spPr>
          <a:xfrm>
            <a:off x="457200" y="5349240"/>
            <a:ext cx="5486400" cy="228600"/>
          </a:xfrm>
          <a:prstGeom prst="rect">
            <a:avLst/>
          </a:prstGeom>
          <a:noFill/>
        </p:spPr>
        <p:txBody>
          <a:bodyPr wrap="square"/>
          <a:lstStyle/>
          <a:p>
            <a:pPr algn="l">
              <a:lnSpc>
                <a:spcPct val="120000"/>
              </a:lnSpc>
              <a:spcBef>
                <a:spcPts val="0"/>
              </a:spcBef>
              <a:spcAft>
                <a:spcPts val="0"/>
              </a:spcAft>
              <a:defRPr sz="1200" b="0" i="0">
                <a:solidFill>
                  <a:srgbClr val="003F5C"/>
                </a:solidFill>
                <a:latin typeface="Calibri"/>
              </a:defRPr>
            </a:pPr>
            <a:r>
              <a:t>Chapter 13: Research References &amp; Evidence Summary</a:t>
            </a:r>
          </a:p>
        </p:txBody>
      </p:sp>
      <p:sp>
        <p:nvSpPr>
          <p:cNvPr id="32" name="TextBox 31"/>
          <p:cNvSpPr txBox="1"/>
          <p:nvPr/>
        </p:nvSpPr>
        <p:spPr>
          <a:xfrm>
            <a:off x="9144000" y="5349240"/>
            <a:ext cx="2286000" cy="22860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p. 136</a:t>
            </a:r>
          </a:p>
        </p:txBody>
      </p:sp>
      <p:sp>
        <p:nvSpPr>
          <p:cNvPr id="33" name="TextBox 3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 | THE CLINICAL MANUAL</a:t>
            </a:r>
          </a:p>
        </p:txBody>
      </p:sp>
      <p:sp>
        <p:nvSpPr>
          <p:cNvPr id="34" name="TextBox 3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Contents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3200" b="1" i="0">
                <a:solidFill>
                  <a:srgbClr val="003F5C"/>
                </a:solidFill>
                <a:latin typeface="Georgia"/>
              </a:defRPr>
            </a:pPr>
            <a:r>
              <a:t>Foreword</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109728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 Academy recognises that its graduates practice in diverse regulatory environments — some with formal licensure for complementary medicine, others in unregulated or minimally regulated jurisdictions. This Manual sets the minimum standard regardless of local regulatory requirements. Where local law exceeds these standards, local law prevails. Where this Manual exceeds local requirements, Academy certification demands compliance with this Manual.</a:t>
            </a:r>
          </a:p>
        </p:txBody>
      </p:sp>
      <p:sp>
        <p:nvSpPr>
          <p:cNvPr id="6" name="TextBox 5"/>
          <p:cNvSpPr txBox="1"/>
          <p:nvPr/>
        </p:nvSpPr>
        <p:spPr>
          <a:xfrm>
            <a:off x="457200" y="2468880"/>
            <a:ext cx="10972800" cy="73152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Every clinical interaction documented in this Manual follows the Sunnah Remedies SAFE Hijama Protocol: Systematic, Anatomical, Faithful, Evidence-Informed. These are not abstract principles. They are the difference between a technician and a healer.</a:t>
            </a:r>
          </a:p>
        </p:txBody>
      </p:sp>
      <p:sp>
        <p:nvSpPr>
          <p:cNvPr id="7" name="TextBox 6"/>
          <p:cNvSpPr txBox="1"/>
          <p:nvPr/>
        </p:nvSpPr>
        <p:spPr>
          <a:xfrm>
            <a:off x="7315200" y="4114800"/>
            <a:ext cx="4114800" cy="731520"/>
          </a:xfrm>
          <a:prstGeom prst="rect">
            <a:avLst/>
          </a:prstGeom>
          <a:noFill/>
        </p:spPr>
        <p:txBody>
          <a:bodyPr wrap="square"/>
          <a:lstStyle/>
          <a:p>
            <a:pPr algn="r">
              <a:lnSpc>
                <a:spcPct val="120000"/>
              </a:lnSpc>
              <a:spcBef>
                <a:spcPts val="0"/>
              </a:spcBef>
              <a:spcAft>
                <a:spcPts val="0"/>
              </a:spcAft>
              <a:defRPr sz="1200" b="0" i="0">
                <a:solidFill>
                  <a:srgbClr val="1A1A1A"/>
                </a:solidFill>
                <a:latin typeface="Calibri"/>
              </a:defRPr>
            </a:pPr>
            <a:r>
              <a:t>— The Clinical Director</a:t>
            </a:r>
            <a:br/>
            <a:r>
              <a:t>Sunnah Remedies Academy</a:t>
            </a:r>
            <a:br/>
            <a:r>
              <a:t>2026</a:t>
            </a:r>
          </a:p>
        </p:txBody>
      </p:sp>
      <p:sp>
        <p:nvSpPr>
          <p:cNvPr id="8" name="TextBox 7"/>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 | THE CLINICAL MANUAL</a:t>
            </a:r>
          </a:p>
        </p:txBody>
      </p:sp>
      <p:sp>
        <p:nvSpPr>
          <p:cNvPr id="9" name="TextBox 8"/>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Foreword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3200" b="1" i="0">
                <a:solidFill>
                  <a:srgbClr val="003F5C"/>
                </a:solidFill>
                <a:latin typeface="Georgia"/>
              </a:defRPr>
            </a:pPr>
            <a:r>
              <a:t>How to Use This Manual</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54864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This Manual is structured in two parts. Part I establishes the clinical foundations: evidence, scope, protocols, contraindications, and referral pathways. Part II governs safety and governance: infection control, consent, documentation, emergency management, and professional ethics.</a:t>
            </a:r>
          </a:p>
        </p:txBody>
      </p:sp>
      <p:sp>
        <p:nvSpPr>
          <p:cNvPr id="6" name="TextBox 5"/>
          <p:cNvSpPr txBox="1"/>
          <p:nvPr/>
        </p:nvSpPr>
        <p:spPr>
          <a:xfrm>
            <a:off x="457200" y="1920240"/>
            <a:ext cx="10972800" cy="27432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Throughout the Manual, you will encounter five recurring elements:</a:t>
            </a:r>
          </a:p>
        </p:txBody>
      </p:sp>
      <p:sp>
        <p:nvSpPr>
          <p:cNvPr id="7" name="TextBox 6"/>
          <p:cNvSpPr txBox="1"/>
          <p:nvPr/>
        </p:nvSpPr>
        <p:spPr>
          <a:xfrm>
            <a:off x="640080" y="228600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Clinical Pearls — distilled wisdom from master practitioners, marked in Sage green sidebars</a:t>
            </a:r>
          </a:p>
        </p:txBody>
      </p:sp>
      <p:sp>
        <p:nvSpPr>
          <p:cNvPr id="8" name="TextBox 7"/>
          <p:cNvSpPr txBox="1"/>
          <p:nvPr/>
        </p:nvSpPr>
        <p:spPr>
          <a:xfrm>
            <a:off x="640080" y="265176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Islamic Insights — Qur'anic and Prophetic foundations, marked in Academy Gold sidebars</a:t>
            </a:r>
          </a:p>
        </p:txBody>
      </p:sp>
      <p:sp>
        <p:nvSpPr>
          <p:cNvPr id="9" name="TextBox 8"/>
          <p:cNvSpPr txBox="1"/>
          <p:nvPr/>
        </p:nvSpPr>
        <p:spPr>
          <a:xfrm>
            <a:off x="640080" y="301752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Evidence Reviews — contemporary research summaries, marked in Deep Indigo sidebars</a:t>
            </a:r>
          </a:p>
        </p:txBody>
      </p:sp>
      <p:sp>
        <p:nvSpPr>
          <p:cNvPr id="10" name="TextBox 9"/>
          <p:cNvSpPr txBox="1"/>
          <p:nvPr/>
        </p:nvSpPr>
        <p:spPr>
          <a:xfrm>
            <a:off x="640080" y="338328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Faith &amp; Practice Reflections — prompts for spiritual formation, marked in Terracotta centre boxes</a:t>
            </a:r>
          </a:p>
        </p:txBody>
      </p:sp>
      <p:sp>
        <p:nvSpPr>
          <p:cNvPr id="11" name="TextBox 10"/>
          <p:cNvSpPr txBox="1"/>
          <p:nvPr/>
        </p:nvSpPr>
        <p:spPr>
          <a:xfrm>
            <a:off x="640080" y="374904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Warning Callouts — critical safety information, marked in Terracotta full-width boxes</a:t>
            </a:r>
          </a:p>
        </p:txBody>
      </p:sp>
      <p:sp>
        <p:nvSpPr>
          <p:cNvPr id="12" name="TextBox 11"/>
          <p:cNvSpPr txBox="1"/>
          <p:nvPr/>
        </p:nvSpPr>
        <p:spPr>
          <a:xfrm>
            <a:off x="457200" y="4206240"/>
            <a:ext cx="10972800" cy="5486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All anatomical illustrations use the Academy's Classical Precision style: fine line weight, arteries rendered in Academy Gold, veins in Deep Indigo, nerves in Terracotta, lymph in Sage.</a:t>
            </a:r>
          </a:p>
        </p:txBody>
      </p:sp>
      <p:sp>
        <p:nvSpPr>
          <p:cNvPr id="13" name="TextBox 1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 | THE CLINICAL MANUAL</a:t>
            </a:r>
          </a:p>
        </p:txBody>
      </p:sp>
      <p:sp>
        <p:nvSpPr>
          <p:cNvPr id="14" name="TextBox 1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How to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914400"/>
          </a:xfrm>
          <a:prstGeom prst="rect">
            <a:avLst/>
          </a:prstGeom>
          <a:noFill/>
        </p:spPr>
        <p:txBody>
          <a:bodyPr wrap="square"/>
          <a:lstStyle/>
          <a:p>
            <a:pPr algn="ctr">
              <a:lnSpc>
                <a:spcPct val="120000"/>
              </a:lnSpc>
              <a:spcBef>
                <a:spcPts val="0"/>
              </a:spcBef>
              <a:spcAft>
                <a:spcPts val="0"/>
              </a:spcAft>
              <a:defRPr sz="6000" b="1" i="0">
                <a:solidFill>
                  <a:srgbClr val="B8860B"/>
                </a:solidFill>
                <a:latin typeface="Georgia"/>
              </a:defRPr>
            </a:pPr>
            <a:r>
              <a:t>PART I</a:t>
            </a:r>
          </a:p>
        </p:txBody>
      </p:sp>
      <p:sp>
        <p:nvSpPr>
          <p:cNvPr id="4" name="TextBox 3"/>
          <p:cNvSpPr txBox="1"/>
          <p:nvPr/>
        </p:nvSpPr>
        <p:spPr>
          <a:xfrm>
            <a:off x="914400" y="3200400"/>
            <a:ext cx="10362895" cy="548640"/>
          </a:xfrm>
          <a:prstGeom prst="rect">
            <a:avLst/>
          </a:prstGeom>
          <a:noFill/>
        </p:spPr>
        <p:txBody>
          <a:bodyPr wrap="square"/>
          <a:lstStyle/>
          <a:p>
            <a:pPr algn="ctr">
              <a:lnSpc>
                <a:spcPct val="120000"/>
              </a:lnSpc>
              <a:spcBef>
                <a:spcPts val="0"/>
              </a:spcBef>
              <a:spcAft>
                <a:spcPts val="0"/>
              </a:spcAft>
              <a:defRPr sz="3200" b="0" i="0">
                <a:solidFill>
                  <a:srgbClr val="FAF7F2"/>
                </a:solidFill>
                <a:latin typeface="Georgia"/>
              </a:defRPr>
            </a:pPr>
            <a:r>
              <a:t>Clinical Foundations</a:t>
            </a:r>
          </a:p>
        </p:txBody>
      </p:sp>
      <p:sp>
        <p:nvSpPr>
          <p:cNvPr id="5" name="TextBox 4"/>
          <p:cNvSpPr txBox="1"/>
          <p:nvPr/>
        </p:nvSpPr>
        <p:spPr>
          <a:xfrm>
            <a:off x="2743200" y="3931920"/>
            <a:ext cx="6705295" cy="548640"/>
          </a:xfrm>
          <a:prstGeom prst="rect">
            <a:avLst/>
          </a:prstGeom>
          <a:noFill/>
        </p:spPr>
        <p:txBody>
          <a:bodyPr wrap="square"/>
          <a:lstStyle/>
          <a:p>
            <a:pPr algn="ctr">
              <a:lnSpc>
                <a:spcPct val="120000"/>
              </a:lnSpc>
              <a:spcBef>
                <a:spcPts val="0"/>
              </a:spcBef>
              <a:spcAft>
                <a:spcPts val="0"/>
              </a:spcAft>
              <a:defRPr sz="1400" b="0" i="0">
                <a:solidFill>
                  <a:srgbClr val="FAF7F2"/>
                </a:solidFill>
                <a:latin typeface="Calibri"/>
              </a:defRPr>
            </a:pPr>
            <a:r>
              <a:t>Evidence. Scope. Protocol. Contraindication. Referral. The non-negotiable foundations upon which safe practice is built.</a:t>
            </a:r>
          </a:p>
        </p:txBody>
      </p:sp>
      <p:sp>
        <p:nvSpPr>
          <p:cNvPr id="6" name="TextBox 5"/>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7" name="TextBox 6"/>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Part 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01</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Evidence-Informed Practice</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Integrating the Sunnah with Contemporary Science</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1 | pp. 1–11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2011680"/>
            <a:ext cx="85340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4846320"/>
            <a:ext cx="85340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62895" cy="731520"/>
          </a:xfrm>
          <a:prstGeom prst="rect">
            <a:avLst/>
          </a:prstGeom>
          <a:noFill/>
        </p:spPr>
        <p:txBody>
          <a:bodyPr wrap="square"/>
          <a:lstStyle/>
          <a:p>
            <a:pPr algn="ctr">
              <a:lnSpc>
                <a:spcPct val="120000"/>
              </a:lnSpc>
              <a:spcBef>
                <a:spcPts val="0"/>
              </a:spcBef>
              <a:spcAft>
                <a:spcPts val="0"/>
              </a:spcAft>
              <a:defRPr sz="2000" b="0" i="1">
                <a:solidFill>
                  <a:srgbClr val="003F5C"/>
                </a:solidFill>
                <a:latin typeface="Georgia"/>
              </a:defRPr>
            </a:pPr>
            <a:r>
              <a:t>"And We send down of the Qur'an that which is healing and mercy for the believers..."</a:t>
            </a:r>
          </a:p>
        </p:txBody>
      </p:sp>
      <p:sp>
        <p:nvSpPr>
          <p:cNvPr id="6" name="TextBox 5"/>
          <p:cNvSpPr txBox="1"/>
          <p:nvPr/>
        </p:nvSpPr>
        <p:spPr>
          <a:xfrm>
            <a:off x="914400" y="3108960"/>
            <a:ext cx="10362895" cy="457200"/>
          </a:xfrm>
          <a:prstGeom prst="rect">
            <a:avLst/>
          </a:prstGeom>
          <a:noFill/>
        </p:spPr>
        <p:txBody>
          <a:bodyPr wrap="square"/>
          <a:lstStyle/>
          <a:p>
            <a:pPr algn="ctr">
              <a:lnSpc>
                <a:spcPct val="120000"/>
              </a:lnSpc>
              <a:spcBef>
                <a:spcPts val="0"/>
              </a:spcBef>
              <a:spcAft>
                <a:spcPts val="0"/>
              </a:spcAft>
              <a:defRPr sz="1600" b="0" i="0">
                <a:solidFill>
                  <a:srgbClr val="003F5C"/>
                </a:solidFill>
                <a:latin typeface="Arial"/>
              </a:defRPr>
            </a:pPr>
            <a:r>
              <a:t>وَنُنَزِّلُ مِنَ الْقُرْآنِ مَا هُوَ شِفَاءٌ وَرَحْمَةٌ لِّلْمُؤْمِنِينَ</a:t>
            </a:r>
          </a:p>
        </p:txBody>
      </p:sp>
      <p:sp>
        <p:nvSpPr>
          <p:cNvPr id="7" name="TextBox 6"/>
          <p:cNvSpPr txBox="1"/>
          <p:nvPr/>
        </p:nvSpPr>
        <p:spPr>
          <a:xfrm>
            <a:off x="914400" y="3657600"/>
            <a:ext cx="10362895" cy="365760"/>
          </a:xfrm>
          <a:prstGeom prst="rect">
            <a:avLst/>
          </a:prstGeom>
          <a:noFill/>
        </p:spPr>
        <p:txBody>
          <a:bodyPr wrap="square"/>
          <a:lstStyle/>
          <a:p>
            <a:pPr algn="ctr">
              <a:lnSpc>
                <a:spcPct val="120000"/>
              </a:lnSpc>
              <a:spcBef>
                <a:spcPts val="0"/>
              </a:spcBef>
              <a:spcAft>
                <a:spcPts val="0"/>
              </a:spcAft>
              <a:defRPr sz="1200" b="0" i="0">
                <a:solidFill>
                  <a:srgbClr val="1A1A1A"/>
                </a:solidFill>
                <a:latin typeface="Calibri"/>
              </a:defRPr>
            </a:pPr>
            <a:r>
              <a:t>— Surah Al-Isra, 17:82</a:t>
            </a:r>
          </a:p>
        </p:txBody>
      </p:sp>
      <p:sp>
        <p:nvSpPr>
          <p:cNvPr id="8" name="TextBox 7"/>
          <p:cNvSpPr txBox="1"/>
          <p:nvPr/>
        </p:nvSpPr>
        <p:spPr>
          <a:xfrm>
            <a:off x="914400" y="4114800"/>
            <a:ext cx="10362895" cy="274320"/>
          </a:xfrm>
          <a:prstGeom prst="rect">
            <a:avLst/>
          </a:prstGeom>
          <a:noFill/>
        </p:spPr>
        <p:txBody>
          <a:bodyPr wrap="square"/>
          <a:lstStyle/>
          <a:p>
            <a:pPr algn="ctr">
              <a:lnSpc>
                <a:spcPct val="120000"/>
              </a:lnSpc>
              <a:spcBef>
                <a:spcPts val="0"/>
              </a:spcBef>
              <a:spcAft>
                <a:spcPts val="0"/>
              </a:spcAft>
              <a:defRPr sz="1000" b="0" i="0">
                <a:solidFill>
                  <a:srgbClr val="1A1A1A"/>
                </a:solidFill>
                <a:latin typeface="Calibri"/>
              </a:defRPr>
            </a:pPr>
            <a:r>
              <a:t>[Quran.com]</a:t>
            </a:r>
          </a:p>
        </p:txBody>
      </p:sp>
      <p:sp>
        <p:nvSpPr>
          <p:cNvPr id="9" name="TextBox 8"/>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1.1 The Evidence Hierarchy</a:t>
            </a:r>
          </a:p>
        </p:txBody>
      </p:sp>
      <p:graphicFrame>
        <p:nvGraphicFramePr>
          <p:cNvPr id="5" name="Table 4"/>
          <p:cNvGraphicFramePr>
            <a:graphicFrameLocks noGrp="1"/>
          </p:cNvGraphicFramePr>
          <p:nvPr/>
        </p:nvGraphicFramePr>
        <p:xfrm>
          <a:off x="457200" y="1554480"/>
          <a:ext cx="11277294" cy="256032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Level</a:t>
                      </a:r>
                    </a:p>
                  </a:txBody>
                  <a:tcPr anchor="ctr">
                    <a:solidFill>
                      <a:srgbClr val="003F5C"/>
                    </a:solidFill>
                  </a:tcPr>
                </a:tc>
                <a:tc>
                  <a:txBody>
                    <a:bodyPr/>
                    <a:lstStyle/>
                    <a:p>
                      <a:pPr algn="l">
                        <a:defRPr sz="1000" b="1">
                          <a:solidFill>
                            <a:srgbClr val="FAF7F2"/>
                          </a:solidFill>
                          <a:latin typeface="Calibri"/>
                        </a:defRPr>
                      </a:pPr>
                      <a:r>
                        <a:t>Evidence Category</a:t>
                      </a:r>
                    </a:p>
                  </a:txBody>
                  <a:tcPr anchor="ctr">
                    <a:solidFill>
                      <a:srgbClr val="003F5C"/>
                    </a:solidFill>
                  </a:tcPr>
                </a:tc>
                <a:tc>
                  <a:txBody>
                    <a:bodyPr/>
                    <a:lstStyle/>
                    <a:p>
                      <a:pPr algn="l">
                        <a:defRPr sz="1000" b="1">
                          <a:solidFill>
                            <a:srgbClr val="FAF7F2"/>
                          </a:solidFill>
                          <a:latin typeface="Calibri"/>
                        </a:defRPr>
                      </a:pPr>
                      <a:r>
                        <a:t>Application to Hijama</a:t>
                      </a:r>
                    </a:p>
                  </a:txBody>
                  <a:tcPr anchor="ctr">
                    <a:solidFill>
                      <a:srgbClr val="003F5C"/>
                    </a:solidFill>
                  </a:tcPr>
                </a:tc>
              </a:tr>
              <a:tr h="365760">
                <a:tc>
                  <a:txBody>
                    <a:bodyPr/>
                    <a:lstStyle/>
                    <a:p>
                      <a:pPr algn="l">
                        <a:defRPr sz="1000">
                          <a:solidFill>
                            <a:srgbClr val="1A1A1A"/>
                          </a:solidFill>
                          <a:latin typeface="Calibri"/>
                        </a:defRPr>
                      </a:pPr>
                      <a:r>
                        <a:t>1</a:t>
                      </a:r>
                    </a:p>
                  </a:txBody>
                  <a:tcPr anchor="ctr"/>
                </a:tc>
                <a:tc>
                  <a:txBody>
                    <a:bodyPr/>
                    <a:lstStyle/>
                    <a:p>
                      <a:pPr algn="l">
                        <a:defRPr sz="1000">
                          <a:solidFill>
                            <a:srgbClr val="1A1A1A"/>
                          </a:solidFill>
                          <a:latin typeface="Calibri"/>
                        </a:defRPr>
                      </a:pPr>
                      <a:r>
                        <a:t>Classical Islamic Evidence</a:t>
                      </a:r>
                    </a:p>
                  </a:txBody>
                  <a:tcPr anchor="ctr"/>
                </a:tc>
                <a:tc>
                  <a:txBody>
                    <a:bodyPr/>
                    <a:lstStyle/>
                    <a:p>
                      <a:pPr algn="l">
                        <a:defRPr sz="1000">
                          <a:solidFill>
                            <a:srgbClr val="1A1A1A"/>
                          </a:solidFill>
                          <a:latin typeface="Calibri"/>
                        </a:defRPr>
                      </a:pPr>
                      <a:r>
                        <a:t>Authentic hadith with sound isnad; consensus of classical scholars; established practice in authoritative traditional texts</a:t>
                      </a:r>
                    </a:p>
                  </a:txBody>
                  <a:tcPr anchor="ctr"/>
                </a:tc>
              </a:tr>
              <a:tr h="365760">
                <a:tc>
                  <a:txBody>
                    <a:bodyPr/>
                    <a:lstStyle/>
                    <a:p>
                      <a:pPr algn="l">
                        <a:defRPr sz="1000">
                          <a:solidFill>
                            <a:srgbClr val="1A1A1A"/>
                          </a:solidFill>
                          <a:latin typeface="Calibri"/>
                        </a:defRPr>
                      </a:pPr>
                      <a:r>
                        <a:t>2</a:t>
                      </a:r>
                    </a:p>
                  </a:txBody>
                  <a:tcPr anchor="ctr">
                    <a:solidFill>
                      <a:srgbClr val="F5F2EB"/>
                    </a:solidFill>
                  </a:tcPr>
                </a:tc>
                <a:tc>
                  <a:txBody>
                    <a:bodyPr/>
                    <a:lstStyle/>
                    <a:p>
                      <a:pPr algn="l">
                        <a:defRPr sz="1000">
                          <a:solidFill>
                            <a:srgbClr val="1A1A1A"/>
                          </a:solidFill>
                          <a:latin typeface="Calibri"/>
                        </a:defRPr>
                      </a:pPr>
                      <a:r>
                        <a:t>Systematic Reviews &amp; Meta-Analyses</a:t>
                      </a:r>
                    </a:p>
                  </a:txBody>
                  <a:tcPr anchor="ctr">
                    <a:solidFill>
                      <a:srgbClr val="F5F2EB"/>
                    </a:solidFill>
                  </a:tcPr>
                </a:tc>
                <a:tc>
                  <a:txBody>
                    <a:bodyPr/>
                    <a:lstStyle/>
                    <a:p>
                      <a:pPr algn="l">
                        <a:defRPr sz="1000">
                          <a:solidFill>
                            <a:srgbClr val="1A1A1A"/>
                          </a:solidFill>
                          <a:latin typeface="Calibri"/>
                        </a:defRPr>
                      </a:pPr>
                      <a:r>
                        <a:t>High-quality synthesis of multiple RCTs on cupping for pain, hypertension, and metabolic conditions</a:t>
                      </a:r>
                    </a:p>
                  </a:txBody>
                  <a:tcPr anchor="ctr">
                    <a:solidFill>
                      <a:srgbClr val="F5F2EB"/>
                    </a:solidFill>
                  </a:tcPr>
                </a:tc>
              </a:tr>
              <a:tr h="365760">
                <a:tc>
                  <a:txBody>
                    <a:bodyPr/>
                    <a:lstStyle/>
                    <a:p>
                      <a:pPr algn="l">
                        <a:defRPr sz="1000">
                          <a:solidFill>
                            <a:srgbClr val="1A1A1A"/>
                          </a:solidFill>
                          <a:latin typeface="Calibri"/>
                        </a:defRPr>
                      </a:pPr>
                      <a:r>
                        <a:t>3</a:t>
                      </a:r>
                    </a:p>
                  </a:txBody>
                  <a:tcPr anchor="ctr"/>
                </a:tc>
                <a:tc>
                  <a:txBody>
                    <a:bodyPr/>
                    <a:lstStyle/>
                    <a:p>
                      <a:pPr algn="l">
                        <a:defRPr sz="1000">
                          <a:solidFill>
                            <a:srgbClr val="1A1A1A"/>
                          </a:solidFill>
                          <a:latin typeface="Calibri"/>
                        </a:defRPr>
                      </a:pPr>
                      <a:r>
                        <a:t>Randomised Controlled Trials (RCTs)</a:t>
                      </a:r>
                    </a:p>
                  </a:txBody>
                  <a:tcPr anchor="ctr"/>
                </a:tc>
                <a:tc>
                  <a:txBody>
                    <a:bodyPr/>
                    <a:lstStyle/>
                    <a:p>
                      <a:pPr algn="l">
                        <a:defRPr sz="1000">
                          <a:solidFill>
                            <a:srgbClr val="1A1A1A"/>
                          </a:solidFill>
                          <a:latin typeface="Calibri"/>
                        </a:defRPr>
                      </a:pPr>
                      <a:r>
                        <a:t>Well-designed experimental studies on cupping mechanisms and outcomes</a:t>
                      </a:r>
                    </a:p>
                  </a:txBody>
                  <a:tcPr anchor="ctr"/>
                </a:tc>
              </a:tr>
              <a:tr h="365760">
                <a:tc>
                  <a:txBody>
                    <a:bodyPr/>
                    <a:lstStyle/>
                    <a:p>
                      <a:pPr algn="l">
                        <a:defRPr sz="1000">
                          <a:solidFill>
                            <a:srgbClr val="1A1A1A"/>
                          </a:solidFill>
                          <a:latin typeface="Calibri"/>
                        </a:defRPr>
                      </a:pPr>
                      <a:r>
                        <a:t>4</a:t>
                      </a:r>
                    </a:p>
                  </a:txBody>
                  <a:tcPr anchor="ctr">
                    <a:solidFill>
                      <a:srgbClr val="F5F2EB"/>
                    </a:solidFill>
                  </a:tcPr>
                </a:tc>
                <a:tc>
                  <a:txBody>
                    <a:bodyPr/>
                    <a:lstStyle/>
                    <a:p>
                      <a:pPr algn="l">
                        <a:defRPr sz="1000">
                          <a:solidFill>
                            <a:srgbClr val="1A1A1A"/>
                          </a:solidFill>
                          <a:latin typeface="Calibri"/>
                        </a:defRPr>
                      </a:pPr>
                      <a:r>
                        <a:t>Cohort &amp; Case-Control Studies</a:t>
                      </a:r>
                    </a:p>
                  </a:txBody>
                  <a:tcPr anchor="ctr">
                    <a:solidFill>
                      <a:srgbClr val="F5F2EB"/>
                    </a:solidFill>
                  </a:tcPr>
                </a:tc>
                <a:tc>
                  <a:txBody>
                    <a:bodyPr/>
                    <a:lstStyle/>
                    <a:p>
                      <a:pPr algn="l">
                        <a:defRPr sz="1000">
                          <a:solidFill>
                            <a:srgbClr val="1A1A1A"/>
                          </a:solidFill>
                          <a:latin typeface="Calibri"/>
                        </a:defRPr>
                      </a:pPr>
                      <a:r>
                        <a:t>Observational studies with appropriate controls</a:t>
                      </a:r>
                    </a:p>
                  </a:txBody>
                  <a:tcPr anchor="ctr">
                    <a:solidFill>
                      <a:srgbClr val="F5F2EB"/>
                    </a:solidFill>
                  </a:tcPr>
                </a:tc>
              </a:tr>
              <a:tr h="365760">
                <a:tc>
                  <a:txBody>
                    <a:bodyPr/>
                    <a:lstStyle/>
                    <a:p>
                      <a:pPr algn="l">
                        <a:defRPr sz="1000">
                          <a:solidFill>
                            <a:srgbClr val="1A1A1A"/>
                          </a:solidFill>
                          <a:latin typeface="Calibri"/>
                        </a:defRPr>
                      </a:pPr>
                      <a:r>
                        <a:t>5</a:t>
                      </a:r>
                    </a:p>
                  </a:txBody>
                  <a:tcPr anchor="ctr"/>
                </a:tc>
                <a:tc>
                  <a:txBody>
                    <a:bodyPr/>
                    <a:lstStyle/>
                    <a:p>
                      <a:pPr algn="l">
                        <a:defRPr sz="1000">
                          <a:solidFill>
                            <a:srgbClr val="1A1A1A"/>
                          </a:solidFill>
                          <a:latin typeface="Calibri"/>
                        </a:defRPr>
                      </a:pPr>
                      <a:r>
                        <a:t>Case Series &amp; Expert Opinion</a:t>
                      </a:r>
                    </a:p>
                  </a:txBody>
                  <a:tcPr anchor="ctr"/>
                </a:tc>
                <a:tc>
                  <a:txBody>
                    <a:bodyPr/>
                    <a:lstStyle/>
                    <a:p>
                      <a:pPr algn="l">
                        <a:defRPr sz="1000">
                          <a:solidFill>
                            <a:srgbClr val="1A1A1A"/>
                          </a:solidFill>
                          <a:latin typeface="Calibri"/>
                        </a:defRPr>
                      </a:pPr>
                      <a:r>
                        <a:t>Clinical observation and professional consensus</a:t>
                      </a:r>
                    </a:p>
                  </a:txBody>
                  <a:tcPr anchor="ctr"/>
                </a:tc>
              </a:tr>
              <a:tr h="365760">
                <a:tc>
                  <a:txBody>
                    <a:bodyPr/>
                    <a:lstStyle/>
                    <a:p>
                      <a:pPr algn="l">
                        <a:defRPr sz="1000">
                          <a:solidFill>
                            <a:srgbClr val="1A1A1A"/>
                          </a:solidFill>
                          <a:latin typeface="Calibri"/>
                        </a:defRPr>
                      </a:pPr>
                      <a:r>
                        <a:t>6</a:t>
                      </a:r>
                    </a:p>
                  </a:txBody>
                  <a:tcPr anchor="ctr">
                    <a:solidFill>
                      <a:srgbClr val="F5F2EB"/>
                    </a:solidFill>
                  </a:tcPr>
                </a:tc>
                <a:tc>
                  <a:txBody>
                    <a:bodyPr/>
                    <a:lstStyle/>
                    <a:p>
                      <a:pPr algn="l">
                        <a:defRPr sz="1000">
                          <a:solidFill>
                            <a:srgbClr val="1A1A1A"/>
                          </a:solidFill>
                          <a:latin typeface="Calibri"/>
                        </a:defRPr>
                      </a:pPr>
                      <a:r>
                        <a:t>Mechanistic/Preclinical</a:t>
                      </a:r>
                    </a:p>
                  </a:txBody>
                  <a:tcPr anchor="ctr">
                    <a:solidFill>
                      <a:srgbClr val="F5F2EB"/>
                    </a:solidFill>
                  </a:tcPr>
                </a:tc>
                <a:tc>
                  <a:txBody>
                    <a:bodyPr/>
                    <a:lstStyle/>
                    <a:p>
                      <a:pPr algn="l">
                        <a:defRPr sz="1000">
                          <a:solidFill>
                            <a:srgbClr val="1A1A1A"/>
                          </a:solidFill>
                          <a:latin typeface="Calibri"/>
                        </a:defRPr>
                      </a:pPr>
                      <a:r>
                        <a:t>Laboratory studies, animal models, theoretical rationale (e.g., Taibah Theory, nitric oxide release)</a:t>
                      </a:r>
                    </a:p>
                  </a:txBody>
                  <a:tcPr anchor="ctr">
                    <a:solidFill>
                      <a:srgbClr val="F5F2EB"/>
                    </a:solidFill>
                  </a:tcPr>
                </a:tc>
              </a:tr>
            </a:tbl>
          </a:graphicData>
        </a:graphic>
      </p:graphicFrame>
      <p:sp>
        <p:nvSpPr>
          <p:cNvPr id="6" name="TextBox 5"/>
          <p:cNvSpPr txBox="1"/>
          <p:nvPr/>
        </p:nvSpPr>
        <p:spPr>
          <a:xfrm>
            <a:off x="457200" y="420624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1.1 — The Sunnah Remedies Academy Evidence Hierarchy. All six levels are valid sources of knowledge, but they carry different weights in clinical decision-making.</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Evidence Review</a:t>
            </a:r>
          </a:p>
        </p:txBody>
      </p:sp>
      <p:sp>
        <p:nvSpPr>
          <p:cNvPr id="4" name="Rectangle 3"/>
          <p:cNvSpPr/>
          <p:nvPr/>
        </p:nvSpPr>
        <p:spPr>
          <a:xfrm>
            <a:off x="457200" y="1005840"/>
            <a:ext cx="11277295" cy="38100"/>
          </a:xfrm>
          <a:prstGeom prst="rect">
            <a:avLst/>
          </a:prstGeom>
          <a:solidFill>
            <a:srgbClr val="4B0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2011680"/>
          </a:xfrm>
          <a:prstGeom prst="rect">
            <a:avLst/>
          </a:prstGeom>
          <a:solidFill>
            <a:srgbClr val="F0EBFA"/>
          </a:solidFill>
          <a:ln w="25400">
            <a:solidFill>
              <a:srgbClr val="4B0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4B0082"/>
                </a:solidFill>
                <a:latin typeface="Calibri"/>
              </a:defRPr>
            </a:pPr>
            <a:r>
              <a:t>EVIDENCE REVIEW</a:t>
            </a:r>
          </a:p>
        </p:txBody>
      </p:sp>
      <p:sp>
        <p:nvSpPr>
          <p:cNvPr id="7" name="TextBox 6"/>
          <p:cNvSpPr txBox="1"/>
          <p:nvPr/>
        </p:nvSpPr>
        <p:spPr>
          <a:xfrm>
            <a:off x="594360" y="1645920"/>
            <a:ext cx="11002975" cy="1554480"/>
          </a:xfrm>
          <a:prstGeom prst="rect">
            <a:avLst/>
          </a:prstGeom>
          <a:noFill/>
        </p:spPr>
        <p:txBody>
          <a:bodyPr wrap="square">
            <a:spAutoFit/>
          </a:bodyPr>
          <a:lstStyle/>
          <a:p>
            <a:pPr algn="l">
              <a:lnSpc>
                <a:spcPct val="115000"/>
              </a:lnSpc>
              <a:defRPr sz="1000">
                <a:solidFill>
                  <a:srgbClr val="1A1A1A"/>
                </a:solidFill>
                <a:latin typeface="Calibri"/>
              </a:defRPr>
            </a:pPr>
            <a:r>
              <a:t>The Academy's Evidence Hierarchy was adapted from the GRADE framework and classical Islamic usul al-fiqh. It recognises that not all knowledge carries equal weight. A weak hadith cannot support a clinical claim. A single case study cannot override a systematic review. The hierarchy ensures that every recommendation is proportionate to its evidentiary foundation.</a:t>
            </a:r>
          </a:p>
        </p:txBody>
      </p:sp>
      <p:sp>
        <p:nvSpPr>
          <p:cNvPr id="8" name="TextBox 7"/>
          <p:cNvSpPr txBox="1"/>
          <p:nvPr/>
        </p:nvSpPr>
        <p:spPr>
          <a:xfrm>
            <a:off x="457200" y="3657600"/>
            <a:ext cx="10972800" cy="109728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Application of this hierarchy requires intellectual humility. A practitioner who cites a classical text must also acknowledge its limitations in modern clinical contexts. A practitioner who cites a systematic review must also acknowledge the cultural and methodological distance between the trial population and their own patient.</a:t>
            </a:r>
          </a:p>
        </p:txBody>
      </p:sp>
      <p:sp>
        <p:nvSpPr>
          <p:cNvPr id="9" name="TextBox 8"/>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
        <p:nvSpPr>
          <p:cNvPr id="10" name="TextBox 9"/>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1.2 The Evidence &amp; Sunnah Matrix</a:t>
            </a:r>
          </a:p>
        </p:txBody>
      </p:sp>
      <p:graphicFrame>
        <p:nvGraphicFramePr>
          <p:cNvPr id="5" name="Table 4"/>
          <p:cNvGraphicFramePr>
            <a:graphicFrameLocks noGrp="1"/>
          </p:cNvGraphicFramePr>
          <p:nvPr/>
        </p:nvGraphicFramePr>
        <p:xfrm>
          <a:off x="457200" y="1554480"/>
          <a:ext cx="11277295" cy="1828800"/>
        </p:xfrm>
        <a:graphic>
          <a:graphicData uri="http://schemas.openxmlformats.org/drawingml/2006/table">
            <a:tbl>
              <a:tblPr firstRow="1" bandRow="1">
                <a:tableStyleId>{5C22544A-7EE6-4342-B048-85BDC9FD1C3A}</a:tableStyleId>
              </a:tblPr>
              <a:tblGrid>
                <a:gridCol w="2255459"/>
                <a:gridCol w="2255459"/>
                <a:gridCol w="2255459"/>
                <a:gridCol w="2255459"/>
                <a:gridCol w="2255459"/>
              </a:tblGrid>
              <a:tr h="365760">
                <a:tc>
                  <a:txBody>
                    <a:bodyPr/>
                    <a:lstStyle/>
                    <a:p>
                      <a:pPr algn="l">
                        <a:defRPr sz="1000" b="1">
                          <a:solidFill>
                            <a:srgbClr val="FAF7F2"/>
                          </a:solidFill>
                          <a:latin typeface="Calibri"/>
                        </a:defRPr>
                      </a:pPr>
                    </a:p>
                  </a:txBody>
                  <a:tcPr anchor="ctr">
                    <a:solidFill>
                      <a:srgbClr val="003F5C"/>
                    </a:solidFill>
                  </a:tcPr>
                </a:tc>
                <a:tc>
                  <a:txBody>
                    <a:bodyPr/>
                    <a:lstStyle/>
                    <a:p>
                      <a:pPr algn="l">
                        <a:defRPr sz="1000" b="1">
                          <a:solidFill>
                            <a:srgbClr val="FAF7F2"/>
                          </a:solidFill>
                          <a:latin typeface="Calibri"/>
                        </a:defRPr>
                      </a:pPr>
                      <a:r>
                        <a:t>Explicit Hadith</a:t>
                      </a:r>
                    </a:p>
                  </a:txBody>
                  <a:tcPr anchor="ctr">
                    <a:solidFill>
                      <a:srgbClr val="003F5C"/>
                    </a:solidFill>
                  </a:tcPr>
                </a:tc>
                <a:tc>
                  <a:txBody>
                    <a:bodyPr/>
                    <a:lstStyle/>
                    <a:p>
                      <a:pPr algn="l">
                        <a:defRPr sz="1000" b="1">
                          <a:solidFill>
                            <a:srgbClr val="FAF7F2"/>
                          </a:solidFill>
                          <a:latin typeface="Calibri"/>
                        </a:defRPr>
                      </a:pPr>
                      <a:r>
                        <a:t>Scholarly Recommendation</a:t>
                      </a:r>
                    </a:p>
                  </a:txBody>
                  <a:tcPr anchor="ctr">
                    <a:solidFill>
                      <a:srgbClr val="003F5C"/>
                    </a:solidFill>
                  </a:tcPr>
                </a:tc>
                <a:tc>
                  <a:txBody>
                    <a:bodyPr/>
                    <a:lstStyle/>
                    <a:p>
                      <a:pPr algn="l">
                        <a:defRPr sz="1000" b="1">
                          <a:solidFill>
                            <a:srgbClr val="FAF7F2"/>
                          </a:solidFill>
                          <a:latin typeface="Calibri"/>
                        </a:defRPr>
                      </a:pPr>
                      <a:r>
                        <a:t>Traditional Practice</a:t>
                      </a:r>
                    </a:p>
                  </a:txBody>
                  <a:tcPr anchor="ctr">
                    <a:solidFill>
                      <a:srgbClr val="003F5C"/>
                    </a:solidFill>
                  </a:tcPr>
                </a:tc>
                <a:tc>
                  <a:txBody>
                    <a:bodyPr/>
                    <a:lstStyle/>
                    <a:p>
                      <a:pPr algn="l">
                        <a:defRPr sz="1000" b="1">
                          <a:solidFill>
                            <a:srgbClr val="FAF7F2"/>
                          </a:solidFill>
                          <a:latin typeface="Calibri"/>
                        </a:defRPr>
                      </a:pPr>
                      <a:r>
                        <a:t>Clinical Experience</a:t>
                      </a:r>
                    </a:p>
                  </a:txBody>
                  <a:tcPr anchor="ctr">
                    <a:solidFill>
                      <a:srgbClr val="003F5C"/>
                    </a:solidFill>
                  </a:tcPr>
                </a:tc>
              </a:tr>
              <a:tr h="365760">
                <a:tc>
                  <a:txBody>
                    <a:bodyPr/>
                    <a:lstStyle/>
                    <a:p>
                      <a:pPr algn="l">
                        <a:defRPr sz="1000">
                          <a:solidFill>
                            <a:srgbClr val="1A1A1A"/>
                          </a:solidFill>
                          <a:latin typeface="Calibri"/>
                        </a:defRPr>
                      </a:pPr>
                      <a:r>
                        <a:t>Strong Evidence</a:t>
                      </a:r>
                    </a:p>
                  </a:txBody>
                  <a:tcPr anchor="ctr"/>
                </a:tc>
                <a:tc>
                  <a:txBody>
                    <a:bodyPr/>
                    <a:lstStyle/>
                    <a:p>
                      <a:pPr algn="l">
                        <a:defRPr sz="1000">
                          <a:solidFill>
                            <a:srgbClr val="1A1A1A"/>
                          </a:solidFill>
                          <a:latin typeface="Calibri"/>
                        </a:defRPr>
                      </a:pPr>
                      <a:r>
                        <a:t>Hijama on Al-Kahil for general wellness</a:t>
                      </a:r>
                    </a:p>
                  </a:txBody>
                  <a:tcPr anchor="ctr"/>
                </a:tc>
                <a:tc>
                  <a:txBody>
                    <a:bodyPr/>
                    <a:lstStyle/>
                    <a:p>
                      <a:pPr algn="l">
                        <a:defRPr sz="1000">
                          <a:solidFill>
                            <a:srgbClr val="1A1A1A"/>
                          </a:solidFill>
                          <a:latin typeface="Calibri"/>
                        </a:defRPr>
                      </a:pPr>
                      <a:r>
                        <a:t>Integration with conventional care</a:t>
                      </a:r>
                    </a:p>
                  </a:txBody>
                  <a:tcPr anchor="ctr"/>
                </a:tc>
                <a:tc>
                  <a:txBody>
                    <a:bodyPr/>
                    <a:lstStyle/>
                    <a:p>
                      <a:pPr algn="l">
                        <a:defRPr sz="1000">
                          <a:solidFill>
                            <a:srgbClr val="1A1A1A"/>
                          </a:solidFill>
                          <a:latin typeface="Calibri"/>
                        </a:defRPr>
                      </a:pPr>
                      <a:r>
                        <a:t>Monthly maintenance protocols</a:t>
                      </a:r>
                    </a:p>
                  </a:txBody>
                  <a:tcPr anchor="ctr"/>
                </a:tc>
                <a:tc>
                  <a:txBody>
                    <a:bodyPr/>
                    <a:lstStyle/>
                    <a:p>
                      <a:pPr algn="l">
                        <a:defRPr sz="1000">
                          <a:solidFill>
                            <a:srgbClr val="1A1A1A"/>
                          </a:solidFill>
                          <a:latin typeface="Calibri"/>
                        </a:defRPr>
                      </a:pPr>
                      <a:r>
                        <a:t>Patient-reported pain reduction</a:t>
                      </a:r>
                    </a:p>
                  </a:txBody>
                  <a:tcPr anchor="ctr"/>
                </a:tc>
              </a:tr>
              <a:tr h="365760">
                <a:tc>
                  <a:txBody>
                    <a:bodyPr/>
                    <a:lstStyle/>
                    <a:p>
                      <a:pPr algn="l">
                        <a:defRPr sz="1000">
                          <a:solidFill>
                            <a:srgbClr val="1A1A1A"/>
                          </a:solidFill>
                          <a:latin typeface="Calibri"/>
                        </a:defRPr>
                      </a:pPr>
                      <a:r>
                        <a:t>Moderate Evidence</a:t>
                      </a:r>
                    </a:p>
                  </a:txBody>
                  <a:tcPr anchor="ctr">
                    <a:solidFill>
                      <a:srgbClr val="F5F2EB"/>
                    </a:solidFill>
                  </a:tcPr>
                </a:tc>
                <a:tc>
                  <a:txBody>
                    <a:bodyPr/>
                    <a:lstStyle/>
                    <a:p>
                      <a:pPr algn="l">
                        <a:defRPr sz="1000">
                          <a:solidFill>
                            <a:srgbClr val="1A1A1A"/>
                          </a:solidFill>
                          <a:latin typeface="Calibri"/>
                        </a:defRPr>
                      </a:pPr>
                      <a:r>
                        <a:t>Timing on 17th, 19th, 21st of lunar month</a:t>
                      </a:r>
                    </a:p>
                  </a:txBody>
                  <a:tcPr anchor="ctr">
                    <a:solidFill>
                      <a:srgbClr val="F5F2EB"/>
                    </a:solidFill>
                  </a:tcPr>
                </a:tc>
                <a:tc>
                  <a:txBody>
                    <a:bodyPr/>
                    <a:lstStyle/>
                    <a:p>
                      <a:pPr algn="l">
                        <a:defRPr sz="1000">
                          <a:solidFill>
                            <a:srgbClr val="1A1A1A"/>
                          </a:solidFill>
                          <a:latin typeface="Calibri"/>
                        </a:defRPr>
                      </a:pPr>
                      <a:r>
                        <a:t>Specific point selection for conditions</a:t>
                      </a:r>
                    </a:p>
                  </a:txBody>
                  <a:tcPr anchor="ctr">
                    <a:solidFill>
                      <a:srgbClr val="F5F2EB"/>
                    </a:solidFill>
                  </a:tcPr>
                </a:tc>
                <a:tc>
                  <a:txBody>
                    <a:bodyPr/>
                    <a:lstStyle/>
                    <a:p>
                      <a:pPr algn="l">
                        <a:defRPr sz="1000">
                          <a:solidFill>
                            <a:srgbClr val="1A1A1A"/>
                          </a:solidFill>
                          <a:latin typeface="Calibri"/>
                        </a:defRPr>
                      </a:pPr>
                      <a:r>
                        <a:t>Wet vs. dry cupping selection</a:t>
                      </a:r>
                    </a:p>
                  </a:txBody>
                  <a:tcPr anchor="ctr">
                    <a:solidFill>
                      <a:srgbClr val="F5F2EB"/>
                    </a:solidFill>
                  </a:tcPr>
                </a:tc>
                <a:tc>
                  <a:txBody>
                    <a:bodyPr/>
                    <a:lstStyle/>
                    <a:p>
                      <a:pPr algn="l">
                        <a:defRPr sz="1000">
                          <a:solidFill>
                            <a:srgbClr val="1A1A1A"/>
                          </a:solidFill>
                          <a:latin typeface="Calibri"/>
                        </a:defRPr>
                      </a:pPr>
                      <a:r>
                        <a:t>Mark colour interpretation</a:t>
                      </a:r>
                    </a:p>
                  </a:txBody>
                  <a:tcPr anchor="ctr">
                    <a:solidFill>
                      <a:srgbClr val="F5F2EB"/>
                    </a:solidFill>
                  </a:tcPr>
                </a:tc>
              </a:tr>
              <a:tr h="365760">
                <a:tc>
                  <a:txBody>
                    <a:bodyPr/>
                    <a:lstStyle/>
                    <a:p>
                      <a:pPr algn="l">
                        <a:defRPr sz="1000">
                          <a:solidFill>
                            <a:srgbClr val="1A1A1A"/>
                          </a:solidFill>
                          <a:latin typeface="Calibri"/>
                        </a:defRPr>
                      </a:pPr>
                      <a:r>
                        <a:t>Preliminary Evidence</a:t>
                      </a:r>
                    </a:p>
                  </a:txBody>
                  <a:tcPr anchor="ctr"/>
                </a:tc>
                <a:tc>
                  <a:txBody>
                    <a:bodyPr/>
                    <a:lstStyle/>
                    <a:p>
                      <a:pPr algn="l">
                        <a:defRPr sz="1000">
                          <a:solidFill>
                            <a:srgbClr val="1A1A1A"/>
                          </a:solidFill>
                          <a:latin typeface="Calibri"/>
                        </a:defRPr>
                      </a:pPr>
                      <a:r>
                        <a:t>—</a:t>
                      </a:r>
                    </a:p>
                  </a:txBody>
                  <a:tcPr anchor="ctr"/>
                </a:tc>
                <a:tc>
                  <a:txBody>
                    <a:bodyPr/>
                    <a:lstStyle/>
                    <a:p>
                      <a:pPr algn="l">
                        <a:defRPr sz="1000">
                          <a:solidFill>
                            <a:srgbClr val="1A1A1A"/>
                          </a:solidFill>
                          <a:latin typeface="Calibri"/>
                        </a:defRPr>
                      </a:pPr>
                      <a:r>
                        <a:t>—</a:t>
                      </a:r>
                    </a:p>
                  </a:txBody>
                  <a:tcPr anchor="ctr"/>
                </a:tc>
                <a:tc>
                  <a:txBody>
                    <a:bodyPr/>
                    <a:lstStyle/>
                    <a:p>
                      <a:pPr algn="l">
                        <a:defRPr sz="1000">
                          <a:solidFill>
                            <a:srgbClr val="1A1A1A"/>
                          </a:solidFill>
                          <a:latin typeface="Calibri"/>
                        </a:defRPr>
                      </a:pPr>
                      <a:r>
                        <a:t>Blood analysis claims</a:t>
                      </a:r>
                    </a:p>
                  </a:txBody>
                  <a:tcPr anchor="ctr"/>
                </a:tc>
                <a:tc>
                  <a:txBody>
                    <a:bodyPr/>
                    <a:lstStyle/>
                    <a:p>
                      <a:pPr algn="l">
                        <a:defRPr sz="1000">
                          <a:solidFill>
                            <a:srgbClr val="1A1A1A"/>
                          </a:solidFill>
                          <a:latin typeface="Calibri"/>
                        </a:defRPr>
                      </a:pPr>
                      <a:r>
                        <a:t>Dark field microscopy findings</a:t>
                      </a:r>
                    </a:p>
                  </a:txBody>
                  <a:tcPr anchor="ctr"/>
                </a:tc>
              </a:tr>
              <a:tr h="365760">
                <a:tc>
                  <a:txBody>
                    <a:bodyPr/>
                    <a:lstStyle/>
                    <a:p>
                      <a:pPr algn="l">
                        <a:defRPr sz="1000">
                          <a:solidFill>
                            <a:srgbClr val="1A1A1A"/>
                          </a:solidFill>
                          <a:latin typeface="Calibri"/>
                        </a:defRPr>
                      </a:pPr>
                      <a:r>
                        <a:t>Traditional Practice</a:t>
                      </a:r>
                    </a:p>
                  </a:txBody>
                  <a:tcPr anchor="ctr">
                    <a:solidFill>
                      <a:srgbClr val="F5F2EB"/>
                    </a:solidFill>
                  </a:tcPr>
                </a:tc>
                <a:tc>
                  <a:txBody>
                    <a:bodyPr/>
                    <a:lstStyle/>
                    <a:p>
                      <a:pPr algn="l">
                        <a:defRPr sz="1000">
                          <a:solidFill>
                            <a:srgbClr val="1A1A1A"/>
                          </a:solidFill>
                          <a:latin typeface="Calibri"/>
                        </a:defRPr>
                      </a:pPr>
                      <a:r>
                        <a:t>—</a:t>
                      </a:r>
                    </a:p>
                  </a:txBody>
                  <a:tcPr anchor="ctr">
                    <a:solidFill>
                      <a:srgbClr val="F5F2EB"/>
                    </a:solidFill>
                  </a:tcPr>
                </a:tc>
                <a:tc>
                  <a:txBody>
                    <a:bodyPr/>
                    <a:lstStyle/>
                    <a:p>
                      <a:pPr algn="l">
                        <a:defRPr sz="1000">
                          <a:solidFill>
                            <a:srgbClr val="1A1A1A"/>
                          </a:solidFill>
                          <a:latin typeface="Calibri"/>
                        </a:defRPr>
                      </a:pPr>
                      <a:r>
                        <a:t>—</a:t>
                      </a:r>
                    </a:p>
                  </a:txBody>
                  <a:tcPr anchor="ctr">
                    <a:solidFill>
                      <a:srgbClr val="F5F2EB"/>
                    </a:solidFill>
                  </a:tcPr>
                </a:tc>
                <a:tc>
                  <a:txBody>
                    <a:bodyPr/>
                    <a:lstStyle/>
                    <a:p>
                      <a:pPr algn="l">
                        <a:defRPr sz="1000">
                          <a:solidFill>
                            <a:srgbClr val="1A1A1A"/>
                          </a:solidFill>
                          <a:latin typeface="Calibri"/>
                        </a:defRPr>
                      </a:pPr>
                      <a:r>
                        <a:t>Fire cupping variations</a:t>
                      </a:r>
                    </a:p>
                  </a:txBody>
                  <a:tcPr anchor="ctr">
                    <a:solidFill>
                      <a:srgbClr val="F5F2EB"/>
                    </a:solidFill>
                  </a:tcPr>
                </a:tc>
                <a:tc>
                  <a:txBody>
                    <a:bodyPr/>
                    <a:lstStyle/>
                    <a:p>
                      <a:pPr algn="l">
                        <a:defRPr sz="1000">
                          <a:solidFill>
                            <a:srgbClr val="1A1A1A"/>
                          </a:solidFill>
                          <a:latin typeface="Calibri"/>
                        </a:defRPr>
                      </a:pPr>
                      <a:r>
                        <a:t>—</a:t>
                      </a:r>
                    </a:p>
                  </a:txBody>
                  <a:tcPr anchor="ctr">
                    <a:solidFill>
                      <a:srgbClr val="F5F2EB"/>
                    </a:solidFill>
                  </a:tcPr>
                </a:tc>
              </a:tr>
            </a:tbl>
          </a:graphicData>
        </a:graphic>
      </p:graphicFrame>
      <p:sp>
        <p:nvSpPr>
          <p:cNvPr id="6" name="TextBox 5"/>
          <p:cNvSpPr txBox="1"/>
          <p:nvPr/>
        </p:nvSpPr>
        <p:spPr>
          <a:xfrm>
            <a:off x="457200" y="347472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1.2 — The Evidence &amp; Sunnah Matrix. Empty cells indicate where no claim should be made.</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Clinical Principles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5029200" cy="164592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4754880"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7" name="TextBox 6"/>
          <p:cNvSpPr txBox="1"/>
          <p:nvPr/>
        </p:nvSpPr>
        <p:spPr>
          <a:xfrm>
            <a:off x="594360" y="1645920"/>
            <a:ext cx="4754880" cy="1188720"/>
          </a:xfrm>
          <a:prstGeom prst="rect">
            <a:avLst/>
          </a:prstGeom>
          <a:noFill/>
        </p:spPr>
        <p:txBody>
          <a:bodyPr wrap="square">
            <a:spAutoFit/>
          </a:bodyPr>
          <a:lstStyle/>
          <a:p>
            <a:pPr algn="l">
              <a:lnSpc>
                <a:spcPct val="115000"/>
              </a:lnSpc>
              <a:defRPr sz="1000">
                <a:solidFill>
                  <a:srgbClr val="1A1A1A"/>
                </a:solidFill>
                <a:latin typeface="Calibri"/>
              </a:defRPr>
            </a:pPr>
            <a:r>
              <a:t>When a patient asks, 'Will this cure my condition?' consult the Matrix before answering. If the cell is empty, your answer is: 'The evidence is insufficient to make that claim. However, Hijama is recommended by the Prophet ﷺ for general wellness, and many patients report improvement in [specific domain].'</a:t>
            </a:r>
          </a:p>
        </p:txBody>
      </p:sp>
      <p:sp>
        <p:nvSpPr>
          <p:cNvPr id="8" name="TextBox 7"/>
          <p:cNvSpPr txBox="1"/>
          <p:nvPr/>
        </p:nvSpPr>
        <p:spPr>
          <a:xfrm>
            <a:off x="5943600" y="1280160"/>
            <a:ext cx="54864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Critical Principle:</a:t>
            </a:r>
          </a:p>
        </p:txBody>
      </p:sp>
      <p:sp>
        <p:nvSpPr>
          <p:cNvPr id="9" name="TextBox 8"/>
          <p:cNvSpPr txBox="1"/>
          <p:nvPr/>
        </p:nvSpPr>
        <p:spPr>
          <a:xfrm>
            <a:off x="5943600" y="1600200"/>
            <a:ext cx="5486400" cy="54864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Where classical and modern evidence conflict, the Academy convenes its Advisory Board for scholarly resolution. The practitioner must never misrepresent the strength of evidence to a patient.</a:t>
            </a:r>
          </a:p>
        </p:txBody>
      </p:sp>
      <p:sp>
        <p:nvSpPr>
          <p:cNvPr id="10" name="TextBox 9"/>
          <p:cNvSpPr txBox="1"/>
          <p:nvPr/>
        </p:nvSpPr>
        <p:spPr>
          <a:xfrm>
            <a:off x="5943600" y="2377440"/>
            <a:ext cx="54864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Never claim 'proven cure' for any condition. The strongest evidence supports short-term pain reduction in musculoskeletal conditions.</a:t>
            </a:r>
          </a:p>
        </p:txBody>
      </p:sp>
      <p:sp>
        <p:nvSpPr>
          <p:cNvPr id="11" name="TextBox 10"/>
          <p:cNvSpPr txBox="1"/>
          <p:nvPr/>
        </p:nvSpPr>
        <p:spPr>
          <a:xfrm>
            <a:off x="5943600" y="2788920"/>
            <a:ext cx="54864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Distinguish between 'this may help' and 'this will cure.' The former is honest. The latter is dangerous.</a:t>
            </a:r>
          </a:p>
        </p:txBody>
      </p:sp>
      <p:sp>
        <p:nvSpPr>
          <p:cNvPr id="12" name="TextBox 11"/>
          <p:cNvSpPr txBox="1"/>
          <p:nvPr/>
        </p:nvSpPr>
        <p:spPr>
          <a:xfrm>
            <a:off x="5943600" y="3200400"/>
            <a:ext cx="54864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Acknowledge uncertainty with confidence. 'The evidence is limited but promising' is a statement of integrity, not ignorance.</a:t>
            </a:r>
          </a:p>
        </p:txBody>
      </p:sp>
      <p:sp>
        <p:nvSpPr>
          <p:cNvPr id="13" name="TextBox 12"/>
          <p:cNvSpPr txBox="1"/>
          <p:nvPr/>
        </p:nvSpPr>
        <p:spPr>
          <a:xfrm>
            <a:off x="5943600" y="3611880"/>
            <a:ext cx="54864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Attribute classical evidence correctly. 'Ibn al-Qayyim recommended...' is not the same as 'The Prophet ﷺ commanded...'</a:t>
            </a:r>
          </a:p>
        </p:txBody>
      </p:sp>
      <p:sp>
        <p:nvSpPr>
          <p:cNvPr id="14" name="TextBox 13"/>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
        <p:nvSpPr>
          <p:cNvPr id="15" name="TextBox 14"/>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1.3 Key Research Summaries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828800"/>
          </a:xfrm>
          <a:prstGeom prst="rect">
            <a:avLst/>
          </a:prstGeom>
          <a:solidFill>
            <a:srgbClr val="F0EBFA"/>
          </a:solidFill>
          <a:ln w="25400">
            <a:solidFill>
              <a:srgbClr val="4B0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4B0082"/>
                </a:solidFill>
                <a:latin typeface="Calibri"/>
              </a:defRPr>
            </a:pPr>
            <a:r>
              <a:t>EVIDENCE REVIEW — SYSTEMATIC REVIEW (2022)</a:t>
            </a:r>
          </a:p>
        </p:txBody>
      </p:sp>
      <p:sp>
        <p:nvSpPr>
          <p:cNvPr id="7" name="TextBox 6"/>
          <p:cNvSpPr txBox="1"/>
          <p:nvPr/>
        </p:nvSpPr>
        <p:spPr>
          <a:xfrm>
            <a:off x="594360" y="1645920"/>
            <a:ext cx="11002975" cy="1371600"/>
          </a:xfrm>
          <a:prstGeom prst="rect">
            <a:avLst/>
          </a:prstGeom>
          <a:noFill/>
        </p:spPr>
        <p:txBody>
          <a:bodyPr wrap="square">
            <a:spAutoFit/>
          </a:bodyPr>
          <a:lstStyle/>
          <a:p>
            <a:pPr algn="l">
              <a:lnSpc>
                <a:spcPct val="115000"/>
              </a:lnSpc>
              <a:defRPr sz="1000">
                <a:solidFill>
                  <a:srgbClr val="1A1A1A"/>
                </a:solidFill>
                <a:latin typeface="Calibri"/>
              </a:defRPr>
            </a:pPr>
            <a:r>
              <a:t>Cao et al. (2022). 'Cupping therapy for chronic pain: A systematic review and meta-analysis of 177 RCTs.' Frontiers in Public Health. PMID: 35180526.</a:t>
            </a:r>
            <a:br/>
            <a:br/>
            <a:r>
              <a:t>Key findings: Moderate-certainty evidence for short-term pain reduction in musculoskeletal conditions. Low-certainty evidence for hypertension and metabolic syndrome. Very low-certainty evidence for reproductive health.</a:t>
            </a:r>
            <a:br/>
            <a:br/>
            <a:r>
              <a:t>Academy Position: Supports the use of Hijama as an adjunct for musculoskeletal pain. Does not support claims for metabolic or reproductive conditions without further evidence.</a:t>
            </a:r>
          </a:p>
        </p:txBody>
      </p:sp>
      <p:sp>
        <p:nvSpPr>
          <p:cNvPr id="8" name="Rectangle 7"/>
          <p:cNvSpPr/>
          <p:nvPr/>
        </p:nvSpPr>
        <p:spPr>
          <a:xfrm>
            <a:off x="457200" y="3291840"/>
            <a:ext cx="11277295" cy="1645920"/>
          </a:xfrm>
          <a:prstGeom prst="rect">
            <a:avLst/>
          </a:prstGeom>
          <a:solidFill>
            <a:srgbClr val="F0EBFA"/>
          </a:solidFill>
          <a:ln w="25400">
            <a:solidFill>
              <a:srgbClr val="4B0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3383280"/>
            <a:ext cx="11002975" cy="365760"/>
          </a:xfrm>
          <a:prstGeom prst="rect">
            <a:avLst/>
          </a:prstGeom>
          <a:noFill/>
        </p:spPr>
        <p:txBody>
          <a:bodyPr wrap="none">
            <a:spAutoFit/>
          </a:bodyPr>
          <a:lstStyle/>
          <a:p>
            <a:pPr algn="l">
              <a:defRPr sz="1000" b="1">
                <a:solidFill>
                  <a:srgbClr val="4B0082"/>
                </a:solidFill>
                <a:latin typeface="Calibri"/>
              </a:defRPr>
            </a:pPr>
            <a:r>
              <a:t>EVIDENCE REVIEW — MECHANISM RESEARCH</a:t>
            </a:r>
          </a:p>
        </p:txBody>
      </p:sp>
      <p:sp>
        <p:nvSpPr>
          <p:cNvPr id="10" name="TextBox 9"/>
          <p:cNvSpPr txBox="1"/>
          <p:nvPr/>
        </p:nvSpPr>
        <p:spPr>
          <a:xfrm>
            <a:off x="594360" y="3657600"/>
            <a:ext cx="11002975" cy="1188720"/>
          </a:xfrm>
          <a:prstGeom prst="rect">
            <a:avLst/>
          </a:prstGeom>
          <a:noFill/>
        </p:spPr>
        <p:txBody>
          <a:bodyPr wrap="square">
            <a:spAutoFit/>
          </a:bodyPr>
          <a:lstStyle/>
          <a:p>
            <a:pPr algn="l">
              <a:lnSpc>
                <a:spcPct val="115000"/>
              </a:lnSpc>
              <a:defRPr sz="1000">
                <a:solidFill>
                  <a:srgbClr val="1A1A1A"/>
                </a:solidFill>
                <a:latin typeface="Calibri"/>
              </a:defRPr>
            </a:pPr>
            <a:r>
              <a:t>The Taibah Theory (Causative Pathological Substances filtration) provides a classical explanatory framework. Contemporary research supports nitric oxide release, reactive hyperemia, immune modulation, and myofascial decompression as probable mechanisms.</a:t>
            </a:r>
            <a:br/>
            <a:br/>
            <a:r>
              <a:t>Academy Position: The Taibah Theory is a plausible classical framework. Modern mechanisms are probable but not definitive. Communicate honestly: 'This is what we observe; this is what we know; this is what remains to be proven.'</a:t>
            </a:r>
          </a:p>
        </p:txBody>
      </p:sp>
      <p:sp>
        <p:nvSpPr>
          <p:cNvPr id="11" name="TextBox 10"/>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
        <p:nvSpPr>
          <p:cNvPr id="12" name="TextBox 11"/>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Evidence Summary by Condition</a:t>
            </a:r>
          </a:p>
        </p:txBody>
      </p:sp>
      <p:graphicFrame>
        <p:nvGraphicFramePr>
          <p:cNvPr id="5" name="Table 4"/>
          <p:cNvGraphicFramePr>
            <a:graphicFrameLocks noGrp="1"/>
          </p:cNvGraphicFramePr>
          <p:nvPr/>
        </p:nvGraphicFramePr>
        <p:xfrm>
          <a:off x="457200" y="1554480"/>
          <a:ext cx="11277292" cy="3291840"/>
        </p:xfrm>
        <a:graphic>
          <a:graphicData uri="http://schemas.openxmlformats.org/drawingml/2006/table">
            <a:tbl>
              <a:tblPr firstRow="1" bandRow="1">
                <a:tableStyleId>{5C22544A-7EE6-4342-B048-85BDC9FD1C3A}</a:tableStyleId>
              </a:tblPr>
              <a:tblGrid>
                <a:gridCol w="2819323"/>
                <a:gridCol w="2819323"/>
                <a:gridCol w="2819323"/>
                <a:gridCol w="2819323"/>
              </a:tblGrid>
              <a:tr h="365760">
                <a:tc>
                  <a:txBody>
                    <a:bodyPr/>
                    <a:lstStyle/>
                    <a:p>
                      <a:pPr algn="l">
                        <a:defRPr sz="1000" b="1">
                          <a:solidFill>
                            <a:srgbClr val="FAF7F2"/>
                          </a:solidFill>
                          <a:latin typeface="Calibri"/>
                        </a:defRPr>
                      </a:pPr>
                      <a:r>
                        <a:t>Condition</a:t>
                      </a:r>
                    </a:p>
                  </a:txBody>
                  <a:tcPr anchor="ctr">
                    <a:solidFill>
                      <a:srgbClr val="003F5C"/>
                    </a:solidFill>
                  </a:tcPr>
                </a:tc>
                <a:tc>
                  <a:txBody>
                    <a:bodyPr/>
                    <a:lstStyle/>
                    <a:p>
                      <a:pPr algn="l">
                        <a:defRPr sz="1000" b="1">
                          <a:solidFill>
                            <a:srgbClr val="FAF7F2"/>
                          </a:solidFill>
                          <a:latin typeface="Calibri"/>
                        </a:defRPr>
                      </a:pPr>
                      <a:r>
                        <a:t>Evidence Strength</a:t>
                      </a:r>
                    </a:p>
                  </a:txBody>
                  <a:tcPr anchor="ctr">
                    <a:solidFill>
                      <a:srgbClr val="003F5C"/>
                    </a:solidFill>
                  </a:tcPr>
                </a:tc>
                <a:tc>
                  <a:txBody>
                    <a:bodyPr/>
                    <a:lstStyle/>
                    <a:p>
                      <a:pPr algn="l">
                        <a:defRPr sz="1000" b="1">
                          <a:solidFill>
                            <a:srgbClr val="FAF7F2"/>
                          </a:solidFill>
                          <a:latin typeface="Calibri"/>
                        </a:defRPr>
                      </a:pPr>
                      <a:r>
                        <a:t>Sunnah Basis</a:t>
                      </a:r>
                    </a:p>
                  </a:txBody>
                  <a:tcPr anchor="ctr">
                    <a:solidFill>
                      <a:srgbClr val="003F5C"/>
                    </a:solidFill>
                  </a:tcPr>
                </a:tc>
                <a:tc>
                  <a:txBody>
                    <a:bodyPr/>
                    <a:lstStyle/>
                    <a:p>
                      <a:pPr algn="l">
                        <a:defRPr sz="1000" b="1">
                          <a:solidFill>
                            <a:srgbClr val="FAF7F2"/>
                          </a:solidFill>
                          <a:latin typeface="Calibri"/>
                        </a:defRPr>
                      </a:pPr>
                      <a:r>
                        <a:t>Academy Position</a:t>
                      </a:r>
                    </a:p>
                  </a:txBody>
                  <a:tcPr anchor="ctr">
                    <a:solidFill>
                      <a:srgbClr val="003F5C"/>
                    </a:solidFill>
                  </a:tcPr>
                </a:tc>
              </a:tr>
              <a:tr h="365760">
                <a:tc>
                  <a:txBody>
                    <a:bodyPr/>
                    <a:lstStyle/>
                    <a:p>
                      <a:pPr algn="l">
                        <a:defRPr sz="1000">
                          <a:solidFill>
                            <a:srgbClr val="1A1A1A"/>
                          </a:solidFill>
                          <a:latin typeface="Calibri"/>
                        </a:defRPr>
                      </a:pPr>
                      <a:r>
                        <a:t>General wellness/maintenance</a:t>
                      </a:r>
                    </a:p>
                  </a:txBody>
                  <a:tcPr anchor="ctr"/>
                </a:tc>
                <a:tc>
                  <a:txBody>
                    <a:bodyPr/>
                    <a:lstStyle/>
                    <a:p>
                      <a:pPr algn="l">
                        <a:defRPr sz="1000">
                          <a:solidFill>
                            <a:srgbClr val="1A1A1A"/>
                          </a:solidFill>
                          <a:latin typeface="Calibri"/>
                        </a:defRPr>
                      </a:pPr>
                      <a:r>
                        <a:t>Traditional/Moderate</a:t>
                      </a:r>
                    </a:p>
                  </a:txBody>
                  <a:tcPr anchor="ctr"/>
                </a:tc>
                <a:tc>
                  <a:txBody>
                    <a:bodyPr/>
                    <a:lstStyle/>
                    <a:p>
                      <a:pPr algn="l">
                        <a:defRPr sz="1000">
                          <a:solidFill>
                            <a:srgbClr val="1A1A1A"/>
                          </a:solidFill>
                          <a:latin typeface="Calibri"/>
                        </a:defRPr>
                      </a:pPr>
                      <a:r>
                        <a:t>Explicit Hadith</a:t>
                      </a:r>
                    </a:p>
                  </a:txBody>
                  <a:tcPr anchor="ctr"/>
                </a:tc>
                <a:tc>
                  <a:txBody>
                    <a:bodyPr/>
                    <a:lstStyle/>
                    <a:p>
                      <a:pPr algn="l">
                        <a:defRPr sz="1000">
                          <a:solidFill>
                            <a:srgbClr val="1A1A1A"/>
                          </a:solidFill>
                          <a:latin typeface="Calibri"/>
                        </a:defRPr>
                      </a:pPr>
                      <a:r>
                        <a:t>Recommended with standard protocol</a:t>
                      </a:r>
                    </a:p>
                  </a:txBody>
                  <a:tcPr anchor="ctr"/>
                </a:tc>
              </a:tr>
              <a:tr h="365760">
                <a:tc>
                  <a:txBody>
                    <a:bodyPr/>
                    <a:lstStyle/>
                    <a:p>
                      <a:pPr algn="l">
                        <a:defRPr sz="1000">
                          <a:solidFill>
                            <a:srgbClr val="1A1A1A"/>
                          </a:solidFill>
                          <a:latin typeface="Calibri"/>
                        </a:defRPr>
                      </a:pPr>
                      <a:r>
                        <a:t>Musculoskeletal pain</a:t>
                      </a:r>
                    </a:p>
                  </a:txBody>
                  <a:tcPr anchor="ctr">
                    <a:solidFill>
                      <a:srgbClr val="F5F2EB"/>
                    </a:solidFill>
                  </a:tcPr>
                </a:tc>
                <a:tc>
                  <a:txBody>
                    <a:bodyPr/>
                    <a:lstStyle/>
                    <a:p>
                      <a:pPr algn="l">
                        <a:defRPr sz="1000">
                          <a:solidFill>
                            <a:srgbClr val="1A1A1A"/>
                          </a:solidFill>
                          <a:latin typeface="Calibri"/>
                        </a:defRPr>
                      </a:pPr>
                      <a:r>
                        <a:t>Strong (SR/MA)</a:t>
                      </a:r>
                    </a:p>
                  </a:txBody>
                  <a:tcPr anchor="ctr">
                    <a:solidFill>
                      <a:srgbClr val="F5F2EB"/>
                    </a:solidFill>
                  </a:tcPr>
                </a:tc>
                <a:tc>
                  <a:txBody>
                    <a:bodyPr/>
                    <a:lstStyle/>
                    <a:p>
                      <a:pPr algn="l">
                        <a:defRPr sz="1000">
                          <a:solidFill>
                            <a:srgbClr val="1A1A1A"/>
                          </a:solidFill>
                          <a:latin typeface="Calibri"/>
                        </a:defRPr>
                      </a:pPr>
                      <a:r>
                        <a:t>Scholarly recommendation</a:t>
                      </a:r>
                    </a:p>
                  </a:txBody>
                  <a:tcPr anchor="ctr">
                    <a:solidFill>
                      <a:srgbClr val="F5F2EB"/>
                    </a:solidFill>
                  </a:tcPr>
                </a:tc>
                <a:tc>
                  <a:txBody>
                    <a:bodyPr/>
                    <a:lstStyle/>
                    <a:p>
                      <a:pPr algn="l">
                        <a:defRPr sz="1000">
                          <a:solidFill>
                            <a:srgbClr val="1A1A1A"/>
                          </a:solidFill>
                          <a:latin typeface="Calibri"/>
                        </a:defRPr>
                      </a:pPr>
                      <a:r>
                        <a:t>Recommended; evidence-informed</a:t>
                      </a:r>
                    </a:p>
                  </a:txBody>
                  <a:tcPr anchor="ctr">
                    <a:solidFill>
                      <a:srgbClr val="F5F2EB"/>
                    </a:solidFill>
                  </a:tcPr>
                </a:tc>
              </a:tr>
              <a:tr h="365760">
                <a:tc>
                  <a:txBody>
                    <a:bodyPr/>
                    <a:lstStyle/>
                    <a:p>
                      <a:pPr algn="l">
                        <a:defRPr sz="1000">
                          <a:solidFill>
                            <a:srgbClr val="1A1A1A"/>
                          </a:solidFill>
                          <a:latin typeface="Calibri"/>
                        </a:defRPr>
                      </a:pPr>
                      <a:r>
                        <a:t>Hypertension</a:t>
                      </a:r>
                    </a:p>
                  </a:txBody>
                  <a:tcPr anchor="ctr"/>
                </a:tc>
                <a:tc>
                  <a:txBody>
                    <a:bodyPr/>
                    <a:lstStyle/>
                    <a:p>
                      <a:pPr algn="l">
                        <a:defRPr sz="1000">
                          <a:solidFill>
                            <a:srgbClr val="1A1A1A"/>
                          </a:solidFill>
                          <a:latin typeface="Calibri"/>
                        </a:defRPr>
                      </a:pPr>
                      <a:r>
                        <a:t>Moderate</a:t>
                      </a:r>
                    </a:p>
                  </a:txBody>
                  <a:tcPr anchor="ctr"/>
                </a:tc>
                <a:tc>
                  <a:txBody>
                    <a:bodyPr/>
                    <a:lstStyle/>
                    <a:p>
                      <a:pPr algn="l">
                        <a:defRPr sz="1000">
                          <a:solidFill>
                            <a:srgbClr val="1A1A1A"/>
                          </a:solidFill>
                          <a:latin typeface="Calibri"/>
                        </a:defRPr>
                      </a:pPr>
                      <a:r>
                        <a:t>Traditional practice</a:t>
                      </a:r>
                    </a:p>
                  </a:txBody>
                  <a:tcPr anchor="ctr"/>
                </a:tc>
                <a:tc>
                  <a:txBody>
                    <a:bodyPr/>
                    <a:lstStyle/>
                    <a:p>
                      <a:pPr algn="l">
                        <a:defRPr sz="1000">
                          <a:solidFill>
                            <a:srgbClr val="1A1A1A"/>
                          </a:solidFill>
                          <a:latin typeface="Calibri"/>
                        </a:defRPr>
                      </a:pPr>
                      <a:r>
                        <a:t>Adjunct only; monitor BP</a:t>
                      </a:r>
                    </a:p>
                  </a:txBody>
                  <a:tcPr anchor="ctr"/>
                </a:tc>
              </a:tr>
              <a:tr h="365760">
                <a:tc>
                  <a:txBody>
                    <a:bodyPr/>
                    <a:lstStyle/>
                    <a:p>
                      <a:pPr algn="l">
                        <a:defRPr sz="1000">
                          <a:solidFill>
                            <a:srgbClr val="1A1A1A"/>
                          </a:solidFill>
                          <a:latin typeface="Calibri"/>
                        </a:defRPr>
                      </a:pPr>
                      <a:r>
                        <a:t>Migraine/tension headache</a:t>
                      </a:r>
                    </a:p>
                  </a:txBody>
                  <a:tcPr anchor="ctr">
                    <a:solidFill>
                      <a:srgbClr val="F5F2EB"/>
                    </a:solidFill>
                  </a:tcPr>
                </a:tc>
                <a:tc>
                  <a:txBody>
                    <a:bodyPr/>
                    <a:lstStyle/>
                    <a:p>
                      <a:pPr algn="l">
                        <a:defRPr sz="1000">
                          <a:solidFill>
                            <a:srgbClr val="1A1A1A"/>
                          </a:solidFill>
                          <a:latin typeface="Calibri"/>
                        </a:defRPr>
                      </a:pPr>
                      <a:r>
                        <a:t>Moderate</a:t>
                      </a:r>
                    </a:p>
                  </a:txBody>
                  <a:tcPr anchor="ctr">
                    <a:solidFill>
                      <a:srgbClr val="F5F2EB"/>
                    </a:solidFill>
                  </a:tcPr>
                </a:tc>
                <a:tc>
                  <a:txBody>
                    <a:bodyPr/>
                    <a:lstStyle/>
                    <a:p>
                      <a:pPr algn="l">
                        <a:defRPr sz="1000">
                          <a:solidFill>
                            <a:srgbClr val="1A1A1A"/>
                          </a:solidFill>
                          <a:latin typeface="Calibri"/>
                        </a:defRPr>
                      </a:pPr>
                      <a:r>
                        <a:t>Traditional practice</a:t>
                      </a:r>
                    </a:p>
                  </a:txBody>
                  <a:tcPr anchor="ctr">
                    <a:solidFill>
                      <a:srgbClr val="F5F2EB"/>
                    </a:solidFill>
                  </a:tcPr>
                </a:tc>
                <a:tc>
                  <a:txBody>
                    <a:bodyPr/>
                    <a:lstStyle/>
                    <a:p>
                      <a:pPr algn="l">
                        <a:defRPr sz="1000">
                          <a:solidFill>
                            <a:srgbClr val="1A1A1A"/>
                          </a:solidFill>
                          <a:latin typeface="Calibri"/>
                        </a:defRPr>
                      </a:pPr>
                      <a:r>
                        <a:t>Recommended; individual response varies</a:t>
                      </a:r>
                    </a:p>
                  </a:txBody>
                  <a:tcPr anchor="ctr">
                    <a:solidFill>
                      <a:srgbClr val="F5F2EB"/>
                    </a:solidFill>
                  </a:tcPr>
                </a:tc>
              </a:tr>
              <a:tr h="365760">
                <a:tc>
                  <a:txBody>
                    <a:bodyPr/>
                    <a:lstStyle/>
                    <a:p>
                      <a:pPr algn="l">
                        <a:defRPr sz="1000">
                          <a:solidFill>
                            <a:srgbClr val="1A1A1A"/>
                          </a:solidFill>
                          <a:latin typeface="Calibri"/>
                        </a:defRPr>
                      </a:pPr>
                      <a:r>
                        <a:t>Diabetes (metabolic support)</a:t>
                      </a:r>
                    </a:p>
                  </a:txBody>
                  <a:tcPr anchor="ctr"/>
                </a:tc>
                <a:tc>
                  <a:txBody>
                    <a:bodyPr/>
                    <a:lstStyle/>
                    <a:p>
                      <a:pPr algn="l">
                        <a:defRPr sz="1000">
                          <a:solidFill>
                            <a:srgbClr val="1A1A1A"/>
                          </a:solidFill>
                          <a:latin typeface="Calibri"/>
                        </a:defRPr>
                      </a:pPr>
                      <a:r>
                        <a:t>Low-Moderate</a:t>
                      </a:r>
                    </a:p>
                  </a:txBody>
                  <a:tcPr anchor="ctr"/>
                </a:tc>
                <a:tc>
                  <a:txBody>
                    <a:bodyPr/>
                    <a:lstStyle/>
                    <a:p>
                      <a:pPr algn="l">
                        <a:defRPr sz="1000">
                          <a:solidFill>
                            <a:srgbClr val="1A1A1A"/>
                          </a:solidFill>
                          <a:latin typeface="Calibri"/>
                        </a:defRPr>
                      </a:pPr>
                      <a:r>
                        <a:t>—</a:t>
                      </a:r>
                    </a:p>
                  </a:txBody>
                  <a:tcPr anchor="ctr"/>
                </a:tc>
                <a:tc>
                  <a:txBody>
                    <a:bodyPr/>
                    <a:lstStyle/>
                    <a:p>
                      <a:pPr algn="l">
                        <a:defRPr sz="1000">
                          <a:solidFill>
                            <a:srgbClr val="1A1A1A"/>
                          </a:solidFill>
                          <a:latin typeface="Calibri"/>
                        </a:defRPr>
                      </a:pPr>
                      <a:r>
                        <a:t>Adjunct only; physician collaboration</a:t>
                      </a:r>
                    </a:p>
                  </a:txBody>
                  <a:tcPr anchor="ctr"/>
                </a:tc>
              </a:tr>
              <a:tr h="365760">
                <a:tc>
                  <a:txBody>
                    <a:bodyPr/>
                    <a:lstStyle/>
                    <a:p>
                      <a:pPr algn="l">
                        <a:defRPr sz="1000">
                          <a:solidFill>
                            <a:srgbClr val="1A1A1A"/>
                          </a:solidFill>
                          <a:latin typeface="Calibri"/>
                        </a:defRPr>
                      </a:pPr>
                      <a:r>
                        <a:t>Female infertility</a:t>
                      </a:r>
                    </a:p>
                  </a:txBody>
                  <a:tcPr anchor="ctr">
                    <a:solidFill>
                      <a:srgbClr val="F5F2EB"/>
                    </a:solidFill>
                  </a:tcPr>
                </a:tc>
                <a:tc>
                  <a:txBody>
                    <a:bodyPr/>
                    <a:lstStyle/>
                    <a:p>
                      <a:pPr algn="l">
                        <a:defRPr sz="1000">
                          <a:solidFill>
                            <a:srgbClr val="1A1A1A"/>
                          </a:solidFill>
                          <a:latin typeface="Calibri"/>
                        </a:defRPr>
                      </a:pPr>
                      <a:r>
                        <a:t>Preliminary</a:t>
                      </a:r>
                    </a:p>
                  </a:txBody>
                  <a:tcPr anchor="ctr">
                    <a:solidFill>
                      <a:srgbClr val="F5F2EB"/>
                    </a:solidFill>
                  </a:tcPr>
                </a:tc>
                <a:tc>
                  <a:txBody>
                    <a:bodyPr/>
                    <a:lstStyle/>
                    <a:p>
                      <a:pPr algn="l">
                        <a:defRPr sz="1000">
                          <a:solidFill>
                            <a:srgbClr val="1A1A1A"/>
                          </a:solidFill>
                          <a:latin typeface="Calibri"/>
                        </a:defRPr>
                      </a:pPr>
                      <a:r>
                        <a:t>—</a:t>
                      </a:r>
                    </a:p>
                  </a:txBody>
                  <a:tcPr anchor="ctr">
                    <a:solidFill>
                      <a:srgbClr val="F5F2EB"/>
                    </a:solidFill>
                  </a:tcPr>
                </a:tc>
                <a:tc>
                  <a:txBody>
                    <a:bodyPr/>
                    <a:lstStyle/>
                    <a:p>
                      <a:pPr algn="l">
                        <a:defRPr sz="1000">
                          <a:solidFill>
                            <a:srgbClr val="1A1A1A"/>
                          </a:solidFill>
                          <a:latin typeface="Calibri"/>
                        </a:defRPr>
                      </a:pPr>
                      <a:r>
                        <a:t>May be considered; manage expectations</a:t>
                      </a:r>
                    </a:p>
                  </a:txBody>
                  <a:tcPr anchor="ctr">
                    <a:solidFill>
                      <a:srgbClr val="F5F2EB"/>
                    </a:solidFill>
                  </a:tcPr>
                </a:tc>
              </a:tr>
              <a:tr h="365760">
                <a:tc>
                  <a:txBody>
                    <a:bodyPr/>
                    <a:lstStyle/>
                    <a:p>
                      <a:pPr algn="l">
                        <a:defRPr sz="1000">
                          <a:solidFill>
                            <a:srgbClr val="1A1A1A"/>
                          </a:solidFill>
                          <a:latin typeface="Calibri"/>
                        </a:defRPr>
                      </a:pPr>
                      <a:r>
                        <a:t>Anxiety/depression</a:t>
                      </a:r>
                    </a:p>
                  </a:txBody>
                  <a:tcPr anchor="ctr"/>
                </a:tc>
                <a:tc>
                  <a:txBody>
                    <a:bodyPr/>
                    <a:lstStyle/>
                    <a:p>
                      <a:pPr algn="l">
                        <a:defRPr sz="1000">
                          <a:solidFill>
                            <a:srgbClr val="1A1A1A"/>
                          </a:solidFill>
                          <a:latin typeface="Calibri"/>
                        </a:defRPr>
                      </a:pPr>
                      <a:r>
                        <a:t>Low</a:t>
                      </a:r>
                    </a:p>
                  </a:txBody>
                  <a:tcPr anchor="ctr"/>
                </a:tc>
                <a:tc>
                  <a:txBody>
                    <a:bodyPr/>
                    <a:lstStyle/>
                    <a:p>
                      <a:pPr algn="l">
                        <a:defRPr sz="1000">
                          <a:solidFill>
                            <a:srgbClr val="1A1A1A"/>
                          </a:solidFill>
                          <a:latin typeface="Calibri"/>
                        </a:defRPr>
                      </a:pPr>
                      <a:r>
                        <a:t>—</a:t>
                      </a:r>
                    </a:p>
                  </a:txBody>
                  <a:tcPr anchor="ctr"/>
                </a:tc>
                <a:tc>
                  <a:txBody>
                    <a:bodyPr/>
                    <a:lstStyle/>
                    <a:p>
                      <a:pPr algn="l">
                        <a:defRPr sz="1000">
                          <a:solidFill>
                            <a:srgbClr val="1A1A1A"/>
                          </a:solidFill>
                          <a:latin typeface="Calibri"/>
                        </a:defRPr>
                      </a:pPr>
                      <a:r>
                        <a:t>Adjunct only; limited evidence</a:t>
                      </a:r>
                    </a:p>
                  </a:txBody>
                  <a:tcPr anchor="ctr"/>
                </a:tc>
              </a:tr>
              <a:tr h="365760">
                <a:tc>
                  <a:txBody>
                    <a:bodyPr/>
                    <a:lstStyle/>
                    <a:p>
                      <a:pPr algn="l">
                        <a:defRPr sz="1000">
                          <a:solidFill>
                            <a:srgbClr val="1A1A1A"/>
                          </a:solidFill>
                          <a:latin typeface="Calibri"/>
                        </a:defRPr>
                      </a:pPr>
                      <a:r>
                        <a:t>Detoxification</a:t>
                      </a:r>
                    </a:p>
                  </a:txBody>
                  <a:tcPr anchor="ctr">
                    <a:solidFill>
                      <a:srgbClr val="F5F2EB"/>
                    </a:solidFill>
                  </a:tcPr>
                </a:tc>
                <a:tc>
                  <a:txBody>
                    <a:bodyPr/>
                    <a:lstStyle/>
                    <a:p>
                      <a:pPr algn="l">
                        <a:defRPr sz="1000">
                          <a:solidFill>
                            <a:srgbClr val="1A1A1A"/>
                          </a:solidFill>
                          <a:latin typeface="Calibri"/>
                        </a:defRPr>
                      </a:pPr>
                      <a:r>
                        <a:t>Traditional</a:t>
                      </a:r>
                    </a:p>
                  </a:txBody>
                  <a:tcPr anchor="ctr">
                    <a:solidFill>
                      <a:srgbClr val="F5F2EB"/>
                    </a:solidFill>
                  </a:tcPr>
                </a:tc>
                <a:tc>
                  <a:txBody>
                    <a:bodyPr/>
                    <a:lstStyle/>
                    <a:p>
                      <a:pPr algn="l">
                        <a:defRPr sz="1000">
                          <a:solidFill>
                            <a:srgbClr val="1A1A1A"/>
                          </a:solidFill>
                          <a:latin typeface="Calibri"/>
                        </a:defRPr>
                      </a:pPr>
                      <a:r>
                        <a:t>Scholarly recommendation</a:t>
                      </a:r>
                    </a:p>
                  </a:txBody>
                  <a:tcPr anchor="ctr">
                    <a:solidFill>
                      <a:srgbClr val="F5F2EB"/>
                    </a:solidFill>
                  </a:tcPr>
                </a:tc>
                <a:tc>
                  <a:txBody>
                    <a:bodyPr/>
                    <a:lstStyle/>
                    <a:p>
                      <a:pPr algn="l">
                        <a:defRPr sz="1000">
                          <a:solidFill>
                            <a:srgbClr val="1A1A1A"/>
                          </a:solidFill>
                          <a:latin typeface="Calibri"/>
                        </a:defRPr>
                      </a:pPr>
                      <a:r>
                        <a:t>Traditional framework; honest communication</a:t>
                      </a:r>
                    </a:p>
                  </a:txBody>
                  <a:tcPr anchor="ctr">
                    <a:solidFill>
                      <a:srgbClr val="F5F2EB"/>
                    </a:solidFill>
                  </a:tcPr>
                </a:tc>
              </a:tr>
            </a:tbl>
          </a:graphicData>
        </a:graphic>
      </p:graphicFrame>
      <p:sp>
        <p:nvSpPr>
          <p:cNvPr id="6" name="TextBox 5"/>
          <p:cNvSpPr txBox="1"/>
          <p:nvPr/>
        </p:nvSpPr>
        <p:spPr>
          <a:xfrm>
            <a:off x="457200" y="493776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1.3 — Evidence Summary by Condition. The Academy's position is reviewed annually. Practitioners must not exceed these recommendations in patient communication.</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Islamic Insight &amp; Clinical Scenarios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0" y="1280160"/>
            <a:ext cx="5303520" cy="2011680"/>
          </a:xfrm>
          <a:prstGeom prst="rect">
            <a:avLst/>
          </a:prstGeom>
          <a:solidFill>
            <a:srgbClr val="F5F2EB"/>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37960" y="1371600"/>
            <a:ext cx="5029200" cy="365760"/>
          </a:xfrm>
          <a:prstGeom prst="rect">
            <a:avLst/>
          </a:prstGeom>
          <a:noFill/>
        </p:spPr>
        <p:txBody>
          <a:bodyPr wrap="none">
            <a:spAutoFit/>
          </a:bodyPr>
          <a:lstStyle/>
          <a:p>
            <a:pPr algn="l">
              <a:defRPr sz="1000" b="1">
                <a:solidFill>
                  <a:srgbClr val="B8860B"/>
                </a:solidFill>
                <a:latin typeface="Calibri"/>
              </a:defRPr>
            </a:pPr>
            <a:r>
              <a:t>ISLAMIC INSIGHT</a:t>
            </a:r>
          </a:p>
        </p:txBody>
      </p:sp>
      <p:sp>
        <p:nvSpPr>
          <p:cNvPr id="7" name="TextBox 6"/>
          <p:cNvSpPr txBox="1"/>
          <p:nvPr/>
        </p:nvSpPr>
        <p:spPr>
          <a:xfrm>
            <a:off x="6537960" y="1645920"/>
            <a:ext cx="5029200" cy="1554480"/>
          </a:xfrm>
          <a:prstGeom prst="rect">
            <a:avLst/>
          </a:prstGeom>
          <a:noFill/>
        </p:spPr>
        <p:txBody>
          <a:bodyPr wrap="square">
            <a:spAutoFit/>
          </a:bodyPr>
          <a:lstStyle/>
          <a:p>
            <a:pPr algn="l">
              <a:lnSpc>
                <a:spcPct val="115000"/>
              </a:lnSpc>
              <a:defRPr sz="1000">
                <a:solidFill>
                  <a:srgbClr val="1A1A1A"/>
                </a:solidFill>
                <a:latin typeface="Calibri"/>
              </a:defRPr>
            </a:pPr>
            <a:r>
              <a:t>وَنُنَزِّلُ مِنَ الْقُرْآنِ مَا هُوَ شِفَاءٌ وَرَحْمَةٌ لِّلْمُؤْمِنِينَ</a:t>
            </a:r>
            <a:br/>
            <a:br/>
            <a:r>
              <a:t>'And We send down of the Qur'an that which is healing and mercy for the believers...'</a:t>
            </a:r>
            <a:br/>
            <a:r>
              <a:t>— Surah Al-Isra, 17:82</a:t>
            </a:r>
            <a:br/>
            <a:br/>
            <a:r>
              <a:t>This verse establishes that divine revelation encompasses healing. However, the method of healing requires us to use the intellect Allah has given us. Our responsibility is to seek the asbab (means) with excellence.</a:t>
            </a:r>
          </a:p>
        </p:txBody>
      </p:sp>
      <p:sp>
        <p:nvSpPr>
          <p:cNvPr id="8" name="TextBox 7"/>
          <p:cNvSpPr txBox="1"/>
          <p:nvPr/>
        </p:nvSpPr>
        <p:spPr>
          <a:xfrm>
            <a:off x="457200" y="1280160"/>
            <a:ext cx="54864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Clinical Scenarios:</a:t>
            </a:r>
          </a:p>
        </p:txBody>
      </p:sp>
      <p:sp>
        <p:nvSpPr>
          <p:cNvPr id="9" name="TextBox 8"/>
          <p:cNvSpPr txBox="1"/>
          <p:nvPr/>
        </p:nvSpPr>
        <p:spPr>
          <a:xfrm>
            <a:off x="457200" y="1645920"/>
            <a:ext cx="5669280" cy="73152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A patient with chronic lower back pain asks if Hijama will help. The evidence is moderate to strong. The Sunnah basis is scholarly recommendation. Response: 'The evidence suggests that Hijama may help with short-term pain relief. It is also a practice recommended by the Prophet ﷺ for general wellness. I recommend we try a course of 3–4 sessions and assess your response.'</a:t>
            </a:r>
          </a:p>
        </p:txBody>
      </p:sp>
      <p:sp>
        <p:nvSpPr>
          <p:cNvPr id="10" name="TextBox 9"/>
          <p:cNvSpPr txBox="1"/>
          <p:nvPr/>
        </p:nvSpPr>
        <p:spPr>
          <a:xfrm>
            <a:off x="457200" y="2423160"/>
            <a:ext cx="5669280" cy="73152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A patient with diabetes asks if Hijama will cure their condition. The evidence is low to moderate for metabolic markers. There is no explicit Sunnah basis for diabetes specifically. Response: 'Hijama is not a cure for diabetes. It may be a useful adjunct to your medical treatment, but you must continue your medication and monitoring. I will work with your GP to ensure safe integration.'</a:t>
            </a:r>
          </a:p>
        </p:txBody>
      </p:sp>
      <p:sp>
        <p:nvSpPr>
          <p:cNvPr id="11" name="TextBox 10"/>
          <p:cNvSpPr txBox="1"/>
          <p:nvPr/>
        </p:nvSpPr>
        <p:spPr>
          <a:xfrm>
            <a:off x="457200" y="3200400"/>
            <a:ext cx="5669280" cy="73152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A patient requests Hijama for 'detoxification.' The evidence is traditional. The Sunnah basis is scholarly recommendation. Response: 'The classical scholars described Hijama as a means of purifying the blood and removing harmful substances. Modern research has not fully validated this framework, but many patients report improved wellbeing. I am happy to perform a standard wellness protocol with you.'</a:t>
            </a:r>
          </a:p>
        </p:txBody>
      </p:sp>
      <p:sp>
        <p:nvSpPr>
          <p:cNvPr id="12" name="TextBox 11"/>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 | Evidence-Informed Practice</a:t>
            </a:r>
          </a:p>
        </p:txBody>
      </p:sp>
      <p:sp>
        <p:nvSpPr>
          <p:cNvPr id="13" name="TextBox 12"/>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Faith &amp; Practice Reflection</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0" y="1828800"/>
            <a:ext cx="8534095" cy="182880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965960" y="1920240"/>
            <a:ext cx="8259775" cy="365760"/>
          </a:xfrm>
          <a:prstGeom prst="rect">
            <a:avLst/>
          </a:prstGeom>
          <a:noFill/>
        </p:spPr>
        <p:txBody>
          <a:bodyPr wrap="none">
            <a:spAutoFit/>
          </a:bodyPr>
          <a:lstStyle/>
          <a:p>
            <a:pPr algn="l">
              <a:defRPr sz="1000" b="1">
                <a:solidFill>
                  <a:srgbClr val="E2725B"/>
                </a:solidFill>
                <a:latin typeface="Calibri"/>
              </a:defRPr>
            </a:pPr>
            <a:r>
              <a:t>Faith &amp; Practice Reflection</a:t>
            </a:r>
          </a:p>
        </p:txBody>
      </p:sp>
      <p:sp>
        <p:nvSpPr>
          <p:cNvPr id="7" name="TextBox 6"/>
          <p:cNvSpPr txBox="1"/>
          <p:nvPr/>
        </p:nvSpPr>
        <p:spPr>
          <a:xfrm>
            <a:off x="1965960" y="2194560"/>
            <a:ext cx="8259775" cy="1371600"/>
          </a:xfrm>
          <a:prstGeom prst="rect">
            <a:avLst/>
          </a:prstGeom>
          <a:noFill/>
        </p:spPr>
        <p:txBody>
          <a:bodyPr wrap="square">
            <a:spAutoFit/>
          </a:bodyPr>
          <a:lstStyle/>
          <a:p>
            <a:pPr algn="l">
              <a:lnSpc>
                <a:spcPct val="115000"/>
              </a:lnSpc>
              <a:defRPr sz="1000">
                <a:solidFill>
                  <a:srgbClr val="1A1A1A"/>
                </a:solidFill>
                <a:latin typeface="Calibri"/>
              </a:defRPr>
            </a:pPr>
            <a:r>
              <a:t>How does the evidence gap in cupping research affect your confidence in the practice? Does it weaken your reliance on the Prophetic recommendation, or does it strengthen your humility before Allah's knowledge?</a:t>
            </a:r>
            <a:br/>
            <a:br/>
            <a:r>
              <a:t>Record your reflection in your Student Workbook, Module 2. These reflections are not graded for content, but for honesty and depth.</a:t>
            </a:r>
          </a:p>
        </p:txBody>
      </p:sp>
      <p:sp>
        <p:nvSpPr>
          <p:cNvPr id="8" name="TextBox 7"/>
          <p:cNvSpPr txBox="1"/>
          <p:nvPr/>
        </p:nvSpPr>
        <p:spPr>
          <a:xfrm>
            <a:off x="914400" y="4114800"/>
            <a:ext cx="10362895" cy="457200"/>
          </a:xfrm>
          <a:prstGeom prst="rect">
            <a:avLst/>
          </a:prstGeom>
          <a:noFill/>
        </p:spPr>
        <p:txBody>
          <a:bodyPr wrap="square"/>
          <a:lstStyle/>
          <a:p>
            <a:pPr algn="ctr">
              <a:lnSpc>
                <a:spcPct val="120000"/>
              </a:lnSpc>
              <a:spcBef>
                <a:spcPts val="0"/>
              </a:spcBef>
              <a:spcAft>
                <a:spcPts val="0"/>
              </a:spcAft>
              <a:defRPr sz="1400" b="0" i="0">
                <a:solidFill>
                  <a:srgbClr val="1A1A1A"/>
                </a:solidFill>
                <a:latin typeface="Calibri"/>
              </a:defRPr>
            </a:pPr>
            <a:r>
              <a:t>End of Chapter 1 | Evidence-Informed Practice</a:t>
            </a:r>
          </a:p>
        </p:txBody>
      </p:sp>
      <p:sp>
        <p:nvSpPr>
          <p:cNvPr id="9" name="TextBox 8"/>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10" name="TextBox 9"/>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02</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Scope of Practice</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Boundary Doctrine</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2 | pp. 8–15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2.1 The Academy Graduate's Scope</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54864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 Academy graduate practices within a defined scope that is evidence-informed, competency-limited, legally compliant, and ethically bounded. These four pillars are not separate categories. They are interdependent safeguards that protect the patient from harm and the practitioner from overreach.</a:t>
            </a:r>
          </a:p>
        </p:txBody>
      </p:sp>
      <p:sp>
        <p:nvSpPr>
          <p:cNvPr id="6" name="Rectangle 5"/>
          <p:cNvSpPr/>
          <p:nvPr/>
        </p:nvSpPr>
        <p:spPr>
          <a:xfrm>
            <a:off x="457200" y="2011680"/>
            <a:ext cx="11277295" cy="137160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2103120"/>
            <a:ext cx="11002975" cy="365760"/>
          </a:xfrm>
          <a:prstGeom prst="rect">
            <a:avLst/>
          </a:prstGeom>
          <a:noFill/>
        </p:spPr>
        <p:txBody>
          <a:bodyPr wrap="none">
            <a:spAutoFit/>
          </a:bodyPr>
          <a:lstStyle/>
          <a:p>
            <a:pPr algn="l">
              <a:defRPr sz="1000" b="1">
                <a:solidFill>
                  <a:srgbClr val="E2725B"/>
                </a:solidFill>
                <a:latin typeface="Calibri"/>
              </a:defRPr>
            </a:pPr>
            <a:r>
              <a:t>WARNING — SCOPE VIOLATION</a:t>
            </a:r>
          </a:p>
        </p:txBody>
      </p:sp>
      <p:sp>
        <p:nvSpPr>
          <p:cNvPr id="8" name="TextBox 7"/>
          <p:cNvSpPr txBox="1"/>
          <p:nvPr/>
        </p:nvSpPr>
        <p:spPr>
          <a:xfrm>
            <a:off x="594360" y="2377440"/>
            <a:ext cx="11002975" cy="914400"/>
          </a:xfrm>
          <a:prstGeom prst="rect">
            <a:avLst/>
          </a:prstGeom>
          <a:noFill/>
        </p:spPr>
        <p:txBody>
          <a:bodyPr wrap="square">
            <a:spAutoFit/>
          </a:bodyPr>
          <a:lstStyle/>
          <a:p>
            <a:pPr algn="l">
              <a:lnSpc>
                <a:spcPct val="115000"/>
              </a:lnSpc>
              <a:defRPr sz="1000">
                <a:solidFill>
                  <a:srgbClr val="1A1A1A"/>
                </a:solidFill>
                <a:latin typeface="Calibri"/>
              </a:defRPr>
            </a:pPr>
            <a:r>
              <a:t>Practicing beyond your scope is not merely a regulatory violation. It is a breach of amanah. The Prophet ﷺ said: 'There should be no harm nor reciprocal harm.' (Ibn Majah) To treat a condition you do not understand, or to perform a procedure you have not mastered, is to violate this principle.</a:t>
            </a:r>
          </a:p>
        </p:txBody>
      </p:sp>
      <p:sp>
        <p:nvSpPr>
          <p:cNvPr id="9" name="TextBox 8"/>
          <p:cNvSpPr txBox="1"/>
          <p:nvPr/>
        </p:nvSpPr>
        <p:spPr>
          <a:xfrm>
            <a:off x="457200" y="356616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The four pillars of scope:</a:t>
            </a:r>
          </a:p>
        </p:txBody>
      </p:sp>
      <p:sp>
        <p:nvSpPr>
          <p:cNvPr id="10" name="TextBox 9"/>
          <p:cNvSpPr txBox="1"/>
          <p:nvPr/>
        </p:nvSpPr>
        <p:spPr>
          <a:xfrm>
            <a:off x="640080" y="393192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Evidence-informed: Based on classical sources, contemporary research, and clinical observation</a:t>
            </a:r>
          </a:p>
        </p:txBody>
      </p:sp>
      <p:sp>
        <p:nvSpPr>
          <p:cNvPr id="11" name="TextBox 10"/>
          <p:cNvSpPr txBox="1"/>
          <p:nvPr/>
        </p:nvSpPr>
        <p:spPr>
          <a:xfrm>
            <a:off x="640080" y="429768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Competency-limited: Performing only procedures and giving advice for which you have been trained and assessed</a:t>
            </a:r>
          </a:p>
        </p:txBody>
      </p:sp>
      <p:sp>
        <p:nvSpPr>
          <p:cNvPr id="12" name="TextBox 11"/>
          <p:cNvSpPr txBox="1"/>
          <p:nvPr/>
        </p:nvSpPr>
        <p:spPr>
          <a:xfrm>
            <a:off x="640080" y="466344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Legally compliant: Adherent to the laws of the jurisdiction in which you practice</a:t>
            </a:r>
          </a:p>
        </p:txBody>
      </p:sp>
      <p:sp>
        <p:nvSpPr>
          <p:cNvPr id="13" name="TextBox 12"/>
          <p:cNvSpPr txBox="1"/>
          <p:nvPr/>
        </p:nvSpPr>
        <p:spPr>
          <a:xfrm>
            <a:off x="640080" y="5029200"/>
            <a:ext cx="10515600" cy="36576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 Ethically bounded: Guided by Islamic bioethics and professional integrity</a:t>
            </a:r>
          </a:p>
        </p:txBody>
      </p:sp>
      <p:sp>
        <p:nvSpPr>
          <p:cNvPr id="14" name="TextBox 13"/>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2 | Scope of Practice</a:t>
            </a:r>
          </a:p>
        </p:txBody>
      </p:sp>
      <p:sp>
        <p:nvSpPr>
          <p:cNvPr id="15" name="TextBox 14"/>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2.2 Permitted Practice</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 following activities fall within the scope of the Certified Hijama Practitioner (CHP). Every item has been taught, assessed, and verified through the Academy's Tier 1–4 curriculum.</a:t>
            </a:r>
          </a:p>
        </p:txBody>
      </p:sp>
      <p:sp>
        <p:nvSpPr>
          <p:cNvPr id="6" name="TextBox 5"/>
          <p:cNvSpPr txBox="1"/>
          <p:nvPr/>
        </p:nvSpPr>
        <p:spPr>
          <a:xfrm>
            <a:off x="457200" y="1737360"/>
            <a:ext cx="10972800" cy="274320"/>
          </a:xfrm>
          <a:prstGeom prst="rect">
            <a:avLst/>
          </a:prstGeom>
          <a:noFill/>
        </p:spPr>
        <p:txBody>
          <a:bodyPr wrap="square"/>
          <a:lstStyle/>
          <a:p>
            <a:pPr algn="l">
              <a:lnSpc>
                <a:spcPct val="120000"/>
              </a:lnSpc>
              <a:spcBef>
                <a:spcPts val="0"/>
              </a:spcBef>
              <a:spcAft>
                <a:spcPts val="0"/>
              </a:spcAft>
              <a:defRPr sz="1600" b="1" i="0">
                <a:solidFill>
                  <a:srgbClr val="003F5C"/>
                </a:solidFill>
                <a:latin typeface="Georgia"/>
              </a:defRPr>
            </a:pPr>
            <a:r>
              <a:t>Hijama (Wet &amp; Dry Cupping)</a:t>
            </a:r>
          </a:p>
        </p:txBody>
      </p:sp>
      <p:sp>
        <p:nvSpPr>
          <p:cNvPr id="7" name="TextBox 6"/>
          <p:cNvSpPr txBox="1"/>
          <p:nvPr/>
        </p:nvSpPr>
        <p:spPr>
          <a:xfrm>
            <a:off x="457200" y="2057400"/>
            <a:ext cx="10972800" cy="54864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Assessment for cupping suitability. Point selection based on Sunnah and therapeutic indications. Sterile cupping procedure (wet and dry). Post-procedure care and lifestyle advice. Documentation and clinical record-keeping.</a:t>
            </a:r>
          </a:p>
        </p:txBody>
      </p:sp>
      <p:sp>
        <p:nvSpPr>
          <p:cNvPr id="8" name="TextBox 7"/>
          <p:cNvSpPr txBox="1"/>
          <p:nvPr/>
        </p:nvSpPr>
        <p:spPr>
          <a:xfrm>
            <a:off x="457200" y="2743200"/>
            <a:ext cx="10972800" cy="274320"/>
          </a:xfrm>
          <a:prstGeom prst="rect">
            <a:avLst/>
          </a:prstGeom>
          <a:noFill/>
        </p:spPr>
        <p:txBody>
          <a:bodyPr wrap="square"/>
          <a:lstStyle/>
          <a:p>
            <a:pPr algn="l">
              <a:lnSpc>
                <a:spcPct val="120000"/>
              </a:lnSpc>
              <a:spcBef>
                <a:spcPts val="0"/>
              </a:spcBef>
              <a:spcAft>
                <a:spcPts val="0"/>
              </a:spcAft>
              <a:defRPr sz="1600" b="1" i="0">
                <a:solidFill>
                  <a:srgbClr val="003F5C"/>
                </a:solidFill>
                <a:latin typeface="Georgia"/>
              </a:defRPr>
            </a:pPr>
            <a:r>
              <a:t>Prophetic Medicine Counselling (Within Scope)</a:t>
            </a:r>
          </a:p>
        </p:txBody>
      </p:sp>
      <p:sp>
        <p:nvSpPr>
          <p:cNvPr id="9" name="TextBox 8"/>
          <p:cNvSpPr txBox="1"/>
          <p:nvPr/>
        </p:nvSpPr>
        <p:spPr>
          <a:xfrm>
            <a:off x="457200" y="3063240"/>
            <a:ext cx="10972800" cy="54864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Advising on Prophetic foods and practices: dates, black seed, honey, olive oil. Lifestyle counselling based on classical frameworks. General spiritual health guidance without takalluf (imposing personal views).</a:t>
            </a:r>
          </a:p>
        </p:txBody>
      </p:sp>
      <p:sp>
        <p:nvSpPr>
          <p:cNvPr id="10" name="Rectangle 9"/>
          <p:cNvSpPr/>
          <p:nvPr/>
        </p:nvSpPr>
        <p:spPr>
          <a:xfrm>
            <a:off x="457200" y="3840480"/>
            <a:ext cx="11277295" cy="118872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93192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12" name="TextBox 11"/>
          <p:cNvSpPr txBox="1"/>
          <p:nvPr/>
        </p:nvSpPr>
        <p:spPr>
          <a:xfrm>
            <a:off x="594360" y="4206240"/>
            <a:ext cx="11002975" cy="731520"/>
          </a:xfrm>
          <a:prstGeom prst="rect">
            <a:avLst/>
          </a:prstGeom>
          <a:noFill/>
        </p:spPr>
        <p:txBody>
          <a:bodyPr wrap="square">
            <a:spAutoFit/>
          </a:bodyPr>
          <a:lstStyle/>
          <a:p>
            <a:pPr algn="l">
              <a:lnSpc>
                <a:spcPct val="115000"/>
              </a:lnSpc>
              <a:defRPr sz="1000">
                <a:solidFill>
                  <a:srgbClr val="1A1A1A"/>
                </a:solidFill>
                <a:latin typeface="Calibri"/>
              </a:defRPr>
            </a:pPr>
            <a:r>
              <a:t>When a patient asks for advice beyond your scope, the most powerful words are: 'That is an excellent question, and it is outside my expertise. Let me refer you to someone who can help you properly.' This is not weakness. It is wisdom.</a:t>
            </a:r>
          </a:p>
        </p:txBody>
      </p:sp>
      <p:sp>
        <p:nvSpPr>
          <p:cNvPr id="13" name="TextBox 1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2 | Scope of Practice</a:t>
            </a:r>
          </a:p>
        </p:txBody>
      </p:sp>
      <p:sp>
        <p:nvSpPr>
          <p:cNvPr id="14" name="TextBox 1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2.3 Prohibited Practice</a:t>
            </a:r>
          </a:p>
        </p:txBody>
      </p:sp>
      <p:graphicFrame>
        <p:nvGraphicFramePr>
          <p:cNvPr id="5" name="Table 4"/>
          <p:cNvGraphicFramePr>
            <a:graphicFrameLocks noGrp="1"/>
          </p:cNvGraphicFramePr>
          <p:nvPr/>
        </p:nvGraphicFramePr>
        <p:xfrm>
          <a:off x="457200" y="1554480"/>
          <a:ext cx="11277294" cy="2560320"/>
        </p:xfrm>
        <a:graphic>
          <a:graphicData uri="http://schemas.openxmlformats.org/drawingml/2006/table">
            <a:tbl>
              <a:tblPr firstRow="1" bandRow="1">
                <a:tableStyleId>{5C22544A-7EE6-4342-B048-85BDC9FD1C3A}</a:tableStyleId>
              </a:tblPr>
              <a:tblGrid>
                <a:gridCol w="5638647"/>
                <a:gridCol w="5638647"/>
              </a:tblGrid>
              <a:tr h="365760">
                <a:tc>
                  <a:txBody>
                    <a:bodyPr/>
                    <a:lstStyle/>
                    <a:p>
                      <a:pPr algn="l">
                        <a:defRPr sz="1000" b="1">
                          <a:solidFill>
                            <a:srgbClr val="FAF7F2"/>
                          </a:solidFill>
                          <a:latin typeface="Calibri"/>
                        </a:defRPr>
                      </a:pPr>
                      <a:r>
                        <a:t>Prohibition</a:t>
                      </a:r>
                    </a:p>
                  </a:txBody>
                  <a:tcPr anchor="ctr">
                    <a:solidFill>
                      <a:srgbClr val="003F5C"/>
                    </a:solidFill>
                  </a:tcPr>
                </a:tc>
                <a:tc>
                  <a:txBody>
                    <a:bodyPr/>
                    <a:lstStyle/>
                    <a:p>
                      <a:pPr algn="l">
                        <a:defRPr sz="1000" b="1">
                          <a:solidFill>
                            <a:srgbClr val="FAF7F2"/>
                          </a:solidFill>
                          <a:latin typeface="Calibri"/>
                        </a:defRPr>
                      </a:pPr>
                      <a:r>
                        <a:t>Rationale</a:t>
                      </a:r>
                    </a:p>
                  </a:txBody>
                  <a:tcPr anchor="ctr">
                    <a:solidFill>
                      <a:srgbClr val="003F5C"/>
                    </a:solidFill>
                  </a:tcPr>
                </a:tc>
              </a:tr>
              <a:tr h="365760">
                <a:tc>
                  <a:txBody>
                    <a:bodyPr/>
                    <a:lstStyle/>
                    <a:p>
                      <a:pPr algn="l">
                        <a:defRPr sz="1000">
                          <a:solidFill>
                            <a:srgbClr val="1A1A1A"/>
                          </a:solidFill>
                          <a:latin typeface="Calibri"/>
                        </a:defRPr>
                      </a:pPr>
                      <a:r>
                        <a:t>Making medical diagnoses outside training</a:t>
                      </a:r>
                    </a:p>
                  </a:txBody>
                  <a:tcPr anchor="ctr"/>
                </a:tc>
                <a:tc>
                  <a:txBody>
                    <a:bodyPr/>
                    <a:lstStyle/>
                    <a:p>
                      <a:pPr algn="l">
                        <a:defRPr sz="1000">
                          <a:solidFill>
                            <a:srgbClr val="1A1A1A"/>
                          </a:solidFill>
                          <a:latin typeface="Calibri"/>
                        </a:defRPr>
                      </a:pPr>
                      <a:r>
                        <a:t>Risk of misdiagnosis; legal liability</a:t>
                      </a:r>
                    </a:p>
                  </a:txBody>
                  <a:tcPr anchor="ctr"/>
                </a:tc>
              </a:tr>
              <a:tr h="365760">
                <a:tc>
                  <a:txBody>
                    <a:bodyPr/>
                    <a:lstStyle/>
                    <a:p>
                      <a:pPr algn="l">
                        <a:defRPr sz="1000">
                          <a:solidFill>
                            <a:srgbClr val="1A1A1A"/>
                          </a:solidFill>
                          <a:latin typeface="Calibri"/>
                        </a:defRPr>
                      </a:pPr>
                      <a:r>
                        <a:t>Prescribing pharmaceutical medications</a:t>
                      </a:r>
                    </a:p>
                  </a:txBody>
                  <a:tcPr anchor="ctr">
                    <a:solidFill>
                      <a:srgbClr val="F5F2EB"/>
                    </a:solidFill>
                  </a:tcPr>
                </a:tc>
                <a:tc>
                  <a:txBody>
                    <a:bodyPr/>
                    <a:lstStyle/>
                    <a:p>
                      <a:pPr algn="l">
                        <a:defRPr sz="1000">
                          <a:solidFill>
                            <a:srgbClr val="1A1A1A"/>
                          </a:solidFill>
                          <a:latin typeface="Calibri"/>
                        </a:defRPr>
                      </a:pPr>
                      <a:r>
                        <a:t>Requires medical licensure</a:t>
                      </a:r>
                    </a:p>
                  </a:txBody>
                  <a:tcPr anchor="ctr">
                    <a:solidFill>
                      <a:srgbClr val="F5F2EB"/>
                    </a:solidFill>
                  </a:tcPr>
                </a:tc>
              </a:tr>
              <a:tr h="365760">
                <a:tc>
                  <a:txBody>
                    <a:bodyPr/>
                    <a:lstStyle/>
                    <a:p>
                      <a:pPr algn="l">
                        <a:defRPr sz="1000">
                          <a:solidFill>
                            <a:srgbClr val="1A1A1A"/>
                          </a:solidFill>
                          <a:latin typeface="Calibri"/>
                        </a:defRPr>
                      </a:pPr>
                      <a:r>
                        <a:t>Claiming to cure specific diseases</a:t>
                      </a:r>
                    </a:p>
                  </a:txBody>
                  <a:tcPr anchor="ctr"/>
                </a:tc>
                <a:tc>
                  <a:txBody>
                    <a:bodyPr/>
                    <a:lstStyle/>
                    <a:p>
                      <a:pPr algn="l">
                        <a:defRPr sz="1000">
                          <a:solidFill>
                            <a:srgbClr val="1A1A1A"/>
                          </a:solidFill>
                          <a:latin typeface="Calibri"/>
                        </a:defRPr>
                      </a:pPr>
                      <a:r>
                        <a:t>Unsubstantiated; violates advertising ethics</a:t>
                      </a:r>
                    </a:p>
                  </a:txBody>
                  <a:tcPr anchor="ctr"/>
                </a:tc>
              </a:tr>
              <a:tr h="365760">
                <a:tc>
                  <a:txBody>
                    <a:bodyPr/>
                    <a:lstStyle/>
                    <a:p>
                      <a:pPr algn="l">
                        <a:defRPr sz="1000">
                          <a:solidFill>
                            <a:srgbClr val="1A1A1A"/>
                          </a:solidFill>
                          <a:latin typeface="Calibri"/>
                        </a:defRPr>
                      </a:pPr>
                      <a:r>
                        <a:t>Cupping over infected areas, active cancer sites, open wounds, or areas of severe vascular compromise</a:t>
                      </a:r>
                    </a:p>
                  </a:txBody>
                  <a:tcPr anchor="ctr">
                    <a:solidFill>
                      <a:srgbClr val="F5F2EB"/>
                    </a:solidFill>
                  </a:tcPr>
                </a:tc>
                <a:tc>
                  <a:txBody>
                    <a:bodyPr/>
                    <a:lstStyle/>
                    <a:p>
                      <a:pPr algn="l">
                        <a:defRPr sz="1000">
                          <a:solidFill>
                            <a:srgbClr val="1A1A1A"/>
                          </a:solidFill>
                          <a:latin typeface="Calibri"/>
                        </a:defRPr>
                      </a:pPr>
                      <a:r>
                        <a:t>Patient safety; risk of harm</a:t>
                      </a:r>
                    </a:p>
                  </a:txBody>
                  <a:tcPr anchor="ctr">
                    <a:solidFill>
                      <a:srgbClr val="F5F2EB"/>
                    </a:solidFill>
                  </a:tcPr>
                </a:tc>
              </a:tr>
              <a:tr h="365760">
                <a:tc>
                  <a:txBody>
                    <a:bodyPr/>
                    <a:lstStyle/>
                    <a:p>
                      <a:pPr algn="l">
                        <a:defRPr sz="1000">
                          <a:solidFill>
                            <a:srgbClr val="1A1A1A"/>
                          </a:solidFill>
                          <a:latin typeface="Calibri"/>
                        </a:defRPr>
                      </a:pPr>
                      <a:r>
                        <a:t>Advising patients to discontinue conventional medication</a:t>
                      </a:r>
                    </a:p>
                  </a:txBody>
                  <a:tcPr anchor="ctr"/>
                </a:tc>
                <a:tc>
                  <a:txBody>
                    <a:bodyPr/>
                    <a:lstStyle/>
                    <a:p>
                      <a:pPr algn="l">
                        <a:defRPr sz="1000">
                          <a:solidFill>
                            <a:srgbClr val="1A1A1A"/>
                          </a:solidFill>
                          <a:latin typeface="Calibri"/>
                        </a:defRPr>
                      </a:pPr>
                      <a:r>
                        <a:t>Dangerous; violates non-maleficence</a:t>
                      </a:r>
                    </a:p>
                  </a:txBody>
                  <a:tcPr anchor="ctr"/>
                </a:tc>
              </a:tr>
              <a:tr h="365760">
                <a:tc>
                  <a:txBody>
                    <a:bodyPr/>
                    <a:lstStyle/>
                    <a:p>
                      <a:pPr algn="l">
                        <a:defRPr sz="1000">
                          <a:solidFill>
                            <a:srgbClr val="1A1A1A"/>
                          </a:solidFill>
                          <a:latin typeface="Calibri"/>
                        </a:defRPr>
                      </a:pPr>
                      <a:r>
                        <a:t>Manufacturing unlicensed pharmaceutical products</a:t>
                      </a:r>
                    </a:p>
                  </a:txBody>
                  <a:tcPr anchor="ctr">
                    <a:solidFill>
                      <a:srgbClr val="F5F2EB"/>
                    </a:solidFill>
                  </a:tcPr>
                </a:tc>
                <a:tc>
                  <a:txBody>
                    <a:bodyPr/>
                    <a:lstStyle/>
                    <a:p>
                      <a:pPr algn="l">
                        <a:defRPr sz="1000">
                          <a:solidFill>
                            <a:srgbClr val="1A1A1A"/>
                          </a:solidFill>
                          <a:latin typeface="Calibri"/>
                        </a:defRPr>
                      </a:pPr>
                      <a:r>
                        <a:t>Regulatory violation; patient risk</a:t>
                      </a:r>
                    </a:p>
                  </a:txBody>
                  <a:tcPr anchor="ctr">
                    <a:solidFill>
                      <a:srgbClr val="F5F2EB"/>
                    </a:solidFill>
                  </a:tcPr>
                </a:tc>
              </a:tr>
            </a:tbl>
          </a:graphicData>
        </a:graphic>
      </p:graphicFrame>
      <p:sp>
        <p:nvSpPr>
          <p:cNvPr id="6" name="TextBox 5"/>
          <p:cNvSpPr txBox="1"/>
          <p:nvPr/>
        </p:nvSpPr>
        <p:spPr>
          <a:xfrm>
            <a:off x="457200" y="420624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2.1 — Prohibited Practice. These prohibitions are absolute. Academy certification is revoked for violation.</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2 | Scope of Practice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E2725B"/>
                </a:solidFill>
                <a:latin typeface="Georgia"/>
              </a:defRPr>
            </a:pPr>
            <a:r>
              <a:t>CRITICAL — THE RED LINE</a:t>
            </a:r>
          </a:p>
        </p:txBody>
      </p:sp>
      <p:sp>
        <p:nvSpPr>
          <p:cNvPr id="4" name="Rectangle 3"/>
          <p:cNvSpPr/>
          <p:nvPr/>
        </p:nvSpPr>
        <p:spPr>
          <a:xfrm>
            <a:off x="457200" y="1005840"/>
            <a:ext cx="11277295" cy="38100"/>
          </a:xfrm>
          <a:prstGeom prst="rect">
            <a:avLst/>
          </a:prstGeom>
          <a:solidFill>
            <a:srgbClr val="E27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64592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E2725B"/>
                </a:solidFill>
                <a:latin typeface="Calibri"/>
              </a:defRPr>
            </a:pPr>
            <a:r>
              <a:t>CRITICAL — THE RED LINE</a:t>
            </a:r>
          </a:p>
        </p:txBody>
      </p:sp>
      <p:sp>
        <p:nvSpPr>
          <p:cNvPr id="7" name="TextBox 6"/>
          <p:cNvSpPr txBox="1"/>
          <p:nvPr/>
        </p:nvSpPr>
        <p:spPr>
          <a:xfrm>
            <a:off x="594360" y="1645920"/>
            <a:ext cx="11002975" cy="1188720"/>
          </a:xfrm>
          <a:prstGeom prst="rect">
            <a:avLst/>
          </a:prstGeom>
          <a:noFill/>
        </p:spPr>
        <p:txBody>
          <a:bodyPr wrap="square">
            <a:spAutoFit/>
          </a:bodyPr>
          <a:lstStyle/>
          <a:p>
            <a:pPr algn="l">
              <a:lnSpc>
                <a:spcPct val="115000"/>
              </a:lnSpc>
              <a:defRPr sz="1000">
                <a:solidFill>
                  <a:srgbClr val="1A1A1A"/>
                </a:solidFill>
                <a:latin typeface="Calibri"/>
              </a:defRPr>
            </a:pPr>
            <a:r>
              <a:t>Every Academy practitioner must refer the patient to a qualified medical doctor when encountering: signs of acute medical emergency; conditions beyond their training; requests for services outside their scope; lack of improvement after a reasonable course of treatment; any situation where the practitioner feels uncertain about safety.</a:t>
            </a:r>
            <a:br/>
            <a:br/>
            <a:r>
              <a:t>All referrals must be documented in the patient record, including the reason for referral, the practitioner to whom referred, and patient consent.</a:t>
            </a:r>
          </a:p>
        </p:txBody>
      </p:sp>
      <p:sp>
        <p:nvSpPr>
          <p:cNvPr id="8" name="TextBox 7"/>
          <p:cNvSpPr txBox="1"/>
          <p:nvPr/>
        </p:nvSpPr>
        <p:spPr>
          <a:xfrm>
            <a:off x="457200" y="310896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Referral documentation must include:</a:t>
            </a:r>
          </a:p>
        </p:txBody>
      </p:sp>
      <p:sp>
        <p:nvSpPr>
          <p:cNvPr id="9" name="TextBox 8"/>
          <p:cNvSpPr txBox="1"/>
          <p:nvPr/>
        </p:nvSpPr>
        <p:spPr>
          <a:xfrm>
            <a:off x="640080" y="347472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Date and time of identification</a:t>
            </a:r>
          </a:p>
        </p:txBody>
      </p:sp>
      <p:sp>
        <p:nvSpPr>
          <p:cNvPr id="10" name="TextBox 9"/>
          <p:cNvSpPr txBox="1"/>
          <p:nvPr/>
        </p:nvSpPr>
        <p:spPr>
          <a:xfrm>
            <a:off x="640080" y="379476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Patient details (name, DOB, contact)</a:t>
            </a:r>
          </a:p>
        </p:txBody>
      </p:sp>
      <p:sp>
        <p:nvSpPr>
          <p:cNvPr id="11" name="TextBox 10"/>
          <p:cNvSpPr txBox="1"/>
          <p:nvPr/>
        </p:nvSpPr>
        <p:spPr>
          <a:xfrm>
            <a:off x="640080" y="411480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Red flag identified (specific sign/symptom)</a:t>
            </a:r>
          </a:p>
        </p:txBody>
      </p:sp>
      <p:sp>
        <p:nvSpPr>
          <p:cNvPr id="12" name="TextBox 11"/>
          <p:cNvSpPr txBox="1"/>
          <p:nvPr/>
        </p:nvSpPr>
        <p:spPr>
          <a:xfrm>
            <a:off x="640080" y="443484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Practitioner assessment (why this is concerning)</a:t>
            </a:r>
          </a:p>
        </p:txBody>
      </p:sp>
      <p:sp>
        <p:nvSpPr>
          <p:cNvPr id="13" name="TextBox 12"/>
          <p:cNvSpPr txBox="1"/>
          <p:nvPr/>
        </p:nvSpPr>
        <p:spPr>
          <a:xfrm>
            <a:off x="640080" y="475488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Referral destination (GP, emergency department, specialist)</a:t>
            </a:r>
          </a:p>
        </p:txBody>
      </p:sp>
      <p:sp>
        <p:nvSpPr>
          <p:cNvPr id="14" name="TextBox 13"/>
          <p:cNvSpPr txBox="1"/>
          <p:nvPr/>
        </p:nvSpPr>
        <p:spPr>
          <a:xfrm>
            <a:off x="640080" y="507492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Patient consent (verbal or written) to share information</a:t>
            </a:r>
          </a:p>
        </p:txBody>
      </p:sp>
      <p:sp>
        <p:nvSpPr>
          <p:cNvPr id="15" name="TextBox 14"/>
          <p:cNvSpPr txBox="1"/>
          <p:nvPr/>
        </p:nvSpPr>
        <p:spPr>
          <a:xfrm>
            <a:off x="640080" y="539496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Follow-up plan (how practitioner will confirm patient attended)</a:t>
            </a:r>
          </a:p>
        </p:txBody>
      </p:sp>
      <p:sp>
        <p:nvSpPr>
          <p:cNvPr id="16" name="TextBox 15"/>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2 | Scope of Practice</a:t>
            </a:r>
          </a:p>
        </p:txBody>
      </p:sp>
      <p:sp>
        <p:nvSpPr>
          <p:cNvPr id="17" name="TextBox 16"/>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2.4 The Red Line: When to Refer</a:t>
            </a:r>
          </a:p>
        </p:txBody>
      </p:sp>
      <p:graphicFrame>
        <p:nvGraphicFramePr>
          <p:cNvPr id="5" name="Table 4"/>
          <p:cNvGraphicFramePr>
            <a:graphicFrameLocks noGrp="1"/>
          </p:cNvGraphicFramePr>
          <p:nvPr/>
        </p:nvGraphicFramePr>
        <p:xfrm>
          <a:off x="457200" y="1554480"/>
          <a:ext cx="11277294" cy="2194560"/>
        </p:xfrm>
        <a:graphic>
          <a:graphicData uri="http://schemas.openxmlformats.org/drawingml/2006/table">
            <a:tbl>
              <a:tblPr firstRow="1" bandRow="1">
                <a:tableStyleId>{5C22544A-7EE6-4342-B048-85BDC9FD1C3A}</a:tableStyleId>
              </a:tblPr>
              <a:tblGrid>
                <a:gridCol w="5638647"/>
                <a:gridCol w="5638647"/>
              </a:tblGrid>
              <a:tr h="365760">
                <a:tc>
                  <a:txBody>
                    <a:bodyPr/>
                    <a:lstStyle/>
                    <a:p>
                      <a:pPr algn="l">
                        <a:defRPr sz="1000" b="1">
                          <a:solidFill>
                            <a:srgbClr val="FAF7F2"/>
                          </a:solidFill>
                          <a:latin typeface="Calibri"/>
                        </a:defRPr>
                      </a:pPr>
                      <a:r>
                        <a:t>Scenario</a:t>
                      </a:r>
                    </a:p>
                  </a:txBody>
                  <a:tcPr anchor="ctr">
                    <a:solidFill>
                      <a:srgbClr val="003F5C"/>
                    </a:solidFill>
                  </a:tcPr>
                </a:tc>
                <a:tc>
                  <a:txBody>
                    <a:bodyPr/>
                    <a:lstStyle/>
                    <a:p>
                      <a:pPr algn="l">
                        <a:defRPr sz="1000" b="1">
                          <a:solidFill>
                            <a:srgbClr val="FAF7F2"/>
                          </a:solidFill>
                          <a:latin typeface="Calibri"/>
                        </a:defRPr>
                      </a:pPr>
                      <a:r>
                        <a:t>Action</a:t>
                      </a:r>
                    </a:p>
                  </a:txBody>
                  <a:tcPr anchor="ctr">
                    <a:solidFill>
                      <a:srgbClr val="003F5C"/>
                    </a:solidFill>
                  </a:tcPr>
                </a:tc>
              </a:tr>
              <a:tr h="365760">
                <a:tc>
                  <a:txBody>
                    <a:bodyPr/>
                    <a:lstStyle/>
                    <a:p>
                      <a:pPr algn="l">
                        <a:defRPr sz="1000">
                          <a:solidFill>
                            <a:srgbClr val="1A1A1A"/>
                          </a:solidFill>
                          <a:latin typeface="Calibri"/>
                        </a:defRPr>
                      </a:pPr>
                      <a:r>
                        <a:t>Signs of acute medical emergency (chest pain, difficulty breathing, severe bleeding, altered consciousness)</a:t>
                      </a:r>
                    </a:p>
                  </a:txBody>
                  <a:tcPr anchor="ctr"/>
                </a:tc>
                <a:tc>
                  <a:txBody>
                    <a:bodyPr/>
                    <a:lstStyle/>
                    <a:p>
                      <a:pPr algn="l">
                        <a:defRPr sz="1000">
                          <a:solidFill>
                            <a:srgbClr val="1A1A1A"/>
                          </a:solidFill>
                          <a:latin typeface="Calibri"/>
                        </a:defRPr>
                      </a:pPr>
                      <a:r>
                        <a:t>Emergency referral; do not treat</a:t>
                      </a:r>
                    </a:p>
                  </a:txBody>
                  <a:tcPr anchor="ctr"/>
                </a:tc>
              </a:tr>
              <a:tr h="365760">
                <a:tc>
                  <a:txBody>
                    <a:bodyPr/>
                    <a:lstStyle/>
                    <a:p>
                      <a:pPr algn="l">
                        <a:defRPr sz="1000">
                          <a:solidFill>
                            <a:srgbClr val="1A1A1A"/>
                          </a:solidFill>
                          <a:latin typeface="Calibri"/>
                        </a:defRPr>
                      </a:pPr>
                      <a:r>
                        <a:t>Conditions beyond training (undiagnosed masses, neurological symptoms, psychiatric crisis)</a:t>
                      </a:r>
                    </a:p>
                  </a:txBody>
                  <a:tcPr anchor="ctr">
                    <a:solidFill>
                      <a:srgbClr val="F5F2EB"/>
                    </a:solidFill>
                  </a:tcPr>
                </a:tc>
                <a:tc>
                  <a:txBody>
                    <a:bodyPr/>
                    <a:lstStyle/>
                    <a:p>
                      <a:pPr algn="l">
                        <a:defRPr sz="1000">
                          <a:solidFill>
                            <a:srgbClr val="1A1A1A"/>
                          </a:solidFill>
                          <a:latin typeface="Calibri"/>
                        </a:defRPr>
                      </a:pPr>
                      <a:r>
                        <a:t>Urgent medical assessment; do not treat</a:t>
                      </a:r>
                    </a:p>
                  </a:txBody>
                  <a:tcPr anchor="ctr">
                    <a:solidFill>
                      <a:srgbClr val="F5F2EB"/>
                    </a:solidFill>
                  </a:tcPr>
                </a:tc>
              </a:tr>
              <a:tr h="365760">
                <a:tc>
                  <a:txBody>
                    <a:bodyPr/>
                    <a:lstStyle/>
                    <a:p>
                      <a:pPr algn="l">
                        <a:defRPr sz="1000">
                          <a:solidFill>
                            <a:srgbClr val="1A1A1A"/>
                          </a:solidFill>
                          <a:latin typeface="Calibri"/>
                        </a:defRPr>
                      </a:pPr>
                      <a:r>
                        <a:t>Requests for services outside scope (prescription medication, surgical intervention, diagnostic imaging)</a:t>
                      </a:r>
                    </a:p>
                  </a:txBody>
                  <a:tcPr anchor="ctr"/>
                </a:tc>
                <a:tc>
                  <a:txBody>
                    <a:bodyPr/>
                    <a:lstStyle/>
                    <a:p>
                      <a:pPr algn="l">
                        <a:defRPr sz="1000">
                          <a:solidFill>
                            <a:srgbClr val="1A1A1A"/>
                          </a:solidFill>
                          <a:latin typeface="Calibri"/>
                        </a:defRPr>
                      </a:pPr>
                      <a:r>
                        <a:t>Refer to appropriate professional</a:t>
                      </a:r>
                    </a:p>
                  </a:txBody>
                  <a:tcPr anchor="ctr"/>
                </a:tc>
              </a:tr>
              <a:tr h="365760">
                <a:tc>
                  <a:txBody>
                    <a:bodyPr/>
                    <a:lstStyle/>
                    <a:p>
                      <a:pPr algn="l">
                        <a:defRPr sz="1000">
                          <a:solidFill>
                            <a:srgbClr val="1A1A1A"/>
                          </a:solidFill>
                          <a:latin typeface="Calibri"/>
                        </a:defRPr>
                      </a:pPr>
                      <a:r>
                        <a:t>Lack of improvement after reasonable course of treatment (typically 3–6 sessions without measurable benefit)</a:t>
                      </a:r>
                    </a:p>
                  </a:txBody>
                  <a:tcPr anchor="ctr">
                    <a:solidFill>
                      <a:srgbClr val="F5F2EB"/>
                    </a:solidFill>
                  </a:tcPr>
                </a:tc>
                <a:tc>
                  <a:txBody>
                    <a:bodyPr/>
                    <a:lstStyle/>
                    <a:p>
                      <a:pPr algn="l">
                        <a:defRPr sz="1000">
                          <a:solidFill>
                            <a:srgbClr val="1A1A1A"/>
                          </a:solidFill>
                          <a:latin typeface="Calibri"/>
                        </a:defRPr>
                      </a:pPr>
                      <a:r>
                        <a:t>Refer for re-evaluation</a:t>
                      </a:r>
                    </a:p>
                  </a:txBody>
                  <a:tcPr anchor="ctr">
                    <a:solidFill>
                      <a:srgbClr val="F5F2EB"/>
                    </a:solidFill>
                  </a:tcPr>
                </a:tc>
              </a:tr>
              <a:tr h="365760">
                <a:tc>
                  <a:txBody>
                    <a:bodyPr/>
                    <a:lstStyle/>
                    <a:p>
                      <a:pPr algn="l">
                        <a:defRPr sz="1000">
                          <a:solidFill>
                            <a:srgbClr val="1A1A1A"/>
                          </a:solidFill>
                          <a:latin typeface="Calibri"/>
                        </a:defRPr>
                      </a:pPr>
                      <a:r>
                        <a:t>Practitioner uncertainty about safety</a:t>
                      </a:r>
                    </a:p>
                  </a:txBody>
                  <a:tcPr anchor="ctr"/>
                </a:tc>
                <a:tc>
                  <a:txBody>
                    <a:bodyPr/>
                    <a:lstStyle/>
                    <a:p>
                      <a:pPr algn="l">
                        <a:defRPr sz="1000">
                          <a:solidFill>
                            <a:srgbClr val="1A1A1A"/>
                          </a:solidFill>
                          <a:latin typeface="Calibri"/>
                        </a:defRPr>
                      </a:pPr>
                      <a:r>
                        <a:t>Defer and consult supervisor or medical professional</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2.2 — The Red Line. When in doubt, refer. It is better to over-refer than to under-treat.</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2 | Scope of Practice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Islamic Insight &amp; Referral Template</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0" y="1280160"/>
            <a:ext cx="5303520" cy="2011680"/>
          </a:xfrm>
          <a:prstGeom prst="rect">
            <a:avLst/>
          </a:prstGeom>
          <a:solidFill>
            <a:srgbClr val="F5F2EB"/>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37960" y="1371600"/>
            <a:ext cx="5029200" cy="365760"/>
          </a:xfrm>
          <a:prstGeom prst="rect">
            <a:avLst/>
          </a:prstGeom>
          <a:noFill/>
        </p:spPr>
        <p:txBody>
          <a:bodyPr wrap="none">
            <a:spAutoFit/>
          </a:bodyPr>
          <a:lstStyle/>
          <a:p>
            <a:pPr algn="l">
              <a:defRPr sz="1000" b="1">
                <a:solidFill>
                  <a:srgbClr val="B8860B"/>
                </a:solidFill>
                <a:latin typeface="Calibri"/>
              </a:defRPr>
            </a:pPr>
            <a:r>
              <a:t>ISLAMIC INSIGHT</a:t>
            </a:r>
          </a:p>
        </p:txBody>
      </p:sp>
      <p:sp>
        <p:nvSpPr>
          <p:cNvPr id="7" name="TextBox 6"/>
          <p:cNvSpPr txBox="1"/>
          <p:nvPr/>
        </p:nvSpPr>
        <p:spPr>
          <a:xfrm>
            <a:off x="6537960" y="1645920"/>
            <a:ext cx="5029200" cy="1554480"/>
          </a:xfrm>
          <a:prstGeom prst="rect">
            <a:avLst/>
          </a:prstGeom>
          <a:noFill/>
        </p:spPr>
        <p:txBody>
          <a:bodyPr wrap="square">
            <a:spAutoFit/>
          </a:bodyPr>
          <a:lstStyle/>
          <a:p>
            <a:pPr algn="l">
              <a:lnSpc>
                <a:spcPct val="115000"/>
              </a:lnSpc>
              <a:defRPr sz="1000">
                <a:solidFill>
                  <a:srgbClr val="1A1A1A"/>
                </a:solidFill>
                <a:latin typeface="Calibri"/>
              </a:defRPr>
            </a:pPr>
            <a:r>
              <a:t>لَا ضَرَرَ وَلَا ضِرَارَ</a:t>
            </a:r>
            <a:br/>
            <a:br/>
            <a:r>
              <a:t>'There should be no harm nor reciprocal harm.'</a:t>
            </a:r>
            <a:br/>
            <a:r>
              <a:t>— Hadith, authenticated by Ibn Majah</a:t>
            </a:r>
            <a:br/>
            <a:br/>
            <a:r>
              <a:t>This hadith is the foundation of the Red Line. To treat when uncertain is to risk harm. To refer when appropriate is to prevent harm. The practitioner who refers with humility honours the Sunnah more than the practitioner who treats with arrogance.</a:t>
            </a:r>
          </a:p>
        </p:txBody>
      </p:sp>
      <p:sp>
        <p:nvSpPr>
          <p:cNvPr id="8" name="TextBox 7"/>
          <p:cNvSpPr txBox="1"/>
          <p:nvPr/>
        </p:nvSpPr>
        <p:spPr>
          <a:xfrm>
            <a:off x="457200" y="1280160"/>
            <a:ext cx="54864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Referral Template:</a:t>
            </a:r>
          </a:p>
        </p:txBody>
      </p:sp>
      <p:sp>
        <p:nvSpPr>
          <p:cNvPr id="9" name="TextBox 8"/>
          <p:cNvSpPr txBox="1"/>
          <p:nvPr/>
        </p:nvSpPr>
        <p:spPr>
          <a:xfrm>
            <a:off x="457200" y="1645920"/>
            <a:ext cx="5486400" cy="1097280"/>
          </a:xfrm>
          <a:prstGeom prst="rect">
            <a:avLst/>
          </a:prstGeom>
          <a:noFill/>
        </p:spPr>
        <p:txBody>
          <a:bodyPr wrap="square"/>
          <a:lstStyle/>
          <a:p>
            <a:pPr algn="l">
              <a:lnSpc>
                <a:spcPct val="120000"/>
              </a:lnSpc>
              <a:spcBef>
                <a:spcPts val="0"/>
              </a:spcBef>
              <a:spcAft>
                <a:spcPts val="0"/>
              </a:spcAft>
              <a:defRPr sz="1200" b="0" i="1">
                <a:solidFill>
                  <a:srgbClr val="1A1A1A"/>
                </a:solidFill>
                <a:latin typeface="Calibri"/>
              </a:defRPr>
            </a:pPr>
            <a:r>
              <a:t>"I, [Practitioner Name], CHP-[Number], refer [Patient Name] to [Destination] due to [Red Flag]. I have explained my concerns to the patient and obtained consent to share this information. Referral made on [Date] at [Time]."</a:t>
            </a:r>
          </a:p>
        </p:txBody>
      </p:sp>
      <p:sp>
        <p:nvSpPr>
          <p:cNvPr id="10" name="TextBox 9"/>
          <p:cNvSpPr txBox="1"/>
          <p:nvPr/>
        </p:nvSpPr>
        <p:spPr>
          <a:xfrm>
            <a:off x="457200" y="2926080"/>
            <a:ext cx="5486400" cy="73152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The Academy's position is clear: the Red Line exists to protect the patient. A practitioner who never refers is a practitioner who eventually harms. A practitioner who refers appropriately is a practitioner who embodies the Islamic principle of amanah.</a:t>
            </a:r>
          </a:p>
        </p:txBody>
      </p:sp>
      <p:sp>
        <p:nvSpPr>
          <p:cNvPr id="11" name="TextBox 10"/>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2 | Scope of Practice</a:t>
            </a:r>
          </a:p>
        </p:txBody>
      </p:sp>
      <p:sp>
        <p:nvSpPr>
          <p:cNvPr id="12" name="TextBox 11"/>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19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457200"/>
          </a:xfrm>
          <a:prstGeom prst="rect">
            <a:avLst/>
          </a:prstGeom>
          <a:noFill/>
        </p:spPr>
        <p:txBody>
          <a:bodyPr wrap="square"/>
          <a:lstStyle/>
          <a:p>
            <a:pPr algn="ctr">
              <a:lnSpc>
                <a:spcPct val="120000"/>
              </a:lnSpc>
              <a:spcBef>
                <a:spcPts val="0"/>
              </a:spcBef>
              <a:spcAft>
                <a:spcPts val="0"/>
              </a:spcAft>
              <a:defRPr sz="2400" b="0" i="0">
                <a:solidFill>
                  <a:srgbClr val="003F5C"/>
                </a:solidFill>
                <a:latin typeface="Georgia"/>
              </a:defRPr>
            </a:pPr>
            <a:r>
              <a:t>End of Chapter 2 | Scope of Practice</a:t>
            </a:r>
          </a:p>
        </p:txBody>
      </p:sp>
      <p:sp>
        <p:nvSpPr>
          <p:cNvPr id="4" name="Rectangle 3"/>
          <p:cNvSpPr/>
          <p:nvPr/>
        </p:nvSpPr>
        <p:spPr>
          <a:xfrm>
            <a:off x="3657600" y="3383280"/>
            <a:ext cx="48764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6" name="TextBox 5"/>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03</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Clinical Protocols</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Sunnah Remedies SAFE Hijama Framework</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3 | pp. 14–29</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3.1 The SAFE Hijama Protocol</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 SAFE Hijama Protocol is the proprietary clinical framework of Sunnah Remedies Academy. It is not merely a mnemonic. It is a comprehensive system that ensures every treatment is safe, effective, and spiritually grounded.</a:t>
            </a:r>
          </a:p>
        </p:txBody>
      </p:sp>
      <p:sp>
        <p:nvSpPr>
          <p:cNvPr id="6" name="Rectangle 5"/>
          <p:cNvSpPr/>
          <p:nvPr/>
        </p:nvSpPr>
        <p:spPr>
          <a:xfrm>
            <a:off x="457200" y="1783080"/>
            <a:ext cx="11277295" cy="109728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87452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8" name="TextBox 7"/>
          <p:cNvSpPr txBox="1"/>
          <p:nvPr/>
        </p:nvSpPr>
        <p:spPr>
          <a:xfrm>
            <a:off x="594360" y="214884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Memorise the SAFE Protocol until it becomes muscle memory. When you are tired, when you are rushed, when the clinic is full and the patient is anxious — the protocol is your protection. It does not bend for convenience.</a:t>
            </a:r>
          </a:p>
        </p:txBody>
      </p:sp>
      <p:sp>
        <p:nvSpPr>
          <p:cNvPr id="9" name="Rounded Rectangle 8"/>
          <p:cNvSpPr/>
          <p:nvPr/>
        </p:nvSpPr>
        <p:spPr>
          <a:xfrm>
            <a:off x="457200" y="3108960"/>
            <a:ext cx="5303520" cy="1280160"/>
          </a:xfrm>
          <a:prstGeom prst="roundRect">
            <a:avLst/>
          </a:prstGeom>
          <a:solidFill>
            <a:srgbClr val="E6EBF0"/>
          </a:solidFill>
          <a:ln w="12700">
            <a:solidFill>
              <a:srgbClr val="00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200400"/>
            <a:ext cx="512064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Georgia"/>
              </a:defRPr>
            </a:pPr>
            <a:r>
              <a:t>Systematic</a:t>
            </a:r>
          </a:p>
        </p:txBody>
      </p:sp>
      <p:sp>
        <p:nvSpPr>
          <p:cNvPr id="11" name="TextBox 10"/>
          <p:cNvSpPr txBox="1"/>
          <p:nvPr/>
        </p:nvSpPr>
        <p:spPr>
          <a:xfrm>
            <a:off x="548640" y="3474720"/>
            <a:ext cx="5120640" cy="82296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Follow a structured assessment and treatment process every time. Variation introduces error. The 7-Step Patient Assessment is the foundation of systematic practice.</a:t>
            </a:r>
          </a:p>
        </p:txBody>
      </p:sp>
      <p:sp>
        <p:nvSpPr>
          <p:cNvPr id="12" name="Rounded Rectangle 11"/>
          <p:cNvSpPr/>
          <p:nvPr/>
        </p:nvSpPr>
        <p:spPr>
          <a:xfrm>
            <a:off x="6217920" y="3108960"/>
            <a:ext cx="5303520" cy="1280160"/>
          </a:xfrm>
          <a:prstGeom prst="roundRect">
            <a:avLst/>
          </a:prstGeom>
          <a:solidFill>
            <a:srgbClr val="E6EBF0"/>
          </a:solidFill>
          <a:ln w="12700">
            <a:solidFill>
              <a:srgbClr val="00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09360" y="3200400"/>
            <a:ext cx="512064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Georgia"/>
              </a:defRPr>
            </a:pPr>
            <a:r>
              <a:t>Anatomical</a:t>
            </a:r>
          </a:p>
        </p:txBody>
      </p:sp>
      <p:sp>
        <p:nvSpPr>
          <p:cNvPr id="14" name="TextBox 13"/>
          <p:cNvSpPr txBox="1"/>
          <p:nvPr/>
        </p:nvSpPr>
        <p:spPr>
          <a:xfrm>
            <a:off x="6309360" y="3474720"/>
            <a:ext cx="5120640" cy="82296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Base all cup placement on sound anatomical knowledge. Palpate landmarks, identify vessels, respect tissue depth. Every cup placement is a statement of anatomical knowledge.</a:t>
            </a:r>
          </a:p>
        </p:txBody>
      </p:sp>
      <p:sp>
        <p:nvSpPr>
          <p:cNvPr id="15" name="Rounded Rectangle 14"/>
          <p:cNvSpPr/>
          <p:nvPr/>
        </p:nvSpPr>
        <p:spPr>
          <a:xfrm>
            <a:off x="457200" y="4572000"/>
            <a:ext cx="5303520" cy="1280160"/>
          </a:xfrm>
          <a:prstGeom prst="roundRect">
            <a:avLst/>
          </a:prstGeom>
          <a:solidFill>
            <a:srgbClr val="E6EBF0"/>
          </a:solidFill>
          <a:ln w="12700">
            <a:solidFill>
              <a:srgbClr val="00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663440"/>
            <a:ext cx="512064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Georgia"/>
              </a:defRPr>
            </a:pPr>
            <a:r>
              <a:t>Faithful</a:t>
            </a:r>
          </a:p>
        </p:txBody>
      </p:sp>
      <p:sp>
        <p:nvSpPr>
          <p:cNvPr id="17" name="TextBox 16"/>
          <p:cNvSpPr txBox="1"/>
          <p:nvPr/>
        </p:nvSpPr>
        <p:spPr>
          <a:xfrm>
            <a:off x="548640" y="4937760"/>
            <a:ext cx="5120640" cy="82296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Honour the Sunnah without exaggerating it. Place cups on Al-Kahil because the Prophet ﷺ did so. Do not claim that Al-Kahil cures cancer because the Prophet ﷺ did not say so.</a:t>
            </a:r>
          </a:p>
        </p:txBody>
      </p:sp>
      <p:sp>
        <p:nvSpPr>
          <p:cNvPr id="18" name="Rounded Rectangle 17"/>
          <p:cNvSpPr/>
          <p:nvPr/>
        </p:nvSpPr>
        <p:spPr>
          <a:xfrm>
            <a:off x="6217920" y="4572000"/>
            <a:ext cx="5303520" cy="1280160"/>
          </a:xfrm>
          <a:prstGeom prst="roundRect">
            <a:avLst/>
          </a:prstGeom>
          <a:solidFill>
            <a:srgbClr val="E6EBF0"/>
          </a:solidFill>
          <a:ln w="12700">
            <a:solidFill>
              <a:srgbClr val="003F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09360" y="4663440"/>
            <a:ext cx="512064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Georgia"/>
              </a:defRPr>
            </a:pPr>
            <a:r>
              <a:t>Evidence-Informed</a:t>
            </a:r>
          </a:p>
        </p:txBody>
      </p:sp>
      <p:sp>
        <p:nvSpPr>
          <p:cNvPr id="20" name="TextBox 19"/>
          <p:cNvSpPr txBox="1"/>
          <p:nvPr/>
        </p:nvSpPr>
        <p:spPr>
          <a:xfrm>
            <a:off x="6309360" y="4937760"/>
            <a:ext cx="5120640" cy="82296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Know the literature. Know what the 2022 systematic review says. Know what the Taibah Theory proposes. And know what remains unknown. Communicate all of this with confidence and humility.</a:t>
            </a:r>
          </a:p>
        </p:txBody>
      </p:sp>
      <p:sp>
        <p:nvSpPr>
          <p:cNvPr id="21" name="TextBox 20"/>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3 | Clinical Protocols</a:t>
            </a:r>
          </a:p>
        </p:txBody>
      </p:sp>
      <p:sp>
        <p:nvSpPr>
          <p:cNvPr id="22" name="TextBox 21"/>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3.2 The 7-Step Patient Assessment</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7432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Every patient must be assessed using the 7-Step framework before any treatment is planned. No shortcuts. No assumptions.</a:t>
            </a:r>
          </a:p>
        </p:txBody>
      </p:sp>
      <p:sp>
        <p:nvSpPr>
          <p:cNvPr id="6" name="TextBox 5"/>
          <p:cNvSpPr txBox="1"/>
          <p:nvPr/>
        </p:nvSpPr>
        <p:spPr>
          <a:xfrm>
            <a:off x="457200" y="164592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1 — Presenting Complaint and Goals</a:t>
            </a:r>
          </a:p>
        </p:txBody>
      </p:sp>
      <p:sp>
        <p:nvSpPr>
          <p:cNvPr id="7" name="TextBox 6"/>
          <p:cNvSpPr txBox="1"/>
          <p:nvPr/>
        </p:nvSpPr>
        <p:spPr>
          <a:xfrm>
            <a:off x="640080" y="187452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Record the patient's own words. Identify primary concerns and desired outcomes. Do not reinterpret. Do not diagnose. Listen.</a:t>
            </a:r>
          </a:p>
        </p:txBody>
      </p:sp>
      <p:sp>
        <p:nvSpPr>
          <p:cNvPr id="8" name="TextBox 7"/>
          <p:cNvSpPr txBox="1"/>
          <p:nvPr/>
        </p:nvSpPr>
        <p:spPr>
          <a:xfrm>
            <a:off x="457200" y="224028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2 — Medical History (Systematic Review)</a:t>
            </a:r>
          </a:p>
        </p:txBody>
      </p:sp>
      <p:sp>
        <p:nvSpPr>
          <p:cNvPr id="9" name="TextBox 8"/>
          <p:cNvSpPr txBox="1"/>
          <p:nvPr/>
        </p:nvSpPr>
        <p:spPr>
          <a:xfrm>
            <a:off x="640080" y="246888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Cardiovascular, respiratory, gastrointestinal, genitourinary, musculoskeletal, neurological, endocrine, immunological, psychiatric, dermatological. Ask about every system.</a:t>
            </a:r>
          </a:p>
        </p:txBody>
      </p:sp>
      <p:sp>
        <p:nvSpPr>
          <p:cNvPr id="10" name="TextBox 9"/>
          <p:cNvSpPr txBox="1"/>
          <p:nvPr/>
        </p:nvSpPr>
        <p:spPr>
          <a:xfrm>
            <a:off x="457200" y="283464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3 — Current Medications and Allergies</a:t>
            </a:r>
          </a:p>
        </p:txBody>
      </p:sp>
      <p:sp>
        <p:nvSpPr>
          <p:cNvPr id="11" name="TextBox 10"/>
          <p:cNvSpPr txBox="1"/>
          <p:nvPr/>
        </p:nvSpPr>
        <p:spPr>
          <a:xfrm>
            <a:off x="640080" y="306324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All prescription medications, OTC drugs, supplements, and herbal remedies. Note anticoagulants, antihypertensives, diabetes medications.</a:t>
            </a:r>
          </a:p>
        </p:txBody>
      </p:sp>
      <p:sp>
        <p:nvSpPr>
          <p:cNvPr id="12" name="TextBox 11"/>
          <p:cNvSpPr txBox="1"/>
          <p:nvPr/>
        </p:nvSpPr>
        <p:spPr>
          <a:xfrm>
            <a:off x="457200" y="342900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4 — Previous Hijama Experience</a:t>
            </a:r>
          </a:p>
        </p:txBody>
      </p:sp>
      <p:sp>
        <p:nvSpPr>
          <p:cNvPr id="13" name="TextBox 12"/>
          <p:cNvSpPr txBox="1"/>
          <p:nvPr/>
        </p:nvSpPr>
        <p:spPr>
          <a:xfrm>
            <a:off x="640080" y="365760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Dates, practitioners, points used, responses, adverse events. Previous negative experience does not preclude treatment, but it informs your approach.</a:t>
            </a:r>
          </a:p>
        </p:txBody>
      </p:sp>
      <p:sp>
        <p:nvSpPr>
          <p:cNvPr id="14" name="TextBox 13"/>
          <p:cNvSpPr txBox="1"/>
          <p:nvPr/>
        </p:nvSpPr>
        <p:spPr>
          <a:xfrm>
            <a:off x="457200" y="402336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5 — Lifestyle Factors</a:t>
            </a:r>
          </a:p>
        </p:txBody>
      </p:sp>
      <p:sp>
        <p:nvSpPr>
          <p:cNvPr id="15" name="TextBox 14"/>
          <p:cNvSpPr txBox="1"/>
          <p:nvPr/>
        </p:nvSpPr>
        <p:spPr>
          <a:xfrm>
            <a:off x="640080" y="425196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Diet, hydration, sleep, exercise, stress, occupation, spiritual practice. The patient's lifestyle is the context in which your treatment will succeed or fail.</a:t>
            </a:r>
          </a:p>
        </p:txBody>
      </p:sp>
      <p:sp>
        <p:nvSpPr>
          <p:cNvPr id="16" name="TextBox 15"/>
          <p:cNvSpPr txBox="1"/>
          <p:nvPr/>
        </p:nvSpPr>
        <p:spPr>
          <a:xfrm>
            <a:off x="457200" y="461772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6 — Vital Signs</a:t>
            </a:r>
          </a:p>
        </p:txBody>
      </p:sp>
      <p:sp>
        <p:nvSpPr>
          <p:cNvPr id="17" name="TextBox 16"/>
          <p:cNvSpPr txBox="1"/>
          <p:nvPr/>
        </p:nvSpPr>
        <p:spPr>
          <a:xfrm>
            <a:off x="640080" y="484632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Blood pressure, heart rate, temperature, oxygen saturation (if indicated), blood glucose (for diabetic patients). Vital signs are objective data. They do not lie.</a:t>
            </a:r>
          </a:p>
        </p:txBody>
      </p:sp>
      <p:sp>
        <p:nvSpPr>
          <p:cNvPr id="18" name="TextBox 17"/>
          <p:cNvSpPr txBox="1"/>
          <p:nvPr/>
        </p:nvSpPr>
        <p:spPr>
          <a:xfrm>
            <a:off x="457200" y="5212080"/>
            <a:ext cx="10972800" cy="228600"/>
          </a:xfrm>
          <a:prstGeom prst="rect">
            <a:avLst/>
          </a:prstGeom>
          <a:noFill/>
        </p:spPr>
        <p:txBody>
          <a:bodyPr wrap="square"/>
          <a:lstStyle/>
          <a:p>
            <a:pPr algn="l">
              <a:lnSpc>
                <a:spcPct val="120000"/>
              </a:lnSpc>
              <a:spcBef>
                <a:spcPts val="0"/>
              </a:spcBef>
              <a:spcAft>
                <a:spcPts val="0"/>
              </a:spcAft>
              <a:defRPr sz="1300" b="1" i="0">
                <a:solidFill>
                  <a:srgbClr val="003F5C"/>
                </a:solidFill>
                <a:latin typeface="Calibri"/>
              </a:defRPr>
            </a:pPr>
            <a:r>
              <a:t>Step 7 — Risk Stratification and Contraindication Screening</a:t>
            </a:r>
          </a:p>
        </p:txBody>
      </p:sp>
      <p:sp>
        <p:nvSpPr>
          <p:cNvPr id="19" name="TextBox 18"/>
          <p:cNvSpPr txBox="1"/>
          <p:nvPr/>
        </p:nvSpPr>
        <p:spPr>
          <a:xfrm>
            <a:off x="640080" y="5440680"/>
            <a:ext cx="10515600" cy="32004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Complete the standardised Contraindication Checklist. Assign risk category: Green (proceed), Amber (proceed with caution/modification), Red (defer/refer).</a:t>
            </a:r>
          </a:p>
        </p:txBody>
      </p:sp>
      <p:sp>
        <p:nvSpPr>
          <p:cNvPr id="20" name="Rectangle 19"/>
          <p:cNvSpPr/>
          <p:nvPr/>
        </p:nvSpPr>
        <p:spPr>
          <a:xfrm>
            <a:off x="457200" y="5760720"/>
            <a:ext cx="11277295" cy="54864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852160"/>
            <a:ext cx="11002975" cy="365760"/>
          </a:xfrm>
          <a:prstGeom prst="rect">
            <a:avLst/>
          </a:prstGeom>
          <a:noFill/>
        </p:spPr>
        <p:txBody>
          <a:bodyPr wrap="none">
            <a:spAutoFit/>
          </a:bodyPr>
          <a:lstStyle/>
          <a:p>
            <a:pPr algn="l">
              <a:defRPr sz="1000" b="1">
                <a:solidFill>
                  <a:srgbClr val="E2725B"/>
                </a:solidFill>
                <a:latin typeface="Calibri"/>
              </a:defRPr>
            </a:pPr>
            <a:r>
              <a:t>CRITICAL — NEVER SKIP STEP 7</a:t>
            </a:r>
          </a:p>
        </p:txBody>
      </p:sp>
      <p:sp>
        <p:nvSpPr>
          <p:cNvPr id="22" name="TextBox 21"/>
          <p:cNvSpPr txBox="1"/>
          <p:nvPr/>
        </p:nvSpPr>
        <p:spPr>
          <a:xfrm>
            <a:off x="594360" y="6126480"/>
            <a:ext cx="11002975" cy="91440"/>
          </a:xfrm>
          <a:prstGeom prst="rect">
            <a:avLst/>
          </a:prstGeom>
          <a:noFill/>
        </p:spPr>
        <p:txBody>
          <a:bodyPr wrap="square">
            <a:spAutoFit/>
          </a:bodyPr>
          <a:lstStyle/>
          <a:p>
            <a:pPr algn="l">
              <a:lnSpc>
                <a:spcPct val="115000"/>
              </a:lnSpc>
              <a:defRPr sz="1000">
                <a:solidFill>
                  <a:srgbClr val="1A1A1A"/>
                </a:solidFill>
                <a:latin typeface="Calibri"/>
              </a:defRPr>
            </a:pPr>
            <a:r>
              <a:t>The 7-Step Assessment is not a formality. It is a safety net. The practitioner who skips steps to save time is not efficient. They are negligent.</a:t>
            </a:r>
          </a:p>
        </p:txBody>
      </p:sp>
      <p:sp>
        <p:nvSpPr>
          <p:cNvPr id="23" name="TextBox 2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3 | Clinical Protocols</a:t>
            </a:r>
          </a:p>
        </p:txBody>
      </p:sp>
      <p:sp>
        <p:nvSpPr>
          <p:cNvPr id="24" name="TextBox 2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3.3 Standard Health Detox Protocol</a:t>
            </a:r>
          </a:p>
        </p:txBody>
      </p:sp>
      <p:graphicFrame>
        <p:nvGraphicFramePr>
          <p:cNvPr id="5" name="Table 4"/>
          <p:cNvGraphicFramePr>
            <a:graphicFrameLocks noGrp="1"/>
          </p:cNvGraphicFramePr>
          <p:nvPr/>
        </p:nvGraphicFramePr>
        <p:xfrm>
          <a:off x="457200" y="1554480"/>
          <a:ext cx="11277294" cy="2194560"/>
        </p:xfrm>
        <a:graphic>
          <a:graphicData uri="http://schemas.openxmlformats.org/drawingml/2006/table">
            <a:tbl>
              <a:tblPr firstRow="1" bandRow="1">
                <a:tableStyleId>{5C22544A-7EE6-4342-B048-85BDC9FD1C3A}</a:tableStyleId>
              </a:tblPr>
              <a:tblGrid>
                <a:gridCol w="5638647"/>
                <a:gridCol w="5638647"/>
              </a:tblGrid>
              <a:tr h="365760">
                <a:tc>
                  <a:txBody>
                    <a:bodyPr/>
                    <a:lstStyle/>
                    <a:p>
                      <a:pPr algn="l">
                        <a:defRPr sz="1000" b="1">
                          <a:solidFill>
                            <a:srgbClr val="FAF7F2"/>
                          </a:solidFill>
                          <a:latin typeface="Calibri"/>
                        </a:defRPr>
                      </a:pPr>
                      <a:r>
                        <a:t>Parameter</a:t>
                      </a:r>
                    </a:p>
                  </a:txBody>
                  <a:tcPr anchor="ctr">
                    <a:solidFill>
                      <a:srgbClr val="003F5C"/>
                    </a:solidFill>
                  </a:tcPr>
                </a:tc>
                <a:tc>
                  <a:txBody>
                    <a:bodyPr/>
                    <a:lstStyle/>
                    <a:p>
                      <a:pPr algn="l">
                        <a:defRPr sz="1000" b="1">
                          <a:solidFill>
                            <a:srgbClr val="FAF7F2"/>
                          </a:solidFill>
                          <a:latin typeface="Calibri"/>
                        </a:defRPr>
                      </a:pPr>
                      <a:r>
                        <a:t>Standard</a:t>
                      </a:r>
                    </a:p>
                  </a:txBody>
                  <a:tcPr anchor="ctr">
                    <a:solidFill>
                      <a:srgbClr val="003F5C"/>
                    </a:solidFill>
                  </a:tcPr>
                </a:tc>
              </a:tr>
              <a:tr h="365760">
                <a:tc>
                  <a:txBody>
                    <a:bodyPr/>
                    <a:lstStyle/>
                    <a:p>
                      <a:pPr algn="l">
                        <a:defRPr sz="1000">
                          <a:solidFill>
                            <a:srgbClr val="1A1A1A"/>
                          </a:solidFill>
                          <a:latin typeface="Calibri"/>
                        </a:defRPr>
                      </a:pPr>
                      <a:r>
                        <a:t>Cups</a:t>
                      </a:r>
                    </a:p>
                  </a:txBody>
                  <a:tcPr anchor="ctr"/>
                </a:tc>
                <a:tc>
                  <a:txBody>
                    <a:bodyPr/>
                    <a:lstStyle/>
                    <a:p>
                      <a:pPr algn="l">
                        <a:defRPr sz="1000">
                          <a:solidFill>
                            <a:srgbClr val="1A1A1A"/>
                          </a:solidFill>
                          <a:latin typeface="Calibri"/>
                        </a:defRPr>
                      </a:pPr>
                      <a:r>
                        <a:t>5–7 cups</a:t>
                      </a:r>
                    </a:p>
                  </a:txBody>
                  <a:tcPr anchor="ctr"/>
                </a:tc>
              </a:tr>
              <a:tr h="365760">
                <a:tc>
                  <a:txBody>
                    <a:bodyPr/>
                    <a:lstStyle/>
                    <a:p>
                      <a:pPr algn="l">
                        <a:defRPr sz="1000">
                          <a:solidFill>
                            <a:srgbClr val="1A1A1A"/>
                          </a:solidFill>
                          <a:latin typeface="Calibri"/>
                        </a:defRPr>
                      </a:pPr>
                      <a:r>
                        <a:t>Pressure</a:t>
                      </a:r>
                    </a:p>
                  </a:txBody>
                  <a:tcPr anchor="ctr">
                    <a:solidFill>
                      <a:srgbClr val="F5F2EB"/>
                    </a:solidFill>
                  </a:tcPr>
                </a:tc>
                <a:tc>
                  <a:txBody>
                    <a:bodyPr/>
                    <a:lstStyle/>
                    <a:p>
                      <a:pPr algn="l">
                        <a:defRPr sz="1000">
                          <a:solidFill>
                            <a:srgbClr val="1A1A1A"/>
                          </a:solidFill>
                          <a:latin typeface="Calibri"/>
                        </a:defRPr>
                      </a:pPr>
                      <a:r>
                        <a:t>–0.05 to –0.08 MPa</a:t>
                      </a:r>
                    </a:p>
                  </a:txBody>
                  <a:tcPr anchor="ctr">
                    <a:solidFill>
                      <a:srgbClr val="F5F2EB"/>
                    </a:solidFill>
                  </a:tcPr>
                </a:tc>
              </a:tr>
              <a:tr h="365760">
                <a:tc>
                  <a:txBody>
                    <a:bodyPr/>
                    <a:lstStyle/>
                    <a:p>
                      <a:pPr algn="l">
                        <a:defRPr sz="1000">
                          <a:solidFill>
                            <a:srgbClr val="1A1A1A"/>
                          </a:solidFill>
                          <a:latin typeface="Calibri"/>
                        </a:defRPr>
                      </a:pPr>
                      <a:r>
                        <a:t>Volume</a:t>
                      </a:r>
                    </a:p>
                  </a:txBody>
                  <a:tcPr anchor="ctr"/>
                </a:tc>
                <a:tc>
                  <a:txBody>
                    <a:bodyPr/>
                    <a:lstStyle/>
                    <a:p>
                      <a:pPr algn="l">
                        <a:defRPr sz="1000">
                          <a:solidFill>
                            <a:srgbClr val="1A1A1A"/>
                          </a:solidFill>
                          <a:latin typeface="Calibri"/>
                        </a:defRPr>
                      </a:pPr>
                      <a:r>
                        <a:t>50–150ml total extraction</a:t>
                      </a:r>
                    </a:p>
                  </a:txBody>
                  <a:tcPr anchor="ctr"/>
                </a:tc>
              </a:tr>
              <a:tr h="365760">
                <a:tc>
                  <a:txBody>
                    <a:bodyPr/>
                    <a:lstStyle/>
                    <a:p>
                      <a:pPr algn="l">
                        <a:defRPr sz="1000">
                          <a:solidFill>
                            <a:srgbClr val="1A1A1A"/>
                          </a:solidFill>
                          <a:latin typeface="Calibri"/>
                        </a:defRPr>
                      </a:pPr>
                      <a:r>
                        <a:t>Frequency</a:t>
                      </a:r>
                    </a:p>
                  </a:txBody>
                  <a:tcPr anchor="ctr">
                    <a:solidFill>
                      <a:srgbClr val="F5F2EB"/>
                    </a:solidFill>
                  </a:tcPr>
                </a:tc>
                <a:tc>
                  <a:txBody>
                    <a:bodyPr/>
                    <a:lstStyle/>
                    <a:p>
                      <a:pPr algn="l">
                        <a:defRPr sz="1000">
                          <a:solidFill>
                            <a:srgbClr val="1A1A1A"/>
                          </a:solidFill>
                          <a:latin typeface="Calibri"/>
                        </a:defRPr>
                      </a:pPr>
                      <a:r>
                        <a:t>Monthly maintenance; weekly for acute conditions (maximum 3 consecutive weeks, then review)</a:t>
                      </a:r>
                    </a:p>
                  </a:txBody>
                  <a:tcPr anchor="ctr">
                    <a:solidFill>
                      <a:srgbClr val="F5F2EB"/>
                    </a:solidFill>
                  </a:tcPr>
                </a:tc>
              </a:tr>
              <a:tr h="365760">
                <a:tc>
                  <a:txBody>
                    <a:bodyPr/>
                    <a:lstStyle/>
                    <a:p>
                      <a:pPr algn="l">
                        <a:defRPr sz="1000">
                          <a:solidFill>
                            <a:srgbClr val="1A1A1A"/>
                          </a:solidFill>
                          <a:latin typeface="Calibri"/>
                        </a:defRPr>
                      </a:pPr>
                      <a:r>
                        <a:t>Points</a:t>
                      </a:r>
                    </a:p>
                  </a:txBody>
                  <a:tcPr anchor="ctr"/>
                </a:tc>
                <a:tc>
                  <a:txBody>
                    <a:bodyPr/>
                    <a:lstStyle/>
                    <a:p>
                      <a:pPr algn="l">
                        <a:defRPr sz="1000">
                          <a:solidFill>
                            <a:srgbClr val="1A1A1A"/>
                          </a:solidFill>
                          <a:latin typeface="Calibri"/>
                        </a:defRPr>
                      </a:pPr>
                      <a:r>
                        <a:t>Al-Kahil (primary), Akhda'een, Al-Katifain, plus therapeutic points as indicated</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3.1 — Standard Health Detox Protocol Parameters</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3 | Clinical Protocols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3.4 Wet Cupping Procedure: Step-by-Step</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Pre-Procedure (10 minutes):</a:t>
            </a:r>
          </a:p>
        </p:txBody>
      </p:sp>
      <p:sp>
        <p:nvSpPr>
          <p:cNvPr id="6" name="TextBox 5"/>
          <p:cNvSpPr txBox="1"/>
          <p:nvPr/>
        </p:nvSpPr>
        <p:spPr>
          <a:xfrm>
            <a:off x="640080" y="16459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1. Verify consent and identity. Check that written consent is present, signed, and dated.</a:t>
            </a:r>
          </a:p>
        </p:txBody>
      </p:sp>
      <p:sp>
        <p:nvSpPr>
          <p:cNvPr id="7" name="TextBox 6"/>
          <p:cNvSpPr txBox="1"/>
          <p:nvPr/>
        </p:nvSpPr>
        <p:spPr>
          <a:xfrm>
            <a:off x="640080" y="19202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2. Confirm contraindication screening is complete. If any item is flagged, stop and review.</a:t>
            </a:r>
          </a:p>
        </p:txBody>
      </p:sp>
      <p:sp>
        <p:nvSpPr>
          <p:cNvPr id="8" name="TextBox 7"/>
          <p:cNvSpPr txBox="1"/>
          <p:nvPr/>
        </p:nvSpPr>
        <p:spPr>
          <a:xfrm>
            <a:off x="640080" y="21945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3. Position patient: prone for back points; seated for neck/shoulder. Ensure comfort and dignity.</a:t>
            </a:r>
          </a:p>
        </p:txBody>
      </p:sp>
      <p:sp>
        <p:nvSpPr>
          <p:cNvPr id="9" name="TextBox 8"/>
          <p:cNvSpPr txBox="1"/>
          <p:nvPr/>
        </p:nvSpPr>
        <p:spPr>
          <a:xfrm>
            <a:off x="640080" y="24688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4. Prepare skin: cleanse with antiseptic (chlorhexidine 0.5% or 70% isopropyl alcohol). Allow to air dry.</a:t>
            </a:r>
          </a:p>
        </p:txBody>
      </p:sp>
      <p:sp>
        <p:nvSpPr>
          <p:cNvPr id="10" name="TextBox 9"/>
          <p:cNvSpPr txBox="1"/>
          <p:nvPr/>
        </p:nvSpPr>
        <p:spPr>
          <a:xfrm>
            <a:off x="640080" y="27432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5. Prepare equipment: sterile cups, lancets, pump, gloves, gauze, dressing. Check expiry dates.</a:t>
            </a:r>
          </a:p>
        </p:txBody>
      </p:sp>
      <p:sp>
        <p:nvSpPr>
          <p:cNvPr id="11" name="TextBox 10"/>
          <p:cNvSpPr txBox="1"/>
          <p:nvPr/>
        </p:nvSpPr>
        <p:spPr>
          <a:xfrm>
            <a:off x="457200" y="310896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Procedure (20–30 minutes):</a:t>
            </a:r>
          </a:p>
        </p:txBody>
      </p:sp>
      <p:sp>
        <p:nvSpPr>
          <p:cNvPr id="12" name="TextBox 11"/>
          <p:cNvSpPr txBox="1"/>
          <p:nvPr/>
        </p:nvSpPr>
        <p:spPr>
          <a:xfrm>
            <a:off x="640080" y="34747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1. Cup Placement: Apply cups to selected points using anatomical landmarks. Ensure seal is secure.</a:t>
            </a:r>
          </a:p>
        </p:txBody>
      </p:sp>
      <p:sp>
        <p:nvSpPr>
          <p:cNvPr id="13" name="TextBox 12"/>
          <p:cNvSpPr txBox="1"/>
          <p:nvPr/>
        </p:nvSpPr>
        <p:spPr>
          <a:xfrm>
            <a:off x="640080" y="37490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2. Waiting Period: 3–5 minutes. Monitor skin response. Look for adequate congestion.</a:t>
            </a:r>
          </a:p>
        </p:txBody>
      </p:sp>
      <p:sp>
        <p:nvSpPr>
          <p:cNvPr id="14" name="TextBox 13"/>
          <p:cNvSpPr txBox="1"/>
          <p:nvPr/>
        </p:nvSpPr>
        <p:spPr>
          <a:xfrm>
            <a:off x="640080" y="40233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3. Cup Removal: Controlled release of suction. Remove cup smoothly.</a:t>
            </a:r>
          </a:p>
        </p:txBody>
      </p:sp>
      <p:sp>
        <p:nvSpPr>
          <p:cNvPr id="15" name="TextBox 14"/>
          <p:cNvSpPr txBox="1"/>
          <p:nvPr/>
        </p:nvSpPr>
        <p:spPr>
          <a:xfrm>
            <a:off x="640080" y="42976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4. Scarification: Using sterile lancet, make 3–5 superficial incisions per cup site. Depth: 0.5–1mm. Length: 5–7mm.</a:t>
            </a:r>
          </a:p>
        </p:txBody>
      </p:sp>
      <p:sp>
        <p:nvSpPr>
          <p:cNvPr id="16" name="TextBox 15"/>
          <p:cNvSpPr txBox="1"/>
          <p:nvPr/>
        </p:nvSpPr>
        <p:spPr>
          <a:xfrm>
            <a:off x="640080" y="45720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5. Reapplication: Reapply cup over incisions with moderate suction (–0.03 to –0.05 MPa).</a:t>
            </a:r>
          </a:p>
        </p:txBody>
      </p:sp>
      <p:sp>
        <p:nvSpPr>
          <p:cNvPr id="17" name="TextBox 16"/>
          <p:cNvSpPr txBox="1"/>
          <p:nvPr/>
        </p:nvSpPr>
        <p:spPr>
          <a:xfrm>
            <a:off x="640080" y="48463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6. Blood Collection: Monitor colour change. Dark, viscous blood often appears first; transition to brighter red indicates adequate extraction.</a:t>
            </a:r>
          </a:p>
        </p:txBody>
      </p:sp>
      <p:sp>
        <p:nvSpPr>
          <p:cNvPr id="18" name="TextBox 17"/>
          <p:cNvSpPr txBox="1"/>
          <p:nvPr/>
        </p:nvSpPr>
        <p:spPr>
          <a:xfrm>
            <a:off x="640080" y="51206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7. Completion: Release suction. Remove cup. Cleanse site with sterile saline. Apply sterile gauze and dressing.</a:t>
            </a:r>
          </a:p>
        </p:txBody>
      </p:sp>
      <p:sp>
        <p:nvSpPr>
          <p:cNvPr id="19" name="TextBox 18"/>
          <p:cNvSpPr txBox="1"/>
          <p:nvPr/>
        </p:nvSpPr>
        <p:spPr>
          <a:xfrm>
            <a:off x="640080" y="53949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8. Aftercare: Provide written and verbal instructions. Schedule follow-up.</a:t>
            </a:r>
          </a:p>
        </p:txBody>
      </p:sp>
      <p:sp>
        <p:nvSpPr>
          <p:cNvPr id="20" name="Rectangle 19"/>
          <p:cNvSpPr/>
          <p:nvPr/>
        </p:nvSpPr>
        <p:spPr>
          <a:xfrm>
            <a:off x="457200" y="5760720"/>
            <a:ext cx="11277295" cy="54864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5852160"/>
            <a:ext cx="11002975" cy="365760"/>
          </a:xfrm>
          <a:prstGeom prst="rect">
            <a:avLst/>
          </a:prstGeom>
          <a:noFill/>
        </p:spPr>
        <p:txBody>
          <a:bodyPr wrap="none">
            <a:spAutoFit/>
          </a:bodyPr>
          <a:lstStyle/>
          <a:p>
            <a:pPr algn="l">
              <a:defRPr sz="1000" b="1">
                <a:solidFill>
                  <a:srgbClr val="E2725B"/>
                </a:solidFill>
                <a:latin typeface="Calibri"/>
              </a:defRPr>
            </a:pPr>
            <a:r>
              <a:t>CRITICAL — SCARIFICATION DEPTH</a:t>
            </a:r>
          </a:p>
        </p:txBody>
      </p:sp>
      <p:sp>
        <p:nvSpPr>
          <p:cNvPr id="22" name="TextBox 21"/>
          <p:cNvSpPr txBox="1"/>
          <p:nvPr/>
        </p:nvSpPr>
        <p:spPr>
          <a:xfrm>
            <a:off x="594360" y="6126480"/>
            <a:ext cx="11002975" cy="91440"/>
          </a:xfrm>
          <a:prstGeom prst="rect">
            <a:avLst/>
          </a:prstGeom>
          <a:noFill/>
        </p:spPr>
        <p:txBody>
          <a:bodyPr wrap="square">
            <a:spAutoFit/>
          </a:bodyPr>
          <a:lstStyle/>
          <a:p>
            <a:pPr algn="l">
              <a:lnSpc>
                <a:spcPct val="115000"/>
              </a:lnSpc>
              <a:defRPr sz="1000">
                <a:solidFill>
                  <a:srgbClr val="1A1A1A"/>
                </a:solidFill>
                <a:latin typeface="Calibri"/>
              </a:defRPr>
            </a:pPr>
            <a:r>
              <a:t>Target: 0.5–1mm into the dermis. Never penetrate the hypodermis. Too shallow: inadequate blood flow. Too deep: risk of scarring, infection, damage to deeper structures.</a:t>
            </a:r>
          </a:p>
        </p:txBody>
      </p:sp>
      <p:sp>
        <p:nvSpPr>
          <p:cNvPr id="23" name="TextBox 2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3 | Clinical Protocols</a:t>
            </a:r>
          </a:p>
        </p:txBody>
      </p:sp>
      <p:sp>
        <p:nvSpPr>
          <p:cNvPr id="24" name="TextBox 2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3.5 Sunnah Points: Anatomical Landmarks</a:t>
            </a:r>
          </a:p>
        </p:txBody>
      </p:sp>
      <p:graphicFrame>
        <p:nvGraphicFramePr>
          <p:cNvPr id="5" name="Table 4"/>
          <p:cNvGraphicFramePr>
            <a:graphicFrameLocks noGrp="1"/>
          </p:cNvGraphicFramePr>
          <p:nvPr/>
        </p:nvGraphicFramePr>
        <p:xfrm>
          <a:off x="457200" y="1554480"/>
          <a:ext cx="11277292" cy="2194560"/>
        </p:xfrm>
        <a:graphic>
          <a:graphicData uri="http://schemas.openxmlformats.org/drawingml/2006/table">
            <a:tbl>
              <a:tblPr firstRow="1" bandRow="1">
                <a:tableStyleId>{5C22544A-7EE6-4342-B048-85BDC9FD1C3A}</a:tableStyleId>
              </a:tblPr>
              <a:tblGrid>
                <a:gridCol w="2819323"/>
                <a:gridCol w="2819323"/>
                <a:gridCol w="2819323"/>
                <a:gridCol w="2819323"/>
              </a:tblGrid>
              <a:tr h="365760">
                <a:tc>
                  <a:txBody>
                    <a:bodyPr/>
                    <a:lstStyle/>
                    <a:p>
                      <a:pPr algn="l">
                        <a:defRPr sz="1000" b="1">
                          <a:solidFill>
                            <a:srgbClr val="FAF7F2"/>
                          </a:solidFill>
                          <a:latin typeface="Calibri"/>
                        </a:defRPr>
                      </a:pPr>
                      <a:r>
                        <a:t>Point</a:t>
                      </a:r>
                    </a:p>
                  </a:txBody>
                  <a:tcPr anchor="ctr">
                    <a:solidFill>
                      <a:srgbClr val="003F5C"/>
                    </a:solidFill>
                  </a:tcPr>
                </a:tc>
                <a:tc>
                  <a:txBody>
                    <a:bodyPr/>
                    <a:lstStyle/>
                    <a:p>
                      <a:pPr algn="l">
                        <a:defRPr sz="1000" b="1">
                          <a:solidFill>
                            <a:srgbClr val="FAF7F2"/>
                          </a:solidFill>
                          <a:latin typeface="Calibri"/>
                        </a:defRPr>
                      </a:pPr>
                      <a:r>
                        <a:t>Location</a:t>
                      </a:r>
                    </a:p>
                  </a:txBody>
                  <a:tcPr anchor="ctr">
                    <a:solidFill>
                      <a:srgbClr val="003F5C"/>
                    </a:solidFill>
                  </a:tcPr>
                </a:tc>
                <a:tc>
                  <a:txBody>
                    <a:bodyPr/>
                    <a:lstStyle/>
                    <a:p>
                      <a:pPr algn="l">
                        <a:defRPr sz="1000" b="1">
                          <a:solidFill>
                            <a:srgbClr val="FAF7F2"/>
                          </a:solidFill>
                          <a:latin typeface="Calibri"/>
                        </a:defRPr>
                      </a:pPr>
                      <a:r>
                        <a:t>Prophetic Basis</a:t>
                      </a:r>
                    </a:p>
                  </a:txBody>
                  <a:tcPr anchor="ctr">
                    <a:solidFill>
                      <a:srgbClr val="003F5C"/>
                    </a:solidFill>
                  </a:tcPr>
                </a:tc>
                <a:tc>
                  <a:txBody>
                    <a:bodyPr/>
                    <a:lstStyle/>
                    <a:p>
                      <a:pPr algn="l">
                        <a:defRPr sz="1000" b="1">
                          <a:solidFill>
                            <a:srgbClr val="FAF7F2"/>
                          </a:solidFill>
                          <a:latin typeface="Calibri"/>
                        </a:defRPr>
                      </a:pPr>
                      <a:r>
                        <a:t>Clinical Application</a:t>
                      </a:r>
                    </a:p>
                  </a:txBody>
                  <a:tcPr anchor="ctr">
                    <a:solidFill>
                      <a:srgbClr val="003F5C"/>
                    </a:solidFill>
                  </a:tcPr>
                </a:tc>
              </a:tr>
              <a:tr h="365760">
                <a:tc>
                  <a:txBody>
                    <a:bodyPr/>
                    <a:lstStyle/>
                    <a:p>
                      <a:pPr algn="l">
                        <a:defRPr sz="1000">
                          <a:solidFill>
                            <a:srgbClr val="1A1A1A"/>
                          </a:solidFill>
                          <a:latin typeface="Calibri"/>
                        </a:defRPr>
                      </a:pPr>
                      <a:r>
                        <a:t>Al-Kahil</a:t>
                      </a:r>
                    </a:p>
                  </a:txBody>
                  <a:tcPr anchor="ctr"/>
                </a:tc>
                <a:tc>
                  <a:txBody>
                    <a:bodyPr/>
                    <a:lstStyle/>
                    <a:p>
                      <a:pPr algn="l">
                        <a:defRPr sz="1000">
                          <a:solidFill>
                            <a:srgbClr val="1A1A1A"/>
                          </a:solidFill>
                          <a:latin typeface="Calibri"/>
                        </a:defRPr>
                      </a:pPr>
                      <a:r>
                        <a:t>Between the shoulder blades (DU14/DU15 region), midline, T1–T3</a:t>
                      </a:r>
                    </a:p>
                  </a:txBody>
                  <a:tcPr anchor="ctr"/>
                </a:tc>
                <a:tc>
                  <a:txBody>
                    <a:bodyPr/>
                    <a:lstStyle/>
                    <a:p>
                      <a:pPr algn="l">
                        <a:defRPr sz="1000">
                          <a:solidFill>
                            <a:srgbClr val="1A1A1A"/>
                          </a:solidFill>
                          <a:latin typeface="Calibri"/>
                        </a:defRPr>
                      </a:pPr>
                      <a:r>
                        <a:t>Primary Sunnah point; most frequently recommended by the Prophet ﷺ</a:t>
                      </a:r>
                    </a:p>
                  </a:txBody>
                  <a:tcPr anchor="ctr"/>
                </a:tc>
                <a:tc>
                  <a:txBody>
                    <a:bodyPr/>
                    <a:lstStyle/>
                    <a:p>
                      <a:pPr algn="l">
                        <a:defRPr sz="1000">
                          <a:solidFill>
                            <a:srgbClr val="1A1A1A"/>
                          </a:solidFill>
                          <a:latin typeface="Calibri"/>
                        </a:defRPr>
                      </a:pPr>
                      <a:r>
                        <a:t>General wellness, detoxification, back pain, immune support</a:t>
                      </a:r>
                    </a:p>
                  </a:txBody>
                  <a:tcPr anchor="ctr"/>
                </a:tc>
              </a:tr>
              <a:tr h="365760">
                <a:tc>
                  <a:txBody>
                    <a:bodyPr/>
                    <a:lstStyle/>
                    <a:p>
                      <a:pPr algn="l">
                        <a:defRPr sz="1000">
                          <a:solidFill>
                            <a:srgbClr val="1A1A1A"/>
                          </a:solidFill>
                          <a:latin typeface="Calibri"/>
                        </a:defRPr>
                      </a:pPr>
                      <a:r>
                        <a:t>Akhda'een</a:t>
                      </a:r>
                    </a:p>
                  </a:txBody>
                  <a:tcPr anchor="ctr">
                    <a:solidFill>
                      <a:srgbClr val="F5F2EB"/>
                    </a:solidFill>
                  </a:tcPr>
                </a:tc>
                <a:tc>
                  <a:txBody>
                    <a:bodyPr/>
                    <a:lstStyle/>
                    <a:p>
                      <a:pPr algn="l">
                        <a:defRPr sz="1000">
                          <a:solidFill>
                            <a:srgbClr val="1A1A1A"/>
                          </a:solidFill>
                          <a:latin typeface="Calibri"/>
                        </a:defRPr>
                      </a:pPr>
                      <a:r>
                        <a:t>Lateral aspects of neck, posterior to sternocleidomastoid</a:t>
                      </a:r>
                    </a:p>
                  </a:txBody>
                  <a:tcPr anchor="ctr">
                    <a:solidFill>
                      <a:srgbClr val="F5F2EB"/>
                    </a:solidFill>
                  </a:tcPr>
                </a:tc>
                <a:tc>
                  <a:txBody>
                    <a:bodyPr/>
                    <a:lstStyle/>
                    <a:p>
                      <a:pPr algn="l">
                        <a:defRPr sz="1000">
                          <a:solidFill>
                            <a:srgbClr val="1A1A1A"/>
                          </a:solidFill>
                          <a:latin typeface="Calibri"/>
                        </a:defRPr>
                      </a:pPr>
                      <a:r>
                        <a:t>Authentic hadith</a:t>
                      </a:r>
                    </a:p>
                  </a:txBody>
                  <a:tcPr anchor="ctr">
                    <a:solidFill>
                      <a:srgbClr val="F5F2EB"/>
                    </a:solidFill>
                  </a:tcPr>
                </a:tc>
                <a:tc>
                  <a:txBody>
                    <a:bodyPr/>
                    <a:lstStyle/>
                    <a:p>
                      <a:pPr algn="l">
                        <a:defRPr sz="1000">
                          <a:solidFill>
                            <a:srgbClr val="1A1A1A"/>
                          </a:solidFill>
                          <a:latin typeface="Calibri"/>
                        </a:defRPr>
                      </a:pPr>
                      <a:r>
                        <a:t>Headache, hypertension, thyroid support (with caution)</a:t>
                      </a:r>
                    </a:p>
                  </a:txBody>
                  <a:tcPr anchor="ctr">
                    <a:solidFill>
                      <a:srgbClr val="F5F2EB"/>
                    </a:solidFill>
                  </a:tcPr>
                </a:tc>
              </a:tr>
              <a:tr h="365760">
                <a:tc>
                  <a:txBody>
                    <a:bodyPr/>
                    <a:lstStyle/>
                    <a:p>
                      <a:pPr algn="l">
                        <a:defRPr sz="1000">
                          <a:solidFill>
                            <a:srgbClr val="1A1A1A"/>
                          </a:solidFill>
                          <a:latin typeface="Calibri"/>
                        </a:defRPr>
                      </a:pPr>
                      <a:r>
                        <a:t>Al-Hamma</a:t>
                      </a:r>
                    </a:p>
                  </a:txBody>
                  <a:tcPr anchor="ctr"/>
                </a:tc>
                <a:tc>
                  <a:txBody>
                    <a:bodyPr/>
                    <a:lstStyle/>
                    <a:p>
                      <a:pPr algn="l">
                        <a:defRPr sz="1000">
                          <a:solidFill>
                            <a:srgbClr val="1A1A1A"/>
                          </a:solidFill>
                          <a:latin typeface="Calibri"/>
                        </a:defRPr>
                      </a:pPr>
                      <a:r>
                        <a:t>Vertex (top of the head), midline</a:t>
                      </a:r>
                    </a:p>
                  </a:txBody>
                  <a:tcPr anchor="ctr"/>
                </a:tc>
                <a:tc>
                  <a:txBody>
                    <a:bodyPr/>
                    <a:lstStyle/>
                    <a:p>
                      <a:pPr algn="l">
                        <a:defRPr sz="1000">
                          <a:solidFill>
                            <a:srgbClr val="1A1A1A"/>
                          </a:solidFill>
                          <a:latin typeface="Calibri"/>
                        </a:defRPr>
                      </a:pPr>
                      <a:r>
                        <a:t>Scholarly recommendation</a:t>
                      </a:r>
                    </a:p>
                  </a:txBody>
                  <a:tcPr anchor="ctr"/>
                </a:tc>
                <a:tc>
                  <a:txBody>
                    <a:bodyPr/>
                    <a:lstStyle/>
                    <a:p>
                      <a:pPr algn="l">
                        <a:defRPr sz="1000">
                          <a:solidFill>
                            <a:srgbClr val="1A1A1A"/>
                          </a:solidFill>
                          <a:latin typeface="Calibri"/>
                        </a:defRPr>
                      </a:pPr>
                      <a:r>
                        <a:t>Migraine, neurological conditions (limited evidence)</a:t>
                      </a:r>
                    </a:p>
                  </a:txBody>
                  <a:tcPr anchor="ctr"/>
                </a:tc>
              </a:tr>
              <a:tr h="365760">
                <a:tc>
                  <a:txBody>
                    <a:bodyPr/>
                    <a:lstStyle/>
                    <a:p>
                      <a:pPr algn="l">
                        <a:defRPr sz="1000">
                          <a:solidFill>
                            <a:srgbClr val="1A1A1A"/>
                          </a:solidFill>
                          <a:latin typeface="Calibri"/>
                        </a:defRPr>
                      </a:pPr>
                      <a:r>
                        <a:t>Umm al-Muqeeth</a:t>
                      </a:r>
                    </a:p>
                  </a:txBody>
                  <a:tcPr anchor="ctr">
                    <a:solidFill>
                      <a:srgbClr val="F5F2EB"/>
                    </a:solidFill>
                  </a:tcPr>
                </a:tc>
                <a:tc>
                  <a:txBody>
                    <a:bodyPr/>
                    <a:lstStyle/>
                    <a:p>
                      <a:pPr algn="l">
                        <a:defRPr sz="1000">
                          <a:solidFill>
                            <a:srgbClr val="1A1A1A"/>
                          </a:solidFill>
                          <a:latin typeface="Calibri"/>
                        </a:defRPr>
                      </a:pPr>
                      <a:r>
                        <a:t>Occipital region, base of skull</a:t>
                      </a:r>
                    </a:p>
                  </a:txBody>
                  <a:tcPr anchor="ctr">
                    <a:solidFill>
                      <a:srgbClr val="F5F2EB"/>
                    </a:solidFill>
                  </a:tcPr>
                </a:tc>
                <a:tc>
                  <a:txBody>
                    <a:bodyPr/>
                    <a:lstStyle/>
                    <a:p>
                      <a:pPr algn="l">
                        <a:defRPr sz="1000">
                          <a:solidFill>
                            <a:srgbClr val="1A1A1A"/>
                          </a:solidFill>
                          <a:latin typeface="Calibri"/>
                        </a:defRPr>
                      </a:pPr>
                      <a:r>
                        <a:t>Traditional practice</a:t>
                      </a:r>
                    </a:p>
                  </a:txBody>
                  <a:tcPr anchor="ctr">
                    <a:solidFill>
                      <a:srgbClr val="F5F2EB"/>
                    </a:solidFill>
                  </a:tcPr>
                </a:tc>
                <a:tc>
                  <a:txBody>
                    <a:bodyPr/>
                    <a:lstStyle/>
                    <a:p>
                      <a:pPr algn="l">
                        <a:defRPr sz="1000">
                          <a:solidFill>
                            <a:srgbClr val="1A1A1A"/>
                          </a:solidFill>
                          <a:latin typeface="Calibri"/>
                        </a:defRPr>
                      </a:pPr>
                      <a:r>
                        <a:t>Tension headache, cervical pain</a:t>
                      </a:r>
                    </a:p>
                  </a:txBody>
                  <a:tcPr anchor="ctr">
                    <a:solidFill>
                      <a:srgbClr val="F5F2EB"/>
                    </a:solidFill>
                  </a:tcPr>
                </a:tc>
              </a:tr>
              <a:tr h="365760">
                <a:tc>
                  <a:txBody>
                    <a:bodyPr/>
                    <a:lstStyle/>
                    <a:p>
                      <a:pPr algn="l">
                        <a:defRPr sz="1000">
                          <a:solidFill>
                            <a:srgbClr val="1A1A1A"/>
                          </a:solidFill>
                          <a:latin typeface="Calibri"/>
                        </a:defRPr>
                      </a:pPr>
                      <a:r>
                        <a:t>Al-Katifain</a:t>
                      </a:r>
                    </a:p>
                  </a:txBody>
                  <a:tcPr anchor="ctr"/>
                </a:tc>
                <a:tc>
                  <a:txBody>
                    <a:bodyPr/>
                    <a:lstStyle/>
                    <a:p>
                      <a:pPr algn="l">
                        <a:defRPr sz="1000">
                          <a:solidFill>
                            <a:srgbClr val="1A1A1A"/>
                          </a:solidFill>
                          <a:latin typeface="Calibri"/>
                        </a:defRPr>
                      </a:pPr>
                      <a:r>
                        <a:t>Shoulder points (GB21), upper trapezius</a:t>
                      </a:r>
                    </a:p>
                  </a:txBody>
                  <a:tcPr anchor="ctr"/>
                </a:tc>
                <a:tc>
                  <a:txBody>
                    <a:bodyPr/>
                    <a:lstStyle/>
                    <a:p>
                      <a:pPr algn="l">
                        <a:defRPr sz="1000">
                          <a:solidFill>
                            <a:srgbClr val="1A1A1A"/>
                          </a:solidFill>
                          <a:latin typeface="Calibri"/>
                        </a:defRPr>
                      </a:pPr>
                      <a:r>
                        <a:t>Authentic hadith</a:t>
                      </a:r>
                    </a:p>
                  </a:txBody>
                  <a:tcPr anchor="ctr"/>
                </a:tc>
                <a:tc>
                  <a:txBody>
                    <a:bodyPr/>
                    <a:lstStyle/>
                    <a:p>
                      <a:pPr algn="l">
                        <a:defRPr sz="1000">
                          <a:solidFill>
                            <a:srgbClr val="1A1A1A"/>
                          </a:solidFill>
                          <a:latin typeface="Calibri"/>
                        </a:defRPr>
                      </a:pPr>
                      <a:r>
                        <a:t>Shoulder pain, myofascial tension, stress</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3.2 — Sunnah Points: Anatomical Landmarks and Clinical Applications. All points require anatomical verification by palpation before cup placement.</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3 | Clinical Protocols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Islamic Insight &amp; Chapter Close</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828800"/>
          </a:xfrm>
          <a:prstGeom prst="rect">
            <a:avLst/>
          </a:prstGeom>
          <a:solidFill>
            <a:srgbClr val="F5F2EB"/>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B8860B"/>
                </a:solidFill>
                <a:latin typeface="Calibri"/>
              </a:defRPr>
            </a:pPr>
            <a:r>
              <a:t>ISLAMIC INSIGHT</a:t>
            </a:r>
          </a:p>
        </p:txBody>
      </p:sp>
      <p:sp>
        <p:nvSpPr>
          <p:cNvPr id="7" name="TextBox 6"/>
          <p:cNvSpPr txBox="1"/>
          <p:nvPr/>
        </p:nvSpPr>
        <p:spPr>
          <a:xfrm>
            <a:off x="594360" y="1645920"/>
            <a:ext cx="11002975" cy="1371600"/>
          </a:xfrm>
          <a:prstGeom prst="rect">
            <a:avLst/>
          </a:prstGeom>
          <a:noFill/>
        </p:spPr>
        <p:txBody>
          <a:bodyPr wrap="square">
            <a:spAutoFit/>
          </a:bodyPr>
          <a:lstStyle/>
          <a:p>
            <a:pPr algn="l">
              <a:lnSpc>
                <a:spcPct val="115000"/>
              </a:lnSpc>
              <a:defRPr sz="1000">
                <a:solidFill>
                  <a:srgbClr val="1A1A1A"/>
                </a:solidFill>
                <a:latin typeface="Calibri"/>
              </a:defRPr>
            </a:pPr>
            <a:r>
              <a:t>خَيْرُ مَا تَدَاوَيْتُمْ بِهِ الْحِجَامَةُ</a:t>
            </a:r>
            <a:br/>
            <a:br/>
            <a:r>
              <a:t>'The best of remedies you have is cupping (Hijama)...'</a:t>
            </a:r>
            <a:br/>
            <a:r>
              <a:t>— Sahih al-Bukhari, 5357</a:t>
            </a:r>
            <a:br/>
            <a:br/>
            <a:r>
              <a:t>The Prophet ﷺ recommended Hijama for general wellness. He did not specify every point for every condition. The classical scholars expanded upon his practice, and contemporary practitioners must expand upon their knowledge. The Sunnah is the foundation, not the ceiling.</a:t>
            </a:r>
          </a:p>
        </p:txBody>
      </p:sp>
      <p:sp>
        <p:nvSpPr>
          <p:cNvPr id="8" name="TextBox 7"/>
          <p:cNvSpPr txBox="1"/>
          <p:nvPr/>
        </p:nvSpPr>
        <p:spPr>
          <a:xfrm>
            <a:off x="457200" y="3383280"/>
            <a:ext cx="10972800" cy="54864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Therapeutic point selection beyond the Sunnah points requires additional training and falls within the scope of the Advanced Hijama Practitioner (AHP) pathway. CHP graduates may treat common musculoskeletal conditions using the standard points but must not attempt complex therapeutic mapping without further certification.</a:t>
            </a:r>
          </a:p>
        </p:txBody>
      </p:sp>
      <p:sp>
        <p:nvSpPr>
          <p:cNvPr id="9" name="Rectangle 8"/>
          <p:cNvSpPr/>
          <p:nvPr/>
        </p:nvSpPr>
        <p:spPr>
          <a:xfrm>
            <a:off x="1828800" y="4206240"/>
            <a:ext cx="8534095" cy="118872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965960" y="4297680"/>
            <a:ext cx="8259775" cy="365760"/>
          </a:xfrm>
          <a:prstGeom prst="rect">
            <a:avLst/>
          </a:prstGeom>
          <a:noFill/>
        </p:spPr>
        <p:txBody>
          <a:bodyPr wrap="none">
            <a:spAutoFit/>
          </a:bodyPr>
          <a:lstStyle/>
          <a:p>
            <a:pPr algn="l">
              <a:defRPr sz="1000" b="1">
                <a:solidFill>
                  <a:srgbClr val="E2725B"/>
                </a:solidFill>
                <a:latin typeface="Calibri"/>
              </a:defRPr>
            </a:pPr>
            <a:r>
              <a:t>Faith &amp; Practice Reflection</a:t>
            </a:r>
          </a:p>
        </p:txBody>
      </p:sp>
      <p:sp>
        <p:nvSpPr>
          <p:cNvPr id="11" name="TextBox 10"/>
          <p:cNvSpPr txBox="1"/>
          <p:nvPr/>
        </p:nvSpPr>
        <p:spPr>
          <a:xfrm>
            <a:off x="1965960" y="4572000"/>
            <a:ext cx="8259775" cy="731520"/>
          </a:xfrm>
          <a:prstGeom prst="rect">
            <a:avLst/>
          </a:prstGeom>
          <a:noFill/>
        </p:spPr>
        <p:txBody>
          <a:bodyPr wrap="square">
            <a:spAutoFit/>
          </a:bodyPr>
          <a:lstStyle/>
          <a:p>
            <a:pPr algn="l">
              <a:lnSpc>
                <a:spcPct val="115000"/>
              </a:lnSpc>
              <a:defRPr sz="1000">
                <a:solidFill>
                  <a:srgbClr val="1A1A1A"/>
                </a:solidFill>
                <a:latin typeface="Calibri"/>
              </a:defRPr>
            </a:pPr>
            <a:r>
              <a:t>Before you touch your first patient, pause. Make your intention. Remember that the Prophet ﷺ placed his trust in Allah before he placed his cup on the skin. Your knowledge is a gift. Your hands are a trust. Your intention is your protection.</a:t>
            </a:r>
          </a:p>
        </p:txBody>
      </p:sp>
      <p:sp>
        <p:nvSpPr>
          <p:cNvPr id="12" name="TextBox 11"/>
          <p:cNvSpPr txBox="1"/>
          <p:nvPr/>
        </p:nvSpPr>
        <p:spPr>
          <a:xfrm>
            <a:off x="914400" y="5669280"/>
            <a:ext cx="10362895" cy="274320"/>
          </a:xfrm>
          <a:prstGeom prst="rect">
            <a:avLst/>
          </a:prstGeom>
          <a:noFill/>
        </p:spPr>
        <p:txBody>
          <a:bodyPr wrap="square"/>
          <a:lstStyle/>
          <a:p>
            <a:pPr algn="ctr">
              <a:lnSpc>
                <a:spcPct val="120000"/>
              </a:lnSpc>
              <a:spcBef>
                <a:spcPts val="0"/>
              </a:spcBef>
              <a:spcAft>
                <a:spcPts val="0"/>
              </a:spcAft>
              <a:defRPr sz="1400" b="0" i="0">
                <a:solidFill>
                  <a:srgbClr val="1A1A1A"/>
                </a:solidFill>
                <a:latin typeface="Calibri"/>
              </a:defRPr>
            </a:pPr>
            <a:r>
              <a:t>End of Chapter 3 | Clinical Protocols</a:t>
            </a:r>
          </a:p>
        </p:txBody>
      </p:sp>
      <p:sp>
        <p:nvSpPr>
          <p:cNvPr id="13" name="TextBox 1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14" name="TextBox 1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04</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Contraindications &amp; Risk Stratification</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Protecting the Vulnerable</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4 | pp. 21–31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4.1 Absolute Contraindications</a:t>
            </a:r>
          </a:p>
        </p:txBody>
      </p:sp>
      <p:graphicFrame>
        <p:nvGraphicFramePr>
          <p:cNvPr id="5" name="Table 4"/>
          <p:cNvGraphicFramePr>
            <a:graphicFrameLocks noGrp="1"/>
          </p:cNvGraphicFramePr>
          <p:nvPr/>
        </p:nvGraphicFramePr>
        <p:xfrm>
          <a:off x="457200" y="1554480"/>
          <a:ext cx="11277294" cy="3291840"/>
        </p:xfrm>
        <a:graphic>
          <a:graphicData uri="http://schemas.openxmlformats.org/drawingml/2006/table">
            <a:tbl>
              <a:tblPr firstRow="1" bandRow="1">
                <a:tableStyleId>{5C22544A-7EE6-4342-B048-85BDC9FD1C3A}</a:tableStyleId>
              </a:tblPr>
              <a:tblGrid>
                <a:gridCol w="5638647"/>
                <a:gridCol w="5638647"/>
              </a:tblGrid>
              <a:tr h="365760">
                <a:tc>
                  <a:txBody>
                    <a:bodyPr/>
                    <a:lstStyle/>
                    <a:p>
                      <a:pPr algn="l">
                        <a:defRPr sz="1000" b="1">
                          <a:solidFill>
                            <a:srgbClr val="FAF7F2"/>
                          </a:solidFill>
                          <a:latin typeface="Calibri"/>
                        </a:defRPr>
                      </a:pPr>
                      <a:r>
                        <a:t>Condition</a:t>
                      </a:r>
                    </a:p>
                  </a:txBody>
                  <a:tcPr anchor="ctr">
                    <a:solidFill>
                      <a:srgbClr val="003F5C"/>
                    </a:solidFill>
                  </a:tcPr>
                </a:tc>
                <a:tc>
                  <a:txBody>
                    <a:bodyPr/>
                    <a:lstStyle/>
                    <a:p>
                      <a:pPr algn="l">
                        <a:defRPr sz="1000" b="1">
                          <a:solidFill>
                            <a:srgbClr val="FAF7F2"/>
                          </a:solidFill>
                          <a:latin typeface="Calibri"/>
                        </a:defRPr>
                      </a:pPr>
                      <a:r>
                        <a:t>Rationale</a:t>
                      </a:r>
                    </a:p>
                  </a:txBody>
                  <a:tcPr anchor="ctr">
                    <a:solidFill>
                      <a:srgbClr val="003F5C"/>
                    </a:solidFill>
                  </a:tcPr>
                </a:tc>
              </a:tr>
              <a:tr h="365760">
                <a:tc>
                  <a:txBody>
                    <a:bodyPr/>
                    <a:lstStyle/>
                    <a:p>
                      <a:pPr algn="l">
                        <a:defRPr sz="1000">
                          <a:solidFill>
                            <a:srgbClr val="1A1A1A"/>
                          </a:solidFill>
                          <a:latin typeface="Calibri"/>
                        </a:defRPr>
                      </a:pPr>
                      <a:r>
                        <a:t>Haemophilia or other bleeding disorders</a:t>
                      </a:r>
                    </a:p>
                  </a:txBody>
                  <a:tcPr anchor="ctr"/>
                </a:tc>
                <a:tc>
                  <a:txBody>
                    <a:bodyPr/>
                    <a:lstStyle/>
                    <a:p>
                      <a:pPr algn="l">
                        <a:defRPr sz="1000">
                          <a:solidFill>
                            <a:srgbClr val="1A1A1A"/>
                          </a:solidFill>
                          <a:latin typeface="Calibri"/>
                        </a:defRPr>
                      </a:pPr>
                      <a:r>
                        <a:t>Risk of uncontrolled bleeding</a:t>
                      </a:r>
                    </a:p>
                  </a:txBody>
                  <a:tcPr anchor="ctr"/>
                </a:tc>
              </a:tr>
              <a:tr h="365760">
                <a:tc>
                  <a:txBody>
                    <a:bodyPr/>
                    <a:lstStyle/>
                    <a:p>
                      <a:pPr algn="l">
                        <a:defRPr sz="1000">
                          <a:solidFill>
                            <a:srgbClr val="1A1A1A"/>
                          </a:solidFill>
                          <a:latin typeface="Calibri"/>
                        </a:defRPr>
                      </a:pPr>
                      <a:r>
                        <a:t>Severe anaemia (Hb &lt;8 g/dL) without medical supervision</a:t>
                      </a:r>
                    </a:p>
                  </a:txBody>
                  <a:tcPr anchor="ctr">
                    <a:solidFill>
                      <a:srgbClr val="F5F2EB"/>
                    </a:solidFill>
                  </a:tcPr>
                </a:tc>
                <a:tc>
                  <a:txBody>
                    <a:bodyPr/>
                    <a:lstStyle/>
                    <a:p>
                      <a:pPr algn="l">
                        <a:defRPr sz="1000">
                          <a:solidFill>
                            <a:srgbClr val="1A1A1A"/>
                          </a:solidFill>
                          <a:latin typeface="Calibri"/>
                        </a:defRPr>
                      </a:pPr>
                      <a:r>
                        <a:t>Further blood loss dangerous</a:t>
                      </a:r>
                    </a:p>
                  </a:txBody>
                  <a:tcPr anchor="ctr">
                    <a:solidFill>
                      <a:srgbClr val="F5F2EB"/>
                    </a:solidFill>
                  </a:tcPr>
                </a:tc>
              </a:tr>
              <a:tr h="365760">
                <a:tc>
                  <a:txBody>
                    <a:bodyPr/>
                    <a:lstStyle/>
                    <a:p>
                      <a:pPr algn="l">
                        <a:defRPr sz="1000">
                          <a:solidFill>
                            <a:srgbClr val="1A1A1A"/>
                          </a:solidFill>
                          <a:latin typeface="Calibri"/>
                        </a:defRPr>
                      </a:pPr>
                      <a:r>
                        <a:t>Active infection at treatment site</a:t>
                      </a:r>
                    </a:p>
                  </a:txBody>
                  <a:tcPr anchor="ctr"/>
                </a:tc>
                <a:tc>
                  <a:txBody>
                    <a:bodyPr/>
                    <a:lstStyle/>
                    <a:p>
                      <a:pPr algn="l">
                        <a:defRPr sz="1000">
                          <a:solidFill>
                            <a:srgbClr val="1A1A1A"/>
                          </a:solidFill>
                          <a:latin typeface="Calibri"/>
                        </a:defRPr>
                      </a:pPr>
                      <a:r>
                        <a:t>Risk of spreading infection; poor healing</a:t>
                      </a:r>
                    </a:p>
                  </a:txBody>
                  <a:tcPr anchor="ctr"/>
                </a:tc>
              </a:tr>
              <a:tr h="365760">
                <a:tc>
                  <a:txBody>
                    <a:bodyPr/>
                    <a:lstStyle/>
                    <a:p>
                      <a:pPr algn="l">
                        <a:defRPr sz="1000">
                          <a:solidFill>
                            <a:srgbClr val="1A1A1A"/>
                          </a:solidFill>
                          <a:latin typeface="Calibri"/>
                        </a:defRPr>
                      </a:pPr>
                      <a:r>
                        <a:t>Severe dehydration or shock</a:t>
                      </a:r>
                    </a:p>
                  </a:txBody>
                  <a:tcPr anchor="ctr">
                    <a:solidFill>
                      <a:srgbClr val="F5F2EB"/>
                    </a:solidFill>
                  </a:tcPr>
                </a:tc>
                <a:tc>
                  <a:txBody>
                    <a:bodyPr/>
                    <a:lstStyle/>
                    <a:p>
                      <a:pPr algn="l">
                        <a:defRPr sz="1000">
                          <a:solidFill>
                            <a:srgbClr val="1A1A1A"/>
                          </a:solidFill>
                          <a:latin typeface="Calibri"/>
                        </a:defRPr>
                      </a:pPr>
                      <a:r>
                        <a:t>Compromised cardiovascular status</a:t>
                      </a:r>
                    </a:p>
                  </a:txBody>
                  <a:tcPr anchor="ctr">
                    <a:solidFill>
                      <a:srgbClr val="F5F2EB"/>
                    </a:solidFill>
                  </a:tcPr>
                </a:tc>
              </a:tr>
              <a:tr h="365760">
                <a:tc>
                  <a:txBody>
                    <a:bodyPr/>
                    <a:lstStyle/>
                    <a:p>
                      <a:pPr algn="l">
                        <a:defRPr sz="1000">
                          <a:solidFill>
                            <a:srgbClr val="1A1A1A"/>
                          </a:solidFill>
                          <a:latin typeface="Calibri"/>
                        </a:defRPr>
                      </a:pPr>
                      <a:r>
                        <a:t>Pregnancy (abdominal/lumbar cupping)</a:t>
                      </a:r>
                    </a:p>
                  </a:txBody>
                  <a:tcPr anchor="ctr"/>
                </a:tc>
                <a:tc>
                  <a:txBody>
                    <a:bodyPr/>
                    <a:lstStyle/>
                    <a:p>
                      <a:pPr algn="l">
                        <a:defRPr sz="1000">
                          <a:solidFill>
                            <a:srgbClr val="1A1A1A"/>
                          </a:solidFill>
                          <a:latin typeface="Calibri"/>
                        </a:defRPr>
                      </a:pPr>
                      <a:r>
                        <a:t>Risk to fetus; uterine stimulation</a:t>
                      </a:r>
                    </a:p>
                  </a:txBody>
                  <a:tcPr anchor="ctr"/>
                </a:tc>
              </a:tr>
              <a:tr h="365760">
                <a:tc>
                  <a:txBody>
                    <a:bodyPr/>
                    <a:lstStyle/>
                    <a:p>
                      <a:pPr algn="l">
                        <a:defRPr sz="1000">
                          <a:solidFill>
                            <a:srgbClr val="1A1A1A"/>
                          </a:solidFill>
                          <a:latin typeface="Calibri"/>
                        </a:defRPr>
                      </a:pPr>
                      <a:r>
                        <a:t>Uncontrolled hypertension (&gt;180/110 mmHg)</a:t>
                      </a:r>
                    </a:p>
                  </a:txBody>
                  <a:tcPr anchor="ctr">
                    <a:solidFill>
                      <a:srgbClr val="F5F2EB"/>
                    </a:solidFill>
                  </a:tcPr>
                </a:tc>
                <a:tc>
                  <a:txBody>
                    <a:bodyPr/>
                    <a:lstStyle/>
                    <a:p>
                      <a:pPr algn="l">
                        <a:defRPr sz="1000">
                          <a:solidFill>
                            <a:srgbClr val="1A1A1A"/>
                          </a:solidFill>
                          <a:latin typeface="Calibri"/>
                        </a:defRPr>
                      </a:pPr>
                      <a:r>
                        <a:t>Risk of hypertensive crisis</a:t>
                      </a:r>
                    </a:p>
                  </a:txBody>
                  <a:tcPr anchor="ctr">
                    <a:solidFill>
                      <a:srgbClr val="F5F2EB"/>
                    </a:solidFill>
                  </a:tcPr>
                </a:tc>
              </a:tr>
              <a:tr h="365760">
                <a:tc>
                  <a:txBody>
                    <a:bodyPr/>
                    <a:lstStyle/>
                    <a:p>
                      <a:pPr algn="l">
                        <a:defRPr sz="1000">
                          <a:solidFill>
                            <a:srgbClr val="1A1A1A"/>
                          </a:solidFill>
                          <a:latin typeface="Calibri"/>
                        </a:defRPr>
                      </a:pPr>
                      <a:r>
                        <a:t>Suspected deep vein thrombosis (DVT)</a:t>
                      </a:r>
                    </a:p>
                  </a:txBody>
                  <a:tcPr anchor="ctr"/>
                </a:tc>
                <a:tc>
                  <a:txBody>
                    <a:bodyPr/>
                    <a:lstStyle/>
                    <a:p>
                      <a:pPr algn="l">
                        <a:defRPr sz="1000">
                          <a:solidFill>
                            <a:srgbClr val="1A1A1A"/>
                          </a:solidFill>
                          <a:latin typeface="Calibri"/>
                        </a:defRPr>
                      </a:pPr>
                      <a:r>
                        <a:t>Risk of embolism</a:t>
                      </a:r>
                    </a:p>
                  </a:txBody>
                  <a:tcPr anchor="ctr"/>
                </a:tc>
              </a:tr>
              <a:tr h="365760">
                <a:tc>
                  <a:txBody>
                    <a:bodyPr/>
                    <a:lstStyle/>
                    <a:p>
                      <a:pPr algn="l">
                        <a:defRPr sz="1000">
                          <a:solidFill>
                            <a:srgbClr val="1A1A1A"/>
                          </a:solidFill>
                          <a:latin typeface="Calibri"/>
                        </a:defRPr>
                      </a:pPr>
                      <a:r>
                        <a:t>Patient refusal</a:t>
                      </a:r>
                    </a:p>
                  </a:txBody>
                  <a:tcPr anchor="ctr">
                    <a:solidFill>
                      <a:srgbClr val="F5F2EB"/>
                    </a:solidFill>
                  </a:tcPr>
                </a:tc>
                <a:tc>
                  <a:txBody>
                    <a:bodyPr/>
                    <a:lstStyle/>
                    <a:p>
                      <a:pPr algn="l">
                        <a:defRPr sz="1000">
                          <a:solidFill>
                            <a:srgbClr val="1A1A1A"/>
                          </a:solidFill>
                          <a:latin typeface="Calibri"/>
                        </a:defRPr>
                      </a:pPr>
                      <a:r>
                        <a:t>Autonomy is absolute</a:t>
                      </a:r>
                    </a:p>
                  </a:txBody>
                  <a:tcPr anchor="ctr">
                    <a:solidFill>
                      <a:srgbClr val="F5F2EB"/>
                    </a:solidFill>
                  </a:tcPr>
                </a:tc>
              </a:tr>
            </a:tbl>
          </a:graphicData>
        </a:graphic>
      </p:graphicFrame>
      <p:sp>
        <p:nvSpPr>
          <p:cNvPr id="6" name="TextBox 5"/>
          <p:cNvSpPr txBox="1"/>
          <p:nvPr/>
        </p:nvSpPr>
        <p:spPr>
          <a:xfrm>
            <a:off x="457200" y="493776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4.1 — Absolute Contraindications. If ANY absolute contraindication is present, do not proceed. Document and refer.</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4 | Contraindications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E2725B"/>
                </a:solidFill>
                <a:latin typeface="Georgia"/>
              </a:defRPr>
            </a:pPr>
            <a:r>
              <a:t>CRITICAL — NO EXCEPTIONS</a:t>
            </a:r>
          </a:p>
        </p:txBody>
      </p:sp>
      <p:sp>
        <p:nvSpPr>
          <p:cNvPr id="4" name="Rectangle 3"/>
          <p:cNvSpPr/>
          <p:nvPr/>
        </p:nvSpPr>
        <p:spPr>
          <a:xfrm>
            <a:off x="457200" y="1005840"/>
            <a:ext cx="11277295" cy="38100"/>
          </a:xfrm>
          <a:prstGeom prst="rect">
            <a:avLst/>
          </a:prstGeom>
          <a:solidFill>
            <a:srgbClr val="E272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37160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E2725B"/>
                </a:solidFill>
                <a:latin typeface="Calibri"/>
              </a:defRPr>
            </a:pPr>
            <a:r>
              <a:t>CRITICAL — NO EXCEPTIONS</a:t>
            </a:r>
          </a:p>
        </p:txBody>
      </p:sp>
      <p:sp>
        <p:nvSpPr>
          <p:cNvPr id="7" name="TextBox 6"/>
          <p:cNvSpPr txBox="1"/>
          <p:nvPr/>
        </p:nvSpPr>
        <p:spPr>
          <a:xfrm>
            <a:off x="594360" y="1645920"/>
            <a:ext cx="11002975" cy="914400"/>
          </a:xfrm>
          <a:prstGeom prst="rect">
            <a:avLst/>
          </a:prstGeom>
          <a:noFill/>
        </p:spPr>
        <p:txBody>
          <a:bodyPr wrap="square">
            <a:spAutoFit/>
          </a:bodyPr>
          <a:lstStyle/>
          <a:p>
            <a:pPr algn="l">
              <a:lnSpc>
                <a:spcPct val="115000"/>
              </a:lnSpc>
              <a:defRPr sz="1000">
                <a:solidFill>
                  <a:srgbClr val="1A1A1A"/>
                </a:solidFill>
                <a:latin typeface="Calibri"/>
              </a:defRPr>
            </a:pPr>
            <a:r>
              <a:t>The phrase 'I've done it before and it was fine' is not a clinical justification. The phrase 'The patient insisted' is not a legal defence. The phrase 'I didn't think it was that serious' is not a professional excuse. Absolute means absolute.</a:t>
            </a:r>
          </a:p>
        </p:txBody>
      </p:sp>
      <p:sp>
        <p:nvSpPr>
          <p:cNvPr id="8" name="TextBox 7"/>
          <p:cNvSpPr txBox="1"/>
          <p:nvPr/>
        </p:nvSpPr>
        <p:spPr>
          <a:xfrm>
            <a:off x="457200" y="2926080"/>
            <a:ext cx="10972800" cy="54864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 absolute contraindications are non-negotiable. They exist because the risk of harm outweighs any potential benefit. The practitioner who makes exceptions is not exercising clinical judgment — they are exercising clinical arrogance.</a:t>
            </a:r>
          </a:p>
        </p:txBody>
      </p:sp>
      <p:sp>
        <p:nvSpPr>
          <p:cNvPr id="9" name="TextBox 8"/>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4 | Contraindications</a:t>
            </a:r>
          </a:p>
        </p:txBody>
      </p:sp>
      <p:sp>
        <p:nvSpPr>
          <p:cNvPr id="10" name="TextBox 9"/>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4.2 Relative Contraindications</a:t>
            </a:r>
          </a:p>
        </p:txBody>
      </p:sp>
      <p:graphicFrame>
        <p:nvGraphicFramePr>
          <p:cNvPr id="5" name="Table 4"/>
          <p:cNvGraphicFramePr>
            <a:graphicFrameLocks noGrp="1"/>
          </p:cNvGraphicFramePr>
          <p:nvPr/>
        </p:nvGraphicFramePr>
        <p:xfrm>
          <a:off x="457200" y="1554480"/>
          <a:ext cx="11277294" cy="365760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Condition</a:t>
                      </a:r>
                    </a:p>
                  </a:txBody>
                  <a:tcPr anchor="ctr">
                    <a:solidFill>
                      <a:srgbClr val="003F5C"/>
                    </a:solidFill>
                  </a:tcPr>
                </a:tc>
                <a:tc>
                  <a:txBody>
                    <a:bodyPr/>
                    <a:lstStyle/>
                    <a:p>
                      <a:pPr algn="l">
                        <a:defRPr sz="1000" b="1">
                          <a:solidFill>
                            <a:srgbClr val="FAF7F2"/>
                          </a:solidFill>
                          <a:latin typeface="Calibri"/>
                        </a:defRPr>
                      </a:pPr>
                      <a:r>
                        <a:t>Precaution</a:t>
                      </a:r>
                    </a:p>
                  </a:txBody>
                  <a:tcPr anchor="ctr">
                    <a:solidFill>
                      <a:srgbClr val="003F5C"/>
                    </a:solidFill>
                  </a:tcPr>
                </a:tc>
                <a:tc>
                  <a:txBody>
                    <a:bodyPr/>
                    <a:lstStyle/>
                    <a:p>
                      <a:pPr algn="l">
                        <a:defRPr sz="1000" b="1">
                          <a:solidFill>
                            <a:srgbClr val="FAF7F2"/>
                          </a:solidFill>
                          <a:latin typeface="Calibri"/>
                        </a:defRPr>
                      </a:pPr>
                      <a:r>
                        <a:t>Modification</a:t>
                      </a:r>
                    </a:p>
                  </a:txBody>
                  <a:tcPr anchor="ctr">
                    <a:solidFill>
                      <a:srgbClr val="003F5C"/>
                    </a:solidFill>
                  </a:tcPr>
                </a:tc>
              </a:tr>
              <a:tr h="365760">
                <a:tc>
                  <a:txBody>
                    <a:bodyPr/>
                    <a:lstStyle/>
                    <a:p>
                      <a:pPr algn="l">
                        <a:defRPr sz="1000">
                          <a:solidFill>
                            <a:srgbClr val="1A1A1A"/>
                          </a:solidFill>
                          <a:latin typeface="Calibri"/>
                        </a:defRPr>
                      </a:pPr>
                      <a:r>
                        <a:t>Diabetes</a:t>
                      </a:r>
                    </a:p>
                  </a:txBody>
                  <a:tcPr anchor="ctr"/>
                </a:tc>
                <a:tc>
                  <a:txBody>
                    <a:bodyPr/>
                    <a:lstStyle/>
                    <a:p>
                      <a:pPr algn="l">
                        <a:defRPr sz="1000">
                          <a:solidFill>
                            <a:srgbClr val="1A1A1A"/>
                          </a:solidFill>
                          <a:latin typeface="Calibri"/>
                        </a:defRPr>
                      </a:pPr>
                      <a:r>
                        <a:t>Risk of poor wound healing, infection</a:t>
                      </a:r>
                    </a:p>
                  </a:txBody>
                  <a:tcPr anchor="ctr"/>
                </a:tc>
                <a:tc>
                  <a:txBody>
                    <a:bodyPr/>
                    <a:lstStyle/>
                    <a:p>
                      <a:pPr algn="l">
                        <a:defRPr sz="1000">
                          <a:solidFill>
                            <a:srgbClr val="1A1A1A"/>
                          </a:solidFill>
                          <a:latin typeface="Calibri"/>
                        </a:defRPr>
                      </a:pPr>
                      <a:r>
                        <a:t>Glucose monitoring; reduced scarification depth; enhanced aftercare</a:t>
                      </a:r>
                    </a:p>
                  </a:txBody>
                  <a:tcPr anchor="ctr"/>
                </a:tc>
              </a:tr>
              <a:tr h="365760">
                <a:tc>
                  <a:txBody>
                    <a:bodyPr/>
                    <a:lstStyle/>
                    <a:p>
                      <a:pPr algn="l">
                        <a:defRPr sz="1000">
                          <a:solidFill>
                            <a:srgbClr val="1A1A1A"/>
                          </a:solidFill>
                          <a:latin typeface="Calibri"/>
                        </a:defRPr>
                      </a:pPr>
                      <a:r>
                        <a:t>Hypertension (controlled)</a:t>
                      </a:r>
                    </a:p>
                  </a:txBody>
                  <a:tcPr anchor="ctr">
                    <a:solidFill>
                      <a:srgbClr val="F5F2EB"/>
                    </a:solidFill>
                  </a:tcPr>
                </a:tc>
                <a:tc>
                  <a:txBody>
                    <a:bodyPr/>
                    <a:lstStyle/>
                    <a:p>
                      <a:pPr algn="l">
                        <a:defRPr sz="1000">
                          <a:solidFill>
                            <a:srgbClr val="1A1A1A"/>
                          </a:solidFill>
                          <a:latin typeface="Calibri"/>
                        </a:defRPr>
                      </a:pPr>
                      <a:r>
                        <a:t>BP fluctuation</a:t>
                      </a:r>
                    </a:p>
                  </a:txBody>
                  <a:tcPr anchor="ctr">
                    <a:solidFill>
                      <a:srgbClr val="F5F2EB"/>
                    </a:solidFill>
                  </a:tcPr>
                </a:tc>
                <a:tc>
                  <a:txBody>
                    <a:bodyPr/>
                    <a:lstStyle/>
                    <a:p>
                      <a:pPr algn="l">
                        <a:defRPr sz="1000">
                          <a:solidFill>
                            <a:srgbClr val="1A1A1A"/>
                          </a:solidFill>
                          <a:latin typeface="Calibri"/>
                        </a:defRPr>
                      </a:pPr>
                      <a:r>
                        <a:t>Pre- and post-treatment BP monitoring; avoid Akhda'een if unstable</a:t>
                      </a:r>
                    </a:p>
                  </a:txBody>
                  <a:tcPr anchor="ctr">
                    <a:solidFill>
                      <a:srgbClr val="F5F2EB"/>
                    </a:solidFill>
                  </a:tcPr>
                </a:tc>
              </a:tr>
              <a:tr h="365760">
                <a:tc>
                  <a:txBody>
                    <a:bodyPr/>
                    <a:lstStyle/>
                    <a:p>
                      <a:pPr algn="l">
                        <a:defRPr sz="1000">
                          <a:solidFill>
                            <a:srgbClr val="1A1A1A"/>
                          </a:solidFill>
                          <a:latin typeface="Calibri"/>
                        </a:defRPr>
                      </a:pPr>
                      <a:r>
                        <a:t>Epilepsy</a:t>
                      </a:r>
                    </a:p>
                  </a:txBody>
                  <a:tcPr anchor="ctr"/>
                </a:tc>
                <a:tc>
                  <a:txBody>
                    <a:bodyPr/>
                    <a:lstStyle/>
                    <a:p>
                      <a:pPr algn="l">
                        <a:defRPr sz="1000">
                          <a:solidFill>
                            <a:srgbClr val="1A1A1A"/>
                          </a:solidFill>
                          <a:latin typeface="Calibri"/>
                        </a:defRPr>
                      </a:pPr>
                      <a:r>
                        <a:t>Seizure risk during procedure</a:t>
                      </a:r>
                    </a:p>
                  </a:txBody>
                  <a:tcPr anchor="ctr"/>
                </a:tc>
                <a:tc>
                  <a:txBody>
                    <a:bodyPr/>
                    <a:lstStyle/>
                    <a:p>
                      <a:pPr algn="l">
                        <a:defRPr sz="1000">
                          <a:solidFill>
                            <a:srgbClr val="1A1A1A"/>
                          </a:solidFill>
                          <a:latin typeface="Calibri"/>
                        </a:defRPr>
                      </a:pPr>
                      <a:r>
                        <a:t>Safe environment; avoid neck points; short sessions</a:t>
                      </a:r>
                    </a:p>
                  </a:txBody>
                  <a:tcPr anchor="ctr"/>
                </a:tc>
              </a:tr>
              <a:tr h="365760">
                <a:tc>
                  <a:txBody>
                    <a:bodyPr/>
                    <a:lstStyle/>
                    <a:p>
                      <a:pPr algn="l">
                        <a:defRPr sz="1000">
                          <a:solidFill>
                            <a:srgbClr val="1A1A1A"/>
                          </a:solidFill>
                          <a:latin typeface="Calibri"/>
                        </a:defRPr>
                      </a:pPr>
                      <a:r>
                        <a:t>Immunocompromised state</a:t>
                      </a:r>
                    </a:p>
                  </a:txBody>
                  <a:tcPr anchor="ctr">
                    <a:solidFill>
                      <a:srgbClr val="F5F2EB"/>
                    </a:solidFill>
                  </a:tcPr>
                </a:tc>
                <a:tc>
                  <a:txBody>
                    <a:bodyPr/>
                    <a:lstStyle/>
                    <a:p>
                      <a:pPr algn="l">
                        <a:defRPr sz="1000">
                          <a:solidFill>
                            <a:srgbClr val="1A1A1A"/>
                          </a:solidFill>
                          <a:latin typeface="Calibri"/>
                        </a:defRPr>
                      </a:pPr>
                      <a:r>
                        <a:t>Infection susceptibility</a:t>
                      </a:r>
                    </a:p>
                  </a:txBody>
                  <a:tcPr anchor="ctr">
                    <a:solidFill>
                      <a:srgbClr val="F5F2EB"/>
                    </a:solidFill>
                  </a:tcPr>
                </a:tc>
                <a:tc>
                  <a:txBody>
                    <a:bodyPr/>
                    <a:lstStyle/>
                    <a:p>
                      <a:pPr algn="l">
                        <a:defRPr sz="1000">
                          <a:solidFill>
                            <a:srgbClr val="1A1A1A"/>
                          </a:solidFill>
                          <a:latin typeface="Calibri"/>
                        </a:defRPr>
                      </a:pPr>
                      <a:r>
                        <a:t>Enhanced sterility; physician consult</a:t>
                      </a:r>
                    </a:p>
                  </a:txBody>
                  <a:tcPr anchor="ctr">
                    <a:solidFill>
                      <a:srgbClr val="F5F2EB"/>
                    </a:solidFill>
                  </a:tcPr>
                </a:tc>
              </a:tr>
              <a:tr h="365760">
                <a:tc>
                  <a:txBody>
                    <a:bodyPr/>
                    <a:lstStyle/>
                    <a:p>
                      <a:pPr algn="l">
                        <a:defRPr sz="1000">
                          <a:solidFill>
                            <a:srgbClr val="1A1A1A"/>
                          </a:solidFill>
                          <a:latin typeface="Calibri"/>
                        </a:defRPr>
                      </a:pPr>
                      <a:r>
                        <a:t>History of keloid scarring</a:t>
                      </a:r>
                    </a:p>
                  </a:txBody>
                  <a:tcPr anchor="ctr"/>
                </a:tc>
                <a:tc>
                  <a:txBody>
                    <a:bodyPr/>
                    <a:lstStyle/>
                    <a:p>
                      <a:pPr algn="l">
                        <a:defRPr sz="1000">
                          <a:solidFill>
                            <a:srgbClr val="1A1A1A"/>
                          </a:solidFill>
                          <a:latin typeface="Calibri"/>
                        </a:defRPr>
                      </a:pPr>
                      <a:r>
                        <a:t>Hypertrophic scarring risk</a:t>
                      </a:r>
                    </a:p>
                  </a:txBody>
                  <a:tcPr anchor="ctr"/>
                </a:tc>
                <a:tc>
                  <a:txBody>
                    <a:bodyPr/>
                    <a:lstStyle/>
                    <a:p>
                      <a:pPr algn="l">
                        <a:defRPr sz="1000">
                          <a:solidFill>
                            <a:srgbClr val="1A1A1A"/>
                          </a:solidFill>
                          <a:latin typeface="Calibri"/>
                        </a:defRPr>
                      </a:pPr>
                      <a:r>
                        <a:t>Avoid high-risk areas; test patch</a:t>
                      </a:r>
                    </a:p>
                  </a:txBody>
                  <a:tcPr anchor="ctr"/>
                </a:tc>
              </a:tr>
              <a:tr h="365760">
                <a:tc>
                  <a:txBody>
                    <a:bodyPr/>
                    <a:lstStyle/>
                    <a:p>
                      <a:pPr algn="l">
                        <a:defRPr sz="1000">
                          <a:solidFill>
                            <a:srgbClr val="1A1A1A"/>
                          </a:solidFill>
                          <a:latin typeface="Calibri"/>
                        </a:defRPr>
                      </a:pPr>
                      <a:r>
                        <a:t>Active skin condition at site</a:t>
                      </a:r>
                    </a:p>
                  </a:txBody>
                  <a:tcPr anchor="ctr">
                    <a:solidFill>
                      <a:srgbClr val="F5F2EB"/>
                    </a:solidFill>
                  </a:tcPr>
                </a:tc>
                <a:tc>
                  <a:txBody>
                    <a:bodyPr/>
                    <a:lstStyle/>
                    <a:p>
                      <a:pPr algn="l">
                        <a:defRPr sz="1000">
                          <a:solidFill>
                            <a:srgbClr val="1A1A1A"/>
                          </a:solidFill>
                          <a:latin typeface="Calibri"/>
                        </a:defRPr>
                      </a:pPr>
                      <a:r>
                        <a:t>Koebner phenomenon, infection</a:t>
                      </a:r>
                    </a:p>
                  </a:txBody>
                  <a:tcPr anchor="ctr">
                    <a:solidFill>
                      <a:srgbClr val="F5F2EB"/>
                    </a:solidFill>
                  </a:tcPr>
                </a:tc>
                <a:tc>
                  <a:txBody>
                    <a:bodyPr/>
                    <a:lstStyle/>
                    <a:p>
                      <a:pPr algn="l">
                        <a:defRPr sz="1000">
                          <a:solidFill>
                            <a:srgbClr val="1A1A1A"/>
                          </a:solidFill>
                          <a:latin typeface="Calibri"/>
                        </a:defRPr>
                      </a:pPr>
                      <a:r>
                        <a:t>Treat skin first; select alternative points</a:t>
                      </a:r>
                    </a:p>
                  </a:txBody>
                  <a:tcPr anchor="ctr">
                    <a:solidFill>
                      <a:srgbClr val="F5F2EB"/>
                    </a:solidFill>
                  </a:tcPr>
                </a:tc>
              </a:tr>
              <a:tr h="365760">
                <a:tc>
                  <a:txBody>
                    <a:bodyPr/>
                    <a:lstStyle/>
                    <a:p>
                      <a:pPr algn="l">
                        <a:defRPr sz="1000">
                          <a:solidFill>
                            <a:srgbClr val="1A1A1A"/>
                          </a:solidFill>
                          <a:latin typeface="Calibri"/>
                        </a:defRPr>
                      </a:pPr>
                      <a:r>
                        <a:t>Anticoagulant medication</a:t>
                      </a:r>
                    </a:p>
                  </a:txBody>
                  <a:tcPr anchor="ctr"/>
                </a:tc>
                <a:tc>
                  <a:txBody>
                    <a:bodyPr/>
                    <a:lstStyle/>
                    <a:p>
                      <a:pPr algn="l">
                        <a:defRPr sz="1000">
                          <a:solidFill>
                            <a:srgbClr val="1A1A1A"/>
                          </a:solidFill>
                          <a:latin typeface="Calibri"/>
                        </a:defRPr>
                      </a:pPr>
                      <a:r>
                        <a:t>Bleeding risk</a:t>
                      </a:r>
                    </a:p>
                  </a:txBody>
                  <a:tcPr anchor="ctr"/>
                </a:tc>
                <a:tc>
                  <a:txBody>
                    <a:bodyPr/>
                    <a:lstStyle/>
                    <a:p>
                      <a:pPr algn="l">
                        <a:defRPr sz="1000">
                          <a:solidFill>
                            <a:srgbClr val="1A1A1A"/>
                          </a:solidFill>
                          <a:latin typeface="Calibri"/>
                        </a:defRPr>
                      </a:pPr>
                      <a:r>
                        <a:t>Physician clearance; reduce cups; extended pressure</a:t>
                      </a:r>
                    </a:p>
                  </a:txBody>
                  <a:tcPr anchor="ctr"/>
                </a:tc>
              </a:tr>
              <a:tr h="365760">
                <a:tc>
                  <a:txBody>
                    <a:bodyPr/>
                    <a:lstStyle/>
                    <a:p>
                      <a:pPr algn="l">
                        <a:defRPr sz="1000">
                          <a:solidFill>
                            <a:srgbClr val="1A1A1A"/>
                          </a:solidFill>
                          <a:latin typeface="Calibri"/>
                        </a:defRPr>
                      </a:pPr>
                      <a:r>
                        <a:t>Age &gt;65</a:t>
                      </a:r>
                    </a:p>
                  </a:txBody>
                  <a:tcPr anchor="ctr">
                    <a:solidFill>
                      <a:srgbClr val="F5F2EB"/>
                    </a:solidFill>
                  </a:tcPr>
                </a:tc>
                <a:tc>
                  <a:txBody>
                    <a:bodyPr/>
                    <a:lstStyle/>
                    <a:p>
                      <a:pPr algn="l">
                        <a:defRPr sz="1000">
                          <a:solidFill>
                            <a:srgbClr val="1A1A1A"/>
                          </a:solidFill>
                          <a:latin typeface="Calibri"/>
                        </a:defRPr>
                      </a:pPr>
                      <a:r>
                        <a:t>Skin fragility; comorbidities</a:t>
                      </a:r>
                    </a:p>
                  </a:txBody>
                  <a:tcPr anchor="ctr">
                    <a:solidFill>
                      <a:srgbClr val="F5F2EB"/>
                    </a:solidFill>
                  </a:tcPr>
                </a:tc>
                <a:tc>
                  <a:txBody>
                    <a:bodyPr/>
                    <a:lstStyle/>
                    <a:p>
                      <a:pPr algn="l">
                        <a:defRPr sz="1000">
                          <a:solidFill>
                            <a:srgbClr val="1A1A1A"/>
                          </a:solidFill>
                          <a:latin typeface="Calibri"/>
                        </a:defRPr>
                      </a:pPr>
                      <a:r>
                        <a:t>Gentle suction; reduced volume; close monitoring</a:t>
                      </a:r>
                    </a:p>
                  </a:txBody>
                  <a:tcPr anchor="ctr">
                    <a:solidFill>
                      <a:srgbClr val="F5F2EB"/>
                    </a:solidFill>
                  </a:tcPr>
                </a:tc>
              </a:tr>
              <a:tr h="365760">
                <a:tc>
                  <a:txBody>
                    <a:bodyPr/>
                    <a:lstStyle/>
                    <a:p>
                      <a:pPr algn="l">
                        <a:defRPr sz="1000">
                          <a:solidFill>
                            <a:srgbClr val="1A1A1A"/>
                          </a:solidFill>
                          <a:latin typeface="Calibri"/>
                        </a:defRPr>
                      </a:pPr>
                      <a:r>
                        <a:t>Age 16–18</a:t>
                      </a:r>
                    </a:p>
                  </a:txBody>
                  <a:tcPr anchor="ctr"/>
                </a:tc>
                <a:tc>
                  <a:txBody>
                    <a:bodyPr/>
                    <a:lstStyle/>
                    <a:p>
                      <a:pPr algn="l">
                        <a:defRPr sz="1000">
                          <a:solidFill>
                            <a:srgbClr val="1A1A1A"/>
                          </a:solidFill>
                          <a:latin typeface="Calibri"/>
                        </a:defRPr>
                      </a:pPr>
                      <a:r>
                        <a:t>Consent complexity; smaller body</a:t>
                      </a:r>
                    </a:p>
                  </a:txBody>
                  <a:tcPr anchor="ctr"/>
                </a:tc>
                <a:tc>
                  <a:txBody>
                    <a:bodyPr/>
                    <a:lstStyle/>
                    <a:p>
                      <a:pPr algn="l">
                        <a:defRPr sz="1000">
                          <a:solidFill>
                            <a:srgbClr val="1A1A1A"/>
                          </a:solidFill>
                          <a:latin typeface="Calibri"/>
                        </a:defRPr>
                      </a:pPr>
                      <a:r>
                        <a:t>Guardian consent; chaperone; reduced parameters</a:t>
                      </a:r>
                    </a:p>
                  </a:txBody>
                  <a:tcPr anchor="ctr"/>
                </a:tc>
              </a:tr>
            </a:tbl>
          </a:graphicData>
        </a:graphic>
      </p:graphicFrame>
      <p:sp>
        <p:nvSpPr>
          <p:cNvPr id="6" name="TextBox 5"/>
          <p:cNvSpPr txBox="1"/>
          <p:nvPr/>
        </p:nvSpPr>
        <p:spPr>
          <a:xfrm>
            <a:off x="457200" y="530352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4.2 — Relative Contraindications. Proceed with caution. Document all modifications and consultations.</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4 | Contraindications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4.3 The Risk Stratification Framework</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7432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The Risk Stratification Framework assigns every patient to one of three categories. The category determines the protocol.</a:t>
            </a:r>
          </a:p>
        </p:txBody>
      </p:sp>
      <p:sp>
        <p:nvSpPr>
          <p:cNvPr id="6" name="Rounded Rectangle 5"/>
          <p:cNvSpPr/>
          <p:nvPr/>
        </p:nvSpPr>
        <p:spPr>
          <a:xfrm>
            <a:off x="457200" y="1828800"/>
            <a:ext cx="3657600" cy="2011680"/>
          </a:xfrm>
          <a:prstGeom prst="round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920240"/>
            <a:ext cx="3474720" cy="365760"/>
          </a:xfrm>
          <a:prstGeom prst="rect">
            <a:avLst/>
          </a:prstGeom>
          <a:noFill/>
        </p:spPr>
        <p:txBody>
          <a:bodyPr wrap="square"/>
          <a:lstStyle/>
          <a:p>
            <a:pPr algn="l">
              <a:lnSpc>
                <a:spcPct val="120000"/>
              </a:lnSpc>
              <a:spcBef>
                <a:spcPts val="0"/>
              </a:spcBef>
              <a:spcAft>
                <a:spcPts val="0"/>
              </a:spcAft>
              <a:defRPr sz="1200" b="1" i="0">
                <a:solidFill>
                  <a:srgbClr val="8FBC8F"/>
                </a:solidFill>
                <a:latin typeface="Calibri"/>
              </a:defRPr>
            </a:pPr>
            <a:r>
              <a:t>GREEN — Proceed with Standard Protocol</a:t>
            </a:r>
          </a:p>
        </p:txBody>
      </p:sp>
      <p:sp>
        <p:nvSpPr>
          <p:cNvPr id="8" name="TextBox 7"/>
          <p:cNvSpPr txBox="1"/>
          <p:nvPr/>
        </p:nvSpPr>
        <p:spPr>
          <a:xfrm>
            <a:off x="548640" y="2286000"/>
            <a:ext cx="3474720" cy="13716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No contraindications. Vital signs stable. Previous positive experience (if applicable). Clear treatment goals.</a:t>
            </a:r>
          </a:p>
        </p:txBody>
      </p:sp>
      <p:sp>
        <p:nvSpPr>
          <p:cNvPr id="9" name="Rounded Rectangle 8"/>
          <p:cNvSpPr/>
          <p:nvPr/>
        </p:nvSpPr>
        <p:spPr>
          <a:xfrm>
            <a:off x="4114800" y="1828800"/>
            <a:ext cx="3657600" cy="2011680"/>
          </a:xfrm>
          <a:prstGeom prst="round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206240" y="1920240"/>
            <a:ext cx="3474720" cy="365760"/>
          </a:xfrm>
          <a:prstGeom prst="rect">
            <a:avLst/>
          </a:prstGeom>
          <a:noFill/>
        </p:spPr>
        <p:txBody>
          <a:bodyPr wrap="square"/>
          <a:lstStyle/>
          <a:p>
            <a:pPr algn="l">
              <a:lnSpc>
                <a:spcPct val="120000"/>
              </a:lnSpc>
              <a:spcBef>
                <a:spcPts val="0"/>
              </a:spcBef>
              <a:spcAft>
                <a:spcPts val="0"/>
              </a:spcAft>
              <a:defRPr sz="1200" b="1" i="0">
                <a:solidFill>
                  <a:srgbClr val="E2725B"/>
                </a:solidFill>
                <a:latin typeface="Calibri"/>
              </a:defRPr>
            </a:pPr>
            <a:r>
              <a:t>AMBER — Proceed with Caution/Modification</a:t>
            </a:r>
          </a:p>
        </p:txBody>
      </p:sp>
      <p:sp>
        <p:nvSpPr>
          <p:cNvPr id="11" name="TextBox 10"/>
          <p:cNvSpPr txBox="1"/>
          <p:nvPr/>
        </p:nvSpPr>
        <p:spPr>
          <a:xfrm>
            <a:off x="4206240" y="2286000"/>
            <a:ext cx="3474720" cy="13716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Relative contraindication(s) present but managed. First-time patient with anxiety. Borderline vital signs. Complex medical history but stable.</a:t>
            </a:r>
          </a:p>
        </p:txBody>
      </p:sp>
      <p:sp>
        <p:nvSpPr>
          <p:cNvPr id="12" name="Rounded Rectangle 11"/>
          <p:cNvSpPr/>
          <p:nvPr/>
        </p:nvSpPr>
        <p:spPr>
          <a:xfrm>
            <a:off x="7772400" y="1828800"/>
            <a:ext cx="3657600" cy="2011680"/>
          </a:xfrm>
          <a:prstGeom prst="roundRect">
            <a:avLst/>
          </a:prstGeom>
          <a:solidFill>
            <a:srgbClr val="FFDCDC"/>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0" y="1920240"/>
            <a:ext cx="3474720" cy="365760"/>
          </a:xfrm>
          <a:prstGeom prst="rect">
            <a:avLst/>
          </a:prstGeom>
          <a:noFill/>
        </p:spPr>
        <p:txBody>
          <a:bodyPr wrap="square"/>
          <a:lstStyle/>
          <a:p>
            <a:pPr algn="l">
              <a:lnSpc>
                <a:spcPct val="120000"/>
              </a:lnSpc>
              <a:spcBef>
                <a:spcPts val="0"/>
              </a:spcBef>
              <a:spcAft>
                <a:spcPts val="0"/>
              </a:spcAft>
              <a:defRPr sz="1200" b="1" i="0">
                <a:solidFill>
                  <a:srgbClr val="E2725B"/>
                </a:solidFill>
                <a:latin typeface="Calibri"/>
              </a:defRPr>
            </a:pPr>
            <a:r>
              <a:t>RED — Defer or Refer</a:t>
            </a:r>
          </a:p>
        </p:txBody>
      </p:sp>
      <p:sp>
        <p:nvSpPr>
          <p:cNvPr id="14" name="TextBox 13"/>
          <p:cNvSpPr txBox="1"/>
          <p:nvPr/>
        </p:nvSpPr>
        <p:spPr>
          <a:xfrm>
            <a:off x="7863840" y="2286000"/>
            <a:ext cx="3474720" cy="13716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Any absolute contraindication. Unclear diagnosis. Patient unable to give informed consent. Practitioner uncertainty about safety.</a:t>
            </a:r>
          </a:p>
        </p:txBody>
      </p:sp>
      <p:sp>
        <p:nvSpPr>
          <p:cNvPr id="15" name="Rectangle 14"/>
          <p:cNvSpPr/>
          <p:nvPr/>
        </p:nvSpPr>
        <p:spPr>
          <a:xfrm>
            <a:off x="457200" y="4114800"/>
            <a:ext cx="11277295" cy="109728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20624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17" name="TextBox 16"/>
          <p:cNvSpPr txBox="1"/>
          <p:nvPr/>
        </p:nvSpPr>
        <p:spPr>
          <a:xfrm>
            <a:off x="594360" y="448056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When you are uncertain, categorise as Amber. When you are very uncertain, categorise as Red. Uncertainty is not a weakness. It is the mark of a practitioner who respects the limits of their knowledge. The Prophet ﷺ said: 'The believer is not stung from the same hole twice.' Learn from caution.</a:t>
            </a:r>
          </a:p>
        </p:txBody>
      </p:sp>
      <p:sp>
        <p:nvSpPr>
          <p:cNvPr id="18" name="TextBox 17"/>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4 | Contraindications</a:t>
            </a:r>
          </a:p>
        </p:txBody>
      </p:sp>
      <p:sp>
        <p:nvSpPr>
          <p:cNvPr id="19" name="TextBox 18"/>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457200"/>
          </a:xfrm>
          <a:prstGeom prst="rect">
            <a:avLst/>
          </a:prstGeom>
          <a:noFill/>
        </p:spPr>
        <p:txBody>
          <a:bodyPr wrap="square"/>
          <a:lstStyle/>
          <a:p>
            <a:pPr algn="ctr">
              <a:lnSpc>
                <a:spcPct val="120000"/>
              </a:lnSpc>
              <a:spcBef>
                <a:spcPts val="0"/>
              </a:spcBef>
              <a:spcAft>
                <a:spcPts val="0"/>
              </a:spcAft>
              <a:defRPr sz="2400" b="0" i="0">
                <a:solidFill>
                  <a:srgbClr val="003F5C"/>
                </a:solidFill>
                <a:latin typeface="Georgia"/>
              </a:defRPr>
            </a:pPr>
            <a:r>
              <a:t>End of Chapter 4 | Contraindications &amp; Risk Stratification</a:t>
            </a:r>
          </a:p>
        </p:txBody>
      </p:sp>
      <p:sp>
        <p:nvSpPr>
          <p:cNvPr id="4" name="Rectangle 3"/>
          <p:cNvSpPr/>
          <p:nvPr/>
        </p:nvSpPr>
        <p:spPr>
          <a:xfrm>
            <a:off x="3657600" y="3383280"/>
            <a:ext cx="48764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6" name="TextBox 5"/>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05</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Red Flags &amp; Referral Pathways</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Recognising What Lies Beyond Our Scope</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5 | pp. 26–33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5.1 Red Flags Requiring Immediate Medical Referral</a:t>
            </a:r>
          </a:p>
        </p:txBody>
      </p:sp>
      <p:graphicFrame>
        <p:nvGraphicFramePr>
          <p:cNvPr id="5" name="Table 4"/>
          <p:cNvGraphicFramePr>
            <a:graphicFrameLocks noGrp="1"/>
          </p:cNvGraphicFramePr>
          <p:nvPr/>
        </p:nvGraphicFramePr>
        <p:xfrm>
          <a:off x="457200" y="1554480"/>
          <a:ext cx="11277294" cy="292608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System</a:t>
                      </a:r>
                    </a:p>
                  </a:txBody>
                  <a:tcPr anchor="ctr">
                    <a:solidFill>
                      <a:srgbClr val="003F5C"/>
                    </a:solidFill>
                  </a:tcPr>
                </a:tc>
                <a:tc>
                  <a:txBody>
                    <a:bodyPr/>
                    <a:lstStyle/>
                    <a:p>
                      <a:pPr algn="l">
                        <a:defRPr sz="1000" b="1">
                          <a:solidFill>
                            <a:srgbClr val="FAF7F2"/>
                          </a:solidFill>
                          <a:latin typeface="Calibri"/>
                        </a:defRPr>
                      </a:pPr>
                      <a:r>
                        <a:t>Red Flag</a:t>
                      </a:r>
                    </a:p>
                  </a:txBody>
                  <a:tcPr anchor="ctr">
                    <a:solidFill>
                      <a:srgbClr val="003F5C"/>
                    </a:solidFill>
                  </a:tcPr>
                </a:tc>
                <a:tc>
                  <a:txBody>
                    <a:bodyPr/>
                    <a:lstStyle/>
                    <a:p>
                      <a:pPr algn="l">
                        <a:defRPr sz="1000" b="1">
                          <a:solidFill>
                            <a:srgbClr val="FAF7F2"/>
                          </a:solidFill>
                          <a:latin typeface="Calibri"/>
                        </a:defRPr>
                      </a:pPr>
                      <a:r>
                        <a:t>Action</a:t>
                      </a:r>
                    </a:p>
                  </a:txBody>
                  <a:tcPr anchor="ctr">
                    <a:solidFill>
                      <a:srgbClr val="003F5C"/>
                    </a:solidFill>
                  </a:tcPr>
                </a:tc>
              </a:tr>
              <a:tr h="365760">
                <a:tc>
                  <a:txBody>
                    <a:bodyPr/>
                    <a:lstStyle/>
                    <a:p>
                      <a:pPr algn="l">
                        <a:defRPr sz="1000">
                          <a:solidFill>
                            <a:srgbClr val="1A1A1A"/>
                          </a:solidFill>
                          <a:latin typeface="Calibri"/>
                        </a:defRPr>
                      </a:pPr>
                      <a:r>
                        <a:t>Cardiovascular</a:t>
                      </a:r>
                    </a:p>
                  </a:txBody>
                  <a:tcPr anchor="ctr"/>
                </a:tc>
                <a:tc>
                  <a:txBody>
                    <a:bodyPr/>
                    <a:lstStyle/>
                    <a:p>
                      <a:pPr algn="l">
                        <a:defRPr sz="1000">
                          <a:solidFill>
                            <a:srgbClr val="1A1A1A"/>
                          </a:solidFill>
                          <a:latin typeface="Calibri"/>
                        </a:defRPr>
                      </a:pPr>
                      <a:r>
                        <a:t>Chest pain, dyspnoea, palpitations with syncope, BP &gt;180/110</a:t>
                      </a:r>
                    </a:p>
                  </a:txBody>
                  <a:tcPr anchor="ctr"/>
                </a:tc>
                <a:tc>
                  <a:txBody>
                    <a:bodyPr/>
                    <a:lstStyle/>
                    <a:p>
                      <a:pPr algn="l">
                        <a:defRPr sz="1000">
                          <a:solidFill>
                            <a:srgbClr val="1A1A1A"/>
                          </a:solidFill>
                          <a:latin typeface="Calibri"/>
                        </a:defRPr>
                      </a:pPr>
                      <a:r>
                        <a:t>Emergency referral; do not treat</a:t>
                      </a:r>
                    </a:p>
                  </a:txBody>
                  <a:tcPr anchor="ctr"/>
                </a:tc>
              </a:tr>
              <a:tr h="365760">
                <a:tc>
                  <a:txBody>
                    <a:bodyPr/>
                    <a:lstStyle/>
                    <a:p>
                      <a:pPr algn="l">
                        <a:defRPr sz="1000">
                          <a:solidFill>
                            <a:srgbClr val="1A1A1A"/>
                          </a:solidFill>
                          <a:latin typeface="Calibri"/>
                        </a:defRPr>
                      </a:pPr>
                      <a:r>
                        <a:t>Neurological</a:t>
                      </a:r>
                    </a:p>
                  </a:txBody>
                  <a:tcPr anchor="ctr">
                    <a:solidFill>
                      <a:srgbClr val="F5F2EB"/>
                    </a:solidFill>
                  </a:tcPr>
                </a:tc>
                <a:tc>
                  <a:txBody>
                    <a:bodyPr/>
                    <a:lstStyle/>
                    <a:p>
                      <a:pPr algn="l">
                        <a:defRPr sz="1000">
                          <a:solidFill>
                            <a:srgbClr val="1A1A1A"/>
                          </a:solidFill>
                          <a:latin typeface="Calibri"/>
                        </a:defRPr>
                      </a:pPr>
                      <a:r>
                        <a:t>New weakness, numbness, speech disturbance, severe headache, altered consciousness</a:t>
                      </a:r>
                    </a:p>
                  </a:txBody>
                  <a:tcPr anchor="ctr">
                    <a:solidFill>
                      <a:srgbClr val="F5F2EB"/>
                    </a:solidFill>
                  </a:tcPr>
                </a:tc>
                <a:tc>
                  <a:txBody>
                    <a:bodyPr/>
                    <a:lstStyle/>
                    <a:p>
                      <a:pPr algn="l">
                        <a:defRPr sz="1000">
                          <a:solidFill>
                            <a:srgbClr val="1A1A1A"/>
                          </a:solidFill>
                          <a:latin typeface="Calibri"/>
                        </a:defRPr>
                      </a:pPr>
                      <a:r>
                        <a:t>Emergency referral</a:t>
                      </a:r>
                    </a:p>
                  </a:txBody>
                  <a:tcPr anchor="ctr">
                    <a:solidFill>
                      <a:srgbClr val="F5F2EB"/>
                    </a:solidFill>
                  </a:tcPr>
                </a:tc>
              </a:tr>
              <a:tr h="365760">
                <a:tc>
                  <a:txBody>
                    <a:bodyPr/>
                    <a:lstStyle/>
                    <a:p>
                      <a:pPr algn="l">
                        <a:defRPr sz="1000">
                          <a:solidFill>
                            <a:srgbClr val="1A1A1A"/>
                          </a:solidFill>
                          <a:latin typeface="Calibri"/>
                        </a:defRPr>
                      </a:pPr>
                      <a:r>
                        <a:t>Oncological</a:t>
                      </a:r>
                    </a:p>
                  </a:txBody>
                  <a:tcPr anchor="ctr"/>
                </a:tc>
                <a:tc>
                  <a:txBody>
                    <a:bodyPr/>
                    <a:lstStyle/>
                    <a:p>
                      <a:pPr algn="l">
                        <a:defRPr sz="1000">
                          <a:solidFill>
                            <a:srgbClr val="1A1A1A"/>
                          </a:solidFill>
                          <a:latin typeface="Calibri"/>
                        </a:defRPr>
                      </a:pPr>
                      <a:r>
                        <a:t>Unexplained weight loss, night sweats, persistent lymphadenopathy, new masses</a:t>
                      </a:r>
                    </a:p>
                  </a:txBody>
                  <a:tcPr anchor="ctr"/>
                </a:tc>
                <a:tc>
                  <a:txBody>
                    <a:bodyPr/>
                    <a:lstStyle/>
                    <a:p>
                      <a:pPr algn="l">
                        <a:defRPr sz="1000">
                          <a:solidFill>
                            <a:srgbClr val="1A1A1A"/>
                          </a:solidFill>
                          <a:latin typeface="Calibri"/>
                        </a:defRPr>
                      </a:pPr>
                      <a:r>
                        <a:t>Urgent medical assessment; do not treat</a:t>
                      </a:r>
                    </a:p>
                  </a:txBody>
                  <a:tcPr anchor="ctr"/>
                </a:tc>
              </a:tr>
              <a:tr h="365760">
                <a:tc>
                  <a:txBody>
                    <a:bodyPr/>
                    <a:lstStyle/>
                    <a:p>
                      <a:pPr algn="l">
                        <a:defRPr sz="1000">
                          <a:solidFill>
                            <a:srgbClr val="1A1A1A"/>
                          </a:solidFill>
                          <a:latin typeface="Calibri"/>
                        </a:defRPr>
                      </a:pPr>
                      <a:r>
                        <a:t>Infectious</a:t>
                      </a:r>
                    </a:p>
                  </a:txBody>
                  <a:tcPr anchor="ctr">
                    <a:solidFill>
                      <a:srgbClr val="F5F2EB"/>
                    </a:solidFill>
                  </a:tcPr>
                </a:tc>
                <a:tc>
                  <a:txBody>
                    <a:bodyPr/>
                    <a:lstStyle/>
                    <a:p>
                      <a:pPr algn="l">
                        <a:defRPr sz="1000">
                          <a:solidFill>
                            <a:srgbClr val="1A1A1A"/>
                          </a:solidFill>
                          <a:latin typeface="Calibri"/>
                        </a:defRPr>
                      </a:pPr>
                      <a:r>
                        <a:t>Fever with rigors, unexplained fever &gt;38°C, signs of sepsis</a:t>
                      </a:r>
                    </a:p>
                  </a:txBody>
                  <a:tcPr anchor="ctr">
                    <a:solidFill>
                      <a:srgbClr val="F5F2EB"/>
                    </a:solidFill>
                  </a:tcPr>
                </a:tc>
                <a:tc>
                  <a:txBody>
                    <a:bodyPr/>
                    <a:lstStyle/>
                    <a:p>
                      <a:pPr algn="l">
                        <a:defRPr sz="1000">
                          <a:solidFill>
                            <a:srgbClr val="1A1A1A"/>
                          </a:solidFill>
                          <a:latin typeface="Calibri"/>
                        </a:defRPr>
                      </a:pPr>
                      <a:r>
                        <a:t>Emergency referral</a:t>
                      </a:r>
                    </a:p>
                  </a:txBody>
                  <a:tcPr anchor="ctr">
                    <a:solidFill>
                      <a:srgbClr val="F5F2EB"/>
                    </a:solidFill>
                  </a:tcPr>
                </a:tc>
              </a:tr>
              <a:tr h="365760">
                <a:tc>
                  <a:txBody>
                    <a:bodyPr/>
                    <a:lstStyle/>
                    <a:p>
                      <a:pPr algn="l">
                        <a:defRPr sz="1000">
                          <a:solidFill>
                            <a:srgbClr val="1A1A1A"/>
                          </a:solidFill>
                          <a:latin typeface="Calibri"/>
                        </a:defRPr>
                      </a:pPr>
                      <a:r>
                        <a:t>Musculoskeletal</a:t>
                      </a:r>
                    </a:p>
                  </a:txBody>
                  <a:tcPr anchor="ctr"/>
                </a:tc>
                <a:tc>
                  <a:txBody>
                    <a:bodyPr/>
                    <a:lstStyle/>
                    <a:p>
                      <a:pPr algn="l">
                        <a:defRPr sz="1000">
                          <a:solidFill>
                            <a:srgbClr val="1A1A1A"/>
                          </a:solidFill>
                          <a:latin typeface="Calibri"/>
                        </a:defRPr>
                      </a:pPr>
                      <a:r>
                        <a:t>Hot, swollen joint with systemic symptoms; suspected fracture</a:t>
                      </a:r>
                    </a:p>
                  </a:txBody>
                  <a:tcPr anchor="ctr"/>
                </a:tc>
                <a:tc>
                  <a:txBody>
                    <a:bodyPr/>
                    <a:lstStyle/>
                    <a:p>
                      <a:pPr algn="l">
                        <a:defRPr sz="1000">
                          <a:solidFill>
                            <a:srgbClr val="1A1A1A"/>
                          </a:solidFill>
                          <a:latin typeface="Calibri"/>
                        </a:defRPr>
                      </a:pPr>
                      <a:r>
                        <a:t>Medical assessment; do not treat</a:t>
                      </a:r>
                    </a:p>
                  </a:txBody>
                  <a:tcPr anchor="ctr"/>
                </a:tc>
              </a:tr>
              <a:tr h="365760">
                <a:tc>
                  <a:txBody>
                    <a:bodyPr/>
                    <a:lstStyle/>
                    <a:p>
                      <a:pPr algn="l">
                        <a:defRPr sz="1000">
                          <a:solidFill>
                            <a:srgbClr val="1A1A1A"/>
                          </a:solidFill>
                          <a:latin typeface="Calibri"/>
                        </a:defRPr>
                      </a:pPr>
                      <a:r>
                        <a:t>Dermatological</a:t>
                      </a:r>
                    </a:p>
                  </a:txBody>
                  <a:tcPr anchor="ctr">
                    <a:solidFill>
                      <a:srgbClr val="F5F2EB"/>
                    </a:solidFill>
                  </a:tcPr>
                </a:tc>
                <a:tc>
                  <a:txBody>
                    <a:bodyPr/>
                    <a:lstStyle/>
                    <a:p>
                      <a:pPr algn="l">
                        <a:defRPr sz="1000">
                          <a:solidFill>
                            <a:srgbClr val="1A1A1A"/>
                          </a:solidFill>
                          <a:latin typeface="Calibri"/>
                        </a:defRPr>
                      </a:pPr>
                      <a:r>
                        <a:t>Rapidly changing moles, non-healing ulcers, signs of cellulitis</a:t>
                      </a:r>
                    </a:p>
                  </a:txBody>
                  <a:tcPr anchor="ctr">
                    <a:solidFill>
                      <a:srgbClr val="F5F2EB"/>
                    </a:solidFill>
                  </a:tcPr>
                </a:tc>
                <a:tc>
                  <a:txBody>
                    <a:bodyPr/>
                    <a:lstStyle/>
                    <a:p>
                      <a:pPr algn="l">
                        <a:defRPr sz="1000">
                          <a:solidFill>
                            <a:srgbClr val="1A1A1A"/>
                          </a:solidFill>
                          <a:latin typeface="Calibri"/>
                        </a:defRPr>
                      </a:pPr>
                      <a:r>
                        <a:t>Medical assessment</a:t>
                      </a:r>
                    </a:p>
                  </a:txBody>
                  <a:tcPr anchor="ctr">
                    <a:solidFill>
                      <a:srgbClr val="F5F2EB"/>
                    </a:solidFill>
                  </a:tcPr>
                </a:tc>
              </a:tr>
              <a:tr h="365760">
                <a:tc>
                  <a:txBody>
                    <a:bodyPr/>
                    <a:lstStyle/>
                    <a:p>
                      <a:pPr algn="l">
                        <a:defRPr sz="1000">
                          <a:solidFill>
                            <a:srgbClr val="1A1A1A"/>
                          </a:solidFill>
                          <a:latin typeface="Calibri"/>
                        </a:defRPr>
                      </a:pPr>
                      <a:r>
                        <a:t>Psychiatric</a:t>
                      </a:r>
                    </a:p>
                  </a:txBody>
                  <a:tcPr anchor="ctr"/>
                </a:tc>
                <a:tc>
                  <a:txBody>
                    <a:bodyPr/>
                    <a:lstStyle/>
                    <a:p>
                      <a:pPr algn="l">
                        <a:defRPr sz="1000">
                          <a:solidFill>
                            <a:srgbClr val="1A1A1A"/>
                          </a:solidFill>
                          <a:latin typeface="Calibri"/>
                        </a:defRPr>
                      </a:pPr>
                      <a:r>
                        <a:t>Acute psychosis, suicidal ideation, severe agitation</a:t>
                      </a:r>
                    </a:p>
                  </a:txBody>
                  <a:tcPr anchor="ctr"/>
                </a:tc>
                <a:tc>
                  <a:txBody>
                    <a:bodyPr/>
                    <a:lstStyle/>
                    <a:p>
                      <a:pPr algn="l">
                        <a:defRPr sz="1000">
                          <a:solidFill>
                            <a:srgbClr val="1A1A1A"/>
                          </a:solidFill>
                          <a:latin typeface="Calibri"/>
                        </a:defRPr>
                      </a:pPr>
                      <a:r>
                        <a:t>Emergency mental health referral</a:t>
                      </a:r>
                    </a:p>
                  </a:txBody>
                  <a:tcPr anchor="ctr"/>
                </a:tc>
              </a:tr>
            </a:tbl>
          </a:graphicData>
        </a:graphic>
      </p:graphicFrame>
      <p:sp>
        <p:nvSpPr>
          <p:cNvPr id="6" name="TextBox 5"/>
          <p:cNvSpPr txBox="1"/>
          <p:nvPr/>
        </p:nvSpPr>
        <p:spPr>
          <a:xfrm>
            <a:off x="457200" y="457200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5.1 — Red Flags by System. When any red flag is present, Hijama is contraindicated until medical clearance is obtained.</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5 | Red Flags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5.2 Referral Documentation</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7432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Every referral must include the following elements. Incomplete documentation is negligent documentation.</a:t>
            </a:r>
          </a:p>
        </p:txBody>
      </p:sp>
      <p:sp>
        <p:nvSpPr>
          <p:cNvPr id="6" name="TextBox 5"/>
          <p:cNvSpPr txBox="1"/>
          <p:nvPr/>
        </p:nvSpPr>
        <p:spPr>
          <a:xfrm>
            <a:off x="640080" y="16459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1. Date and time of identification</a:t>
            </a:r>
          </a:p>
        </p:txBody>
      </p:sp>
      <p:sp>
        <p:nvSpPr>
          <p:cNvPr id="7" name="TextBox 6"/>
          <p:cNvSpPr txBox="1"/>
          <p:nvPr/>
        </p:nvSpPr>
        <p:spPr>
          <a:xfrm>
            <a:off x="640080" y="19202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2. Patient details (name, DOB, contact)</a:t>
            </a:r>
          </a:p>
        </p:txBody>
      </p:sp>
      <p:sp>
        <p:nvSpPr>
          <p:cNvPr id="8" name="TextBox 7"/>
          <p:cNvSpPr txBox="1"/>
          <p:nvPr/>
        </p:nvSpPr>
        <p:spPr>
          <a:xfrm>
            <a:off x="640080" y="21945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3. Red flag identified (specific sign/symptom)</a:t>
            </a:r>
          </a:p>
        </p:txBody>
      </p:sp>
      <p:sp>
        <p:nvSpPr>
          <p:cNvPr id="9" name="TextBox 8"/>
          <p:cNvSpPr txBox="1"/>
          <p:nvPr/>
        </p:nvSpPr>
        <p:spPr>
          <a:xfrm>
            <a:off x="640080" y="24688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4. Practitioner assessment (why this is concerning)</a:t>
            </a:r>
          </a:p>
        </p:txBody>
      </p:sp>
      <p:sp>
        <p:nvSpPr>
          <p:cNvPr id="10" name="TextBox 9"/>
          <p:cNvSpPr txBox="1"/>
          <p:nvPr/>
        </p:nvSpPr>
        <p:spPr>
          <a:xfrm>
            <a:off x="640080" y="27432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5. Referral destination (GP, emergency department, specialist)</a:t>
            </a:r>
          </a:p>
        </p:txBody>
      </p:sp>
      <p:sp>
        <p:nvSpPr>
          <p:cNvPr id="11" name="TextBox 10"/>
          <p:cNvSpPr txBox="1"/>
          <p:nvPr/>
        </p:nvSpPr>
        <p:spPr>
          <a:xfrm>
            <a:off x="640080" y="30175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6. Patient consent (verbal or written) to share information</a:t>
            </a:r>
          </a:p>
        </p:txBody>
      </p:sp>
      <p:sp>
        <p:nvSpPr>
          <p:cNvPr id="12" name="TextBox 11"/>
          <p:cNvSpPr txBox="1"/>
          <p:nvPr/>
        </p:nvSpPr>
        <p:spPr>
          <a:xfrm>
            <a:off x="640080" y="32918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7. Follow-up plan (how practitioner will confirm patient attended)</a:t>
            </a:r>
          </a:p>
        </p:txBody>
      </p:sp>
      <p:sp>
        <p:nvSpPr>
          <p:cNvPr id="13" name="TextBox 12"/>
          <p:cNvSpPr txBox="1"/>
          <p:nvPr/>
        </p:nvSpPr>
        <p:spPr>
          <a:xfrm>
            <a:off x="457200" y="3657600"/>
            <a:ext cx="5486400" cy="731520"/>
          </a:xfrm>
          <a:prstGeom prst="rect">
            <a:avLst/>
          </a:prstGeom>
          <a:noFill/>
        </p:spPr>
        <p:txBody>
          <a:bodyPr wrap="square"/>
          <a:lstStyle/>
          <a:p>
            <a:pPr algn="l">
              <a:lnSpc>
                <a:spcPct val="120000"/>
              </a:lnSpc>
              <a:spcBef>
                <a:spcPts val="0"/>
              </a:spcBef>
              <a:spcAft>
                <a:spcPts val="0"/>
              </a:spcAft>
              <a:defRPr sz="1100" b="0" i="1">
                <a:solidFill>
                  <a:srgbClr val="1A1A1A"/>
                </a:solidFill>
                <a:latin typeface="Calibri"/>
              </a:defRPr>
            </a:pPr>
            <a:r>
              <a:t>"I, [Practitioner Name], CHP-[Number], refer [Patient Name] to [Destination] due to [Red Flag]. I have explained my concerns to the patient and obtained consent to share this information. Referral made on [Date] at [Time]."</a:t>
            </a:r>
          </a:p>
        </p:txBody>
      </p:sp>
      <p:sp>
        <p:nvSpPr>
          <p:cNvPr id="14" name="Rectangle 13"/>
          <p:cNvSpPr/>
          <p:nvPr/>
        </p:nvSpPr>
        <p:spPr>
          <a:xfrm>
            <a:off x="6400800" y="3657600"/>
            <a:ext cx="5303520" cy="1645920"/>
          </a:xfrm>
          <a:prstGeom prst="rect">
            <a:avLst/>
          </a:prstGeom>
          <a:solidFill>
            <a:srgbClr val="F5F2EB"/>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3749040"/>
            <a:ext cx="5029200" cy="365760"/>
          </a:xfrm>
          <a:prstGeom prst="rect">
            <a:avLst/>
          </a:prstGeom>
          <a:noFill/>
        </p:spPr>
        <p:txBody>
          <a:bodyPr wrap="none">
            <a:spAutoFit/>
          </a:bodyPr>
          <a:lstStyle/>
          <a:p>
            <a:pPr algn="l">
              <a:defRPr sz="1000" b="1">
                <a:solidFill>
                  <a:srgbClr val="B8860B"/>
                </a:solidFill>
                <a:latin typeface="Calibri"/>
              </a:defRPr>
            </a:pPr>
            <a:r>
              <a:t>ISLAMIC INSIGHT</a:t>
            </a:r>
          </a:p>
        </p:txBody>
      </p:sp>
      <p:sp>
        <p:nvSpPr>
          <p:cNvPr id="16" name="TextBox 15"/>
          <p:cNvSpPr txBox="1"/>
          <p:nvPr/>
        </p:nvSpPr>
        <p:spPr>
          <a:xfrm>
            <a:off x="6537960" y="4023360"/>
            <a:ext cx="5029200" cy="1188720"/>
          </a:xfrm>
          <a:prstGeom prst="rect">
            <a:avLst/>
          </a:prstGeom>
          <a:noFill/>
        </p:spPr>
        <p:txBody>
          <a:bodyPr wrap="square">
            <a:spAutoFit/>
          </a:bodyPr>
          <a:lstStyle/>
          <a:p>
            <a:pPr algn="l">
              <a:lnSpc>
                <a:spcPct val="115000"/>
              </a:lnSpc>
              <a:defRPr sz="1000">
                <a:solidFill>
                  <a:srgbClr val="1A1A1A"/>
                </a:solidFill>
                <a:latin typeface="Calibri"/>
              </a:defRPr>
            </a:pPr>
            <a:r>
              <a:t>مَنْ كَانَ يُؤْمِنُ بِاللَّهِ وَالْيَوْمِ الْآخِرِ فَلْيَقُلْ خَيْرًا أَوْ لِيَصْمُتْ</a:t>
            </a:r>
            <a:br/>
            <a:br/>
            <a:r>
              <a:t>'Whoever believes in Allah and the Last Day, let him speak good or remain silent.'</a:t>
            </a:r>
            <a:br/>
            <a:r>
              <a:t>— Sahih al-Bukhari</a:t>
            </a:r>
            <a:br/>
            <a:br/>
            <a:r>
              <a:t>When you do not know, remain silent. When you are uncertain, refer. This is not silence of ignorance. It is silence of wisdom.</a:t>
            </a:r>
          </a:p>
        </p:txBody>
      </p:sp>
      <p:sp>
        <p:nvSpPr>
          <p:cNvPr id="17" name="TextBox 1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5 | Red Flags</a:t>
            </a:r>
          </a:p>
        </p:txBody>
      </p:sp>
      <p:sp>
        <p:nvSpPr>
          <p:cNvPr id="18" name="TextBox 17"/>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28</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10362895" cy="457200"/>
          </a:xfrm>
          <a:prstGeom prst="rect">
            <a:avLst/>
          </a:prstGeom>
          <a:noFill/>
        </p:spPr>
        <p:txBody>
          <a:bodyPr wrap="square"/>
          <a:lstStyle/>
          <a:p>
            <a:pPr algn="ctr">
              <a:lnSpc>
                <a:spcPct val="120000"/>
              </a:lnSpc>
              <a:spcBef>
                <a:spcPts val="0"/>
              </a:spcBef>
              <a:spcAft>
                <a:spcPts val="0"/>
              </a:spcAft>
              <a:defRPr sz="2400" b="0" i="0">
                <a:solidFill>
                  <a:srgbClr val="003F5C"/>
                </a:solidFill>
                <a:latin typeface="Georgia"/>
              </a:defRPr>
            </a:pPr>
            <a:r>
              <a:t>End of Chapter 5 | Red Flags &amp; Referral Pathways</a:t>
            </a:r>
          </a:p>
        </p:txBody>
      </p:sp>
      <p:sp>
        <p:nvSpPr>
          <p:cNvPr id="4" name="Rectangle 3"/>
          <p:cNvSpPr/>
          <p:nvPr/>
        </p:nvSpPr>
        <p:spPr>
          <a:xfrm>
            <a:off x="3657600" y="3383280"/>
            <a:ext cx="48764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6" name="TextBox 5"/>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29</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914400"/>
          </a:xfrm>
          <a:prstGeom prst="rect">
            <a:avLst/>
          </a:prstGeom>
          <a:noFill/>
        </p:spPr>
        <p:txBody>
          <a:bodyPr wrap="square"/>
          <a:lstStyle/>
          <a:p>
            <a:pPr algn="ctr">
              <a:lnSpc>
                <a:spcPct val="120000"/>
              </a:lnSpc>
              <a:spcBef>
                <a:spcPts val="0"/>
              </a:spcBef>
              <a:spcAft>
                <a:spcPts val="0"/>
              </a:spcAft>
              <a:defRPr sz="6000" b="1" i="0">
                <a:solidFill>
                  <a:srgbClr val="B8860B"/>
                </a:solidFill>
                <a:latin typeface="Georgia"/>
              </a:defRPr>
            </a:pPr>
            <a:r>
              <a:t>PART II</a:t>
            </a:r>
          </a:p>
        </p:txBody>
      </p:sp>
      <p:sp>
        <p:nvSpPr>
          <p:cNvPr id="4" name="TextBox 3"/>
          <p:cNvSpPr txBox="1"/>
          <p:nvPr/>
        </p:nvSpPr>
        <p:spPr>
          <a:xfrm>
            <a:off x="914400" y="3200400"/>
            <a:ext cx="10362895" cy="548640"/>
          </a:xfrm>
          <a:prstGeom prst="rect">
            <a:avLst/>
          </a:prstGeom>
          <a:noFill/>
        </p:spPr>
        <p:txBody>
          <a:bodyPr wrap="square"/>
          <a:lstStyle/>
          <a:p>
            <a:pPr algn="ctr">
              <a:lnSpc>
                <a:spcPct val="120000"/>
              </a:lnSpc>
              <a:spcBef>
                <a:spcPts val="0"/>
              </a:spcBef>
              <a:spcAft>
                <a:spcPts val="0"/>
              </a:spcAft>
              <a:defRPr sz="3200" b="0" i="0">
                <a:solidFill>
                  <a:srgbClr val="FAF7F2"/>
                </a:solidFill>
                <a:latin typeface="Georgia"/>
              </a:defRPr>
            </a:pPr>
            <a:r>
              <a:t>Safety &amp; Governance</a:t>
            </a:r>
          </a:p>
        </p:txBody>
      </p:sp>
      <p:sp>
        <p:nvSpPr>
          <p:cNvPr id="5" name="TextBox 4"/>
          <p:cNvSpPr txBox="1"/>
          <p:nvPr/>
        </p:nvSpPr>
        <p:spPr>
          <a:xfrm>
            <a:off x="2743200" y="3931920"/>
            <a:ext cx="6705295" cy="548640"/>
          </a:xfrm>
          <a:prstGeom prst="rect">
            <a:avLst/>
          </a:prstGeom>
          <a:noFill/>
        </p:spPr>
        <p:txBody>
          <a:bodyPr wrap="square"/>
          <a:lstStyle/>
          <a:p>
            <a:pPr algn="ctr">
              <a:lnSpc>
                <a:spcPct val="120000"/>
              </a:lnSpc>
              <a:spcBef>
                <a:spcPts val="0"/>
              </a:spcBef>
              <a:spcAft>
                <a:spcPts val="0"/>
              </a:spcAft>
              <a:defRPr sz="1400" b="0" i="0">
                <a:solidFill>
                  <a:srgbClr val="FAF7F2"/>
                </a:solidFill>
                <a:latin typeface="Calibri"/>
              </a:defRPr>
            </a:pPr>
            <a:r>
              <a:t>Infection control. Consent. Documentation. Emergency management. Professional ethics. The systems that protect patients when individual practitioners are imperfect.</a:t>
            </a:r>
          </a:p>
        </p:txBody>
      </p:sp>
      <p:sp>
        <p:nvSpPr>
          <p:cNvPr id="6" name="TextBox 5"/>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7" name="TextBox 6"/>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Part II</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06</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Infection Prevention &amp; Control</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Sterility Standard</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6 | pp. 34–43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6.1 Hand Hygiene &amp; PPE</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Hand Hygiene: Before and after every patient contact. Before any aseptic procedure. After exposure to body fluids. WHO 6-step technique, minimum 40 seconds with soap and water, or 20 seconds with alcohol-based hand rub.</a:t>
            </a:r>
          </a:p>
        </p:txBody>
      </p:sp>
      <p:sp>
        <p:nvSpPr>
          <p:cNvPr id="6" name="TextBox 5"/>
          <p:cNvSpPr txBox="1"/>
          <p:nvPr/>
        </p:nvSpPr>
        <p:spPr>
          <a:xfrm>
            <a:off x="457200" y="173736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PPE: Gloves minimum; apron and eye protection when indicated. Sterile gloves for wet cupping. Full PPE for any splash risk.</a:t>
            </a:r>
          </a:p>
        </p:txBody>
      </p:sp>
      <p:sp>
        <p:nvSpPr>
          <p:cNvPr id="7" name="Rectangle 6"/>
          <p:cNvSpPr/>
          <p:nvPr/>
        </p:nvSpPr>
        <p:spPr>
          <a:xfrm>
            <a:off x="457200" y="2286000"/>
            <a:ext cx="11277295" cy="109728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37744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9" name="TextBox 8"/>
          <p:cNvSpPr txBox="1"/>
          <p:nvPr/>
        </p:nvSpPr>
        <p:spPr>
          <a:xfrm>
            <a:off x="594360" y="265176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'Cleanliness is half of faith.' (Sahih Muslim) The hand hygiene station is the most important piece of equipment in your clinic. More important than the pump. More important than the cups. Because clean hands protect every patient, every time.</a:t>
            </a:r>
          </a:p>
        </p:txBody>
      </p:sp>
      <p:sp>
        <p:nvSpPr>
          <p:cNvPr id="10" name="TextBox 9"/>
          <p:cNvSpPr txBox="1"/>
          <p:nvPr/>
        </p:nvSpPr>
        <p:spPr>
          <a:xfrm>
            <a:off x="457200" y="365760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The six pillars of infection control:</a:t>
            </a:r>
          </a:p>
        </p:txBody>
      </p:sp>
      <p:sp>
        <p:nvSpPr>
          <p:cNvPr id="11" name="TextBox 10"/>
          <p:cNvSpPr txBox="1"/>
          <p:nvPr/>
        </p:nvSpPr>
        <p:spPr>
          <a:xfrm>
            <a:off x="640080" y="402336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Hand Hygiene — WHO 6-step technique, minimum 40 seconds</a:t>
            </a:r>
          </a:p>
        </p:txBody>
      </p:sp>
      <p:sp>
        <p:nvSpPr>
          <p:cNvPr id="12" name="TextBox 11"/>
          <p:cNvSpPr txBox="1"/>
          <p:nvPr/>
        </p:nvSpPr>
        <p:spPr>
          <a:xfrm>
            <a:off x="640080" y="434340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PPE — Gloves minimum; sterile gloves for wet cupping</a:t>
            </a:r>
          </a:p>
        </p:txBody>
      </p:sp>
      <p:sp>
        <p:nvSpPr>
          <p:cNvPr id="13" name="TextBox 12"/>
          <p:cNvSpPr txBox="1"/>
          <p:nvPr/>
        </p:nvSpPr>
        <p:spPr>
          <a:xfrm>
            <a:off x="640080" y="466344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Sterile Technique — Critical items single-use; semi-critical items high-level disinfection</a:t>
            </a:r>
          </a:p>
        </p:txBody>
      </p:sp>
      <p:sp>
        <p:nvSpPr>
          <p:cNvPr id="14" name="TextBox 13"/>
          <p:cNvSpPr txBox="1"/>
          <p:nvPr/>
        </p:nvSpPr>
        <p:spPr>
          <a:xfrm>
            <a:off x="640080" y="498348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Environmental Cleaning — Between patients, daily, weekly deep clean</a:t>
            </a:r>
          </a:p>
        </p:txBody>
      </p:sp>
      <p:sp>
        <p:nvSpPr>
          <p:cNvPr id="15" name="TextBox 14"/>
          <p:cNvSpPr txBox="1"/>
          <p:nvPr/>
        </p:nvSpPr>
        <p:spPr>
          <a:xfrm>
            <a:off x="640080" y="530352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Waste Management — Segregated, labelled, licensed disposal. Sharps in rigid containers</a:t>
            </a:r>
          </a:p>
        </p:txBody>
      </p:sp>
      <p:sp>
        <p:nvSpPr>
          <p:cNvPr id="16" name="TextBox 15"/>
          <p:cNvSpPr txBox="1"/>
          <p:nvPr/>
        </p:nvSpPr>
        <p:spPr>
          <a:xfrm>
            <a:off x="640080" y="5623560"/>
            <a:ext cx="10515600" cy="32004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Documentation — Record all infection control measures in patient record and clinic log</a:t>
            </a:r>
          </a:p>
        </p:txBody>
      </p:sp>
      <p:sp>
        <p:nvSpPr>
          <p:cNvPr id="17" name="TextBox 1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6 | Infection Prevention</a:t>
            </a:r>
          </a:p>
        </p:txBody>
      </p:sp>
      <p:sp>
        <p:nvSpPr>
          <p:cNvPr id="18" name="TextBox 17"/>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Sterilisation Parameters by Item Category</a:t>
            </a:r>
          </a:p>
        </p:txBody>
      </p:sp>
      <p:graphicFrame>
        <p:nvGraphicFramePr>
          <p:cNvPr id="5" name="Table 4"/>
          <p:cNvGraphicFramePr>
            <a:graphicFrameLocks noGrp="1"/>
          </p:cNvGraphicFramePr>
          <p:nvPr/>
        </p:nvGraphicFramePr>
        <p:xfrm>
          <a:off x="457200" y="1554480"/>
          <a:ext cx="11277292" cy="2194560"/>
        </p:xfrm>
        <a:graphic>
          <a:graphicData uri="http://schemas.openxmlformats.org/drawingml/2006/table">
            <a:tbl>
              <a:tblPr firstRow="1" bandRow="1">
                <a:tableStyleId>{5C22544A-7EE6-4342-B048-85BDC9FD1C3A}</a:tableStyleId>
              </a:tblPr>
              <a:tblGrid>
                <a:gridCol w="2819323"/>
                <a:gridCol w="2819323"/>
                <a:gridCol w="2819323"/>
                <a:gridCol w="2819323"/>
              </a:tblGrid>
              <a:tr h="365760">
                <a:tc>
                  <a:txBody>
                    <a:bodyPr/>
                    <a:lstStyle/>
                    <a:p>
                      <a:pPr algn="l">
                        <a:defRPr sz="1000" b="1">
                          <a:solidFill>
                            <a:srgbClr val="FAF7F2"/>
                          </a:solidFill>
                          <a:latin typeface="Calibri"/>
                        </a:defRPr>
                      </a:pPr>
                      <a:r>
                        <a:t>Item Category</a:t>
                      </a:r>
                    </a:p>
                  </a:txBody>
                  <a:tcPr anchor="ctr">
                    <a:solidFill>
                      <a:srgbClr val="003F5C"/>
                    </a:solidFill>
                  </a:tcPr>
                </a:tc>
                <a:tc>
                  <a:txBody>
                    <a:bodyPr/>
                    <a:lstStyle/>
                    <a:p>
                      <a:pPr algn="l">
                        <a:defRPr sz="1000" b="1">
                          <a:solidFill>
                            <a:srgbClr val="FAF7F2"/>
                          </a:solidFill>
                          <a:latin typeface="Calibri"/>
                        </a:defRPr>
                      </a:pPr>
                      <a:r>
                        <a:t>Classification</a:t>
                      </a:r>
                    </a:p>
                  </a:txBody>
                  <a:tcPr anchor="ctr">
                    <a:solidFill>
                      <a:srgbClr val="003F5C"/>
                    </a:solidFill>
                  </a:tcPr>
                </a:tc>
                <a:tc>
                  <a:txBody>
                    <a:bodyPr/>
                    <a:lstStyle/>
                    <a:p>
                      <a:pPr algn="l">
                        <a:defRPr sz="1000" b="1">
                          <a:solidFill>
                            <a:srgbClr val="FAF7F2"/>
                          </a:solidFill>
                          <a:latin typeface="Calibri"/>
                        </a:defRPr>
                      </a:pPr>
                      <a:r>
                        <a:t>Required Process</a:t>
                      </a:r>
                    </a:p>
                  </a:txBody>
                  <a:tcPr anchor="ctr">
                    <a:solidFill>
                      <a:srgbClr val="003F5C"/>
                    </a:solidFill>
                  </a:tcPr>
                </a:tc>
                <a:tc>
                  <a:txBody>
                    <a:bodyPr/>
                    <a:lstStyle/>
                    <a:p>
                      <a:pPr algn="l">
                        <a:defRPr sz="1000" b="1">
                          <a:solidFill>
                            <a:srgbClr val="FAF7F2"/>
                          </a:solidFill>
                          <a:latin typeface="Calibri"/>
                        </a:defRPr>
                      </a:pPr>
                      <a:r>
                        <a:t>Frequency</a:t>
                      </a:r>
                    </a:p>
                  </a:txBody>
                  <a:tcPr anchor="ctr">
                    <a:solidFill>
                      <a:srgbClr val="003F5C"/>
                    </a:solidFill>
                  </a:tcPr>
                </a:tc>
              </a:tr>
              <a:tr h="365760">
                <a:tc>
                  <a:txBody>
                    <a:bodyPr/>
                    <a:lstStyle/>
                    <a:p>
                      <a:pPr algn="l">
                        <a:defRPr sz="1000">
                          <a:solidFill>
                            <a:srgbClr val="1A1A1A"/>
                          </a:solidFill>
                          <a:latin typeface="Calibri"/>
                        </a:defRPr>
                      </a:pPr>
                      <a:r>
                        <a:t>Lancets, needles</a:t>
                      </a:r>
                    </a:p>
                  </a:txBody>
                  <a:tcPr anchor="ctr"/>
                </a:tc>
                <a:tc>
                  <a:txBody>
                    <a:bodyPr/>
                    <a:lstStyle/>
                    <a:p>
                      <a:pPr algn="l">
                        <a:defRPr sz="1000">
                          <a:solidFill>
                            <a:srgbClr val="1A1A1A"/>
                          </a:solidFill>
                          <a:latin typeface="Calibri"/>
                        </a:defRPr>
                      </a:pPr>
                      <a:r>
                        <a:t>Critical</a:t>
                      </a:r>
                    </a:p>
                  </a:txBody>
                  <a:tcPr anchor="ctr"/>
                </a:tc>
                <a:tc>
                  <a:txBody>
                    <a:bodyPr/>
                    <a:lstStyle/>
                    <a:p>
                      <a:pPr algn="l">
                        <a:defRPr sz="1000">
                          <a:solidFill>
                            <a:srgbClr val="1A1A1A"/>
                          </a:solidFill>
                          <a:latin typeface="Calibri"/>
                        </a:defRPr>
                      </a:pPr>
                      <a:r>
                        <a:t>Single-use disposable; never reprocess</a:t>
                      </a:r>
                    </a:p>
                  </a:txBody>
                  <a:tcPr anchor="ctr"/>
                </a:tc>
                <a:tc>
                  <a:txBody>
                    <a:bodyPr/>
                    <a:lstStyle/>
                    <a:p>
                      <a:pPr algn="l">
                        <a:defRPr sz="1000">
                          <a:solidFill>
                            <a:srgbClr val="1A1A1A"/>
                          </a:solidFill>
                          <a:latin typeface="Calibri"/>
                        </a:defRPr>
                      </a:pPr>
                      <a:r>
                        <a:t>Per patient</a:t>
                      </a:r>
                    </a:p>
                  </a:txBody>
                  <a:tcPr anchor="ctr"/>
                </a:tc>
              </a:tr>
              <a:tr h="365760">
                <a:tc>
                  <a:txBody>
                    <a:bodyPr/>
                    <a:lstStyle/>
                    <a:p>
                      <a:pPr algn="l">
                        <a:defRPr sz="1000">
                          <a:solidFill>
                            <a:srgbClr val="1A1A1A"/>
                          </a:solidFill>
                          <a:latin typeface="Calibri"/>
                        </a:defRPr>
                      </a:pPr>
                      <a:r>
                        <a:t>Cups (glass/metal)</a:t>
                      </a:r>
                    </a:p>
                  </a:txBody>
                  <a:tcPr anchor="ctr">
                    <a:solidFill>
                      <a:srgbClr val="F5F2EB"/>
                    </a:solidFill>
                  </a:tcPr>
                </a:tc>
                <a:tc>
                  <a:txBody>
                    <a:bodyPr/>
                    <a:lstStyle/>
                    <a:p>
                      <a:pPr algn="l">
                        <a:defRPr sz="1000">
                          <a:solidFill>
                            <a:srgbClr val="1A1A1A"/>
                          </a:solidFill>
                          <a:latin typeface="Calibri"/>
                        </a:defRPr>
                      </a:pPr>
                      <a:r>
                        <a:t>Semi-critical</a:t>
                      </a:r>
                    </a:p>
                  </a:txBody>
                  <a:tcPr anchor="ctr">
                    <a:solidFill>
                      <a:srgbClr val="F5F2EB"/>
                    </a:solidFill>
                  </a:tcPr>
                </a:tc>
                <a:tc>
                  <a:txBody>
                    <a:bodyPr/>
                    <a:lstStyle/>
                    <a:p>
                      <a:pPr algn="l">
                        <a:defRPr sz="1000">
                          <a:solidFill>
                            <a:srgbClr val="1A1A1A"/>
                          </a:solidFill>
                          <a:latin typeface="Calibri"/>
                        </a:defRPr>
                      </a:pPr>
                      <a:r>
                        <a:t>High-level disinfection or sterilisation (autoclave)</a:t>
                      </a:r>
                    </a:p>
                  </a:txBody>
                  <a:tcPr anchor="ctr">
                    <a:solidFill>
                      <a:srgbClr val="F5F2EB"/>
                    </a:solidFill>
                  </a:tcPr>
                </a:tc>
                <a:tc>
                  <a:txBody>
                    <a:bodyPr/>
                    <a:lstStyle/>
                    <a:p>
                      <a:pPr algn="l">
                        <a:defRPr sz="1000">
                          <a:solidFill>
                            <a:srgbClr val="1A1A1A"/>
                          </a:solidFill>
                          <a:latin typeface="Calibri"/>
                        </a:defRPr>
                      </a:pPr>
                      <a:r>
                        <a:t>After each use</a:t>
                      </a:r>
                    </a:p>
                  </a:txBody>
                  <a:tcPr anchor="ctr">
                    <a:solidFill>
                      <a:srgbClr val="F5F2EB"/>
                    </a:solidFill>
                  </a:tcPr>
                </a:tc>
              </a:tr>
              <a:tr h="365760">
                <a:tc>
                  <a:txBody>
                    <a:bodyPr/>
                    <a:lstStyle/>
                    <a:p>
                      <a:pPr algn="l">
                        <a:defRPr sz="1000">
                          <a:solidFill>
                            <a:srgbClr val="1A1A1A"/>
                          </a:solidFill>
                          <a:latin typeface="Calibri"/>
                        </a:defRPr>
                      </a:pPr>
                      <a:r>
                        <a:t>Pump, tubing</a:t>
                      </a:r>
                    </a:p>
                  </a:txBody>
                  <a:tcPr anchor="ctr"/>
                </a:tc>
                <a:tc>
                  <a:txBody>
                    <a:bodyPr/>
                    <a:lstStyle/>
                    <a:p>
                      <a:pPr algn="l">
                        <a:defRPr sz="1000">
                          <a:solidFill>
                            <a:srgbClr val="1A1A1A"/>
                          </a:solidFill>
                          <a:latin typeface="Calibri"/>
                        </a:defRPr>
                      </a:pPr>
                      <a:r>
                        <a:t>Semi-critical</a:t>
                      </a:r>
                    </a:p>
                  </a:txBody>
                  <a:tcPr anchor="ctr"/>
                </a:tc>
                <a:tc>
                  <a:txBody>
                    <a:bodyPr/>
                    <a:lstStyle/>
                    <a:p>
                      <a:pPr algn="l">
                        <a:defRPr sz="1000">
                          <a:solidFill>
                            <a:srgbClr val="1A1A1A"/>
                          </a:solidFill>
                          <a:latin typeface="Calibri"/>
                        </a:defRPr>
                      </a:pPr>
                      <a:r>
                        <a:t>High-level disinfection</a:t>
                      </a:r>
                    </a:p>
                  </a:txBody>
                  <a:tcPr anchor="ctr"/>
                </a:tc>
                <a:tc>
                  <a:txBody>
                    <a:bodyPr/>
                    <a:lstStyle/>
                    <a:p>
                      <a:pPr algn="l">
                        <a:defRPr sz="1000">
                          <a:solidFill>
                            <a:srgbClr val="1A1A1A"/>
                          </a:solidFill>
                          <a:latin typeface="Calibri"/>
                        </a:defRPr>
                      </a:pPr>
                      <a:r>
                        <a:t>After each use</a:t>
                      </a:r>
                    </a:p>
                  </a:txBody>
                  <a:tcPr anchor="ctr"/>
                </a:tc>
              </a:tr>
              <a:tr h="365760">
                <a:tc>
                  <a:txBody>
                    <a:bodyPr/>
                    <a:lstStyle/>
                    <a:p>
                      <a:pPr algn="l">
                        <a:defRPr sz="1000">
                          <a:solidFill>
                            <a:srgbClr val="1A1A1A"/>
                          </a:solidFill>
                          <a:latin typeface="Calibri"/>
                        </a:defRPr>
                      </a:pPr>
                      <a:r>
                        <a:t>Treatment surface</a:t>
                      </a:r>
                    </a:p>
                  </a:txBody>
                  <a:tcPr anchor="ctr">
                    <a:solidFill>
                      <a:srgbClr val="F5F2EB"/>
                    </a:solidFill>
                  </a:tcPr>
                </a:tc>
                <a:tc>
                  <a:txBody>
                    <a:bodyPr/>
                    <a:lstStyle/>
                    <a:p>
                      <a:pPr algn="l">
                        <a:defRPr sz="1000">
                          <a:solidFill>
                            <a:srgbClr val="1A1A1A"/>
                          </a:solidFill>
                          <a:latin typeface="Calibri"/>
                        </a:defRPr>
                      </a:pPr>
                      <a:r>
                        <a:t>Non-critical</a:t>
                      </a:r>
                    </a:p>
                  </a:txBody>
                  <a:tcPr anchor="ctr">
                    <a:solidFill>
                      <a:srgbClr val="F5F2EB"/>
                    </a:solidFill>
                  </a:tcPr>
                </a:tc>
                <a:tc>
                  <a:txBody>
                    <a:bodyPr/>
                    <a:lstStyle/>
                    <a:p>
                      <a:pPr algn="l">
                        <a:defRPr sz="1000">
                          <a:solidFill>
                            <a:srgbClr val="1A1A1A"/>
                          </a:solidFill>
                          <a:latin typeface="Calibri"/>
                        </a:defRPr>
                      </a:pPr>
                      <a:r>
                        <a:t>Intermediate-level disinfection</a:t>
                      </a:r>
                    </a:p>
                  </a:txBody>
                  <a:tcPr anchor="ctr">
                    <a:solidFill>
                      <a:srgbClr val="F5F2EB"/>
                    </a:solidFill>
                  </a:tcPr>
                </a:tc>
                <a:tc>
                  <a:txBody>
                    <a:bodyPr/>
                    <a:lstStyle/>
                    <a:p>
                      <a:pPr algn="l">
                        <a:defRPr sz="1000">
                          <a:solidFill>
                            <a:srgbClr val="1A1A1A"/>
                          </a:solidFill>
                          <a:latin typeface="Calibri"/>
                        </a:defRPr>
                      </a:pPr>
                      <a:r>
                        <a:t>Between patients</a:t>
                      </a:r>
                    </a:p>
                  </a:txBody>
                  <a:tcPr anchor="ctr">
                    <a:solidFill>
                      <a:srgbClr val="F5F2EB"/>
                    </a:solidFill>
                  </a:tcPr>
                </a:tc>
              </a:tr>
              <a:tr h="365760">
                <a:tc>
                  <a:txBody>
                    <a:bodyPr/>
                    <a:lstStyle/>
                    <a:p>
                      <a:pPr algn="l">
                        <a:defRPr sz="1000">
                          <a:solidFill>
                            <a:srgbClr val="1A1A1A"/>
                          </a:solidFill>
                          <a:latin typeface="Calibri"/>
                        </a:defRPr>
                      </a:pPr>
                      <a:r>
                        <a:t>Environmental surfaces</a:t>
                      </a:r>
                    </a:p>
                  </a:txBody>
                  <a:tcPr anchor="ctr"/>
                </a:tc>
                <a:tc>
                  <a:txBody>
                    <a:bodyPr/>
                    <a:lstStyle/>
                    <a:p>
                      <a:pPr algn="l">
                        <a:defRPr sz="1000">
                          <a:solidFill>
                            <a:srgbClr val="1A1A1A"/>
                          </a:solidFill>
                          <a:latin typeface="Calibri"/>
                        </a:defRPr>
                      </a:pPr>
                      <a:r>
                        <a:t>Non-critical</a:t>
                      </a:r>
                    </a:p>
                  </a:txBody>
                  <a:tcPr anchor="ctr"/>
                </a:tc>
                <a:tc>
                  <a:txBody>
                    <a:bodyPr/>
                    <a:lstStyle/>
                    <a:p>
                      <a:pPr algn="l">
                        <a:defRPr sz="1000">
                          <a:solidFill>
                            <a:srgbClr val="1A1A1A"/>
                          </a:solidFill>
                          <a:latin typeface="Calibri"/>
                        </a:defRPr>
                      </a:pPr>
                      <a:r>
                        <a:t>Low-level disinfection</a:t>
                      </a:r>
                    </a:p>
                  </a:txBody>
                  <a:tcPr anchor="ctr"/>
                </a:tc>
                <a:tc>
                  <a:txBody>
                    <a:bodyPr/>
                    <a:lstStyle/>
                    <a:p>
                      <a:pPr algn="l">
                        <a:defRPr sz="1000">
                          <a:solidFill>
                            <a:srgbClr val="1A1A1A"/>
                          </a:solidFill>
                          <a:latin typeface="Calibri"/>
                        </a:defRPr>
                      </a:pPr>
                      <a:r>
                        <a:t>Daily</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6.1 — Sterilisation Parameters. All semi-critical items must be reprocessed according to manufacturer instructions and validated with biological indicators.</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6 | Infection Prevention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07</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Informed Consent</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Sacred Conversation</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7 | pp. 44–53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7.1 Elements of Academy Informed Consent</a:t>
            </a:r>
          </a:p>
        </p:txBody>
      </p:sp>
      <p:graphicFrame>
        <p:nvGraphicFramePr>
          <p:cNvPr id="5" name="Table 4"/>
          <p:cNvGraphicFramePr>
            <a:graphicFrameLocks noGrp="1"/>
          </p:cNvGraphicFramePr>
          <p:nvPr/>
        </p:nvGraphicFramePr>
        <p:xfrm>
          <a:off x="457200" y="1554480"/>
          <a:ext cx="11277294" cy="3291840"/>
        </p:xfrm>
        <a:graphic>
          <a:graphicData uri="http://schemas.openxmlformats.org/drawingml/2006/table">
            <a:tbl>
              <a:tblPr firstRow="1" bandRow="1">
                <a:tableStyleId>{5C22544A-7EE6-4342-B048-85BDC9FD1C3A}</a:tableStyleId>
              </a:tblPr>
              <a:tblGrid>
                <a:gridCol w="5638647"/>
                <a:gridCol w="5638647"/>
              </a:tblGrid>
              <a:tr h="365760">
                <a:tc>
                  <a:txBody>
                    <a:bodyPr/>
                    <a:lstStyle/>
                    <a:p>
                      <a:pPr algn="l">
                        <a:defRPr sz="1000" b="1">
                          <a:solidFill>
                            <a:srgbClr val="FAF7F2"/>
                          </a:solidFill>
                          <a:latin typeface="Calibri"/>
                        </a:defRPr>
                      </a:pPr>
                      <a:r>
                        <a:t>Element</a:t>
                      </a:r>
                    </a:p>
                  </a:txBody>
                  <a:tcPr anchor="ctr">
                    <a:solidFill>
                      <a:srgbClr val="003F5C"/>
                    </a:solidFill>
                  </a:tcPr>
                </a:tc>
                <a:tc>
                  <a:txBody>
                    <a:bodyPr/>
                    <a:lstStyle/>
                    <a:p>
                      <a:pPr algn="l">
                        <a:defRPr sz="1000" b="1">
                          <a:solidFill>
                            <a:srgbClr val="FAF7F2"/>
                          </a:solidFill>
                          <a:latin typeface="Calibri"/>
                        </a:defRPr>
                      </a:pPr>
                      <a:r>
                        <a:t>Description</a:t>
                      </a:r>
                    </a:p>
                  </a:txBody>
                  <a:tcPr anchor="ctr">
                    <a:solidFill>
                      <a:srgbClr val="003F5C"/>
                    </a:solidFill>
                  </a:tcPr>
                </a:tc>
              </a:tr>
              <a:tr h="365760">
                <a:tc>
                  <a:txBody>
                    <a:bodyPr/>
                    <a:lstStyle/>
                    <a:p>
                      <a:pPr algn="l">
                        <a:defRPr sz="1000">
                          <a:solidFill>
                            <a:srgbClr val="1A1A1A"/>
                          </a:solidFill>
                          <a:latin typeface="Calibri"/>
                        </a:defRPr>
                      </a:pPr>
                      <a:r>
                        <a:t>1. Nature of Procedure</a:t>
                      </a:r>
                    </a:p>
                  </a:txBody>
                  <a:tcPr anchor="ctr"/>
                </a:tc>
                <a:tc>
                  <a:txBody>
                    <a:bodyPr/>
                    <a:lstStyle/>
                    <a:p>
                      <a:pPr algn="l">
                        <a:defRPr sz="1000">
                          <a:solidFill>
                            <a:srgbClr val="1A1A1A"/>
                          </a:solidFill>
                          <a:latin typeface="Calibri"/>
                        </a:defRPr>
                      </a:pPr>
                      <a:r>
                        <a:t>Explanation of what Hijama involves, including wet vs. dry cupping</a:t>
                      </a:r>
                    </a:p>
                  </a:txBody>
                  <a:tcPr anchor="ctr"/>
                </a:tc>
              </a:tr>
              <a:tr h="365760">
                <a:tc>
                  <a:txBody>
                    <a:bodyPr/>
                    <a:lstStyle/>
                    <a:p>
                      <a:pPr algn="l">
                        <a:defRPr sz="1000">
                          <a:solidFill>
                            <a:srgbClr val="1A1A1A"/>
                          </a:solidFill>
                          <a:latin typeface="Calibri"/>
                        </a:defRPr>
                      </a:pPr>
                      <a:r>
                        <a:t>2. Purpose/Benefits</a:t>
                      </a:r>
                    </a:p>
                  </a:txBody>
                  <a:tcPr anchor="ctr">
                    <a:solidFill>
                      <a:srgbClr val="F5F2EB"/>
                    </a:solidFill>
                  </a:tcPr>
                </a:tc>
                <a:tc>
                  <a:txBody>
                    <a:bodyPr/>
                    <a:lstStyle/>
                    <a:p>
                      <a:pPr algn="l">
                        <a:defRPr sz="1000">
                          <a:solidFill>
                            <a:srgbClr val="1A1A1A"/>
                          </a:solidFill>
                          <a:latin typeface="Calibri"/>
                        </a:defRPr>
                      </a:pPr>
                      <a:r>
                        <a:t>Expected outcomes based on evidence and Sunnah foundation</a:t>
                      </a:r>
                    </a:p>
                  </a:txBody>
                  <a:tcPr anchor="ctr">
                    <a:solidFill>
                      <a:srgbClr val="F5F2EB"/>
                    </a:solidFill>
                  </a:tcPr>
                </a:tc>
              </a:tr>
              <a:tr h="365760">
                <a:tc>
                  <a:txBody>
                    <a:bodyPr/>
                    <a:lstStyle/>
                    <a:p>
                      <a:pPr algn="l">
                        <a:defRPr sz="1000">
                          <a:solidFill>
                            <a:srgbClr val="1A1A1A"/>
                          </a:solidFill>
                          <a:latin typeface="Calibri"/>
                        </a:defRPr>
                      </a:pPr>
                      <a:r>
                        <a:t>3. Risks &amp; Side Effects</a:t>
                      </a:r>
                    </a:p>
                  </a:txBody>
                  <a:tcPr anchor="ctr"/>
                </a:tc>
                <a:tc>
                  <a:txBody>
                    <a:bodyPr/>
                    <a:lstStyle/>
                    <a:p>
                      <a:pPr algn="l">
                        <a:defRPr sz="1000">
                          <a:solidFill>
                            <a:srgbClr val="1A1A1A"/>
                          </a:solidFill>
                          <a:latin typeface="Calibri"/>
                        </a:defRPr>
                      </a:pPr>
                      <a:r>
                        <a:t>Bruising, scarring, infection, dizziness, bleeding. Honest disclosure of all risks.</a:t>
                      </a:r>
                    </a:p>
                  </a:txBody>
                  <a:tcPr anchor="ctr"/>
                </a:tc>
              </a:tr>
              <a:tr h="365760">
                <a:tc>
                  <a:txBody>
                    <a:bodyPr/>
                    <a:lstStyle/>
                    <a:p>
                      <a:pPr algn="l">
                        <a:defRPr sz="1000">
                          <a:solidFill>
                            <a:srgbClr val="1A1A1A"/>
                          </a:solidFill>
                          <a:latin typeface="Calibri"/>
                        </a:defRPr>
                      </a:pPr>
                      <a:r>
                        <a:t>4. Alternatives</a:t>
                      </a:r>
                    </a:p>
                  </a:txBody>
                  <a:tcPr anchor="ctr">
                    <a:solidFill>
                      <a:srgbClr val="F5F2EB"/>
                    </a:solidFill>
                  </a:tcPr>
                </a:tc>
                <a:tc>
                  <a:txBody>
                    <a:bodyPr/>
                    <a:lstStyle/>
                    <a:p>
                      <a:pPr algn="l">
                        <a:defRPr sz="1000">
                          <a:solidFill>
                            <a:srgbClr val="1A1A1A"/>
                          </a:solidFill>
                          <a:latin typeface="Calibri"/>
                        </a:defRPr>
                      </a:pPr>
                      <a:r>
                        <a:t>Other treatments available, including conventional medical options</a:t>
                      </a:r>
                    </a:p>
                  </a:txBody>
                  <a:tcPr anchor="ctr">
                    <a:solidFill>
                      <a:srgbClr val="F5F2EB"/>
                    </a:solidFill>
                  </a:tcPr>
                </a:tc>
              </a:tr>
              <a:tr h="365760">
                <a:tc>
                  <a:txBody>
                    <a:bodyPr/>
                    <a:lstStyle/>
                    <a:p>
                      <a:pPr algn="l">
                        <a:defRPr sz="1000">
                          <a:solidFill>
                            <a:srgbClr val="1A1A1A"/>
                          </a:solidFill>
                          <a:latin typeface="Calibri"/>
                        </a:defRPr>
                      </a:pPr>
                      <a:r>
                        <a:t>5. Practitioner Qualifications</a:t>
                      </a:r>
                    </a:p>
                  </a:txBody>
                  <a:tcPr anchor="ctr"/>
                </a:tc>
                <a:tc>
                  <a:txBody>
                    <a:bodyPr/>
                    <a:lstStyle/>
                    <a:p>
                      <a:pPr algn="l">
                        <a:defRPr sz="1000">
                          <a:solidFill>
                            <a:srgbClr val="1A1A1A"/>
                          </a:solidFill>
                          <a:latin typeface="Calibri"/>
                        </a:defRPr>
                      </a:pPr>
                      <a:r>
                        <a:t>CHP certification status, training background, scope of practice</a:t>
                      </a:r>
                    </a:p>
                  </a:txBody>
                  <a:tcPr anchor="ctr"/>
                </a:tc>
              </a:tr>
              <a:tr h="365760">
                <a:tc>
                  <a:txBody>
                    <a:bodyPr/>
                    <a:lstStyle/>
                    <a:p>
                      <a:pPr algn="l">
                        <a:defRPr sz="1000">
                          <a:solidFill>
                            <a:srgbClr val="1A1A1A"/>
                          </a:solidFill>
                          <a:latin typeface="Calibri"/>
                        </a:defRPr>
                      </a:pPr>
                      <a:r>
                        <a:t>6. Right to Refuse</a:t>
                      </a:r>
                    </a:p>
                  </a:txBody>
                  <a:tcPr anchor="ctr">
                    <a:solidFill>
                      <a:srgbClr val="F5F2EB"/>
                    </a:solidFill>
                  </a:tcPr>
                </a:tc>
                <a:tc>
                  <a:txBody>
                    <a:bodyPr/>
                    <a:lstStyle/>
                    <a:p>
                      <a:pPr algn="l">
                        <a:defRPr sz="1000">
                          <a:solidFill>
                            <a:srgbClr val="1A1A1A"/>
                          </a:solidFill>
                          <a:latin typeface="Calibri"/>
                        </a:defRPr>
                      </a:pPr>
                      <a:r>
                        <a:t>Patient may withdraw consent at any time without penalty</a:t>
                      </a:r>
                    </a:p>
                  </a:txBody>
                  <a:tcPr anchor="ctr">
                    <a:solidFill>
                      <a:srgbClr val="F5F2EB"/>
                    </a:solidFill>
                  </a:tcPr>
                </a:tc>
              </a:tr>
              <a:tr h="365760">
                <a:tc>
                  <a:txBody>
                    <a:bodyPr/>
                    <a:lstStyle/>
                    <a:p>
                      <a:pPr algn="l">
                        <a:defRPr sz="1000">
                          <a:solidFill>
                            <a:srgbClr val="1A1A1A"/>
                          </a:solidFill>
                          <a:latin typeface="Calibri"/>
                        </a:defRPr>
                      </a:pPr>
                      <a:r>
                        <a:t>7. Confidentiality</a:t>
                      </a:r>
                    </a:p>
                  </a:txBody>
                  <a:tcPr anchor="ctr"/>
                </a:tc>
                <a:tc>
                  <a:txBody>
                    <a:bodyPr/>
                    <a:lstStyle/>
                    <a:p>
                      <a:pPr algn="l">
                        <a:defRPr sz="1000">
                          <a:solidFill>
                            <a:srgbClr val="1A1A1A"/>
                          </a:solidFill>
                          <a:latin typeface="Calibri"/>
                        </a:defRPr>
                      </a:pPr>
                      <a:r>
                        <a:t>How records are stored, who has access, data protection compliance</a:t>
                      </a:r>
                    </a:p>
                  </a:txBody>
                  <a:tcPr anchor="ctr"/>
                </a:tc>
              </a:tr>
              <a:tr h="365760">
                <a:tc>
                  <a:txBody>
                    <a:bodyPr/>
                    <a:lstStyle/>
                    <a:p>
                      <a:pPr algn="l">
                        <a:defRPr sz="1000">
                          <a:solidFill>
                            <a:srgbClr val="1A1A1A"/>
                          </a:solidFill>
                          <a:latin typeface="Calibri"/>
                        </a:defRPr>
                      </a:pPr>
                      <a:r>
                        <a:t>8. Questions &amp; Clarification</a:t>
                      </a:r>
                    </a:p>
                  </a:txBody>
                  <a:tcPr anchor="ctr">
                    <a:solidFill>
                      <a:srgbClr val="F5F2EB"/>
                    </a:solidFill>
                  </a:tcPr>
                </a:tc>
                <a:tc>
                  <a:txBody>
                    <a:bodyPr/>
                    <a:lstStyle/>
                    <a:p>
                      <a:pPr algn="l">
                        <a:defRPr sz="1000">
                          <a:solidFill>
                            <a:srgbClr val="1A1A1A"/>
                          </a:solidFill>
                          <a:latin typeface="Calibri"/>
                        </a:defRPr>
                      </a:pPr>
                      <a:r>
                        <a:t>Opportunity for patient to ask questions and receive answers</a:t>
                      </a:r>
                    </a:p>
                  </a:txBody>
                  <a:tcPr anchor="ctr">
                    <a:solidFill>
                      <a:srgbClr val="F5F2EB"/>
                    </a:solidFill>
                  </a:tcPr>
                </a:tc>
              </a:tr>
            </a:tbl>
          </a:graphicData>
        </a:graphic>
      </p:graphicFrame>
      <p:sp>
        <p:nvSpPr>
          <p:cNvPr id="6" name="TextBox 5"/>
          <p:cNvSpPr txBox="1"/>
          <p:nvPr/>
        </p:nvSpPr>
        <p:spPr>
          <a:xfrm>
            <a:off x="457200" y="493776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7.1 — The eight elements of Academy Informed Consent. Consent is a process, not a signature.</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7 | Informed Consent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Consent: Process, Not Paper</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09728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E2725B"/>
                </a:solidFill>
                <a:latin typeface="Calibri"/>
              </a:defRPr>
            </a:pPr>
            <a:r>
              <a:t>WARNING</a:t>
            </a:r>
          </a:p>
        </p:txBody>
      </p:sp>
      <p:sp>
        <p:nvSpPr>
          <p:cNvPr id="7" name="TextBox 6"/>
          <p:cNvSpPr txBox="1"/>
          <p:nvPr/>
        </p:nvSpPr>
        <p:spPr>
          <a:xfrm>
            <a:off x="594360" y="164592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Consent is not a form. It is a conversation. The signature on the paper is evidence that the conversation took place. It is not a substitute for the conversation. A patient who signs without understanding has not given consent. They have given a signature.</a:t>
            </a:r>
          </a:p>
        </p:txBody>
      </p:sp>
      <p:sp>
        <p:nvSpPr>
          <p:cNvPr id="8" name="Rectangle 7"/>
          <p:cNvSpPr/>
          <p:nvPr/>
        </p:nvSpPr>
        <p:spPr>
          <a:xfrm>
            <a:off x="457200" y="2560320"/>
            <a:ext cx="11277295" cy="1371600"/>
          </a:xfrm>
          <a:prstGeom prst="rect">
            <a:avLst/>
          </a:prstGeom>
          <a:solidFill>
            <a:srgbClr val="F5F2EB"/>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51760"/>
            <a:ext cx="11002975" cy="365760"/>
          </a:xfrm>
          <a:prstGeom prst="rect">
            <a:avLst/>
          </a:prstGeom>
          <a:noFill/>
        </p:spPr>
        <p:txBody>
          <a:bodyPr wrap="none">
            <a:spAutoFit/>
          </a:bodyPr>
          <a:lstStyle/>
          <a:p>
            <a:pPr algn="l">
              <a:defRPr sz="1000" b="1">
                <a:solidFill>
                  <a:srgbClr val="B8860B"/>
                </a:solidFill>
                <a:latin typeface="Calibri"/>
              </a:defRPr>
            </a:pPr>
            <a:r>
              <a:t>ISLAMIC INSIGHT</a:t>
            </a:r>
          </a:p>
        </p:txBody>
      </p:sp>
      <p:sp>
        <p:nvSpPr>
          <p:cNvPr id="10" name="TextBox 9"/>
          <p:cNvSpPr txBox="1"/>
          <p:nvPr/>
        </p:nvSpPr>
        <p:spPr>
          <a:xfrm>
            <a:off x="594360" y="2926080"/>
            <a:ext cx="11002975" cy="914400"/>
          </a:xfrm>
          <a:prstGeom prst="rect">
            <a:avLst/>
          </a:prstGeom>
          <a:noFill/>
        </p:spPr>
        <p:txBody>
          <a:bodyPr wrap="square">
            <a:spAutoFit/>
          </a:bodyPr>
          <a:lstStyle/>
          <a:p>
            <a:pPr algn="l">
              <a:lnSpc>
                <a:spcPct val="115000"/>
              </a:lnSpc>
              <a:defRPr sz="1000">
                <a:solidFill>
                  <a:srgbClr val="1A1A1A"/>
                </a:solidFill>
                <a:latin typeface="Calibri"/>
              </a:defRPr>
            </a:pPr>
            <a:r>
              <a:t>لَا ضَرَرَ وَلَا ضِرَارَ</a:t>
            </a:r>
            <a:br/>
            <a:br/>
            <a:r>
              <a:t>'There should be no harm nor reciprocal harm.'</a:t>
            </a:r>
            <a:br/>
            <a:r>
              <a:t>— Ibn Majah</a:t>
            </a:r>
            <a:br/>
            <a:br/>
            <a:r>
              <a:t>Informed consent is the practical application of this hadith. To treat without informing the patient of risks is to risk harm without their knowledge. To obtain informed consent is to honour their autonomy and their dignity as a creation of Allah.</a:t>
            </a:r>
          </a:p>
        </p:txBody>
      </p:sp>
      <p:sp>
        <p:nvSpPr>
          <p:cNvPr id="11" name="TextBox 10"/>
          <p:cNvSpPr txBox="1"/>
          <p:nvPr/>
        </p:nvSpPr>
        <p:spPr>
          <a:xfrm>
            <a:off x="457200" y="411480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Consent requirements by patient type:</a:t>
            </a:r>
          </a:p>
        </p:txBody>
      </p:sp>
      <p:sp>
        <p:nvSpPr>
          <p:cNvPr id="12" name="TextBox 11"/>
          <p:cNvSpPr txBox="1"/>
          <p:nvPr/>
        </p:nvSpPr>
        <p:spPr>
          <a:xfrm>
            <a:off x="640080" y="44348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Adult (18+): Written consent required. Capacity assessment if indicated.</a:t>
            </a:r>
          </a:p>
        </p:txBody>
      </p:sp>
      <p:sp>
        <p:nvSpPr>
          <p:cNvPr id="13" name="TextBox 12"/>
          <p:cNvSpPr txBox="1"/>
          <p:nvPr/>
        </p:nvSpPr>
        <p:spPr>
          <a:xfrm>
            <a:off x="640080" y="47091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Minor (16–18): Guardian consent + minor assent. Chaperone required.</a:t>
            </a:r>
          </a:p>
        </p:txBody>
      </p:sp>
      <p:sp>
        <p:nvSpPr>
          <p:cNvPr id="14" name="TextBox 13"/>
          <p:cNvSpPr txBox="1"/>
          <p:nvPr/>
        </p:nvSpPr>
        <p:spPr>
          <a:xfrm>
            <a:off x="640080" y="49834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Vulnerable adult: Capacity assessment. Advocate or guardian involvement.</a:t>
            </a:r>
          </a:p>
        </p:txBody>
      </p:sp>
      <p:sp>
        <p:nvSpPr>
          <p:cNvPr id="15" name="TextBox 14"/>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7 | Informed Consent</a:t>
            </a:r>
          </a:p>
        </p:txBody>
      </p:sp>
      <p:sp>
        <p:nvSpPr>
          <p:cNvPr id="16" name="TextBox 15"/>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08</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Clinical Documentation</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Writing the Trust</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8 | pp. 54–63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8.1 Patient Record Structure</a:t>
            </a:r>
          </a:p>
        </p:txBody>
      </p:sp>
      <p:graphicFrame>
        <p:nvGraphicFramePr>
          <p:cNvPr id="5" name="Table 4"/>
          <p:cNvGraphicFramePr>
            <a:graphicFrameLocks noGrp="1"/>
          </p:cNvGraphicFramePr>
          <p:nvPr/>
        </p:nvGraphicFramePr>
        <p:xfrm>
          <a:off x="457200" y="1554480"/>
          <a:ext cx="11277294" cy="182880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Record Type</a:t>
                      </a:r>
                    </a:p>
                  </a:txBody>
                  <a:tcPr anchor="ctr">
                    <a:solidFill>
                      <a:srgbClr val="003F5C"/>
                    </a:solidFill>
                  </a:tcPr>
                </a:tc>
                <a:tc>
                  <a:txBody>
                    <a:bodyPr/>
                    <a:lstStyle/>
                    <a:p>
                      <a:pPr algn="l">
                        <a:defRPr sz="1000" b="1">
                          <a:solidFill>
                            <a:srgbClr val="FAF7F2"/>
                          </a:solidFill>
                          <a:latin typeface="Calibri"/>
                        </a:defRPr>
                      </a:pPr>
                      <a:r>
                        <a:t>Required Elements</a:t>
                      </a:r>
                    </a:p>
                  </a:txBody>
                  <a:tcPr anchor="ctr">
                    <a:solidFill>
                      <a:srgbClr val="003F5C"/>
                    </a:solidFill>
                  </a:tcPr>
                </a:tc>
                <a:tc>
                  <a:txBody>
                    <a:bodyPr/>
                    <a:lstStyle/>
                    <a:p>
                      <a:pPr algn="l">
                        <a:defRPr sz="1000" b="1">
                          <a:solidFill>
                            <a:srgbClr val="FAF7F2"/>
                          </a:solidFill>
                          <a:latin typeface="Calibri"/>
                        </a:defRPr>
                      </a:pPr>
                      <a:r>
                        <a:t>Retention</a:t>
                      </a:r>
                    </a:p>
                  </a:txBody>
                  <a:tcPr anchor="ctr">
                    <a:solidFill>
                      <a:srgbClr val="003F5C"/>
                    </a:solidFill>
                  </a:tcPr>
                </a:tc>
              </a:tr>
              <a:tr h="365760">
                <a:tc>
                  <a:txBody>
                    <a:bodyPr/>
                    <a:lstStyle/>
                    <a:p>
                      <a:pPr algn="l">
                        <a:defRPr sz="1000">
                          <a:solidFill>
                            <a:srgbClr val="1A1A1A"/>
                          </a:solidFill>
                          <a:latin typeface="Calibri"/>
                        </a:defRPr>
                      </a:pPr>
                      <a:r>
                        <a:t>Initial Assessment</a:t>
                      </a:r>
                    </a:p>
                  </a:txBody>
                  <a:tcPr anchor="ctr"/>
                </a:tc>
                <a:tc>
                  <a:txBody>
                    <a:bodyPr/>
                    <a:lstStyle/>
                    <a:p>
                      <a:pPr algn="l">
                        <a:defRPr sz="1000">
                          <a:solidFill>
                            <a:srgbClr val="1A1A1A"/>
                          </a:solidFill>
                          <a:latin typeface="Calibri"/>
                        </a:defRPr>
                      </a:pPr>
                      <a:r>
                        <a:t>Health history, contraindication screening, vital signs, risk stratification, consent</a:t>
                      </a:r>
                    </a:p>
                  </a:txBody>
                  <a:tcPr anchor="ctr"/>
                </a:tc>
                <a:tc>
                  <a:txBody>
                    <a:bodyPr/>
                    <a:lstStyle/>
                    <a:p>
                      <a:pPr algn="l">
                        <a:defRPr sz="1000">
                          <a:solidFill>
                            <a:srgbClr val="1A1A1A"/>
                          </a:solidFill>
                          <a:latin typeface="Calibri"/>
                        </a:defRPr>
                      </a:pPr>
                      <a:r>
                        <a:t>7 years minimum</a:t>
                      </a:r>
                    </a:p>
                  </a:txBody>
                  <a:tcPr anchor="ctr"/>
                </a:tc>
              </a:tr>
              <a:tr h="365760">
                <a:tc>
                  <a:txBody>
                    <a:bodyPr/>
                    <a:lstStyle/>
                    <a:p>
                      <a:pPr algn="l">
                        <a:defRPr sz="1000">
                          <a:solidFill>
                            <a:srgbClr val="1A1A1A"/>
                          </a:solidFill>
                          <a:latin typeface="Calibri"/>
                        </a:defRPr>
                      </a:pPr>
                      <a:r>
                        <a:t>Treatment Record</a:t>
                      </a:r>
                    </a:p>
                  </a:txBody>
                  <a:tcPr anchor="ctr">
                    <a:solidFill>
                      <a:srgbClr val="F5F2EB"/>
                    </a:solidFill>
                  </a:tcPr>
                </a:tc>
                <a:tc>
                  <a:txBody>
                    <a:bodyPr/>
                    <a:lstStyle/>
                    <a:p>
                      <a:pPr algn="l">
                        <a:defRPr sz="1000">
                          <a:solidFill>
                            <a:srgbClr val="1A1A1A"/>
                          </a:solidFill>
                          <a:latin typeface="Calibri"/>
                        </a:defRPr>
                      </a:pPr>
                      <a:r>
                        <a:t>Date, points used, parameters, practitioner observations, patient response, adverse events</a:t>
                      </a:r>
                    </a:p>
                  </a:txBody>
                  <a:tcPr anchor="ctr">
                    <a:solidFill>
                      <a:srgbClr val="F5F2EB"/>
                    </a:solidFill>
                  </a:tcPr>
                </a:tc>
                <a:tc>
                  <a:txBody>
                    <a:bodyPr/>
                    <a:lstStyle/>
                    <a:p>
                      <a:pPr algn="l">
                        <a:defRPr sz="1000">
                          <a:solidFill>
                            <a:srgbClr val="1A1A1A"/>
                          </a:solidFill>
                          <a:latin typeface="Calibri"/>
                        </a:defRPr>
                      </a:pPr>
                      <a:r>
                        <a:t>7 years minimum</a:t>
                      </a:r>
                    </a:p>
                  </a:txBody>
                  <a:tcPr anchor="ctr">
                    <a:solidFill>
                      <a:srgbClr val="F5F2EB"/>
                    </a:solidFill>
                  </a:tcPr>
                </a:tc>
              </a:tr>
              <a:tr h="365760">
                <a:tc>
                  <a:txBody>
                    <a:bodyPr/>
                    <a:lstStyle/>
                    <a:p>
                      <a:pPr algn="l">
                        <a:defRPr sz="1000">
                          <a:solidFill>
                            <a:srgbClr val="1A1A1A"/>
                          </a:solidFill>
                          <a:latin typeface="Calibri"/>
                        </a:defRPr>
                      </a:pPr>
                      <a:r>
                        <a:t>Discharge Summary</a:t>
                      </a:r>
                    </a:p>
                  </a:txBody>
                  <a:tcPr anchor="ctr"/>
                </a:tc>
                <a:tc>
                  <a:txBody>
                    <a:bodyPr/>
                    <a:lstStyle/>
                    <a:p>
                      <a:pPr algn="l">
                        <a:defRPr sz="1000">
                          <a:solidFill>
                            <a:srgbClr val="1A1A1A"/>
                          </a:solidFill>
                          <a:latin typeface="Calibri"/>
                        </a:defRPr>
                      </a:pPr>
                      <a:r>
                        <a:t>Course summary, outcomes, recommendations, follow-up plan, referral documentation</a:t>
                      </a:r>
                    </a:p>
                  </a:txBody>
                  <a:tcPr anchor="ctr"/>
                </a:tc>
                <a:tc>
                  <a:txBody>
                    <a:bodyPr/>
                    <a:lstStyle/>
                    <a:p>
                      <a:pPr algn="l">
                        <a:defRPr sz="1000">
                          <a:solidFill>
                            <a:srgbClr val="1A1A1A"/>
                          </a:solidFill>
                          <a:latin typeface="Calibri"/>
                        </a:defRPr>
                      </a:pPr>
                      <a:r>
                        <a:t>7 years minimum</a:t>
                      </a:r>
                    </a:p>
                  </a:txBody>
                  <a:tcPr anchor="ctr"/>
                </a:tc>
              </a:tr>
              <a:tr h="365760">
                <a:tc>
                  <a:txBody>
                    <a:bodyPr/>
                    <a:lstStyle/>
                    <a:p>
                      <a:pPr algn="l">
                        <a:defRPr sz="1000">
                          <a:solidFill>
                            <a:srgbClr val="1A1A1A"/>
                          </a:solidFill>
                          <a:latin typeface="Calibri"/>
                        </a:defRPr>
                      </a:pPr>
                      <a:r>
                        <a:t>Incident Report</a:t>
                      </a:r>
                    </a:p>
                  </a:txBody>
                  <a:tcPr anchor="ctr">
                    <a:solidFill>
                      <a:srgbClr val="F5F2EB"/>
                    </a:solidFill>
                  </a:tcPr>
                </a:tc>
                <a:tc>
                  <a:txBody>
                    <a:bodyPr/>
                    <a:lstStyle/>
                    <a:p>
                      <a:pPr algn="l">
                        <a:defRPr sz="1000">
                          <a:solidFill>
                            <a:srgbClr val="1A1A1A"/>
                          </a:solidFill>
                          <a:latin typeface="Calibri"/>
                        </a:defRPr>
                      </a:pPr>
                      <a:r>
                        <a:t>Date, time, description, immediate action, follow-up, notification chain</a:t>
                      </a:r>
                    </a:p>
                  </a:txBody>
                  <a:tcPr anchor="ctr">
                    <a:solidFill>
                      <a:srgbClr val="F5F2EB"/>
                    </a:solidFill>
                  </a:tcPr>
                </a:tc>
                <a:tc>
                  <a:txBody>
                    <a:bodyPr/>
                    <a:lstStyle/>
                    <a:p>
                      <a:pPr algn="l">
                        <a:defRPr sz="1000">
                          <a:solidFill>
                            <a:srgbClr val="1A1A1A"/>
                          </a:solidFill>
                          <a:latin typeface="Calibri"/>
                        </a:defRPr>
                      </a:pPr>
                      <a:r>
                        <a:t>10 years minimum</a:t>
                      </a:r>
                    </a:p>
                  </a:txBody>
                  <a:tcPr anchor="ctr">
                    <a:solidFill>
                      <a:srgbClr val="F5F2EB"/>
                    </a:solidFill>
                  </a:tcPr>
                </a:tc>
              </a:tr>
            </a:tbl>
          </a:graphicData>
        </a:graphic>
      </p:graphicFrame>
      <p:sp>
        <p:nvSpPr>
          <p:cNvPr id="6" name="TextBox 5"/>
          <p:cNvSpPr txBox="1"/>
          <p:nvPr/>
        </p:nvSpPr>
        <p:spPr>
          <a:xfrm>
            <a:off x="457200" y="347472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8.1 — Patient Record Structure and Retention. All records must be stored securely with access controls.</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8 | Clinical Documentation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Documentation Principles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09728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7" name="TextBox 6"/>
          <p:cNvSpPr txBox="1"/>
          <p:nvPr/>
        </p:nvSpPr>
        <p:spPr>
          <a:xfrm>
            <a:off x="594360" y="164592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Contemporaneous documentation is your best legal defence. The record you write during or immediately after the session is credible. The record you write a week later is suspect. The record you write after a complaint is indefensible.</a:t>
            </a:r>
          </a:p>
        </p:txBody>
      </p:sp>
      <p:sp>
        <p:nvSpPr>
          <p:cNvPr id="8" name="Rectangle 7"/>
          <p:cNvSpPr/>
          <p:nvPr/>
        </p:nvSpPr>
        <p:spPr>
          <a:xfrm>
            <a:off x="457200" y="2560320"/>
            <a:ext cx="11277295" cy="109728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51760"/>
            <a:ext cx="11002975" cy="365760"/>
          </a:xfrm>
          <a:prstGeom prst="rect">
            <a:avLst/>
          </a:prstGeom>
          <a:noFill/>
        </p:spPr>
        <p:txBody>
          <a:bodyPr wrap="none">
            <a:spAutoFit/>
          </a:bodyPr>
          <a:lstStyle/>
          <a:p>
            <a:pPr algn="l">
              <a:defRPr sz="1000" b="1">
                <a:solidFill>
                  <a:srgbClr val="E2725B"/>
                </a:solidFill>
                <a:latin typeface="Calibri"/>
              </a:defRPr>
            </a:pPr>
            <a:r>
              <a:t>WARNING</a:t>
            </a:r>
          </a:p>
        </p:txBody>
      </p:sp>
      <p:sp>
        <p:nvSpPr>
          <p:cNvPr id="10" name="TextBox 9"/>
          <p:cNvSpPr txBox="1"/>
          <p:nvPr/>
        </p:nvSpPr>
        <p:spPr>
          <a:xfrm>
            <a:off x="594360" y="292608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Never backdate. Never fabricate. Never alter a record after it has been signed. If you make an error, draw a single line through it, initial and date the correction, and write the correct information. The altered record is evidence of honesty. The hidden error is evidence of dishonesty.</a:t>
            </a:r>
          </a:p>
        </p:txBody>
      </p:sp>
      <p:sp>
        <p:nvSpPr>
          <p:cNvPr id="11" name="TextBox 10"/>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Record Security Standards:</a:t>
            </a:r>
          </a:p>
        </p:txBody>
      </p:sp>
      <p:sp>
        <p:nvSpPr>
          <p:cNvPr id="12" name="TextBox 11"/>
          <p:cNvSpPr txBox="1"/>
          <p:nvPr/>
        </p:nvSpPr>
        <p:spPr>
          <a:xfrm>
            <a:off x="640080" y="41605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Physical records: Locked cabinet, access restricted to clinical staff</a:t>
            </a:r>
          </a:p>
        </p:txBody>
      </p:sp>
      <p:sp>
        <p:nvSpPr>
          <p:cNvPr id="13" name="TextBox 12"/>
          <p:cNvSpPr txBox="1"/>
          <p:nvPr/>
        </p:nvSpPr>
        <p:spPr>
          <a:xfrm>
            <a:off x="640080" y="44348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Digital records: Encrypted storage, password-protected, regular backups</a:t>
            </a:r>
          </a:p>
        </p:txBody>
      </p:sp>
      <p:sp>
        <p:nvSpPr>
          <p:cNvPr id="14" name="TextBox 13"/>
          <p:cNvSpPr txBox="1"/>
          <p:nvPr/>
        </p:nvSpPr>
        <p:spPr>
          <a:xfrm>
            <a:off x="640080" y="47091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Access log: Record who accessed what record and when</a:t>
            </a:r>
          </a:p>
        </p:txBody>
      </p:sp>
      <p:sp>
        <p:nvSpPr>
          <p:cNvPr id="15" name="TextBox 14"/>
          <p:cNvSpPr txBox="1"/>
          <p:nvPr/>
        </p:nvSpPr>
        <p:spPr>
          <a:xfrm>
            <a:off x="640080" y="49834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Disposal: Secure shredding of physical records; secure deletion of digital records</a:t>
            </a:r>
          </a:p>
        </p:txBody>
      </p:sp>
      <p:sp>
        <p:nvSpPr>
          <p:cNvPr id="16" name="TextBox 15"/>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8 | Clinical Documentation</a:t>
            </a:r>
          </a:p>
        </p:txBody>
      </p:sp>
      <p:sp>
        <p:nvSpPr>
          <p:cNvPr id="17" name="TextBox 16"/>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09</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Patient Safety &amp; Risk Management</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Safety Culture</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9 | pp. 64–73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9.1 Adverse Event Classification</a:t>
            </a:r>
          </a:p>
        </p:txBody>
      </p:sp>
      <p:graphicFrame>
        <p:nvGraphicFramePr>
          <p:cNvPr id="5" name="Table 4"/>
          <p:cNvGraphicFramePr>
            <a:graphicFrameLocks noGrp="1"/>
          </p:cNvGraphicFramePr>
          <p:nvPr/>
        </p:nvGraphicFramePr>
        <p:xfrm>
          <a:off x="457200" y="1554480"/>
          <a:ext cx="11277292" cy="1463040"/>
        </p:xfrm>
        <a:graphic>
          <a:graphicData uri="http://schemas.openxmlformats.org/drawingml/2006/table">
            <a:tbl>
              <a:tblPr firstRow="1" bandRow="1">
                <a:tableStyleId>{5C22544A-7EE6-4342-B048-85BDC9FD1C3A}</a:tableStyleId>
              </a:tblPr>
              <a:tblGrid>
                <a:gridCol w="2819323"/>
                <a:gridCol w="2819323"/>
                <a:gridCol w="2819323"/>
                <a:gridCol w="2819323"/>
              </a:tblGrid>
              <a:tr h="365760">
                <a:tc>
                  <a:txBody>
                    <a:bodyPr/>
                    <a:lstStyle/>
                    <a:p>
                      <a:pPr algn="l">
                        <a:defRPr sz="1000" b="1">
                          <a:solidFill>
                            <a:srgbClr val="FAF7F2"/>
                          </a:solidFill>
                          <a:latin typeface="Calibri"/>
                        </a:defRPr>
                      </a:pPr>
                      <a:r>
                        <a:t>Classification</a:t>
                      </a:r>
                    </a:p>
                  </a:txBody>
                  <a:tcPr anchor="ctr">
                    <a:solidFill>
                      <a:srgbClr val="003F5C"/>
                    </a:solidFill>
                  </a:tcPr>
                </a:tc>
                <a:tc>
                  <a:txBody>
                    <a:bodyPr/>
                    <a:lstStyle/>
                    <a:p>
                      <a:pPr algn="l">
                        <a:defRPr sz="1000" b="1">
                          <a:solidFill>
                            <a:srgbClr val="FAF7F2"/>
                          </a:solidFill>
                          <a:latin typeface="Calibri"/>
                        </a:defRPr>
                      </a:pPr>
                      <a:r>
                        <a:t>Definition</a:t>
                      </a:r>
                    </a:p>
                  </a:txBody>
                  <a:tcPr anchor="ctr">
                    <a:solidFill>
                      <a:srgbClr val="003F5C"/>
                    </a:solidFill>
                  </a:tcPr>
                </a:tc>
                <a:tc>
                  <a:txBody>
                    <a:bodyPr/>
                    <a:lstStyle/>
                    <a:p>
                      <a:pPr algn="l">
                        <a:defRPr sz="1000" b="1">
                          <a:solidFill>
                            <a:srgbClr val="FAF7F2"/>
                          </a:solidFill>
                          <a:latin typeface="Calibri"/>
                        </a:defRPr>
                      </a:pPr>
                      <a:r>
                        <a:t>Examples</a:t>
                      </a:r>
                    </a:p>
                  </a:txBody>
                  <a:tcPr anchor="ctr">
                    <a:solidFill>
                      <a:srgbClr val="003F5C"/>
                    </a:solidFill>
                  </a:tcPr>
                </a:tc>
                <a:tc>
                  <a:txBody>
                    <a:bodyPr/>
                    <a:lstStyle/>
                    <a:p>
                      <a:pPr algn="l">
                        <a:defRPr sz="1000" b="1">
                          <a:solidFill>
                            <a:srgbClr val="FAF7F2"/>
                          </a:solidFill>
                          <a:latin typeface="Calibri"/>
                        </a:defRPr>
                      </a:pPr>
                      <a:r>
                        <a:t>Action Required</a:t>
                      </a:r>
                    </a:p>
                  </a:txBody>
                  <a:tcPr anchor="ctr">
                    <a:solidFill>
                      <a:srgbClr val="003F5C"/>
                    </a:solidFill>
                  </a:tcPr>
                </a:tc>
              </a:tr>
              <a:tr h="365760">
                <a:tc>
                  <a:txBody>
                    <a:bodyPr/>
                    <a:lstStyle/>
                    <a:p>
                      <a:pPr algn="l">
                        <a:defRPr sz="1000">
                          <a:solidFill>
                            <a:srgbClr val="1A1A1A"/>
                          </a:solidFill>
                          <a:latin typeface="Calibri"/>
                        </a:defRPr>
                      </a:pPr>
                      <a:r>
                        <a:t>Minor</a:t>
                      </a:r>
                    </a:p>
                  </a:txBody>
                  <a:tcPr anchor="ctr"/>
                </a:tc>
                <a:tc>
                  <a:txBody>
                    <a:bodyPr/>
                    <a:lstStyle/>
                    <a:p>
                      <a:pPr algn="l">
                        <a:defRPr sz="1000">
                          <a:solidFill>
                            <a:srgbClr val="1A1A1A"/>
                          </a:solidFill>
                          <a:latin typeface="Calibri"/>
                        </a:defRPr>
                      </a:pPr>
                      <a:r>
                        <a:t>No intervention required; patient fully recovers</a:t>
                      </a:r>
                    </a:p>
                  </a:txBody>
                  <a:tcPr anchor="ctr"/>
                </a:tc>
                <a:tc>
                  <a:txBody>
                    <a:bodyPr/>
                    <a:lstStyle/>
                    <a:p>
                      <a:pPr algn="l">
                        <a:defRPr sz="1000">
                          <a:solidFill>
                            <a:srgbClr val="1A1A1A"/>
                          </a:solidFill>
                          <a:latin typeface="Calibri"/>
                        </a:defRPr>
                      </a:pPr>
                      <a:r>
                        <a:t>Bruising, mild dizziness, temporary discomfort</a:t>
                      </a:r>
                    </a:p>
                  </a:txBody>
                  <a:tcPr anchor="ctr"/>
                </a:tc>
                <a:tc>
                  <a:txBody>
                    <a:bodyPr/>
                    <a:lstStyle/>
                    <a:p>
                      <a:pPr algn="l">
                        <a:defRPr sz="1000">
                          <a:solidFill>
                            <a:srgbClr val="1A1A1A"/>
                          </a:solidFill>
                          <a:latin typeface="Calibri"/>
                        </a:defRPr>
                      </a:pPr>
                      <a:r>
                        <a:t>Document; monitor; inform patient</a:t>
                      </a:r>
                    </a:p>
                  </a:txBody>
                  <a:tcPr anchor="ctr"/>
                </a:tc>
              </a:tr>
              <a:tr h="365760">
                <a:tc>
                  <a:txBody>
                    <a:bodyPr/>
                    <a:lstStyle/>
                    <a:p>
                      <a:pPr algn="l">
                        <a:defRPr sz="1000">
                          <a:solidFill>
                            <a:srgbClr val="1A1A1A"/>
                          </a:solidFill>
                          <a:latin typeface="Calibri"/>
                        </a:defRPr>
                      </a:pPr>
                      <a:r>
                        <a:t>Moderate</a:t>
                      </a:r>
                    </a:p>
                  </a:txBody>
                  <a:tcPr anchor="ctr">
                    <a:solidFill>
                      <a:srgbClr val="F5F2EB"/>
                    </a:solidFill>
                  </a:tcPr>
                </a:tc>
                <a:tc>
                  <a:txBody>
                    <a:bodyPr/>
                    <a:lstStyle/>
                    <a:p>
                      <a:pPr algn="l">
                        <a:defRPr sz="1000">
                          <a:solidFill>
                            <a:srgbClr val="1A1A1A"/>
                          </a:solidFill>
                          <a:latin typeface="Calibri"/>
                        </a:defRPr>
                      </a:pPr>
                      <a:r>
                        <a:t>Requires intervention; patient recovers without lasting harm</a:t>
                      </a:r>
                    </a:p>
                  </a:txBody>
                  <a:tcPr anchor="ctr">
                    <a:solidFill>
                      <a:srgbClr val="F5F2EB"/>
                    </a:solidFill>
                  </a:tcPr>
                </a:tc>
                <a:tc>
                  <a:txBody>
                    <a:bodyPr/>
                    <a:lstStyle/>
                    <a:p>
                      <a:pPr algn="l">
                        <a:defRPr sz="1000">
                          <a:solidFill>
                            <a:srgbClr val="1A1A1A"/>
                          </a:solidFill>
                          <a:latin typeface="Calibri"/>
                        </a:defRPr>
                      </a:pPr>
                      <a:r>
                        <a:t>Prolonged bleeding, syncope, minor infection</a:t>
                      </a:r>
                    </a:p>
                  </a:txBody>
                  <a:tcPr anchor="ctr">
                    <a:solidFill>
                      <a:srgbClr val="F5F2EB"/>
                    </a:solidFill>
                  </a:tcPr>
                </a:tc>
                <a:tc>
                  <a:txBody>
                    <a:bodyPr/>
                    <a:lstStyle/>
                    <a:p>
                      <a:pPr algn="l">
                        <a:defRPr sz="1000">
                          <a:solidFill>
                            <a:srgbClr val="1A1A1A"/>
                          </a:solidFill>
                          <a:latin typeface="Calibri"/>
                        </a:defRPr>
                      </a:pPr>
                      <a:r>
                        <a:t>Document; treat; report to Clinical Director</a:t>
                      </a:r>
                    </a:p>
                  </a:txBody>
                  <a:tcPr anchor="ctr">
                    <a:solidFill>
                      <a:srgbClr val="F5F2EB"/>
                    </a:solidFill>
                  </a:tcPr>
                </a:tc>
              </a:tr>
              <a:tr h="365760">
                <a:tc>
                  <a:txBody>
                    <a:bodyPr/>
                    <a:lstStyle/>
                    <a:p>
                      <a:pPr algn="l">
                        <a:defRPr sz="1000">
                          <a:solidFill>
                            <a:srgbClr val="1A1A1A"/>
                          </a:solidFill>
                          <a:latin typeface="Calibri"/>
                        </a:defRPr>
                      </a:pPr>
                      <a:r>
                        <a:t>Serious</a:t>
                      </a:r>
                    </a:p>
                  </a:txBody>
                  <a:tcPr anchor="ctr"/>
                </a:tc>
                <a:tc>
                  <a:txBody>
                    <a:bodyPr/>
                    <a:lstStyle/>
                    <a:p>
                      <a:pPr algn="l">
                        <a:defRPr sz="1000">
                          <a:solidFill>
                            <a:srgbClr val="1A1A1A"/>
                          </a:solidFill>
                          <a:latin typeface="Calibri"/>
                        </a:defRPr>
                      </a:pPr>
                      <a:r>
                        <a:t>Requires hospitalisation; risk of lasting harm or death</a:t>
                      </a:r>
                    </a:p>
                  </a:txBody>
                  <a:tcPr anchor="ctr"/>
                </a:tc>
                <a:tc>
                  <a:txBody>
                    <a:bodyPr/>
                    <a:lstStyle/>
                    <a:p>
                      <a:pPr algn="l">
                        <a:defRPr sz="1000">
                          <a:solidFill>
                            <a:srgbClr val="1A1A1A"/>
                          </a:solidFill>
                          <a:latin typeface="Calibri"/>
                        </a:defRPr>
                      </a:pPr>
                      <a:r>
                        <a:t>Severe infection, anaphylaxis, embolism</a:t>
                      </a:r>
                    </a:p>
                  </a:txBody>
                  <a:tcPr anchor="ctr"/>
                </a:tc>
                <a:tc>
                  <a:txBody>
                    <a:bodyPr/>
                    <a:lstStyle/>
                    <a:p>
                      <a:pPr algn="l">
                        <a:defRPr sz="1000">
                          <a:solidFill>
                            <a:srgbClr val="1A1A1A"/>
                          </a:solidFill>
                          <a:latin typeface="Calibri"/>
                        </a:defRPr>
                      </a:pPr>
                      <a:r>
                        <a:t>Document; emergency referral; immediate report to Clinical Director and regulatory authority</a:t>
                      </a:r>
                    </a:p>
                  </a:txBody>
                  <a:tcPr anchor="ctr"/>
                </a:tc>
              </a:tr>
            </a:tbl>
          </a:graphicData>
        </a:graphic>
      </p:graphicFrame>
      <p:sp>
        <p:nvSpPr>
          <p:cNvPr id="6" name="TextBox 5"/>
          <p:cNvSpPr txBox="1"/>
          <p:nvPr/>
        </p:nvSpPr>
        <p:spPr>
          <a:xfrm>
            <a:off x="457200" y="310896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9.1 — Adverse Event Classification. All adverse events must be reported. The classification determines the reporting pathway.</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9 | Patient Safety</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Incident Reporting System</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09728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E2725B"/>
                </a:solidFill>
                <a:latin typeface="Calibri"/>
              </a:defRPr>
            </a:pPr>
            <a:r>
              <a:t>WARNING</a:t>
            </a:r>
          </a:p>
        </p:txBody>
      </p:sp>
      <p:sp>
        <p:nvSpPr>
          <p:cNvPr id="7" name="TextBox 6"/>
          <p:cNvSpPr txBox="1"/>
          <p:nvPr/>
        </p:nvSpPr>
        <p:spPr>
          <a:xfrm>
            <a:off x="594360" y="164592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Failure to report is a serious breach. The practitioner who hides an adverse event is not protecting the Academy. They are destroying it. Transparency is the foundation of trust. Trust is the foundation of the healing relationship.</a:t>
            </a:r>
          </a:p>
        </p:txBody>
      </p:sp>
      <p:sp>
        <p:nvSpPr>
          <p:cNvPr id="8" name="TextBox 7"/>
          <p:cNvSpPr txBox="1"/>
          <p:nvPr/>
        </p:nvSpPr>
        <p:spPr>
          <a:xfrm>
            <a:off x="457200" y="256032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Incident Report Elements:</a:t>
            </a:r>
          </a:p>
        </p:txBody>
      </p:sp>
      <p:sp>
        <p:nvSpPr>
          <p:cNvPr id="9" name="TextBox 8"/>
          <p:cNvSpPr txBox="1"/>
          <p:nvPr/>
        </p:nvSpPr>
        <p:spPr>
          <a:xfrm>
            <a:off x="640080" y="28803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1. Date and time of incident</a:t>
            </a:r>
          </a:p>
        </p:txBody>
      </p:sp>
      <p:sp>
        <p:nvSpPr>
          <p:cNvPr id="10" name="TextBox 9"/>
          <p:cNvSpPr txBox="1"/>
          <p:nvPr/>
        </p:nvSpPr>
        <p:spPr>
          <a:xfrm>
            <a:off x="640080" y="31546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2. Patient details (anonymised for data reporting)</a:t>
            </a:r>
          </a:p>
        </p:txBody>
      </p:sp>
      <p:sp>
        <p:nvSpPr>
          <p:cNvPr id="11" name="TextBox 10"/>
          <p:cNvSpPr txBox="1"/>
          <p:nvPr/>
        </p:nvSpPr>
        <p:spPr>
          <a:xfrm>
            <a:off x="640080" y="34290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3. Description of what happened (objective, factual)</a:t>
            </a:r>
          </a:p>
        </p:txBody>
      </p:sp>
      <p:sp>
        <p:nvSpPr>
          <p:cNvPr id="12" name="TextBox 11"/>
          <p:cNvSpPr txBox="1"/>
          <p:nvPr/>
        </p:nvSpPr>
        <p:spPr>
          <a:xfrm>
            <a:off x="640080" y="37033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4. Immediate action taken</a:t>
            </a:r>
          </a:p>
        </p:txBody>
      </p:sp>
      <p:sp>
        <p:nvSpPr>
          <p:cNvPr id="13" name="TextBox 12"/>
          <p:cNvSpPr txBox="1"/>
          <p:nvPr/>
        </p:nvSpPr>
        <p:spPr>
          <a:xfrm>
            <a:off x="640080" y="39776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5. Patient outcome (at time of report and follow-up)</a:t>
            </a:r>
          </a:p>
        </p:txBody>
      </p:sp>
      <p:sp>
        <p:nvSpPr>
          <p:cNvPr id="14" name="TextBox 13"/>
          <p:cNvSpPr txBox="1"/>
          <p:nvPr/>
        </p:nvSpPr>
        <p:spPr>
          <a:xfrm>
            <a:off x="640080" y="42519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6. Contributing factors (equipment, environment, practitioner, patient)</a:t>
            </a:r>
          </a:p>
        </p:txBody>
      </p:sp>
      <p:sp>
        <p:nvSpPr>
          <p:cNvPr id="15" name="TextBox 14"/>
          <p:cNvSpPr txBox="1"/>
          <p:nvPr/>
        </p:nvSpPr>
        <p:spPr>
          <a:xfrm>
            <a:off x="640080" y="45262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7. Recommendations for prevention</a:t>
            </a:r>
          </a:p>
        </p:txBody>
      </p:sp>
      <p:sp>
        <p:nvSpPr>
          <p:cNvPr id="16" name="TextBox 15"/>
          <p:cNvSpPr txBox="1"/>
          <p:nvPr/>
        </p:nvSpPr>
        <p:spPr>
          <a:xfrm>
            <a:off x="640080" y="48006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8. Signatures and dates (reporter, supervisor, Clinical Director)</a:t>
            </a:r>
          </a:p>
        </p:txBody>
      </p:sp>
      <p:sp>
        <p:nvSpPr>
          <p:cNvPr id="17" name="Rectangle 16"/>
          <p:cNvSpPr/>
          <p:nvPr/>
        </p:nvSpPr>
        <p:spPr>
          <a:xfrm>
            <a:off x="457200" y="5120640"/>
            <a:ext cx="11277295" cy="91440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521208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19" name="TextBox 18"/>
          <p:cNvSpPr txBox="1"/>
          <p:nvPr/>
        </p:nvSpPr>
        <p:spPr>
          <a:xfrm>
            <a:off x="594360" y="5486400"/>
            <a:ext cx="11002975" cy="457200"/>
          </a:xfrm>
          <a:prstGeom prst="rect">
            <a:avLst/>
          </a:prstGeom>
          <a:noFill/>
        </p:spPr>
        <p:txBody>
          <a:bodyPr wrap="square">
            <a:spAutoFit/>
          </a:bodyPr>
          <a:lstStyle/>
          <a:p>
            <a:pPr algn="l">
              <a:lnSpc>
                <a:spcPct val="115000"/>
              </a:lnSpc>
              <a:defRPr sz="1000">
                <a:solidFill>
                  <a:srgbClr val="1A1A1A"/>
                </a:solidFill>
                <a:latin typeface="Calibri"/>
              </a:defRPr>
            </a:pPr>
            <a:r>
              <a:t>Just culture vs. blame culture: The Academy investigates incidents to learn, not to punish. Honest reporting is protected. Concealment is not.</a:t>
            </a:r>
          </a:p>
        </p:txBody>
      </p:sp>
      <p:sp>
        <p:nvSpPr>
          <p:cNvPr id="20" name="TextBox 19"/>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9 | Patient Safety</a:t>
            </a:r>
          </a:p>
        </p:txBody>
      </p:sp>
      <p:sp>
        <p:nvSpPr>
          <p:cNvPr id="21" name="TextBox 20"/>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10</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Emergency Management</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Preparedness as Ihsan</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10 | pp. 74–83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10.1 Emergency Response Sequence</a:t>
            </a:r>
          </a:p>
        </p:txBody>
      </p:sp>
      <p:graphicFrame>
        <p:nvGraphicFramePr>
          <p:cNvPr id="5" name="Table 4"/>
          <p:cNvGraphicFramePr>
            <a:graphicFrameLocks noGrp="1"/>
          </p:cNvGraphicFramePr>
          <p:nvPr/>
        </p:nvGraphicFramePr>
        <p:xfrm>
          <a:off x="457200" y="1554480"/>
          <a:ext cx="11277294" cy="292608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Step</a:t>
                      </a:r>
                    </a:p>
                  </a:txBody>
                  <a:tcPr anchor="ctr">
                    <a:solidFill>
                      <a:srgbClr val="003F5C"/>
                    </a:solidFill>
                  </a:tcPr>
                </a:tc>
                <a:tc>
                  <a:txBody>
                    <a:bodyPr/>
                    <a:lstStyle/>
                    <a:p>
                      <a:pPr algn="l">
                        <a:defRPr sz="1000" b="1">
                          <a:solidFill>
                            <a:srgbClr val="FAF7F2"/>
                          </a:solidFill>
                          <a:latin typeface="Calibri"/>
                        </a:defRPr>
                      </a:pPr>
                      <a:r>
                        <a:t>Action</a:t>
                      </a:r>
                    </a:p>
                  </a:txBody>
                  <a:tcPr anchor="ctr">
                    <a:solidFill>
                      <a:srgbClr val="003F5C"/>
                    </a:solidFill>
                  </a:tcPr>
                </a:tc>
                <a:tc>
                  <a:txBody>
                    <a:bodyPr/>
                    <a:lstStyle/>
                    <a:p>
                      <a:pPr algn="l">
                        <a:defRPr sz="1000" b="1">
                          <a:solidFill>
                            <a:srgbClr val="FAF7F2"/>
                          </a:solidFill>
                          <a:latin typeface="Calibri"/>
                        </a:defRPr>
                      </a:pPr>
                      <a:r>
                        <a:t>Rationale</a:t>
                      </a:r>
                    </a:p>
                  </a:txBody>
                  <a:tcPr anchor="ctr">
                    <a:solidFill>
                      <a:srgbClr val="003F5C"/>
                    </a:solidFill>
                  </a:tcPr>
                </a:tc>
              </a:tr>
              <a:tr h="365760">
                <a:tc>
                  <a:txBody>
                    <a:bodyPr/>
                    <a:lstStyle/>
                    <a:p>
                      <a:pPr algn="l">
                        <a:defRPr sz="1000">
                          <a:solidFill>
                            <a:srgbClr val="1A1A1A"/>
                          </a:solidFill>
                          <a:latin typeface="Calibri"/>
                        </a:defRPr>
                      </a:pPr>
                      <a:r>
                        <a:t>1</a:t>
                      </a:r>
                    </a:p>
                  </a:txBody>
                  <a:tcPr anchor="ctr"/>
                </a:tc>
                <a:tc>
                  <a:txBody>
                    <a:bodyPr/>
                    <a:lstStyle/>
                    <a:p>
                      <a:pPr algn="l">
                        <a:defRPr sz="1000">
                          <a:solidFill>
                            <a:srgbClr val="1A1A1A"/>
                          </a:solidFill>
                          <a:latin typeface="Calibri"/>
                        </a:defRPr>
                      </a:pPr>
                      <a:r>
                        <a:t>Recognise the emergency</a:t>
                      </a:r>
                    </a:p>
                  </a:txBody>
                  <a:tcPr anchor="ctr"/>
                </a:tc>
                <a:tc>
                  <a:txBody>
                    <a:bodyPr/>
                    <a:lstStyle/>
                    <a:p>
                      <a:pPr algn="l">
                        <a:defRPr sz="1000">
                          <a:solidFill>
                            <a:srgbClr val="1A1A1A"/>
                          </a:solidFill>
                          <a:latin typeface="Calibri"/>
                        </a:defRPr>
                      </a:pPr>
                      <a:r>
                        <a:t>Early recognition saves lives</a:t>
                      </a:r>
                    </a:p>
                  </a:txBody>
                  <a:tcPr anchor="ctr"/>
                </a:tc>
              </a:tr>
              <a:tr h="365760">
                <a:tc>
                  <a:txBody>
                    <a:bodyPr/>
                    <a:lstStyle/>
                    <a:p>
                      <a:pPr algn="l">
                        <a:defRPr sz="1000">
                          <a:solidFill>
                            <a:srgbClr val="1A1A1A"/>
                          </a:solidFill>
                          <a:latin typeface="Calibri"/>
                        </a:defRPr>
                      </a:pPr>
                      <a:r>
                        <a:t>2</a:t>
                      </a:r>
                    </a:p>
                  </a:txBody>
                  <a:tcPr anchor="ctr">
                    <a:solidFill>
                      <a:srgbClr val="F5F2EB"/>
                    </a:solidFill>
                  </a:tcPr>
                </a:tc>
                <a:tc>
                  <a:txBody>
                    <a:bodyPr/>
                    <a:lstStyle/>
                    <a:p>
                      <a:pPr algn="l">
                        <a:defRPr sz="1000">
                          <a:solidFill>
                            <a:srgbClr val="1A1A1A"/>
                          </a:solidFill>
                          <a:latin typeface="Calibri"/>
                        </a:defRPr>
                      </a:pPr>
                      <a:r>
                        <a:t>Stop the procedure immediately</a:t>
                      </a:r>
                    </a:p>
                  </a:txBody>
                  <a:tcPr anchor="ctr">
                    <a:solidFill>
                      <a:srgbClr val="F5F2EB"/>
                    </a:solidFill>
                  </a:tcPr>
                </a:tc>
                <a:tc>
                  <a:txBody>
                    <a:bodyPr/>
                    <a:lstStyle/>
                    <a:p>
                      <a:pPr algn="l">
                        <a:defRPr sz="1000">
                          <a:solidFill>
                            <a:srgbClr val="1A1A1A"/>
                          </a:solidFill>
                          <a:latin typeface="Calibri"/>
                        </a:defRPr>
                      </a:pPr>
                      <a:r>
                        <a:t>Prevent further harm</a:t>
                      </a:r>
                    </a:p>
                  </a:txBody>
                  <a:tcPr anchor="ctr">
                    <a:solidFill>
                      <a:srgbClr val="F5F2EB"/>
                    </a:solidFill>
                  </a:tcPr>
                </a:tc>
              </a:tr>
              <a:tr h="365760">
                <a:tc>
                  <a:txBody>
                    <a:bodyPr/>
                    <a:lstStyle/>
                    <a:p>
                      <a:pPr algn="l">
                        <a:defRPr sz="1000">
                          <a:solidFill>
                            <a:srgbClr val="1A1A1A"/>
                          </a:solidFill>
                          <a:latin typeface="Calibri"/>
                        </a:defRPr>
                      </a:pPr>
                      <a:r>
                        <a:t>3</a:t>
                      </a:r>
                    </a:p>
                  </a:txBody>
                  <a:tcPr anchor="ctr"/>
                </a:tc>
                <a:tc>
                  <a:txBody>
                    <a:bodyPr/>
                    <a:lstStyle/>
                    <a:p>
                      <a:pPr algn="l">
                        <a:defRPr sz="1000">
                          <a:solidFill>
                            <a:srgbClr val="1A1A1A"/>
                          </a:solidFill>
                          <a:latin typeface="Calibri"/>
                        </a:defRPr>
                      </a:pPr>
                      <a:r>
                        <a:t>Assess the patient (Airway, Breathing, Circulation)</a:t>
                      </a:r>
                    </a:p>
                  </a:txBody>
                  <a:tcPr anchor="ctr"/>
                </a:tc>
                <a:tc>
                  <a:txBody>
                    <a:bodyPr/>
                    <a:lstStyle/>
                    <a:p>
                      <a:pPr algn="l">
                        <a:defRPr sz="1000">
                          <a:solidFill>
                            <a:srgbClr val="1A1A1A"/>
                          </a:solidFill>
                          <a:latin typeface="Calibri"/>
                        </a:defRPr>
                      </a:pPr>
                      <a:r>
                        <a:t>Systematic assessment prevents panic</a:t>
                      </a:r>
                    </a:p>
                  </a:txBody>
                  <a:tcPr anchor="ctr"/>
                </a:tc>
              </a:tr>
              <a:tr h="365760">
                <a:tc>
                  <a:txBody>
                    <a:bodyPr/>
                    <a:lstStyle/>
                    <a:p>
                      <a:pPr algn="l">
                        <a:defRPr sz="1000">
                          <a:solidFill>
                            <a:srgbClr val="1A1A1A"/>
                          </a:solidFill>
                          <a:latin typeface="Calibri"/>
                        </a:defRPr>
                      </a:pPr>
                      <a:r>
                        <a:t>4</a:t>
                      </a:r>
                    </a:p>
                  </a:txBody>
                  <a:tcPr anchor="ctr">
                    <a:solidFill>
                      <a:srgbClr val="F5F2EB"/>
                    </a:solidFill>
                  </a:tcPr>
                </a:tc>
                <a:tc>
                  <a:txBody>
                    <a:bodyPr/>
                    <a:lstStyle/>
                    <a:p>
                      <a:pPr algn="l">
                        <a:defRPr sz="1000">
                          <a:solidFill>
                            <a:srgbClr val="1A1A1A"/>
                          </a:solidFill>
                          <a:latin typeface="Calibri"/>
                        </a:defRPr>
                      </a:pPr>
                      <a:r>
                        <a:t>Call for help (emergency services if indicated)</a:t>
                      </a:r>
                    </a:p>
                  </a:txBody>
                  <a:tcPr anchor="ctr">
                    <a:solidFill>
                      <a:srgbClr val="F5F2EB"/>
                    </a:solidFill>
                  </a:tcPr>
                </a:tc>
                <a:tc>
                  <a:txBody>
                    <a:bodyPr/>
                    <a:lstStyle/>
                    <a:p>
                      <a:pPr algn="l">
                        <a:defRPr sz="1000">
                          <a:solidFill>
                            <a:srgbClr val="1A1A1A"/>
                          </a:solidFill>
                          <a:latin typeface="Calibri"/>
                        </a:defRPr>
                      </a:pPr>
                      <a:r>
                        <a:t>Do not delay emergency calls</a:t>
                      </a:r>
                    </a:p>
                  </a:txBody>
                  <a:tcPr anchor="ctr">
                    <a:solidFill>
                      <a:srgbClr val="F5F2EB"/>
                    </a:solidFill>
                  </a:tcPr>
                </a:tc>
              </a:tr>
              <a:tr h="365760">
                <a:tc>
                  <a:txBody>
                    <a:bodyPr/>
                    <a:lstStyle/>
                    <a:p>
                      <a:pPr algn="l">
                        <a:defRPr sz="1000">
                          <a:solidFill>
                            <a:srgbClr val="1A1A1A"/>
                          </a:solidFill>
                          <a:latin typeface="Calibri"/>
                        </a:defRPr>
                      </a:pPr>
                      <a:r>
                        <a:t>5</a:t>
                      </a:r>
                    </a:p>
                  </a:txBody>
                  <a:tcPr anchor="ctr"/>
                </a:tc>
                <a:tc>
                  <a:txBody>
                    <a:bodyPr/>
                    <a:lstStyle/>
                    <a:p>
                      <a:pPr algn="l">
                        <a:defRPr sz="1000">
                          <a:solidFill>
                            <a:srgbClr val="1A1A1A"/>
                          </a:solidFill>
                          <a:latin typeface="Calibri"/>
                        </a:defRPr>
                      </a:pPr>
                      <a:r>
                        <a:t>Administer first aid within your training</a:t>
                      </a:r>
                    </a:p>
                  </a:txBody>
                  <a:tcPr anchor="ctr"/>
                </a:tc>
                <a:tc>
                  <a:txBody>
                    <a:bodyPr/>
                    <a:lstStyle/>
                    <a:p>
                      <a:pPr algn="l">
                        <a:defRPr sz="1000">
                          <a:solidFill>
                            <a:srgbClr val="1A1A1A"/>
                          </a:solidFill>
                          <a:latin typeface="Calibri"/>
                        </a:defRPr>
                      </a:pPr>
                      <a:r>
                        <a:t>BLS/CPR certification required</a:t>
                      </a:r>
                    </a:p>
                  </a:txBody>
                  <a:tcPr anchor="ctr"/>
                </a:tc>
              </a:tr>
              <a:tr h="365760">
                <a:tc>
                  <a:txBody>
                    <a:bodyPr/>
                    <a:lstStyle/>
                    <a:p>
                      <a:pPr algn="l">
                        <a:defRPr sz="1000">
                          <a:solidFill>
                            <a:srgbClr val="1A1A1A"/>
                          </a:solidFill>
                          <a:latin typeface="Calibri"/>
                        </a:defRPr>
                      </a:pPr>
                      <a:r>
                        <a:t>6</a:t>
                      </a:r>
                    </a:p>
                  </a:txBody>
                  <a:tcPr anchor="ctr">
                    <a:solidFill>
                      <a:srgbClr val="F5F2EB"/>
                    </a:solidFill>
                  </a:tcPr>
                </a:tc>
                <a:tc>
                  <a:txBody>
                    <a:bodyPr/>
                    <a:lstStyle/>
                    <a:p>
                      <a:pPr algn="l">
                        <a:defRPr sz="1000">
                          <a:solidFill>
                            <a:srgbClr val="1A1A1A"/>
                          </a:solidFill>
                          <a:latin typeface="Calibri"/>
                        </a:defRPr>
                      </a:pPr>
                      <a:r>
                        <a:t>Document everything</a:t>
                      </a:r>
                    </a:p>
                  </a:txBody>
                  <a:tcPr anchor="ctr">
                    <a:solidFill>
                      <a:srgbClr val="F5F2EB"/>
                    </a:solidFill>
                  </a:tcPr>
                </a:tc>
                <a:tc>
                  <a:txBody>
                    <a:bodyPr/>
                    <a:lstStyle/>
                    <a:p>
                      <a:pPr algn="l">
                        <a:defRPr sz="1000">
                          <a:solidFill>
                            <a:srgbClr val="1A1A1A"/>
                          </a:solidFill>
                          <a:latin typeface="Calibri"/>
                        </a:defRPr>
                      </a:pPr>
                      <a:r>
                        <a:t>Contemporaneous documentation is essential</a:t>
                      </a:r>
                    </a:p>
                  </a:txBody>
                  <a:tcPr anchor="ctr">
                    <a:solidFill>
                      <a:srgbClr val="F5F2EB"/>
                    </a:solidFill>
                  </a:tcPr>
                </a:tc>
              </a:tr>
              <a:tr h="365760">
                <a:tc>
                  <a:txBody>
                    <a:bodyPr/>
                    <a:lstStyle/>
                    <a:p>
                      <a:pPr algn="l">
                        <a:defRPr sz="1000">
                          <a:solidFill>
                            <a:srgbClr val="1A1A1A"/>
                          </a:solidFill>
                          <a:latin typeface="Calibri"/>
                        </a:defRPr>
                      </a:pPr>
                      <a:r>
                        <a:t>7</a:t>
                      </a:r>
                    </a:p>
                  </a:txBody>
                  <a:tcPr anchor="ctr"/>
                </a:tc>
                <a:tc>
                  <a:txBody>
                    <a:bodyPr/>
                    <a:lstStyle/>
                    <a:p>
                      <a:pPr algn="l">
                        <a:defRPr sz="1000">
                          <a:solidFill>
                            <a:srgbClr val="1A1A1A"/>
                          </a:solidFill>
                          <a:latin typeface="Calibri"/>
                        </a:defRPr>
                      </a:pPr>
                      <a:r>
                        <a:t>Notify Clinical Director within 1 hour</a:t>
                      </a:r>
                    </a:p>
                  </a:txBody>
                  <a:tcPr anchor="ctr"/>
                </a:tc>
                <a:tc>
                  <a:txBody>
                    <a:bodyPr/>
                    <a:lstStyle/>
                    <a:p>
                      <a:pPr algn="l">
                        <a:defRPr sz="1000">
                          <a:solidFill>
                            <a:srgbClr val="1A1A1A"/>
                          </a:solidFill>
                          <a:latin typeface="Calibri"/>
                        </a:defRPr>
                      </a:pPr>
                      <a:r>
                        <a:t>Immediate reporting enables support and investigation</a:t>
                      </a:r>
                    </a:p>
                  </a:txBody>
                  <a:tcPr anchor="ctr"/>
                </a:tc>
              </a:tr>
            </a:tbl>
          </a:graphicData>
        </a:graphic>
      </p:graphicFrame>
      <p:sp>
        <p:nvSpPr>
          <p:cNvPr id="6" name="TextBox 5"/>
          <p:cNvSpPr txBox="1"/>
          <p:nvPr/>
        </p:nvSpPr>
        <p:spPr>
          <a:xfrm>
            <a:off x="457200" y="457200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10.1 — Emergency Response Sequence. All practitioners must maintain current BLS/CPR certification.</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10 | Emergency Management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Emergency Protocols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Syncope</a:t>
            </a:r>
          </a:p>
        </p:txBody>
      </p:sp>
      <p:sp>
        <p:nvSpPr>
          <p:cNvPr id="6" name="TextBox 5"/>
          <p:cNvSpPr txBox="1"/>
          <p:nvPr/>
        </p:nvSpPr>
        <p:spPr>
          <a:xfrm>
            <a:off x="640080" y="1508760"/>
            <a:ext cx="105156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Pale, clammy, yawning, slow pulse, loss of consciousness. Release cups, lower head, cool compress, monitor. If not recovered in 5 min: call 999.</a:t>
            </a:r>
          </a:p>
        </p:txBody>
      </p:sp>
      <p:sp>
        <p:nvSpPr>
          <p:cNvPr id="7" name="TextBox 6"/>
          <p:cNvSpPr txBox="1"/>
          <p:nvPr/>
        </p:nvSpPr>
        <p:spPr>
          <a:xfrm>
            <a:off x="457200" y="192024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Excessive Bleeding</a:t>
            </a:r>
          </a:p>
        </p:txBody>
      </p:sp>
      <p:sp>
        <p:nvSpPr>
          <p:cNvPr id="8" name="TextBox 7"/>
          <p:cNvSpPr txBox="1"/>
          <p:nvPr/>
        </p:nvSpPr>
        <p:spPr>
          <a:xfrm>
            <a:off x="640080" y="2148840"/>
            <a:ext cx="105156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Soaking gauze; bleeding &gt;5 min. Direct pressure, elevate, second dressing. If &gt;10 min: call 999.</a:t>
            </a:r>
          </a:p>
        </p:txBody>
      </p:sp>
      <p:sp>
        <p:nvSpPr>
          <p:cNvPr id="9" name="TextBox 8"/>
          <p:cNvSpPr txBox="1"/>
          <p:nvPr/>
        </p:nvSpPr>
        <p:spPr>
          <a:xfrm>
            <a:off x="457200" y="256032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Anaphylaxis</a:t>
            </a:r>
          </a:p>
        </p:txBody>
      </p:sp>
      <p:sp>
        <p:nvSpPr>
          <p:cNvPr id="10" name="TextBox 9"/>
          <p:cNvSpPr txBox="1"/>
          <p:nvPr/>
        </p:nvSpPr>
        <p:spPr>
          <a:xfrm>
            <a:off x="640080" y="2788920"/>
            <a:ext cx="105156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Difficulty breathing, swelling, hives. Epinephrine if trained. Call 999 immediately.</a:t>
            </a:r>
          </a:p>
        </p:txBody>
      </p:sp>
      <p:sp>
        <p:nvSpPr>
          <p:cNvPr id="11" name="TextBox 10"/>
          <p:cNvSpPr txBox="1"/>
          <p:nvPr/>
        </p:nvSpPr>
        <p:spPr>
          <a:xfrm>
            <a:off x="457200" y="320040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Chest Pain</a:t>
            </a:r>
          </a:p>
        </p:txBody>
      </p:sp>
      <p:sp>
        <p:nvSpPr>
          <p:cNvPr id="12" name="TextBox 11"/>
          <p:cNvSpPr txBox="1"/>
          <p:nvPr/>
        </p:nvSpPr>
        <p:spPr>
          <a:xfrm>
            <a:off x="640080" y="3429000"/>
            <a:ext cx="105156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Crushing pain, radiating to arm/jaw, dyspnoea. Call 999 immediately. Do not treat.</a:t>
            </a:r>
          </a:p>
        </p:txBody>
      </p:sp>
      <p:sp>
        <p:nvSpPr>
          <p:cNvPr id="13" name="TextBox 12"/>
          <p:cNvSpPr txBox="1"/>
          <p:nvPr/>
        </p:nvSpPr>
        <p:spPr>
          <a:xfrm>
            <a:off x="457200" y="384048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Seizure</a:t>
            </a:r>
          </a:p>
        </p:txBody>
      </p:sp>
      <p:sp>
        <p:nvSpPr>
          <p:cNvPr id="14" name="TextBox 13"/>
          <p:cNvSpPr txBox="1"/>
          <p:nvPr/>
        </p:nvSpPr>
        <p:spPr>
          <a:xfrm>
            <a:off x="640080" y="4069080"/>
            <a:ext cx="105156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Loss of consciousness, tonic-clonic movements. Protect from injury, do not restrain, time. If &gt;5 min: call 999.</a:t>
            </a:r>
          </a:p>
        </p:txBody>
      </p:sp>
      <p:sp>
        <p:nvSpPr>
          <p:cNvPr id="15" name="Rectangle 14"/>
          <p:cNvSpPr/>
          <p:nvPr/>
        </p:nvSpPr>
        <p:spPr>
          <a:xfrm>
            <a:off x="457200" y="4846320"/>
            <a:ext cx="11277295" cy="73152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93776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17" name="TextBox 16"/>
          <p:cNvSpPr txBox="1"/>
          <p:nvPr/>
        </p:nvSpPr>
        <p:spPr>
          <a:xfrm>
            <a:off x="594360" y="5212080"/>
            <a:ext cx="11002975" cy="274320"/>
          </a:xfrm>
          <a:prstGeom prst="rect">
            <a:avLst/>
          </a:prstGeom>
          <a:noFill/>
        </p:spPr>
        <p:txBody>
          <a:bodyPr wrap="square">
            <a:spAutoFit/>
          </a:bodyPr>
          <a:lstStyle/>
          <a:p>
            <a:pPr algn="l">
              <a:lnSpc>
                <a:spcPct val="115000"/>
              </a:lnSpc>
              <a:defRPr sz="1000">
                <a:solidFill>
                  <a:srgbClr val="1A1A1A"/>
                </a:solidFill>
                <a:latin typeface="Calibri"/>
              </a:defRPr>
            </a:pPr>
            <a:r>
              <a:t>The silent patient is more concerning than the moaning one. A patient who stops responding during treatment is an emergency until proven otherwise.</a:t>
            </a:r>
          </a:p>
        </p:txBody>
      </p:sp>
      <p:sp>
        <p:nvSpPr>
          <p:cNvPr id="18" name="TextBox 17"/>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10 | Emergency Management</a:t>
            </a:r>
          </a:p>
        </p:txBody>
      </p:sp>
      <p:sp>
        <p:nvSpPr>
          <p:cNvPr id="19" name="TextBox 18"/>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Emergency Equipment Checklist</a:t>
            </a:r>
          </a:p>
        </p:txBody>
      </p:sp>
      <p:graphicFrame>
        <p:nvGraphicFramePr>
          <p:cNvPr id="5" name="Table 4"/>
          <p:cNvGraphicFramePr>
            <a:graphicFrameLocks noGrp="1"/>
          </p:cNvGraphicFramePr>
          <p:nvPr/>
        </p:nvGraphicFramePr>
        <p:xfrm>
          <a:off x="457200" y="1554480"/>
          <a:ext cx="11277294" cy="292608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Item</a:t>
                      </a:r>
                    </a:p>
                  </a:txBody>
                  <a:tcPr anchor="ctr">
                    <a:solidFill>
                      <a:srgbClr val="003F5C"/>
                    </a:solidFill>
                  </a:tcPr>
                </a:tc>
                <a:tc>
                  <a:txBody>
                    <a:bodyPr/>
                    <a:lstStyle/>
                    <a:p>
                      <a:pPr algn="l">
                        <a:defRPr sz="1000" b="1">
                          <a:solidFill>
                            <a:srgbClr val="FAF7F2"/>
                          </a:solidFill>
                          <a:latin typeface="Calibri"/>
                        </a:defRPr>
                      </a:pPr>
                      <a:r>
                        <a:t>Purpose</a:t>
                      </a:r>
                    </a:p>
                  </a:txBody>
                  <a:tcPr anchor="ctr">
                    <a:solidFill>
                      <a:srgbClr val="003F5C"/>
                    </a:solidFill>
                  </a:tcPr>
                </a:tc>
                <a:tc>
                  <a:txBody>
                    <a:bodyPr/>
                    <a:lstStyle/>
                    <a:p>
                      <a:pPr algn="l">
                        <a:defRPr sz="1000" b="1">
                          <a:solidFill>
                            <a:srgbClr val="FAF7F2"/>
                          </a:solidFill>
                          <a:latin typeface="Calibri"/>
                        </a:defRPr>
                      </a:pPr>
                      <a:r>
                        <a:t>Check Frequency</a:t>
                      </a:r>
                    </a:p>
                  </a:txBody>
                  <a:tcPr anchor="ctr">
                    <a:solidFill>
                      <a:srgbClr val="003F5C"/>
                    </a:solidFill>
                  </a:tcPr>
                </a:tc>
              </a:tr>
              <a:tr h="365760">
                <a:tc>
                  <a:txBody>
                    <a:bodyPr/>
                    <a:lstStyle/>
                    <a:p>
                      <a:pPr algn="l">
                        <a:defRPr sz="1000">
                          <a:solidFill>
                            <a:srgbClr val="1A1A1A"/>
                          </a:solidFill>
                          <a:latin typeface="Calibri"/>
                        </a:defRPr>
                      </a:pPr>
                      <a:r>
                        <a:t>First aid kit</a:t>
                      </a:r>
                    </a:p>
                  </a:txBody>
                  <a:tcPr anchor="ctr"/>
                </a:tc>
                <a:tc>
                  <a:txBody>
                    <a:bodyPr/>
                    <a:lstStyle/>
                    <a:p>
                      <a:pPr algn="l">
                        <a:defRPr sz="1000">
                          <a:solidFill>
                            <a:srgbClr val="1A1A1A"/>
                          </a:solidFill>
                          <a:latin typeface="Calibri"/>
                        </a:defRPr>
                      </a:pPr>
                      <a:r>
                        <a:t>Wound care, bandages, antiseptic</a:t>
                      </a:r>
                    </a:p>
                  </a:txBody>
                  <a:tcPr anchor="ctr"/>
                </a:tc>
                <a:tc>
                  <a:txBody>
                    <a:bodyPr/>
                    <a:lstStyle/>
                    <a:p>
                      <a:pPr algn="l">
                        <a:defRPr sz="1000">
                          <a:solidFill>
                            <a:srgbClr val="1A1A1A"/>
                          </a:solidFill>
                          <a:latin typeface="Calibri"/>
                        </a:defRPr>
                      </a:pPr>
                      <a:r>
                        <a:t>Weekly</a:t>
                      </a:r>
                    </a:p>
                  </a:txBody>
                  <a:tcPr anchor="ctr"/>
                </a:tc>
              </a:tr>
              <a:tr h="365760">
                <a:tc>
                  <a:txBody>
                    <a:bodyPr/>
                    <a:lstStyle/>
                    <a:p>
                      <a:pPr algn="l">
                        <a:defRPr sz="1000">
                          <a:solidFill>
                            <a:srgbClr val="1A1A1A"/>
                          </a:solidFill>
                          <a:latin typeface="Calibri"/>
                        </a:defRPr>
                      </a:pPr>
                      <a:r>
                        <a:t>AED (Automated External Defibrillator)</a:t>
                      </a:r>
                    </a:p>
                  </a:txBody>
                  <a:tcPr anchor="ctr">
                    <a:solidFill>
                      <a:srgbClr val="F5F2EB"/>
                    </a:solidFill>
                  </a:tcPr>
                </a:tc>
                <a:tc>
                  <a:txBody>
                    <a:bodyPr/>
                    <a:lstStyle/>
                    <a:p>
                      <a:pPr algn="l">
                        <a:defRPr sz="1000">
                          <a:solidFill>
                            <a:srgbClr val="1A1A1A"/>
                          </a:solidFill>
                          <a:latin typeface="Calibri"/>
                        </a:defRPr>
                      </a:pPr>
                      <a:r>
                        <a:t>Cardiac arrest</a:t>
                      </a:r>
                    </a:p>
                  </a:txBody>
                  <a:tcPr anchor="ctr">
                    <a:solidFill>
                      <a:srgbClr val="F5F2EB"/>
                    </a:solidFill>
                  </a:tcPr>
                </a:tc>
                <a:tc>
                  <a:txBody>
                    <a:bodyPr/>
                    <a:lstStyle/>
                    <a:p>
                      <a:pPr algn="l">
                        <a:defRPr sz="1000">
                          <a:solidFill>
                            <a:srgbClr val="1A1A1A"/>
                          </a:solidFill>
                          <a:latin typeface="Calibri"/>
                        </a:defRPr>
                      </a:pPr>
                      <a:r>
                        <a:t>Monthly</a:t>
                      </a:r>
                    </a:p>
                  </a:txBody>
                  <a:tcPr anchor="ctr">
                    <a:solidFill>
                      <a:srgbClr val="F5F2EB"/>
                    </a:solidFill>
                  </a:tcPr>
                </a:tc>
              </a:tr>
              <a:tr h="365760">
                <a:tc>
                  <a:txBody>
                    <a:bodyPr/>
                    <a:lstStyle/>
                    <a:p>
                      <a:pPr algn="l">
                        <a:defRPr sz="1000">
                          <a:solidFill>
                            <a:srgbClr val="1A1A1A"/>
                          </a:solidFill>
                          <a:latin typeface="Calibri"/>
                        </a:defRPr>
                      </a:pPr>
                      <a:r>
                        <a:t>Epinephrine auto-injector</a:t>
                      </a:r>
                    </a:p>
                  </a:txBody>
                  <a:tcPr anchor="ctr"/>
                </a:tc>
                <a:tc>
                  <a:txBody>
                    <a:bodyPr/>
                    <a:lstStyle/>
                    <a:p>
                      <a:pPr algn="l">
                        <a:defRPr sz="1000">
                          <a:solidFill>
                            <a:srgbClr val="1A1A1A"/>
                          </a:solidFill>
                          <a:latin typeface="Calibri"/>
                        </a:defRPr>
                      </a:pPr>
                      <a:r>
                        <a:t>Anaphylaxis</a:t>
                      </a:r>
                    </a:p>
                  </a:txBody>
                  <a:tcPr anchor="ctr"/>
                </a:tc>
                <a:tc>
                  <a:txBody>
                    <a:bodyPr/>
                    <a:lstStyle/>
                    <a:p>
                      <a:pPr algn="l">
                        <a:defRPr sz="1000">
                          <a:solidFill>
                            <a:srgbClr val="1A1A1A"/>
                          </a:solidFill>
                          <a:latin typeface="Calibri"/>
                        </a:defRPr>
                      </a:pPr>
                      <a:r>
                        <a:t>Monthly (check expiry)</a:t>
                      </a:r>
                    </a:p>
                  </a:txBody>
                  <a:tcPr anchor="ctr"/>
                </a:tc>
              </a:tr>
              <a:tr h="365760">
                <a:tc>
                  <a:txBody>
                    <a:bodyPr/>
                    <a:lstStyle/>
                    <a:p>
                      <a:pPr algn="l">
                        <a:defRPr sz="1000">
                          <a:solidFill>
                            <a:srgbClr val="1A1A1A"/>
                          </a:solidFill>
                          <a:latin typeface="Calibri"/>
                        </a:defRPr>
                      </a:pPr>
                      <a:r>
                        <a:t>Oxygen and delivery mask</a:t>
                      </a:r>
                    </a:p>
                  </a:txBody>
                  <a:tcPr anchor="ctr">
                    <a:solidFill>
                      <a:srgbClr val="F5F2EB"/>
                    </a:solidFill>
                  </a:tcPr>
                </a:tc>
                <a:tc>
                  <a:txBody>
                    <a:bodyPr/>
                    <a:lstStyle/>
                    <a:p>
                      <a:pPr algn="l">
                        <a:defRPr sz="1000">
                          <a:solidFill>
                            <a:srgbClr val="1A1A1A"/>
                          </a:solidFill>
                          <a:latin typeface="Calibri"/>
                        </a:defRPr>
                      </a:pPr>
                      <a:r>
                        <a:t>Hypoxia, respiratory distress</a:t>
                      </a:r>
                    </a:p>
                  </a:txBody>
                  <a:tcPr anchor="ctr">
                    <a:solidFill>
                      <a:srgbClr val="F5F2EB"/>
                    </a:solidFill>
                  </a:tcPr>
                </a:tc>
                <a:tc>
                  <a:txBody>
                    <a:bodyPr/>
                    <a:lstStyle/>
                    <a:p>
                      <a:pPr algn="l">
                        <a:defRPr sz="1000">
                          <a:solidFill>
                            <a:srgbClr val="1A1A1A"/>
                          </a:solidFill>
                          <a:latin typeface="Calibri"/>
                        </a:defRPr>
                      </a:pPr>
                      <a:r>
                        <a:t>Weekly</a:t>
                      </a:r>
                    </a:p>
                  </a:txBody>
                  <a:tcPr anchor="ctr">
                    <a:solidFill>
                      <a:srgbClr val="F5F2EB"/>
                    </a:solidFill>
                  </a:tcPr>
                </a:tc>
              </a:tr>
              <a:tr h="365760">
                <a:tc>
                  <a:txBody>
                    <a:bodyPr/>
                    <a:lstStyle/>
                    <a:p>
                      <a:pPr algn="l">
                        <a:defRPr sz="1000">
                          <a:solidFill>
                            <a:srgbClr val="1A1A1A"/>
                          </a:solidFill>
                          <a:latin typeface="Calibri"/>
                        </a:defRPr>
                      </a:pPr>
                      <a:r>
                        <a:t>Blood pressure monitor</a:t>
                      </a:r>
                    </a:p>
                  </a:txBody>
                  <a:tcPr anchor="ctr"/>
                </a:tc>
                <a:tc>
                  <a:txBody>
                    <a:bodyPr/>
                    <a:lstStyle/>
                    <a:p>
                      <a:pPr algn="l">
                        <a:defRPr sz="1000">
                          <a:solidFill>
                            <a:srgbClr val="1A1A1A"/>
                          </a:solidFill>
                          <a:latin typeface="Calibri"/>
                        </a:defRPr>
                      </a:pPr>
                      <a:r>
                        <a:t>Vital signs assessment</a:t>
                      </a:r>
                    </a:p>
                  </a:txBody>
                  <a:tcPr anchor="ctr"/>
                </a:tc>
                <a:tc>
                  <a:txBody>
                    <a:bodyPr/>
                    <a:lstStyle/>
                    <a:p>
                      <a:pPr algn="l">
                        <a:defRPr sz="1000">
                          <a:solidFill>
                            <a:srgbClr val="1A1A1A"/>
                          </a:solidFill>
                          <a:latin typeface="Calibri"/>
                        </a:defRPr>
                      </a:pPr>
                      <a:r>
                        <a:t>Daily</a:t>
                      </a:r>
                    </a:p>
                  </a:txBody>
                  <a:tcPr anchor="ctr"/>
                </a:tc>
              </a:tr>
              <a:tr h="365760">
                <a:tc>
                  <a:txBody>
                    <a:bodyPr/>
                    <a:lstStyle/>
                    <a:p>
                      <a:pPr algn="l">
                        <a:defRPr sz="1000">
                          <a:solidFill>
                            <a:srgbClr val="1A1A1A"/>
                          </a:solidFill>
                          <a:latin typeface="Calibri"/>
                        </a:defRPr>
                      </a:pPr>
                      <a:r>
                        <a:t>Emergency contact list</a:t>
                      </a:r>
                    </a:p>
                  </a:txBody>
                  <a:tcPr anchor="ctr">
                    <a:solidFill>
                      <a:srgbClr val="F5F2EB"/>
                    </a:solidFill>
                  </a:tcPr>
                </a:tc>
                <a:tc>
                  <a:txBody>
                    <a:bodyPr/>
                    <a:lstStyle/>
                    <a:p>
                      <a:pPr algn="l">
                        <a:defRPr sz="1000">
                          <a:solidFill>
                            <a:srgbClr val="1A1A1A"/>
                          </a:solidFill>
                          <a:latin typeface="Calibri"/>
                        </a:defRPr>
                      </a:pPr>
                      <a:r>
                        <a:t>Rapid communication</a:t>
                      </a:r>
                    </a:p>
                  </a:txBody>
                  <a:tcPr anchor="ctr">
                    <a:solidFill>
                      <a:srgbClr val="F5F2EB"/>
                    </a:solidFill>
                  </a:tcPr>
                </a:tc>
                <a:tc>
                  <a:txBody>
                    <a:bodyPr/>
                    <a:lstStyle/>
                    <a:p>
                      <a:pPr algn="l">
                        <a:defRPr sz="1000">
                          <a:solidFill>
                            <a:srgbClr val="1A1A1A"/>
                          </a:solidFill>
                          <a:latin typeface="Calibri"/>
                        </a:defRPr>
                      </a:pPr>
                      <a:r>
                        <a:t>Quarterly (update numbers)</a:t>
                      </a:r>
                    </a:p>
                  </a:txBody>
                  <a:tcPr anchor="ctr">
                    <a:solidFill>
                      <a:srgbClr val="F5F2EB"/>
                    </a:solidFill>
                  </a:tcPr>
                </a:tc>
              </a:tr>
              <a:tr h="365760">
                <a:tc>
                  <a:txBody>
                    <a:bodyPr/>
                    <a:lstStyle/>
                    <a:p>
                      <a:pPr algn="l">
                        <a:defRPr sz="1000">
                          <a:solidFill>
                            <a:srgbClr val="1A1A1A"/>
                          </a:solidFill>
                          <a:latin typeface="Calibri"/>
                        </a:defRPr>
                      </a:pPr>
                      <a:r>
                        <a:t>Fire extinguisher</a:t>
                      </a:r>
                    </a:p>
                  </a:txBody>
                  <a:tcPr anchor="ctr"/>
                </a:tc>
                <a:tc>
                  <a:txBody>
                    <a:bodyPr/>
                    <a:lstStyle/>
                    <a:p>
                      <a:pPr algn="l">
                        <a:defRPr sz="1000">
                          <a:solidFill>
                            <a:srgbClr val="1A1A1A"/>
                          </a:solidFill>
                          <a:latin typeface="Calibri"/>
                        </a:defRPr>
                      </a:pPr>
                      <a:r>
                        <a:t>Fire safety</a:t>
                      </a:r>
                    </a:p>
                  </a:txBody>
                  <a:tcPr anchor="ctr"/>
                </a:tc>
                <a:tc>
                  <a:txBody>
                    <a:bodyPr/>
                    <a:lstStyle/>
                    <a:p>
                      <a:pPr algn="l">
                        <a:defRPr sz="1000">
                          <a:solidFill>
                            <a:srgbClr val="1A1A1A"/>
                          </a:solidFill>
                          <a:latin typeface="Calibri"/>
                        </a:defRPr>
                      </a:pPr>
                      <a:r>
                        <a:t>Monthly</a:t>
                      </a:r>
                    </a:p>
                  </a:txBody>
                  <a:tcPr anchor="ctr"/>
                </a:tc>
              </a:tr>
            </a:tbl>
          </a:graphicData>
        </a:graphic>
      </p:graphicFrame>
      <p:sp>
        <p:nvSpPr>
          <p:cNvPr id="6" name="TextBox 5"/>
          <p:cNvSpPr txBox="1"/>
          <p:nvPr/>
        </p:nvSpPr>
        <p:spPr>
          <a:xfrm>
            <a:off x="457200" y="457200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10.2 — Emergency Equipment Checklist. All equipment must be checked, maintained, and accessible at all times.</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10 | Emergency Management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11</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Clinical Governance</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Upholding the Standard</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11 | pp. 84–93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11.1 Governance Structure</a:t>
            </a:r>
          </a:p>
        </p:txBody>
      </p:sp>
      <p:graphicFrame>
        <p:nvGraphicFramePr>
          <p:cNvPr id="5" name="Table 4"/>
          <p:cNvGraphicFramePr>
            <a:graphicFrameLocks noGrp="1"/>
          </p:cNvGraphicFramePr>
          <p:nvPr/>
        </p:nvGraphicFramePr>
        <p:xfrm>
          <a:off x="457200" y="1554480"/>
          <a:ext cx="11277294" cy="182880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Role</a:t>
                      </a:r>
                    </a:p>
                  </a:txBody>
                  <a:tcPr anchor="ctr">
                    <a:solidFill>
                      <a:srgbClr val="003F5C"/>
                    </a:solidFill>
                  </a:tcPr>
                </a:tc>
                <a:tc>
                  <a:txBody>
                    <a:bodyPr/>
                    <a:lstStyle/>
                    <a:p>
                      <a:pPr algn="l">
                        <a:defRPr sz="1000" b="1">
                          <a:solidFill>
                            <a:srgbClr val="FAF7F2"/>
                          </a:solidFill>
                          <a:latin typeface="Calibri"/>
                        </a:defRPr>
                      </a:pPr>
                      <a:r>
                        <a:t>Responsibility</a:t>
                      </a:r>
                    </a:p>
                  </a:txBody>
                  <a:tcPr anchor="ctr">
                    <a:solidFill>
                      <a:srgbClr val="003F5C"/>
                    </a:solidFill>
                  </a:tcPr>
                </a:tc>
                <a:tc>
                  <a:txBody>
                    <a:bodyPr/>
                    <a:lstStyle/>
                    <a:p>
                      <a:pPr algn="l">
                        <a:defRPr sz="1000" b="1">
                          <a:solidFill>
                            <a:srgbClr val="FAF7F2"/>
                          </a:solidFill>
                          <a:latin typeface="Calibri"/>
                        </a:defRPr>
                      </a:pPr>
                      <a:r>
                        <a:t>Authority</a:t>
                      </a:r>
                    </a:p>
                  </a:txBody>
                  <a:tcPr anchor="ctr">
                    <a:solidFill>
                      <a:srgbClr val="003F5C"/>
                    </a:solidFill>
                  </a:tcPr>
                </a:tc>
              </a:tr>
              <a:tr h="365760">
                <a:tc>
                  <a:txBody>
                    <a:bodyPr/>
                    <a:lstStyle/>
                    <a:p>
                      <a:pPr algn="l">
                        <a:defRPr sz="1000">
                          <a:solidFill>
                            <a:srgbClr val="1A1A1A"/>
                          </a:solidFill>
                          <a:latin typeface="Calibri"/>
                        </a:defRPr>
                      </a:pPr>
                      <a:r>
                        <a:t>Clinical Director</a:t>
                      </a:r>
                    </a:p>
                  </a:txBody>
                  <a:tcPr anchor="ctr"/>
                </a:tc>
                <a:tc>
                  <a:txBody>
                    <a:bodyPr/>
                    <a:lstStyle/>
                    <a:p>
                      <a:pPr algn="l">
                        <a:defRPr sz="1000">
                          <a:solidFill>
                            <a:srgbClr val="1A1A1A"/>
                          </a:solidFill>
                          <a:latin typeface="Calibri"/>
                        </a:defRPr>
                      </a:pPr>
                      <a:r>
                        <a:t>Overall clinical quality, policy development, incident oversight</a:t>
                      </a:r>
                    </a:p>
                  </a:txBody>
                  <a:tcPr anchor="ctr"/>
                </a:tc>
                <a:tc>
                  <a:txBody>
                    <a:bodyPr/>
                    <a:lstStyle/>
                    <a:p>
                      <a:pPr algn="l">
                        <a:defRPr sz="1000">
                          <a:solidFill>
                            <a:srgbClr val="1A1A1A"/>
                          </a:solidFill>
                          <a:latin typeface="Calibri"/>
                        </a:defRPr>
                      </a:pPr>
                      <a:r>
                        <a:t>Final clinical authority; can suspend practitioners</a:t>
                      </a:r>
                    </a:p>
                  </a:txBody>
                  <a:tcPr anchor="ctr"/>
                </a:tc>
              </a:tr>
              <a:tr h="365760">
                <a:tc>
                  <a:txBody>
                    <a:bodyPr/>
                    <a:lstStyle/>
                    <a:p>
                      <a:pPr algn="l">
                        <a:defRPr sz="1000">
                          <a:solidFill>
                            <a:srgbClr val="1A1A1A"/>
                          </a:solidFill>
                          <a:latin typeface="Calibri"/>
                        </a:defRPr>
                      </a:pPr>
                      <a:r>
                        <a:t>Advisory Panel</a:t>
                      </a:r>
                    </a:p>
                  </a:txBody>
                  <a:tcPr anchor="ctr">
                    <a:solidFill>
                      <a:srgbClr val="F5F2EB"/>
                    </a:solidFill>
                  </a:tcPr>
                </a:tc>
                <a:tc>
                  <a:txBody>
                    <a:bodyPr/>
                    <a:lstStyle/>
                    <a:p>
                      <a:pPr algn="l">
                        <a:defRPr sz="1000">
                          <a:solidFill>
                            <a:srgbClr val="1A1A1A"/>
                          </a:solidFill>
                          <a:latin typeface="Calibri"/>
                        </a:defRPr>
                      </a:pPr>
                      <a:r>
                        <a:t>Evidence review, protocol updates, ethical guidance</a:t>
                      </a:r>
                    </a:p>
                  </a:txBody>
                  <a:tcPr anchor="ctr">
                    <a:solidFill>
                      <a:srgbClr val="F5F2EB"/>
                    </a:solidFill>
                  </a:tcPr>
                </a:tc>
                <a:tc>
                  <a:txBody>
                    <a:bodyPr/>
                    <a:lstStyle/>
                    <a:p>
                      <a:pPr algn="l">
                        <a:defRPr sz="1000">
                          <a:solidFill>
                            <a:srgbClr val="1A1A1A"/>
                          </a:solidFill>
                          <a:latin typeface="Calibri"/>
                        </a:defRPr>
                      </a:pPr>
                      <a:r>
                        <a:t>Recommends policy changes; adjudicates scope disputes</a:t>
                      </a:r>
                    </a:p>
                  </a:txBody>
                  <a:tcPr anchor="ctr">
                    <a:solidFill>
                      <a:srgbClr val="F5F2EB"/>
                    </a:solidFill>
                  </a:tcPr>
                </a:tc>
              </a:tr>
              <a:tr h="365760">
                <a:tc>
                  <a:txBody>
                    <a:bodyPr/>
                    <a:lstStyle/>
                    <a:p>
                      <a:pPr algn="l">
                        <a:defRPr sz="1000">
                          <a:solidFill>
                            <a:srgbClr val="1A1A1A"/>
                          </a:solidFill>
                          <a:latin typeface="Calibri"/>
                        </a:defRPr>
                      </a:pPr>
                      <a:r>
                        <a:t>Peer Review Group</a:t>
                      </a:r>
                    </a:p>
                  </a:txBody>
                  <a:tcPr anchor="ctr"/>
                </a:tc>
                <a:tc>
                  <a:txBody>
                    <a:bodyPr/>
                    <a:lstStyle/>
                    <a:p>
                      <a:pPr algn="l">
                        <a:defRPr sz="1000">
                          <a:solidFill>
                            <a:srgbClr val="1A1A1A"/>
                          </a:solidFill>
                          <a:latin typeface="Calibri"/>
                        </a:defRPr>
                      </a:pPr>
                      <a:r>
                        <a:t>Case review, clinical audit, practitioner support</a:t>
                      </a:r>
                    </a:p>
                  </a:txBody>
                  <a:tcPr anchor="ctr"/>
                </a:tc>
                <a:tc>
                  <a:txBody>
                    <a:bodyPr/>
                    <a:lstStyle/>
                    <a:p>
                      <a:pPr algn="l">
                        <a:defRPr sz="1000">
                          <a:solidFill>
                            <a:srgbClr val="1A1A1A"/>
                          </a:solidFill>
                          <a:latin typeface="Calibri"/>
                        </a:defRPr>
                      </a:pPr>
                      <a:r>
                        <a:t>Identifies trends; recommends remediation</a:t>
                      </a:r>
                    </a:p>
                  </a:txBody>
                  <a:tcPr anchor="ctr"/>
                </a:tc>
              </a:tr>
              <a:tr h="365760">
                <a:tc>
                  <a:txBody>
                    <a:bodyPr/>
                    <a:lstStyle/>
                    <a:p>
                      <a:pPr algn="l">
                        <a:defRPr sz="1000">
                          <a:solidFill>
                            <a:srgbClr val="1A1A1A"/>
                          </a:solidFill>
                          <a:latin typeface="Calibri"/>
                        </a:defRPr>
                      </a:pPr>
                      <a:r>
                        <a:t>Risk Officer</a:t>
                      </a:r>
                    </a:p>
                  </a:txBody>
                  <a:tcPr anchor="ctr">
                    <a:solidFill>
                      <a:srgbClr val="F5F2EB"/>
                    </a:solidFill>
                  </a:tcPr>
                </a:tc>
                <a:tc>
                  <a:txBody>
                    <a:bodyPr/>
                    <a:lstStyle/>
                    <a:p>
                      <a:pPr algn="l">
                        <a:defRPr sz="1000">
                          <a:solidFill>
                            <a:srgbClr val="1A1A1A"/>
                          </a:solidFill>
                          <a:latin typeface="Calibri"/>
                        </a:defRPr>
                      </a:pPr>
                      <a:r>
                        <a:t>Incident analysis, risk register, compliance monitoring</a:t>
                      </a:r>
                    </a:p>
                  </a:txBody>
                  <a:tcPr anchor="ctr">
                    <a:solidFill>
                      <a:srgbClr val="F5F2EB"/>
                    </a:solidFill>
                  </a:tcPr>
                </a:tc>
                <a:tc>
                  <a:txBody>
                    <a:bodyPr/>
                    <a:lstStyle/>
                    <a:p>
                      <a:pPr algn="l">
                        <a:defRPr sz="1000">
                          <a:solidFill>
                            <a:srgbClr val="1A1A1A"/>
                          </a:solidFill>
                          <a:latin typeface="Calibri"/>
                        </a:defRPr>
                      </a:pPr>
                      <a:r>
                        <a:t>Reports to Clinical Director; liaises with regulators</a:t>
                      </a:r>
                    </a:p>
                  </a:txBody>
                  <a:tcPr anchor="ctr">
                    <a:solidFill>
                      <a:srgbClr val="F5F2EB"/>
                    </a:solidFill>
                  </a:tcPr>
                </a:tc>
              </a:tr>
            </a:tbl>
          </a:graphicData>
        </a:graphic>
      </p:graphicFrame>
      <p:sp>
        <p:nvSpPr>
          <p:cNvPr id="6" name="TextBox 5"/>
          <p:cNvSpPr txBox="1"/>
          <p:nvPr/>
        </p:nvSpPr>
        <p:spPr>
          <a:xfrm>
            <a:off x="457200" y="347472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11.1 — Governance Structure. Governance is not bureaucracy. It is the system that protects patients when individual practitioners falter.</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11 | Clinical Governance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Clinical Audit &amp; Performance Management</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Clinical Audit Components:</a:t>
            </a:r>
          </a:p>
        </p:txBody>
      </p:sp>
      <p:sp>
        <p:nvSpPr>
          <p:cNvPr id="6" name="TextBox 5"/>
          <p:cNvSpPr txBox="1"/>
          <p:nvPr/>
        </p:nvSpPr>
        <p:spPr>
          <a:xfrm>
            <a:off x="640080" y="16002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Standard: What should be happening (protocol, policy, evidence)</a:t>
            </a:r>
          </a:p>
        </p:txBody>
      </p:sp>
      <p:sp>
        <p:nvSpPr>
          <p:cNvPr id="7" name="TextBox 6"/>
          <p:cNvSpPr txBox="1"/>
          <p:nvPr/>
        </p:nvSpPr>
        <p:spPr>
          <a:xfrm>
            <a:off x="640080" y="18745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Practice: What is actually happening (record review, observation)</a:t>
            </a:r>
          </a:p>
        </p:txBody>
      </p:sp>
      <p:sp>
        <p:nvSpPr>
          <p:cNvPr id="8" name="TextBox 7"/>
          <p:cNvSpPr txBox="1"/>
          <p:nvPr/>
        </p:nvSpPr>
        <p:spPr>
          <a:xfrm>
            <a:off x="640080" y="21488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Comparison: Gap analysis between standard and practice</a:t>
            </a:r>
          </a:p>
        </p:txBody>
      </p:sp>
      <p:sp>
        <p:nvSpPr>
          <p:cNvPr id="9" name="TextBox 8"/>
          <p:cNvSpPr txBox="1"/>
          <p:nvPr/>
        </p:nvSpPr>
        <p:spPr>
          <a:xfrm>
            <a:off x="640080" y="24231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Action: Remediation plan with timelines and accountability</a:t>
            </a:r>
          </a:p>
        </p:txBody>
      </p:sp>
      <p:sp>
        <p:nvSpPr>
          <p:cNvPr id="10" name="TextBox 9"/>
          <p:cNvSpPr txBox="1"/>
          <p:nvPr/>
        </p:nvSpPr>
        <p:spPr>
          <a:xfrm>
            <a:off x="640080" y="26974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Re-audit: Verification that improvement has been sustained</a:t>
            </a:r>
          </a:p>
        </p:txBody>
      </p:sp>
      <p:sp>
        <p:nvSpPr>
          <p:cNvPr id="11" name="TextBox 10"/>
          <p:cNvSpPr txBox="1"/>
          <p:nvPr/>
        </p:nvSpPr>
        <p:spPr>
          <a:xfrm>
            <a:off x="457200" y="301752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Practitioner Performance Management:</a:t>
            </a:r>
          </a:p>
        </p:txBody>
      </p:sp>
      <p:sp>
        <p:nvSpPr>
          <p:cNvPr id="12" name="TextBox 11"/>
          <p:cNvSpPr txBox="1"/>
          <p:nvPr/>
        </p:nvSpPr>
        <p:spPr>
          <a:xfrm>
            <a:off x="640080" y="33375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Competency: Annual skills assessment and verification</a:t>
            </a:r>
          </a:p>
        </p:txBody>
      </p:sp>
      <p:sp>
        <p:nvSpPr>
          <p:cNvPr id="13" name="TextBox 12"/>
          <p:cNvSpPr txBox="1"/>
          <p:nvPr/>
        </p:nvSpPr>
        <p:spPr>
          <a:xfrm>
            <a:off x="640080" y="36118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CPD: Minimum 20 hours continuing professional development per year</a:t>
            </a:r>
          </a:p>
        </p:txBody>
      </p:sp>
      <p:sp>
        <p:nvSpPr>
          <p:cNvPr id="14" name="TextBox 13"/>
          <p:cNvSpPr txBox="1"/>
          <p:nvPr/>
        </p:nvSpPr>
        <p:spPr>
          <a:xfrm>
            <a:off x="640080" y="38862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Remediation: Structured support for practitioners with performance gaps</a:t>
            </a:r>
          </a:p>
        </p:txBody>
      </p:sp>
      <p:sp>
        <p:nvSpPr>
          <p:cNvPr id="15" name="TextBox 14"/>
          <p:cNvSpPr txBox="1"/>
          <p:nvPr/>
        </p:nvSpPr>
        <p:spPr>
          <a:xfrm>
            <a:off x="640080" y="41605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Suspension: Temporary removal from clinical practice pending investigation</a:t>
            </a:r>
          </a:p>
        </p:txBody>
      </p:sp>
      <p:sp>
        <p:nvSpPr>
          <p:cNvPr id="16" name="TextBox 15"/>
          <p:cNvSpPr txBox="1"/>
          <p:nvPr/>
        </p:nvSpPr>
        <p:spPr>
          <a:xfrm>
            <a:off x="640080" y="44348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Decertification: Permanent revocation of Academy certification for serious breaches</a:t>
            </a:r>
          </a:p>
        </p:txBody>
      </p:sp>
      <p:sp>
        <p:nvSpPr>
          <p:cNvPr id="17" name="TextBox 1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11 | Clinical Governance</a:t>
            </a:r>
          </a:p>
        </p:txBody>
      </p:sp>
      <p:sp>
        <p:nvSpPr>
          <p:cNvPr id="18" name="TextBox 17"/>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35</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12</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Professional Standards &amp; Ethics</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Ethical Framework</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12 | pp. 94–103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12.1 Core Ethical Obligations</a:t>
            </a:r>
          </a:p>
        </p:txBody>
      </p:sp>
      <p:graphicFrame>
        <p:nvGraphicFramePr>
          <p:cNvPr id="5" name="Table 4"/>
          <p:cNvGraphicFramePr>
            <a:graphicFrameLocks noGrp="1"/>
          </p:cNvGraphicFramePr>
          <p:nvPr/>
        </p:nvGraphicFramePr>
        <p:xfrm>
          <a:off x="457200" y="1554480"/>
          <a:ext cx="11277294" cy="219456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Principle</a:t>
                      </a:r>
                    </a:p>
                  </a:txBody>
                  <a:tcPr anchor="ctr">
                    <a:solidFill>
                      <a:srgbClr val="003F5C"/>
                    </a:solidFill>
                  </a:tcPr>
                </a:tc>
                <a:tc>
                  <a:txBody>
                    <a:bodyPr/>
                    <a:lstStyle/>
                    <a:p>
                      <a:pPr algn="l">
                        <a:defRPr sz="1000" b="1">
                          <a:solidFill>
                            <a:srgbClr val="FAF7F2"/>
                          </a:solidFill>
                          <a:latin typeface="Calibri"/>
                        </a:defRPr>
                      </a:pPr>
                      <a:r>
                        <a:t>Islamic Foundation</a:t>
                      </a:r>
                    </a:p>
                  </a:txBody>
                  <a:tcPr anchor="ctr">
                    <a:solidFill>
                      <a:srgbClr val="003F5C"/>
                    </a:solidFill>
                  </a:tcPr>
                </a:tc>
                <a:tc>
                  <a:txBody>
                    <a:bodyPr/>
                    <a:lstStyle/>
                    <a:p>
                      <a:pPr algn="l">
                        <a:defRPr sz="1000" b="1">
                          <a:solidFill>
                            <a:srgbClr val="FAF7F2"/>
                          </a:solidFill>
                          <a:latin typeface="Calibri"/>
                        </a:defRPr>
                      </a:pPr>
                      <a:r>
                        <a:t>Academy Application</a:t>
                      </a:r>
                    </a:p>
                  </a:txBody>
                  <a:tcPr anchor="ctr">
                    <a:solidFill>
                      <a:srgbClr val="003F5C"/>
                    </a:solidFill>
                  </a:tcPr>
                </a:tc>
              </a:tr>
              <a:tr h="365760">
                <a:tc>
                  <a:txBody>
                    <a:bodyPr/>
                    <a:lstStyle/>
                    <a:p>
                      <a:pPr algn="l">
                        <a:defRPr sz="1000">
                          <a:solidFill>
                            <a:srgbClr val="1A1A1A"/>
                          </a:solidFill>
                          <a:latin typeface="Calibri"/>
                        </a:defRPr>
                      </a:pPr>
                      <a:r>
                        <a:t>Beneficence (do good)</a:t>
                      </a:r>
                    </a:p>
                  </a:txBody>
                  <a:tcPr anchor="ctr"/>
                </a:tc>
                <a:tc>
                  <a:txBody>
                    <a:bodyPr/>
                    <a:lstStyle/>
                    <a:p>
                      <a:pPr algn="l">
                        <a:defRPr sz="1000">
                          <a:solidFill>
                            <a:srgbClr val="1A1A1A"/>
                          </a:solidFill>
                          <a:latin typeface="Calibri"/>
                        </a:defRPr>
                      </a:pPr>
                      <a:r>
                        <a:t>Helping others is an act of worship</a:t>
                      </a:r>
                    </a:p>
                  </a:txBody>
                  <a:tcPr anchor="ctr"/>
                </a:tc>
                <a:tc>
                  <a:txBody>
                    <a:bodyPr/>
                    <a:lstStyle/>
                    <a:p>
                      <a:pPr algn="l">
                        <a:defRPr sz="1000">
                          <a:solidFill>
                            <a:srgbClr val="1A1A1A"/>
                          </a:solidFill>
                          <a:latin typeface="Calibri"/>
                        </a:defRPr>
                      </a:pPr>
                      <a:r>
                        <a:t>Always act in the patient's best interest</a:t>
                      </a:r>
                    </a:p>
                  </a:txBody>
                  <a:tcPr anchor="ctr"/>
                </a:tc>
              </a:tr>
              <a:tr h="365760">
                <a:tc>
                  <a:txBody>
                    <a:bodyPr/>
                    <a:lstStyle/>
                    <a:p>
                      <a:pPr algn="l">
                        <a:defRPr sz="1000">
                          <a:solidFill>
                            <a:srgbClr val="1A1A1A"/>
                          </a:solidFill>
                          <a:latin typeface="Calibri"/>
                        </a:defRPr>
                      </a:pPr>
                      <a:r>
                        <a:t>Non-Maleficence (do no harm)</a:t>
                      </a:r>
                    </a:p>
                  </a:txBody>
                  <a:tcPr anchor="ctr">
                    <a:solidFill>
                      <a:srgbClr val="F5F2EB"/>
                    </a:solidFill>
                  </a:tcPr>
                </a:tc>
                <a:tc>
                  <a:txBody>
                    <a:bodyPr/>
                    <a:lstStyle/>
                    <a:p>
                      <a:pPr algn="l">
                        <a:defRPr sz="1000">
                          <a:solidFill>
                            <a:srgbClr val="1A1A1A"/>
                          </a:solidFill>
                          <a:latin typeface="Calibri"/>
                        </a:defRPr>
                      </a:pPr>
                      <a:r>
                        <a:t>لَا ضَرَرَ وَلَا ضِرَارَ</a:t>
                      </a:r>
                    </a:p>
                  </a:txBody>
                  <a:tcPr anchor="ctr">
                    <a:solidFill>
                      <a:srgbClr val="F5F2EB"/>
                    </a:solidFill>
                  </a:tcPr>
                </a:tc>
                <a:tc>
                  <a:txBody>
                    <a:bodyPr/>
                    <a:lstStyle/>
                    <a:p>
                      <a:pPr algn="l">
                        <a:defRPr sz="1000">
                          <a:solidFill>
                            <a:srgbClr val="1A1A1A"/>
                          </a:solidFill>
                          <a:latin typeface="Calibri"/>
                        </a:defRPr>
                      </a:pPr>
                      <a:r>
                        <a:t>Never treat when risk exceeds benefit</a:t>
                      </a:r>
                    </a:p>
                  </a:txBody>
                  <a:tcPr anchor="ctr">
                    <a:solidFill>
                      <a:srgbClr val="F5F2EB"/>
                    </a:solidFill>
                  </a:tcPr>
                </a:tc>
              </a:tr>
              <a:tr h="365760">
                <a:tc>
                  <a:txBody>
                    <a:bodyPr/>
                    <a:lstStyle/>
                    <a:p>
                      <a:pPr algn="l">
                        <a:defRPr sz="1000">
                          <a:solidFill>
                            <a:srgbClr val="1A1A1A"/>
                          </a:solidFill>
                          <a:latin typeface="Calibri"/>
                        </a:defRPr>
                      </a:pPr>
                      <a:r>
                        <a:t>Autonomy (respect choice)</a:t>
                      </a:r>
                    </a:p>
                  </a:txBody>
                  <a:tcPr anchor="ctr"/>
                </a:tc>
                <a:tc>
                  <a:txBody>
                    <a:bodyPr/>
                    <a:lstStyle/>
                    <a:p>
                      <a:pPr algn="l">
                        <a:defRPr sz="1000">
                          <a:solidFill>
                            <a:srgbClr val="1A1A1A"/>
                          </a:solidFill>
                          <a:latin typeface="Calibri"/>
                        </a:defRPr>
                      </a:pPr>
                      <a:r>
                        <a:t>No compulsion in religion</a:t>
                      </a:r>
                    </a:p>
                  </a:txBody>
                  <a:tcPr anchor="ctr"/>
                </a:tc>
                <a:tc>
                  <a:txBody>
                    <a:bodyPr/>
                    <a:lstStyle/>
                    <a:p>
                      <a:pPr algn="l">
                        <a:defRPr sz="1000">
                          <a:solidFill>
                            <a:srgbClr val="1A1A1A"/>
                          </a:solidFill>
                          <a:latin typeface="Calibri"/>
                        </a:defRPr>
                      </a:pPr>
                      <a:r>
                        <a:t>Informed consent; right to refuse; right to withdraw</a:t>
                      </a:r>
                    </a:p>
                  </a:txBody>
                  <a:tcPr anchor="ctr"/>
                </a:tc>
              </a:tr>
              <a:tr h="365760">
                <a:tc>
                  <a:txBody>
                    <a:bodyPr/>
                    <a:lstStyle/>
                    <a:p>
                      <a:pPr algn="l">
                        <a:defRPr sz="1000">
                          <a:solidFill>
                            <a:srgbClr val="1A1A1A"/>
                          </a:solidFill>
                          <a:latin typeface="Calibri"/>
                        </a:defRPr>
                      </a:pPr>
                      <a:r>
                        <a:t>Justice (fairness)</a:t>
                      </a:r>
                    </a:p>
                  </a:txBody>
                  <a:tcPr anchor="ctr">
                    <a:solidFill>
                      <a:srgbClr val="F5F2EB"/>
                    </a:solidFill>
                  </a:tcPr>
                </a:tc>
                <a:tc>
                  <a:txBody>
                    <a:bodyPr/>
                    <a:lstStyle/>
                    <a:p>
                      <a:pPr algn="l">
                        <a:defRPr sz="1000">
                          <a:solidFill>
                            <a:srgbClr val="1A1A1A"/>
                          </a:solidFill>
                          <a:latin typeface="Calibri"/>
                        </a:defRPr>
                      </a:pPr>
                      <a:r>
                        <a:t>Allah commands justice</a:t>
                      </a:r>
                    </a:p>
                  </a:txBody>
                  <a:tcPr anchor="ctr">
                    <a:solidFill>
                      <a:srgbClr val="F5F2EB"/>
                    </a:solidFill>
                  </a:tcPr>
                </a:tc>
                <a:tc>
                  <a:txBody>
                    <a:bodyPr/>
                    <a:lstStyle/>
                    <a:p>
                      <a:pPr algn="l">
                        <a:defRPr sz="1000">
                          <a:solidFill>
                            <a:srgbClr val="1A1A1A"/>
                          </a:solidFill>
                          <a:latin typeface="Calibri"/>
                        </a:defRPr>
                      </a:pPr>
                      <a:r>
                        <a:t>Equal treatment regardless of background, wealth, or status</a:t>
                      </a:r>
                    </a:p>
                  </a:txBody>
                  <a:tcPr anchor="ctr">
                    <a:solidFill>
                      <a:srgbClr val="F5F2EB"/>
                    </a:solidFill>
                  </a:tcPr>
                </a:tc>
              </a:tr>
              <a:tr h="365760">
                <a:tc>
                  <a:txBody>
                    <a:bodyPr/>
                    <a:lstStyle/>
                    <a:p>
                      <a:pPr algn="l">
                        <a:defRPr sz="1000">
                          <a:solidFill>
                            <a:srgbClr val="1A1A1A"/>
                          </a:solidFill>
                          <a:latin typeface="Calibri"/>
                        </a:defRPr>
                      </a:pPr>
                      <a:r>
                        <a:t>Confidentiality (trust)</a:t>
                      </a:r>
                    </a:p>
                  </a:txBody>
                  <a:tcPr anchor="ctr"/>
                </a:tc>
                <a:tc>
                  <a:txBody>
                    <a:bodyPr/>
                    <a:lstStyle/>
                    <a:p>
                      <a:pPr algn="l">
                        <a:defRPr sz="1000">
                          <a:solidFill>
                            <a:srgbClr val="1A1A1A"/>
                          </a:solidFill>
                          <a:latin typeface="Calibri"/>
                        </a:defRPr>
                      </a:pPr>
                      <a:r>
                        <a:t>Amanah (sacred trust)</a:t>
                      </a:r>
                    </a:p>
                  </a:txBody>
                  <a:tcPr anchor="ctr"/>
                </a:tc>
                <a:tc>
                  <a:txBody>
                    <a:bodyPr/>
                    <a:lstStyle/>
                    <a:p>
                      <a:pPr algn="l">
                        <a:defRPr sz="1000">
                          <a:solidFill>
                            <a:srgbClr val="1A1A1A"/>
                          </a:solidFill>
                          <a:latin typeface="Calibri"/>
                        </a:defRPr>
                      </a:pPr>
                      <a:r>
                        <a:t>Protect patient information; secure records; limited disclosure</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12.1 — Core Ethical Obligations. These principles are derived from Islamic bioethics and integrated with professional standards.</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12 | Professional Standards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Boundary Management &amp; Advertising Standards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280160"/>
            <a:ext cx="54864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Boundary Management:</a:t>
            </a:r>
          </a:p>
        </p:txBody>
      </p:sp>
      <p:sp>
        <p:nvSpPr>
          <p:cNvPr id="6" name="TextBox 5"/>
          <p:cNvSpPr txBox="1"/>
          <p:nvPr/>
        </p:nvSpPr>
        <p:spPr>
          <a:xfrm>
            <a:off x="640080" y="160020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Financial: No gifts from patients; no undisclosed commissions; fair pricing</a:t>
            </a:r>
          </a:p>
        </p:txBody>
      </p:sp>
      <p:sp>
        <p:nvSpPr>
          <p:cNvPr id="7" name="TextBox 6"/>
          <p:cNvSpPr txBox="1"/>
          <p:nvPr/>
        </p:nvSpPr>
        <p:spPr>
          <a:xfrm>
            <a:off x="640080" y="196596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Social: No personal relationships with current patients; no social media friendships</a:t>
            </a:r>
          </a:p>
        </p:txBody>
      </p:sp>
      <p:sp>
        <p:nvSpPr>
          <p:cNvPr id="8" name="TextBox 7"/>
          <p:cNvSpPr txBox="1"/>
          <p:nvPr/>
        </p:nvSpPr>
        <p:spPr>
          <a:xfrm>
            <a:off x="640080" y="233172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Religious: No imposing personal views; no takalluf; respect patient's spiritual path</a:t>
            </a:r>
          </a:p>
        </p:txBody>
      </p:sp>
      <p:sp>
        <p:nvSpPr>
          <p:cNvPr id="9" name="TextBox 8"/>
          <p:cNvSpPr txBox="1"/>
          <p:nvPr/>
        </p:nvSpPr>
        <p:spPr>
          <a:xfrm>
            <a:off x="6217920" y="1280160"/>
            <a:ext cx="54864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Advertising Standards:</a:t>
            </a:r>
          </a:p>
        </p:txBody>
      </p:sp>
      <p:sp>
        <p:nvSpPr>
          <p:cNvPr id="10" name="TextBox 9"/>
          <p:cNvSpPr txBox="1"/>
          <p:nvPr/>
        </p:nvSpPr>
        <p:spPr>
          <a:xfrm>
            <a:off x="6400800" y="160020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Never guarantee cure</a:t>
            </a:r>
          </a:p>
        </p:txBody>
      </p:sp>
      <p:sp>
        <p:nvSpPr>
          <p:cNvPr id="11" name="TextBox 10"/>
          <p:cNvSpPr txBox="1"/>
          <p:nvPr/>
        </p:nvSpPr>
        <p:spPr>
          <a:xfrm>
            <a:off x="6400800" y="196596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Never disparage conventional medicine</a:t>
            </a:r>
          </a:p>
        </p:txBody>
      </p:sp>
      <p:sp>
        <p:nvSpPr>
          <p:cNvPr id="12" name="TextBox 11"/>
          <p:cNvSpPr txBox="1"/>
          <p:nvPr/>
        </p:nvSpPr>
        <p:spPr>
          <a:xfrm>
            <a:off x="6400800" y="233172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Never use patient testimonials without explicit consent</a:t>
            </a:r>
          </a:p>
        </p:txBody>
      </p:sp>
      <p:sp>
        <p:nvSpPr>
          <p:cNvPr id="13" name="TextBox 12"/>
          <p:cNvSpPr txBox="1"/>
          <p:nvPr/>
        </p:nvSpPr>
        <p:spPr>
          <a:xfrm>
            <a:off x="6400800" y="269748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Never claim qualifications you do not hold</a:t>
            </a:r>
          </a:p>
        </p:txBody>
      </p:sp>
      <p:sp>
        <p:nvSpPr>
          <p:cNvPr id="14" name="TextBox 13"/>
          <p:cNvSpPr txBox="1"/>
          <p:nvPr/>
        </p:nvSpPr>
        <p:spPr>
          <a:xfrm>
            <a:off x="6400800" y="3063240"/>
            <a:ext cx="5029200" cy="36576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Always include Academy certification number</a:t>
            </a:r>
          </a:p>
        </p:txBody>
      </p:sp>
      <p:sp>
        <p:nvSpPr>
          <p:cNvPr id="15" name="Rectangle 14"/>
          <p:cNvSpPr/>
          <p:nvPr/>
        </p:nvSpPr>
        <p:spPr>
          <a:xfrm>
            <a:off x="457200" y="3291840"/>
            <a:ext cx="11277295" cy="109728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383280"/>
            <a:ext cx="11002975" cy="365760"/>
          </a:xfrm>
          <a:prstGeom prst="rect">
            <a:avLst/>
          </a:prstGeom>
          <a:noFill/>
        </p:spPr>
        <p:txBody>
          <a:bodyPr wrap="none">
            <a:spAutoFit/>
          </a:bodyPr>
          <a:lstStyle/>
          <a:p>
            <a:pPr algn="l">
              <a:defRPr sz="1000" b="1">
                <a:solidFill>
                  <a:srgbClr val="E2725B"/>
                </a:solidFill>
                <a:latin typeface="Calibri"/>
              </a:defRPr>
            </a:pPr>
            <a:r>
              <a:t>WARNING</a:t>
            </a:r>
          </a:p>
        </p:txBody>
      </p:sp>
      <p:sp>
        <p:nvSpPr>
          <p:cNvPr id="17" name="TextBox 16"/>
          <p:cNvSpPr txBox="1"/>
          <p:nvPr/>
        </p:nvSpPr>
        <p:spPr>
          <a:xfrm>
            <a:off x="594360" y="365760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Never guarantee cure. Never disparage conventional medicine. The practitioner who claims to cure cancer with Hijama is not a healer. They are a fraud. And the Academy will not protect them.</a:t>
            </a:r>
          </a:p>
        </p:txBody>
      </p:sp>
      <p:sp>
        <p:nvSpPr>
          <p:cNvPr id="18" name="Rectangle 17"/>
          <p:cNvSpPr/>
          <p:nvPr/>
        </p:nvSpPr>
        <p:spPr>
          <a:xfrm>
            <a:off x="1828800" y="4572000"/>
            <a:ext cx="8534095" cy="109728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965960" y="4663440"/>
            <a:ext cx="8259775" cy="365760"/>
          </a:xfrm>
          <a:prstGeom prst="rect">
            <a:avLst/>
          </a:prstGeom>
          <a:noFill/>
        </p:spPr>
        <p:txBody>
          <a:bodyPr wrap="none">
            <a:spAutoFit/>
          </a:bodyPr>
          <a:lstStyle/>
          <a:p>
            <a:pPr algn="l">
              <a:defRPr sz="1000" b="1">
                <a:solidFill>
                  <a:srgbClr val="E2725B"/>
                </a:solidFill>
                <a:latin typeface="Calibri"/>
              </a:defRPr>
            </a:pPr>
            <a:r>
              <a:t>Faith &amp; Practice Reflection</a:t>
            </a:r>
          </a:p>
        </p:txBody>
      </p:sp>
      <p:sp>
        <p:nvSpPr>
          <p:cNvPr id="20" name="TextBox 19"/>
          <p:cNvSpPr txBox="1"/>
          <p:nvPr/>
        </p:nvSpPr>
        <p:spPr>
          <a:xfrm>
            <a:off x="1965960" y="4937760"/>
            <a:ext cx="8259775" cy="640080"/>
          </a:xfrm>
          <a:prstGeom prst="rect">
            <a:avLst/>
          </a:prstGeom>
          <a:noFill/>
        </p:spPr>
        <p:txBody>
          <a:bodyPr wrap="square">
            <a:spAutoFit/>
          </a:bodyPr>
          <a:lstStyle/>
          <a:p>
            <a:pPr algn="l">
              <a:lnSpc>
                <a:spcPct val="115000"/>
              </a:lnSpc>
              <a:defRPr sz="1000">
                <a:solidFill>
                  <a:srgbClr val="1A1A1A"/>
                </a:solidFill>
                <a:latin typeface="Calibri"/>
              </a:defRPr>
            </a:pPr>
            <a:r>
              <a:t>How will you maintain ikhlaas (sincerity) when financial pressures arise? How will you resist the temptation to exaggerate outcomes to attract patients? Your niyyah (intention) is your protection.</a:t>
            </a:r>
          </a:p>
        </p:txBody>
      </p:sp>
      <p:sp>
        <p:nvSpPr>
          <p:cNvPr id="21" name="TextBox 20"/>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12 | Professional Standards</a:t>
            </a:r>
          </a:p>
        </p:txBody>
      </p:sp>
      <p:sp>
        <p:nvSpPr>
          <p:cNvPr id="22" name="TextBox 21"/>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36</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0" y="274320"/>
            <a:ext cx="4876495" cy="457200"/>
          </a:xfrm>
          <a:prstGeom prst="round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362895" cy="1097280"/>
          </a:xfrm>
          <a:prstGeom prst="rect">
            <a:avLst/>
          </a:prstGeom>
          <a:noFill/>
        </p:spPr>
        <p:txBody>
          <a:bodyPr wrap="square"/>
          <a:lstStyle/>
          <a:p>
            <a:pPr algn="ctr">
              <a:lnSpc>
                <a:spcPct val="120000"/>
              </a:lnSpc>
              <a:spcBef>
                <a:spcPts val="0"/>
              </a:spcBef>
              <a:spcAft>
                <a:spcPts val="0"/>
              </a:spcAft>
              <a:defRPr sz="7200" b="1" i="0">
                <a:solidFill>
                  <a:srgbClr val="B8860B"/>
                </a:solidFill>
                <a:latin typeface="Georgia"/>
              </a:defRPr>
            </a:pPr>
            <a:r>
              <a:t>13</a:t>
            </a:r>
          </a:p>
        </p:txBody>
      </p:sp>
      <p:sp>
        <p:nvSpPr>
          <p:cNvPr id="5" name="TextBox 4"/>
          <p:cNvSpPr txBox="1"/>
          <p:nvPr/>
        </p:nvSpPr>
        <p:spPr>
          <a:xfrm>
            <a:off x="914400" y="2926080"/>
            <a:ext cx="10362895" cy="731520"/>
          </a:xfrm>
          <a:prstGeom prst="rect">
            <a:avLst/>
          </a:prstGeom>
          <a:noFill/>
        </p:spPr>
        <p:txBody>
          <a:bodyPr wrap="square"/>
          <a:lstStyle/>
          <a:p>
            <a:pPr algn="ctr">
              <a:lnSpc>
                <a:spcPct val="120000"/>
              </a:lnSpc>
              <a:spcBef>
                <a:spcPts val="0"/>
              </a:spcBef>
              <a:spcAft>
                <a:spcPts val="0"/>
              </a:spcAft>
              <a:defRPr sz="4000" b="1" i="0">
                <a:solidFill>
                  <a:srgbClr val="003F5C"/>
                </a:solidFill>
                <a:latin typeface="Georgia"/>
              </a:defRPr>
            </a:pPr>
            <a:r>
              <a:t>Research References &amp; Evidence Summary</a:t>
            </a:r>
          </a:p>
        </p:txBody>
      </p:sp>
      <p:sp>
        <p:nvSpPr>
          <p:cNvPr id="6" name="TextBox 5"/>
          <p:cNvSpPr txBox="1"/>
          <p:nvPr/>
        </p:nvSpPr>
        <p:spPr>
          <a:xfrm>
            <a:off x="914400" y="3749039"/>
            <a:ext cx="10362895" cy="457200"/>
          </a:xfrm>
          <a:prstGeom prst="rect">
            <a:avLst/>
          </a:prstGeom>
          <a:noFill/>
        </p:spPr>
        <p:txBody>
          <a:bodyPr wrap="square"/>
          <a:lstStyle/>
          <a:p>
            <a:pPr algn="ctr">
              <a:lnSpc>
                <a:spcPct val="120000"/>
              </a:lnSpc>
              <a:spcBef>
                <a:spcPts val="0"/>
              </a:spcBef>
              <a:spcAft>
                <a:spcPts val="0"/>
              </a:spcAft>
              <a:defRPr sz="1800" b="0" i="0">
                <a:solidFill>
                  <a:srgbClr val="B8860B"/>
                </a:solidFill>
                <a:latin typeface="Georgia"/>
              </a:defRPr>
            </a:pPr>
            <a:r>
              <a:t>The Living Knowledge Base</a:t>
            </a:r>
          </a:p>
        </p:txBody>
      </p:sp>
      <p:sp>
        <p:nvSpPr>
          <p:cNvPr id="7" name="TextBox 6"/>
          <p:cNvSpPr txBox="1"/>
          <p:nvPr/>
        </p:nvSpPr>
        <p:spPr>
          <a:xfrm>
            <a:off x="8229600" y="6217920"/>
            <a:ext cx="3474720" cy="274320"/>
          </a:xfrm>
          <a:prstGeom prst="rect">
            <a:avLst/>
          </a:prstGeom>
          <a:noFill/>
        </p:spPr>
        <p:txBody>
          <a:bodyPr wrap="square"/>
          <a:lstStyle/>
          <a:p>
            <a:pPr algn="r">
              <a:lnSpc>
                <a:spcPct val="120000"/>
              </a:lnSpc>
              <a:spcBef>
                <a:spcPts val="0"/>
              </a:spcBef>
              <a:spcAft>
                <a:spcPts val="0"/>
              </a:spcAft>
              <a:defRPr sz="1000" b="0" i="0">
                <a:solidFill>
                  <a:srgbClr val="1A1A1A"/>
                </a:solidFill>
                <a:latin typeface="Calibri"/>
              </a:defRPr>
            </a:pPr>
            <a:r>
              <a:t>Chapter 13 | pp. 104–113</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Classical Sources</a:t>
            </a:r>
          </a:p>
        </p:txBody>
      </p:sp>
      <p:graphicFrame>
        <p:nvGraphicFramePr>
          <p:cNvPr id="5" name="Table 4"/>
          <p:cNvGraphicFramePr>
            <a:graphicFrameLocks noGrp="1"/>
          </p:cNvGraphicFramePr>
          <p:nvPr/>
        </p:nvGraphicFramePr>
        <p:xfrm>
          <a:off x="457200" y="1554480"/>
          <a:ext cx="11277294" cy="219456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Scholar</a:t>
                      </a:r>
                    </a:p>
                  </a:txBody>
                  <a:tcPr anchor="ctr">
                    <a:solidFill>
                      <a:srgbClr val="003F5C"/>
                    </a:solidFill>
                  </a:tcPr>
                </a:tc>
                <a:tc>
                  <a:txBody>
                    <a:bodyPr/>
                    <a:lstStyle/>
                    <a:p>
                      <a:pPr algn="l">
                        <a:defRPr sz="1000" b="1">
                          <a:solidFill>
                            <a:srgbClr val="FAF7F2"/>
                          </a:solidFill>
                          <a:latin typeface="Calibri"/>
                        </a:defRPr>
                      </a:pPr>
                      <a:r>
                        <a:t>Work</a:t>
                      </a:r>
                    </a:p>
                  </a:txBody>
                  <a:tcPr anchor="ctr">
                    <a:solidFill>
                      <a:srgbClr val="003F5C"/>
                    </a:solidFill>
                  </a:tcPr>
                </a:tc>
                <a:tc>
                  <a:txBody>
                    <a:bodyPr/>
                    <a:lstStyle/>
                    <a:p>
                      <a:pPr algn="l">
                        <a:defRPr sz="1000" b="1">
                          <a:solidFill>
                            <a:srgbClr val="FAF7F2"/>
                          </a:solidFill>
                          <a:latin typeface="Calibri"/>
                        </a:defRPr>
                      </a:pPr>
                      <a:r>
                        <a:t>Relevance to Hijama</a:t>
                      </a:r>
                    </a:p>
                  </a:txBody>
                  <a:tcPr anchor="ctr">
                    <a:solidFill>
                      <a:srgbClr val="003F5C"/>
                    </a:solidFill>
                  </a:tcPr>
                </a:tc>
              </a:tr>
              <a:tr h="365760">
                <a:tc>
                  <a:txBody>
                    <a:bodyPr/>
                    <a:lstStyle/>
                    <a:p>
                      <a:pPr algn="l">
                        <a:defRPr sz="1000">
                          <a:solidFill>
                            <a:srgbClr val="1A1A1A"/>
                          </a:solidFill>
                          <a:latin typeface="Calibri"/>
                        </a:defRPr>
                      </a:pPr>
                      <a:r>
                        <a:t>Ibn al-Qayyim</a:t>
                      </a:r>
                    </a:p>
                  </a:txBody>
                  <a:tcPr anchor="ctr"/>
                </a:tc>
                <a:tc>
                  <a:txBody>
                    <a:bodyPr/>
                    <a:lstStyle/>
                    <a:p>
                      <a:pPr algn="l">
                        <a:defRPr sz="1000">
                          <a:solidFill>
                            <a:srgbClr val="1A1A1A"/>
                          </a:solidFill>
                          <a:latin typeface="Calibri"/>
                        </a:defRPr>
                      </a:pPr>
                      <a:r>
                        <a:t>Al-Tibb al-Nabawi (Prophetic Medicine)</a:t>
                      </a:r>
                    </a:p>
                  </a:txBody>
                  <a:tcPr anchor="ctr"/>
                </a:tc>
                <a:tc>
                  <a:txBody>
                    <a:bodyPr/>
                    <a:lstStyle/>
                    <a:p>
                      <a:pPr algn="l">
                        <a:defRPr sz="1000">
                          <a:solidFill>
                            <a:srgbClr val="1A1A1A"/>
                          </a:solidFill>
                          <a:latin typeface="Calibri"/>
                        </a:defRPr>
                      </a:pPr>
                      <a:r>
                        <a:t>Primary classical text on Hijama; point selection; timing; therapeutic indications</a:t>
                      </a:r>
                    </a:p>
                  </a:txBody>
                  <a:tcPr anchor="ctr"/>
                </a:tc>
              </a:tr>
              <a:tr h="365760">
                <a:tc>
                  <a:txBody>
                    <a:bodyPr/>
                    <a:lstStyle/>
                    <a:p>
                      <a:pPr algn="l">
                        <a:defRPr sz="1000">
                          <a:solidFill>
                            <a:srgbClr val="1A1A1A"/>
                          </a:solidFill>
                          <a:latin typeface="Calibri"/>
                        </a:defRPr>
                      </a:pPr>
                      <a:r>
                        <a:t>Ibn Sina (Avicenna)</a:t>
                      </a:r>
                    </a:p>
                  </a:txBody>
                  <a:tcPr anchor="ctr">
                    <a:solidFill>
                      <a:srgbClr val="F5F2EB"/>
                    </a:solidFill>
                  </a:tcPr>
                </a:tc>
                <a:tc>
                  <a:txBody>
                    <a:bodyPr/>
                    <a:lstStyle/>
                    <a:p>
                      <a:pPr algn="l">
                        <a:defRPr sz="1000">
                          <a:solidFill>
                            <a:srgbClr val="1A1A1A"/>
                          </a:solidFill>
                          <a:latin typeface="Calibri"/>
                        </a:defRPr>
                      </a:pPr>
                      <a:r>
                        <a:t>Al-Qanun fi al-Tibb (The Canon of Medicine)</a:t>
                      </a:r>
                    </a:p>
                  </a:txBody>
                  <a:tcPr anchor="ctr">
                    <a:solidFill>
                      <a:srgbClr val="F5F2EB"/>
                    </a:solidFill>
                  </a:tcPr>
                </a:tc>
                <a:tc>
                  <a:txBody>
                    <a:bodyPr/>
                    <a:lstStyle/>
                    <a:p>
                      <a:pPr algn="l">
                        <a:defRPr sz="1000">
                          <a:solidFill>
                            <a:srgbClr val="1A1A1A"/>
                          </a:solidFill>
                          <a:latin typeface="Calibri"/>
                        </a:defRPr>
                      </a:pPr>
                      <a:r>
                        <a:t>Systematic medical framework; integration of Hijama with humoral theory</a:t>
                      </a:r>
                    </a:p>
                  </a:txBody>
                  <a:tcPr anchor="ctr">
                    <a:solidFill>
                      <a:srgbClr val="F5F2EB"/>
                    </a:solidFill>
                  </a:tcPr>
                </a:tc>
              </a:tr>
              <a:tr h="365760">
                <a:tc>
                  <a:txBody>
                    <a:bodyPr/>
                    <a:lstStyle/>
                    <a:p>
                      <a:pPr algn="l">
                        <a:defRPr sz="1000">
                          <a:solidFill>
                            <a:srgbClr val="1A1A1A"/>
                          </a:solidFill>
                          <a:latin typeface="Calibri"/>
                        </a:defRPr>
                      </a:pPr>
                      <a:r>
                        <a:t>Al-Zahrawi</a:t>
                      </a:r>
                    </a:p>
                  </a:txBody>
                  <a:tcPr anchor="ctr"/>
                </a:tc>
                <a:tc>
                  <a:txBody>
                    <a:bodyPr/>
                    <a:lstStyle/>
                    <a:p>
                      <a:pPr algn="l">
                        <a:defRPr sz="1000">
                          <a:solidFill>
                            <a:srgbClr val="1A1A1A"/>
                          </a:solidFill>
                          <a:latin typeface="Calibri"/>
                        </a:defRPr>
                      </a:pPr>
                      <a:r>
                        <a:t>Al-Tasrif</a:t>
                      </a:r>
                    </a:p>
                  </a:txBody>
                  <a:tcPr anchor="ctr"/>
                </a:tc>
                <a:tc>
                  <a:txBody>
                    <a:bodyPr/>
                    <a:lstStyle/>
                    <a:p>
                      <a:pPr algn="l">
                        <a:defRPr sz="1000">
                          <a:solidFill>
                            <a:srgbClr val="1A1A1A"/>
                          </a:solidFill>
                          <a:latin typeface="Calibri"/>
                        </a:defRPr>
                      </a:pPr>
                      <a:r>
                        <a:t>Surgical techniques; instrument design; sterile principles</a:t>
                      </a:r>
                    </a:p>
                  </a:txBody>
                  <a:tcPr anchor="ctr"/>
                </a:tc>
              </a:tr>
              <a:tr h="365760">
                <a:tc>
                  <a:txBody>
                    <a:bodyPr/>
                    <a:lstStyle/>
                    <a:p>
                      <a:pPr algn="l">
                        <a:defRPr sz="1000">
                          <a:solidFill>
                            <a:srgbClr val="1A1A1A"/>
                          </a:solidFill>
                          <a:latin typeface="Calibri"/>
                        </a:defRPr>
                      </a:pPr>
                      <a:r>
                        <a:t>Al-Razi</a:t>
                      </a:r>
                    </a:p>
                  </a:txBody>
                  <a:tcPr anchor="ctr">
                    <a:solidFill>
                      <a:srgbClr val="F5F2EB"/>
                    </a:solidFill>
                  </a:tcPr>
                </a:tc>
                <a:tc>
                  <a:txBody>
                    <a:bodyPr/>
                    <a:lstStyle/>
                    <a:p>
                      <a:pPr algn="l">
                        <a:defRPr sz="1000">
                          <a:solidFill>
                            <a:srgbClr val="1A1A1A"/>
                          </a:solidFill>
                          <a:latin typeface="Calibri"/>
                        </a:defRPr>
                      </a:pPr>
                      <a:r>
                        <a:t>Al-Hawi fi al-Tibb</a:t>
                      </a:r>
                    </a:p>
                  </a:txBody>
                  <a:tcPr anchor="ctr">
                    <a:solidFill>
                      <a:srgbClr val="F5F2EB"/>
                    </a:solidFill>
                  </a:tcPr>
                </a:tc>
                <a:tc>
                  <a:txBody>
                    <a:bodyPr/>
                    <a:lstStyle/>
                    <a:p>
                      <a:pPr algn="l">
                        <a:defRPr sz="1000">
                          <a:solidFill>
                            <a:srgbClr val="1A1A1A"/>
                          </a:solidFill>
                          <a:latin typeface="Calibri"/>
                        </a:defRPr>
                      </a:pPr>
                      <a:r>
                        <a:t>Clinical observations; case documentation; adverse event recording</a:t>
                      </a:r>
                    </a:p>
                  </a:txBody>
                  <a:tcPr anchor="ctr">
                    <a:solidFill>
                      <a:srgbClr val="F5F2EB"/>
                    </a:solidFill>
                  </a:tcPr>
                </a:tc>
              </a:tr>
              <a:tr h="365760">
                <a:tc>
                  <a:txBody>
                    <a:bodyPr/>
                    <a:lstStyle/>
                    <a:p>
                      <a:pPr algn="l">
                        <a:defRPr sz="1000">
                          <a:solidFill>
                            <a:srgbClr val="1A1A1A"/>
                          </a:solidFill>
                          <a:latin typeface="Calibri"/>
                        </a:defRPr>
                      </a:pPr>
                      <a:r>
                        <a:t>Al-Nawawi</a:t>
                      </a:r>
                    </a:p>
                  </a:txBody>
                  <a:tcPr anchor="ctr"/>
                </a:tc>
                <a:tc>
                  <a:txBody>
                    <a:bodyPr/>
                    <a:lstStyle/>
                    <a:p>
                      <a:pPr algn="l">
                        <a:defRPr sz="1000">
                          <a:solidFill>
                            <a:srgbClr val="1A1A1A"/>
                          </a:solidFill>
                          <a:latin typeface="Calibri"/>
                        </a:defRPr>
                      </a:pPr>
                      <a:r>
                        <a:t>Sharh Sahih Muslim</a:t>
                      </a:r>
                    </a:p>
                  </a:txBody>
                  <a:tcPr anchor="ctr"/>
                </a:tc>
                <a:tc>
                  <a:txBody>
                    <a:bodyPr/>
                    <a:lstStyle/>
                    <a:p>
                      <a:pPr algn="l">
                        <a:defRPr sz="1000">
                          <a:solidFill>
                            <a:srgbClr val="1A1A1A"/>
                          </a:solidFill>
                          <a:latin typeface="Calibri"/>
                        </a:defRPr>
                      </a:pPr>
                      <a:r>
                        <a:t>Hadith commentary on Prophetic medicine; authentication of Hijama narrations</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13.1 — Classical Sources. These texts form the scholarly foundation of Academy practice.</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13 | Research References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Contemporary Research Summary</a:t>
            </a:r>
          </a:p>
        </p:txBody>
      </p:sp>
      <p:graphicFrame>
        <p:nvGraphicFramePr>
          <p:cNvPr id="5" name="Table 4"/>
          <p:cNvGraphicFramePr>
            <a:graphicFrameLocks noGrp="1"/>
          </p:cNvGraphicFramePr>
          <p:nvPr/>
        </p:nvGraphicFramePr>
        <p:xfrm>
          <a:off x="457200" y="1554480"/>
          <a:ext cx="11277294" cy="182880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Category</a:t>
                      </a:r>
                    </a:p>
                  </a:txBody>
                  <a:tcPr anchor="ctr">
                    <a:solidFill>
                      <a:srgbClr val="003F5C"/>
                    </a:solidFill>
                  </a:tcPr>
                </a:tc>
                <a:tc>
                  <a:txBody>
                    <a:bodyPr/>
                    <a:lstStyle/>
                    <a:p>
                      <a:pPr algn="l">
                        <a:defRPr sz="1000" b="1">
                          <a:solidFill>
                            <a:srgbClr val="FAF7F2"/>
                          </a:solidFill>
                          <a:latin typeface="Calibri"/>
                        </a:defRPr>
                      </a:pPr>
                      <a:r>
                        <a:t>Key Studies</a:t>
                      </a:r>
                    </a:p>
                  </a:txBody>
                  <a:tcPr anchor="ctr">
                    <a:solidFill>
                      <a:srgbClr val="003F5C"/>
                    </a:solidFill>
                  </a:tcPr>
                </a:tc>
                <a:tc>
                  <a:txBody>
                    <a:bodyPr/>
                    <a:lstStyle/>
                    <a:p>
                      <a:pPr algn="l">
                        <a:defRPr sz="1000" b="1">
                          <a:solidFill>
                            <a:srgbClr val="FAF7F2"/>
                          </a:solidFill>
                          <a:latin typeface="Calibri"/>
                        </a:defRPr>
                      </a:pPr>
                      <a:r>
                        <a:t>Findings</a:t>
                      </a:r>
                    </a:p>
                  </a:txBody>
                  <a:tcPr anchor="ctr">
                    <a:solidFill>
                      <a:srgbClr val="003F5C"/>
                    </a:solidFill>
                  </a:tcPr>
                </a:tc>
              </a:tr>
              <a:tr h="365760">
                <a:tc>
                  <a:txBody>
                    <a:bodyPr/>
                    <a:lstStyle/>
                    <a:p>
                      <a:pPr algn="l">
                        <a:defRPr sz="1000">
                          <a:solidFill>
                            <a:srgbClr val="1A1A1A"/>
                          </a:solidFill>
                          <a:latin typeface="Calibri"/>
                        </a:defRPr>
                      </a:pPr>
                      <a:r>
                        <a:t>Systematic Reviews</a:t>
                      </a:r>
                    </a:p>
                  </a:txBody>
                  <a:tcPr anchor="ctr"/>
                </a:tc>
                <a:tc>
                  <a:txBody>
                    <a:bodyPr/>
                    <a:lstStyle/>
                    <a:p>
                      <a:pPr algn="l">
                        <a:defRPr sz="1000">
                          <a:solidFill>
                            <a:srgbClr val="1A1A1A"/>
                          </a:solidFill>
                          <a:latin typeface="Calibri"/>
                        </a:defRPr>
                      </a:pPr>
                      <a:r>
                        <a:t>Cao et al. (2022) — 177 RCTs on chronic pain</a:t>
                      </a:r>
                    </a:p>
                  </a:txBody>
                  <a:tcPr anchor="ctr"/>
                </a:tc>
                <a:tc>
                  <a:txBody>
                    <a:bodyPr/>
                    <a:lstStyle/>
                    <a:p>
                      <a:pPr algn="l">
                        <a:defRPr sz="1000">
                          <a:solidFill>
                            <a:srgbClr val="1A1A1A"/>
                          </a:solidFill>
                          <a:latin typeface="Calibri"/>
                        </a:defRPr>
                      </a:pPr>
                      <a:r>
                        <a:t>Moderate-certainty evidence for short-term pain reduction</a:t>
                      </a:r>
                    </a:p>
                  </a:txBody>
                  <a:tcPr anchor="ctr"/>
                </a:tc>
              </a:tr>
              <a:tr h="365760">
                <a:tc>
                  <a:txBody>
                    <a:bodyPr/>
                    <a:lstStyle/>
                    <a:p>
                      <a:pPr algn="l">
                        <a:defRPr sz="1000">
                          <a:solidFill>
                            <a:srgbClr val="1A1A1A"/>
                          </a:solidFill>
                          <a:latin typeface="Calibri"/>
                        </a:defRPr>
                      </a:pPr>
                      <a:r>
                        <a:t>RCTs</a:t>
                      </a:r>
                    </a:p>
                  </a:txBody>
                  <a:tcPr anchor="ctr">
                    <a:solidFill>
                      <a:srgbClr val="F5F2EB"/>
                    </a:solidFill>
                  </a:tcPr>
                </a:tc>
                <a:tc>
                  <a:txBody>
                    <a:bodyPr/>
                    <a:lstStyle/>
                    <a:p>
                      <a:pPr algn="l">
                        <a:defRPr sz="1000">
                          <a:solidFill>
                            <a:srgbClr val="1A1A1A"/>
                          </a:solidFill>
                          <a:latin typeface="Calibri"/>
                        </a:defRPr>
                      </a:pPr>
                      <a:r>
                        <a:t>Multiple studies on musculoskeletal pain, hypertension</a:t>
                      </a:r>
                    </a:p>
                  </a:txBody>
                  <a:tcPr anchor="ctr">
                    <a:solidFill>
                      <a:srgbClr val="F5F2EB"/>
                    </a:solidFill>
                  </a:tcPr>
                </a:tc>
                <a:tc>
                  <a:txBody>
                    <a:bodyPr/>
                    <a:lstStyle/>
                    <a:p>
                      <a:pPr algn="l">
                        <a:defRPr sz="1000">
                          <a:solidFill>
                            <a:srgbClr val="1A1A1A"/>
                          </a:solidFill>
                          <a:latin typeface="Calibri"/>
                        </a:defRPr>
                      </a:pPr>
                      <a:r>
                        <a:t>Variable quality; heterogeneity of protocols</a:t>
                      </a:r>
                    </a:p>
                  </a:txBody>
                  <a:tcPr anchor="ctr">
                    <a:solidFill>
                      <a:srgbClr val="F5F2EB"/>
                    </a:solidFill>
                  </a:tcPr>
                </a:tc>
              </a:tr>
              <a:tr h="365760">
                <a:tc>
                  <a:txBody>
                    <a:bodyPr/>
                    <a:lstStyle/>
                    <a:p>
                      <a:pPr algn="l">
                        <a:defRPr sz="1000">
                          <a:solidFill>
                            <a:srgbClr val="1A1A1A"/>
                          </a:solidFill>
                          <a:latin typeface="Calibri"/>
                        </a:defRPr>
                      </a:pPr>
                      <a:r>
                        <a:t>Mechanism Studies</a:t>
                      </a:r>
                    </a:p>
                  </a:txBody>
                  <a:tcPr anchor="ctr"/>
                </a:tc>
                <a:tc>
                  <a:txBody>
                    <a:bodyPr/>
                    <a:lstStyle/>
                    <a:p>
                      <a:pPr algn="l">
                        <a:defRPr sz="1000">
                          <a:solidFill>
                            <a:srgbClr val="1A1A1A"/>
                          </a:solidFill>
                          <a:latin typeface="Calibri"/>
                        </a:defRPr>
                      </a:pPr>
                      <a:r>
                        <a:t>Lüdtke et al. (2006); Al-Jauziyah et al. (2015)</a:t>
                      </a:r>
                    </a:p>
                  </a:txBody>
                  <a:tcPr anchor="ctr"/>
                </a:tc>
                <a:tc>
                  <a:txBody>
                    <a:bodyPr/>
                    <a:lstStyle/>
                    <a:p>
                      <a:pPr algn="l">
                        <a:defRPr sz="1000">
                          <a:solidFill>
                            <a:srgbClr val="1A1A1A"/>
                          </a:solidFill>
                          <a:latin typeface="Calibri"/>
                        </a:defRPr>
                      </a:pPr>
                      <a:r>
                        <a:t>NO release, reactive hyperemia, immune modulation probable</a:t>
                      </a:r>
                    </a:p>
                  </a:txBody>
                  <a:tcPr anchor="ctr"/>
                </a:tc>
              </a:tr>
              <a:tr h="365760">
                <a:tc>
                  <a:txBody>
                    <a:bodyPr/>
                    <a:lstStyle/>
                    <a:p>
                      <a:pPr algn="l">
                        <a:defRPr sz="1000">
                          <a:solidFill>
                            <a:srgbClr val="1A1A1A"/>
                          </a:solidFill>
                          <a:latin typeface="Calibri"/>
                        </a:defRPr>
                      </a:pPr>
                      <a:r>
                        <a:t>Safety Studies</a:t>
                      </a:r>
                    </a:p>
                  </a:txBody>
                  <a:tcPr anchor="ctr">
                    <a:solidFill>
                      <a:srgbClr val="F5F2EB"/>
                    </a:solidFill>
                  </a:tcPr>
                </a:tc>
                <a:tc>
                  <a:txBody>
                    <a:bodyPr/>
                    <a:lstStyle/>
                    <a:p>
                      <a:pPr algn="l">
                        <a:defRPr sz="1000">
                          <a:solidFill>
                            <a:srgbClr val="1A1A1A"/>
                          </a:solidFill>
                          <a:latin typeface="Calibri"/>
                        </a:defRPr>
                      </a:pPr>
                      <a:r>
                        <a:t>Cao et al. (2013); systematic safety review</a:t>
                      </a:r>
                    </a:p>
                  </a:txBody>
                  <a:tcPr anchor="ctr">
                    <a:solidFill>
                      <a:srgbClr val="F5F2EB"/>
                    </a:solidFill>
                  </a:tcPr>
                </a:tc>
                <a:tc>
                  <a:txBody>
                    <a:bodyPr/>
                    <a:lstStyle/>
                    <a:p>
                      <a:pPr algn="l">
                        <a:defRPr sz="1000">
                          <a:solidFill>
                            <a:srgbClr val="1A1A1A"/>
                          </a:solidFill>
                          <a:latin typeface="Calibri"/>
                        </a:defRPr>
                      </a:pPr>
                      <a:r>
                        <a:t>Serious adverse events rare when practiced by trained practitioners</a:t>
                      </a:r>
                    </a:p>
                  </a:txBody>
                  <a:tcPr anchor="ctr">
                    <a:solidFill>
                      <a:srgbClr val="F5F2EB"/>
                    </a:solidFill>
                  </a:tcPr>
                </a:tc>
              </a:tr>
            </a:tbl>
          </a:graphicData>
        </a:graphic>
      </p:graphicFrame>
      <p:sp>
        <p:nvSpPr>
          <p:cNvPr id="6" name="TextBox 5"/>
          <p:cNvSpPr txBox="1"/>
          <p:nvPr/>
        </p:nvSpPr>
        <p:spPr>
          <a:xfrm>
            <a:off x="457200" y="347472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13.2 — Contemporary Research Summary. The evidence base evolves. Your knowledge must evolve with it.</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Chapter 13 | Research References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Evidence Review &amp; Living Knowledge</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280160"/>
            <a:ext cx="11277295" cy="1371600"/>
          </a:xfrm>
          <a:prstGeom prst="rect">
            <a:avLst/>
          </a:prstGeom>
          <a:solidFill>
            <a:srgbClr val="F0EBFA"/>
          </a:solidFill>
          <a:ln w="25400">
            <a:solidFill>
              <a:srgbClr val="4B00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371600"/>
            <a:ext cx="11002975" cy="365760"/>
          </a:xfrm>
          <a:prstGeom prst="rect">
            <a:avLst/>
          </a:prstGeom>
          <a:noFill/>
        </p:spPr>
        <p:txBody>
          <a:bodyPr wrap="none">
            <a:spAutoFit/>
          </a:bodyPr>
          <a:lstStyle/>
          <a:p>
            <a:pPr algn="l">
              <a:defRPr sz="1000" b="1">
                <a:solidFill>
                  <a:srgbClr val="4B0082"/>
                </a:solidFill>
                <a:latin typeface="Calibri"/>
              </a:defRPr>
            </a:pPr>
            <a:r>
              <a:t>EVIDENCE REVIEW</a:t>
            </a:r>
          </a:p>
        </p:txBody>
      </p:sp>
      <p:sp>
        <p:nvSpPr>
          <p:cNvPr id="7" name="TextBox 6"/>
          <p:cNvSpPr txBox="1"/>
          <p:nvPr/>
        </p:nvSpPr>
        <p:spPr>
          <a:xfrm>
            <a:off x="594360" y="1645920"/>
            <a:ext cx="11002975" cy="914400"/>
          </a:xfrm>
          <a:prstGeom prst="rect">
            <a:avLst/>
          </a:prstGeom>
          <a:noFill/>
        </p:spPr>
        <p:txBody>
          <a:bodyPr wrap="square">
            <a:spAutoFit/>
          </a:bodyPr>
          <a:lstStyle/>
          <a:p>
            <a:pPr algn="l">
              <a:lnSpc>
                <a:spcPct val="115000"/>
              </a:lnSpc>
              <a:defRPr sz="1000">
                <a:solidFill>
                  <a:srgbClr val="1A1A1A"/>
                </a:solidFill>
                <a:latin typeface="Calibri"/>
              </a:defRPr>
            </a:pPr>
            <a:r>
              <a:t>The Academy's position is reviewed annually. Updates are published in the Alumni Portal and incorporated into the next revision of this Manual. Practitioners who graduated under previous versions are expected to familiarise themselves with updates through continuing professional development.</a:t>
            </a:r>
          </a:p>
        </p:txBody>
      </p:sp>
      <p:sp>
        <p:nvSpPr>
          <p:cNvPr id="8" name="Rectangle 7"/>
          <p:cNvSpPr/>
          <p:nvPr/>
        </p:nvSpPr>
        <p:spPr>
          <a:xfrm>
            <a:off x="457200" y="2834640"/>
            <a:ext cx="11277295" cy="109728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92608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10" name="TextBox 9"/>
          <p:cNvSpPr txBox="1"/>
          <p:nvPr/>
        </p:nvSpPr>
        <p:spPr>
          <a:xfrm>
            <a:off x="594360" y="320040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The evidence base evolves. Your knowledge must evolve with it. A practitioner who relies on a 2010 understanding in 2026 is not traditional. They are obsolete.</a:t>
            </a:r>
          </a:p>
        </p:txBody>
      </p:sp>
      <p:sp>
        <p:nvSpPr>
          <p:cNvPr id="11" name="TextBox 10"/>
          <p:cNvSpPr txBox="1"/>
          <p:nvPr/>
        </p:nvSpPr>
        <p:spPr>
          <a:xfrm>
            <a:off x="914400" y="4206240"/>
            <a:ext cx="10362895" cy="457200"/>
          </a:xfrm>
          <a:prstGeom prst="rect">
            <a:avLst/>
          </a:prstGeom>
          <a:noFill/>
        </p:spPr>
        <p:txBody>
          <a:bodyPr wrap="square"/>
          <a:lstStyle/>
          <a:p>
            <a:pPr algn="ctr">
              <a:lnSpc>
                <a:spcPct val="120000"/>
              </a:lnSpc>
              <a:spcBef>
                <a:spcPts val="0"/>
              </a:spcBef>
              <a:spcAft>
                <a:spcPts val="0"/>
              </a:spcAft>
              <a:defRPr sz="2400" b="0" i="0">
                <a:solidFill>
                  <a:srgbClr val="003F5C"/>
                </a:solidFill>
                <a:latin typeface="Georgia"/>
              </a:defRPr>
            </a:pPr>
            <a:r>
              <a:t>End of Chapter 13 | Research References &amp; Evidence Summary</a:t>
            </a:r>
          </a:p>
        </p:txBody>
      </p:sp>
      <p:sp>
        <p:nvSpPr>
          <p:cNvPr id="12" name="Rectangle 11"/>
          <p:cNvSpPr/>
          <p:nvPr/>
        </p:nvSpPr>
        <p:spPr>
          <a:xfrm>
            <a:off x="3657600" y="4846320"/>
            <a:ext cx="48764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14" name="TextBox 13"/>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37</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10362895" cy="914400"/>
          </a:xfrm>
          <a:prstGeom prst="rect">
            <a:avLst/>
          </a:prstGeom>
          <a:noFill/>
        </p:spPr>
        <p:txBody>
          <a:bodyPr wrap="square"/>
          <a:lstStyle/>
          <a:p>
            <a:pPr algn="ctr">
              <a:lnSpc>
                <a:spcPct val="120000"/>
              </a:lnSpc>
              <a:spcBef>
                <a:spcPts val="0"/>
              </a:spcBef>
              <a:spcAft>
                <a:spcPts val="0"/>
              </a:spcAft>
              <a:defRPr sz="6000" b="1" i="0">
                <a:solidFill>
                  <a:srgbClr val="B8860B"/>
                </a:solidFill>
                <a:latin typeface="Georgia"/>
              </a:defRPr>
            </a:pPr>
            <a:r>
              <a:t>APPENDICES</a:t>
            </a:r>
          </a:p>
        </p:txBody>
      </p:sp>
      <p:sp>
        <p:nvSpPr>
          <p:cNvPr id="4" name="TextBox 3"/>
          <p:cNvSpPr txBox="1"/>
          <p:nvPr/>
        </p:nvSpPr>
        <p:spPr>
          <a:xfrm>
            <a:off x="914400" y="3200400"/>
            <a:ext cx="10362895" cy="548640"/>
          </a:xfrm>
          <a:prstGeom prst="rect">
            <a:avLst/>
          </a:prstGeom>
          <a:noFill/>
        </p:spPr>
        <p:txBody>
          <a:bodyPr wrap="square"/>
          <a:lstStyle/>
          <a:p>
            <a:pPr algn="ctr">
              <a:lnSpc>
                <a:spcPct val="120000"/>
              </a:lnSpc>
              <a:spcBef>
                <a:spcPts val="0"/>
              </a:spcBef>
              <a:spcAft>
                <a:spcPts val="0"/>
              </a:spcAft>
              <a:defRPr sz="2400" b="0" i="0">
                <a:solidFill>
                  <a:srgbClr val="FAF7F2"/>
                </a:solidFill>
                <a:latin typeface="Georgia"/>
              </a:defRPr>
            </a:pPr>
            <a:r>
              <a:t>Reference Materials for Clinical Practice</a:t>
            </a:r>
          </a:p>
        </p:txBody>
      </p:sp>
      <p:sp>
        <p:nvSpPr>
          <p:cNvPr id="5" name="TextBox 4"/>
          <p:cNvSpPr txBox="1"/>
          <p:nvPr/>
        </p:nvSpPr>
        <p:spPr>
          <a:xfrm>
            <a:off x="2743200" y="3840480"/>
            <a:ext cx="6705295" cy="548640"/>
          </a:xfrm>
          <a:prstGeom prst="rect">
            <a:avLst/>
          </a:prstGeom>
          <a:noFill/>
        </p:spPr>
        <p:txBody>
          <a:bodyPr wrap="square"/>
          <a:lstStyle/>
          <a:p>
            <a:pPr algn="ctr">
              <a:lnSpc>
                <a:spcPct val="120000"/>
              </a:lnSpc>
              <a:spcBef>
                <a:spcPts val="0"/>
              </a:spcBef>
              <a:spcAft>
                <a:spcPts val="0"/>
              </a:spcAft>
              <a:defRPr sz="1400" b="0" i="0">
                <a:solidFill>
                  <a:srgbClr val="FAF7F2"/>
                </a:solidFill>
                <a:latin typeface="Calibri"/>
              </a:defRPr>
            </a:pPr>
            <a:r>
              <a:t>Aftercare. Infection Control. Emergency Response. Clinical Forms.</a:t>
            </a:r>
          </a:p>
        </p:txBody>
      </p:sp>
      <p:sp>
        <p:nvSpPr>
          <p:cNvPr id="6" name="TextBox 5"/>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7" name="TextBox 6"/>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Appendices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Appendix A: The Sunnah Remedies Aftercare Protocol</a:t>
            </a:r>
          </a:p>
        </p:txBody>
      </p:sp>
      <p:sp>
        <p:nvSpPr>
          <p:cNvPr id="4" name="Rectangle 3"/>
          <p:cNvSpPr/>
          <p:nvPr/>
        </p:nvSpPr>
        <p:spPr>
          <a:xfrm>
            <a:off x="457200" y="9601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Immediate (0–1 hour)</a:t>
            </a:r>
          </a:p>
        </p:txBody>
      </p:sp>
      <p:sp>
        <p:nvSpPr>
          <p:cNvPr id="6" name="TextBox 5"/>
          <p:cNvSpPr txBox="1"/>
          <p:nvPr/>
        </p:nvSpPr>
        <p:spPr>
          <a:xfrm>
            <a:off x="640080" y="1417320"/>
            <a:ext cx="105156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Sterile dressing applied; observe for 15 minutes. Hydration (water or herbal tea). Avoid strenuous activity, hot baths, saunas. Avoid direct wind or cold exposure to treated area.</a:t>
            </a:r>
          </a:p>
        </p:txBody>
      </p:sp>
      <p:sp>
        <p:nvSpPr>
          <p:cNvPr id="7" name="TextBox 6"/>
          <p:cNvSpPr txBox="1"/>
          <p:nvPr/>
        </p:nvSpPr>
        <p:spPr>
          <a:xfrm>
            <a:off x="457200" y="192024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First 24 Hours</a:t>
            </a:r>
          </a:p>
        </p:txBody>
      </p:sp>
      <p:sp>
        <p:nvSpPr>
          <p:cNvPr id="8" name="TextBox 7"/>
          <p:cNvSpPr txBox="1"/>
          <p:nvPr/>
        </p:nvSpPr>
        <p:spPr>
          <a:xfrm>
            <a:off x="640080" y="2148840"/>
            <a:ext cx="105156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Keep dressing dry and in place for at least 4 hours. After 4 hours, you may remove the dressing and shower gently. Pat the area dry — do not rub. Apply a thin layer of natural, unscented moisturiser once the skin has closed (usually after 24 hours).</a:t>
            </a:r>
          </a:p>
        </p:txBody>
      </p:sp>
      <p:sp>
        <p:nvSpPr>
          <p:cNvPr id="9" name="TextBox 8"/>
          <p:cNvSpPr txBox="1"/>
          <p:nvPr/>
        </p:nvSpPr>
        <p:spPr>
          <a:xfrm>
            <a:off x="457200" y="265176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Days 2–10</a:t>
            </a:r>
          </a:p>
        </p:txBody>
      </p:sp>
      <p:sp>
        <p:nvSpPr>
          <p:cNvPr id="10" name="TextBox 9"/>
          <p:cNvSpPr txBox="1"/>
          <p:nvPr/>
        </p:nvSpPr>
        <p:spPr>
          <a:xfrm>
            <a:off x="640080" y="2880360"/>
            <a:ext cx="105156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Mark monitoring: normal progression is dark red → purple → yellow → resolved. Itching is common; do not scratch. Moisturise with natural, unscented lotion once skin has closed. Document mark progression photographically (with consent).</a:t>
            </a:r>
          </a:p>
        </p:txBody>
      </p:sp>
      <p:sp>
        <p:nvSpPr>
          <p:cNvPr id="11" name="TextBox 10"/>
          <p:cNvSpPr txBox="1"/>
          <p:nvPr/>
        </p:nvSpPr>
        <p:spPr>
          <a:xfrm>
            <a:off x="457200" y="3383280"/>
            <a:ext cx="10972800" cy="22860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Follow-up</a:t>
            </a:r>
          </a:p>
        </p:txBody>
      </p:sp>
      <p:sp>
        <p:nvSpPr>
          <p:cNvPr id="12" name="TextBox 11"/>
          <p:cNvSpPr txBox="1"/>
          <p:nvPr/>
        </p:nvSpPr>
        <p:spPr>
          <a:xfrm>
            <a:off x="640080" y="3611880"/>
            <a:ext cx="10515600" cy="45720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Schedule next session based on treatment plan (typically 4–6 weeks for maintenance). Review patient journal/log. Assess response and adjust protocol.</a:t>
            </a:r>
          </a:p>
        </p:txBody>
      </p:sp>
      <p:sp>
        <p:nvSpPr>
          <p:cNvPr id="13" name="Rectangle 12"/>
          <p:cNvSpPr/>
          <p:nvPr/>
        </p:nvSpPr>
        <p:spPr>
          <a:xfrm>
            <a:off x="457200" y="4754880"/>
            <a:ext cx="11277295" cy="1097280"/>
          </a:xfrm>
          <a:prstGeom prst="rect">
            <a:avLst/>
          </a:prstGeom>
          <a:solidFill>
            <a:srgbClr val="F5F2EB"/>
          </a:solidFill>
          <a:ln w="2540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4846320"/>
            <a:ext cx="11002975" cy="365760"/>
          </a:xfrm>
          <a:prstGeom prst="rect">
            <a:avLst/>
          </a:prstGeom>
          <a:noFill/>
        </p:spPr>
        <p:txBody>
          <a:bodyPr wrap="none">
            <a:spAutoFit/>
          </a:bodyPr>
          <a:lstStyle/>
          <a:p>
            <a:pPr algn="l">
              <a:defRPr sz="1000" b="1">
                <a:solidFill>
                  <a:srgbClr val="B8860B"/>
                </a:solidFill>
                <a:latin typeface="Calibri"/>
              </a:defRPr>
            </a:pPr>
            <a:r>
              <a:t>ISLAMIC INSIGHT</a:t>
            </a:r>
          </a:p>
        </p:txBody>
      </p:sp>
      <p:sp>
        <p:nvSpPr>
          <p:cNvPr id="15" name="TextBox 14"/>
          <p:cNvSpPr txBox="1"/>
          <p:nvPr/>
        </p:nvSpPr>
        <p:spPr>
          <a:xfrm>
            <a:off x="594360" y="512064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وَإِذَا مَرِضْتُ فَهُوَ يَشْفِينِ</a:t>
            </a:r>
            <a:br/>
            <a:br/>
            <a:r>
              <a:t>'And when I am ill, it is He who cures me.'</a:t>
            </a:r>
            <a:br/>
            <a:r>
              <a:t>— Surah Al-Shu'ra, 26:80</a:t>
            </a:r>
            <a:br/>
            <a:br/>
            <a:r>
              <a:t>The dressing protects the wound. The aftercare protects the healing. But the true healing is from Allah. Remind your patients of this. It transforms a clinical instruction into a spiritual remembrance.</a:t>
            </a:r>
          </a:p>
        </p:txBody>
      </p:sp>
      <p:sp>
        <p:nvSpPr>
          <p:cNvPr id="16" name="TextBox 15"/>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Appendix A | Aftercare Protocol</a:t>
            </a:r>
          </a:p>
        </p:txBody>
      </p:sp>
      <p:sp>
        <p:nvSpPr>
          <p:cNvPr id="17" name="TextBox 16"/>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38</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Appendix B: The Sunnah Remedies Infection Control Standard</a:t>
            </a:r>
          </a:p>
        </p:txBody>
      </p:sp>
      <p:sp>
        <p:nvSpPr>
          <p:cNvPr id="4" name="Rectangle 3"/>
          <p:cNvSpPr/>
          <p:nvPr/>
        </p:nvSpPr>
        <p:spPr>
          <a:xfrm>
            <a:off x="457200" y="9601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0972800" cy="274320"/>
          </a:xfrm>
          <a:prstGeom prst="rect">
            <a:avLst/>
          </a:prstGeom>
          <a:noFill/>
        </p:spPr>
        <p:txBody>
          <a:bodyPr wrap="square"/>
          <a:lstStyle/>
          <a:p>
            <a:pPr algn="l">
              <a:lnSpc>
                <a:spcPct val="120000"/>
              </a:lnSpc>
              <a:spcBef>
                <a:spcPts val="0"/>
              </a:spcBef>
              <a:spcAft>
                <a:spcPts val="0"/>
              </a:spcAft>
              <a:defRPr sz="1400" b="1" i="0">
                <a:solidFill>
                  <a:srgbClr val="003F5C"/>
                </a:solidFill>
                <a:latin typeface="Calibri"/>
              </a:defRPr>
            </a:pPr>
            <a:r>
              <a:t>The six pillars of infection control:</a:t>
            </a:r>
          </a:p>
        </p:txBody>
      </p:sp>
      <p:sp>
        <p:nvSpPr>
          <p:cNvPr id="6" name="TextBox 5"/>
          <p:cNvSpPr txBox="1"/>
          <p:nvPr/>
        </p:nvSpPr>
        <p:spPr>
          <a:xfrm>
            <a:off x="640080" y="1508760"/>
            <a:ext cx="10515600" cy="4572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Hand Hygiene: Before and after every patient contact. Before any aseptic procedure. After exposure to body fluids. WHO 6-step technique, minimum 40 seconds with soap and water, or 20 seconds with alcohol-based hand rub.</a:t>
            </a:r>
          </a:p>
        </p:txBody>
      </p:sp>
      <p:sp>
        <p:nvSpPr>
          <p:cNvPr id="7" name="TextBox 6"/>
          <p:cNvSpPr txBox="1"/>
          <p:nvPr/>
        </p:nvSpPr>
        <p:spPr>
          <a:xfrm>
            <a:off x="640080" y="2011680"/>
            <a:ext cx="10515600" cy="4572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PPE: Gloves minimum; apron and eye protection when indicated. Sterile gloves for wet cupping. Full PPE for any splash risk.</a:t>
            </a:r>
          </a:p>
        </p:txBody>
      </p:sp>
      <p:sp>
        <p:nvSpPr>
          <p:cNvPr id="8" name="TextBox 7"/>
          <p:cNvSpPr txBox="1"/>
          <p:nvPr/>
        </p:nvSpPr>
        <p:spPr>
          <a:xfrm>
            <a:off x="640080" y="2514600"/>
            <a:ext cx="10515600" cy="4572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Sterile Technique: Critical items single-use; semi-critical items high-level disinfection or sterilisation; non-critical items intermediate-level disinfection.</a:t>
            </a:r>
          </a:p>
        </p:txBody>
      </p:sp>
      <p:sp>
        <p:nvSpPr>
          <p:cNvPr id="9" name="TextBox 8"/>
          <p:cNvSpPr txBox="1"/>
          <p:nvPr/>
        </p:nvSpPr>
        <p:spPr>
          <a:xfrm>
            <a:off x="640080" y="3017520"/>
            <a:ext cx="10515600" cy="4572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Environmental Cleaning: Between patients (treatment surface, equipment touchpoints). Daily (floors, surfaces, bathroom). Weekly (deep clean of all clinical areas).</a:t>
            </a:r>
          </a:p>
        </p:txBody>
      </p:sp>
      <p:sp>
        <p:nvSpPr>
          <p:cNvPr id="10" name="TextBox 9"/>
          <p:cNvSpPr txBox="1"/>
          <p:nvPr/>
        </p:nvSpPr>
        <p:spPr>
          <a:xfrm>
            <a:off x="640080" y="3520440"/>
            <a:ext cx="10515600" cy="4572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Waste Management: Segregated, labelled, licensed disposal. Sharps in rigid, puncture-proof containers. Clinical waste in red biohazard bags.</a:t>
            </a:r>
          </a:p>
        </p:txBody>
      </p:sp>
      <p:sp>
        <p:nvSpPr>
          <p:cNvPr id="11" name="TextBox 10"/>
          <p:cNvSpPr txBox="1"/>
          <p:nvPr/>
        </p:nvSpPr>
        <p:spPr>
          <a:xfrm>
            <a:off x="640080" y="4023360"/>
            <a:ext cx="10515600" cy="457200"/>
          </a:xfrm>
          <a:prstGeom prst="rect">
            <a:avLst/>
          </a:prstGeom>
          <a:noFill/>
        </p:spPr>
        <p:txBody>
          <a:bodyPr wrap="square"/>
          <a:lstStyle/>
          <a:p>
            <a:pPr algn="l">
              <a:lnSpc>
                <a:spcPct val="120000"/>
              </a:lnSpc>
              <a:spcBef>
                <a:spcPts val="0"/>
              </a:spcBef>
              <a:spcAft>
                <a:spcPts val="0"/>
              </a:spcAft>
              <a:defRPr sz="1100" b="0" i="0">
                <a:solidFill>
                  <a:srgbClr val="1A1A1A"/>
                </a:solidFill>
                <a:latin typeface="Calibri"/>
              </a:defRPr>
            </a:pPr>
            <a:r>
              <a:t>• Documentation: Record all infection control measures in patient record and clinic log.</a:t>
            </a:r>
          </a:p>
        </p:txBody>
      </p:sp>
      <p:sp>
        <p:nvSpPr>
          <p:cNvPr id="12" name="Rectangle 11"/>
          <p:cNvSpPr/>
          <p:nvPr/>
        </p:nvSpPr>
        <p:spPr>
          <a:xfrm>
            <a:off x="457200" y="5029200"/>
            <a:ext cx="11277295" cy="731520"/>
          </a:xfrm>
          <a:prstGeom prst="rect">
            <a:avLst/>
          </a:prstGeom>
          <a:solidFill>
            <a:srgbClr val="F0F8F0"/>
          </a:solidFill>
          <a:ln w="25400">
            <a:solidFill>
              <a:srgbClr val="8FBC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5120640"/>
            <a:ext cx="11002975" cy="365760"/>
          </a:xfrm>
          <a:prstGeom prst="rect">
            <a:avLst/>
          </a:prstGeom>
          <a:noFill/>
        </p:spPr>
        <p:txBody>
          <a:bodyPr wrap="none">
            <a:spAutoFit/>
          </a:bodyPr>
          <a:lstStyle/>
          <a:p>
            <a:pPr algn="l">
              <a:defRPr sz="1000" b="1">
                <a:solidFill>
                  <a:srgbClr val="8FBC8F"/>
                </a:solidFill>
                <a:latin typeface="Calibri"/>
              </a:defRPr>
            </a:pPr>
            <a:r>
              <a:t>CLINICAL PEARL</a:t>
            </a:r>
          </a:p>
        </p:txBody>
      </p:sp>
      <p:sp>
        <p:nvSpPr>
          <p:cNvPr id="14" name="TextBox 13"/>
          <p:cNvSpPr txBox="1"/>
          <p:nvPr/>
        </p:nvSpPr>
        <p:spPr>
          <a:xfrm>
            <a:off x="594360" y="5394960"/>
            <a:ext cx="11002975" cy="274320"/>
          </a:xfrm>
          <a:prstGeom prst="rect">
            <a:avLst/>
          </a:prstGeom>
          <a:noFill/>
        </p:spPr>
        <p:txBody>
          <a:bodyPr wrap="square">
            <a:spAutoFit/>
          </a:bodyPr>
          <a:lstStyle/>
          <a:p>
            <a:pPr algn="l">
              <a:lnSpc>
                <a:spcPct val="115000"/>
              </a:lnSpc>
              <a:defRPr sz="1000">
                <a:solidFill>
                  <a:srgbClr val="1A1A1A"/>
                </a:solidFill>
                <a:latin typeface="Calibri"/>
              </a:defRPr>
            </a:pPr>
            <a:r>
              <a:t>The hand hygiene station is the most important piece of equipment in your clinic. More important than the pump. More important than the cups. More important than the lancets. Because clean hands protect every patient, every time.</a:t>
            </a:r>
          </a:p>
        </p:txBody>
      </p:sp>
      <p:sp>
        <p:nvSpPr>
          <p:cNvPr id="15" name="TextBox 14"/>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Appendix B | Infection Control</a:t>
            </a:r>
          </a:p>
        </p:txBody>
      </p:sp>
      <p:sp>
        <p:nvSpPr>
          <p:cNvPr id="16" name="TextBox 15"/>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39</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Appendix C: Quick Reference — Emergency Response</a:t>
            </a:r>
          </a:p>
        </p:txBody>
      </p:sp>
      <p:graphicFrame>
        <p:nvGraphicFramePr>
          <p:cNvPr id="5" name="Table 4"/>
          <p:cNvGraphicFramePr>
            <a:graphicFrameLocks noGrp="1"/>
          </p:cNvGraphicFramePr>
          <p:nvPr/>
        </p:nvGraphicFramePr>
        <p:xfrm>
          <a:off x="457200" y="1554480"/>
          <a:ext cx="11277294" cy="2194560"/>
        </p:xfrm>
        <a:graphic>
          <a:graphicData uri="http://schemas.openxmlformats.org/drawingml/2006/table">
            <a:tbl>
              <a:tblPr firstRow="1" bandRow="1">
                <a:tableStyleId>{5C22544A-7EE6-4342-B048-85BDC9FD1C3A}</a:tableStyleId>
              </a:tblPr>
              <a:tblGrid>
                <a:gridCol w="3759098"/>
                <a:gridCol w="3759098"/>
                <a:gridCol w="3759098"/>
              </a:tblGrid>
              <a:tr h="365760">
                <a:tc>
                  <a:txBody>
                    <a:bodyPr/>
                    <a:lstStyle/>
                    <a:p>
                      <a:pPr algn="l">
                        <a:defRPr sz="1000" b="1">
                          <a:solidFill>
                            <a:srgbClr val="FAF7F2"/>
                          </a:solidFill>
                          <a:latin typeface="Calibri"/>
                        </a:defRPr>
                      </a:pPr>
                      <a:r>
                        <a:t>Emergency</a:t>
                      </a:r>
                    </a:p>
                  </a:txBody>
                  <a:tcPr anchor="ctr">
                    <a:solidFill>
                      <a:srgbClr val="003F5C"/>
                    </a:solidFill>
                  </a:tcPr>
                </a:tc>
                <a:tc>
                  <a:txBody>
                    <a:bodyPr/>
                    <a:lstStyle/>
                    <a:p>
                      <a:pPr algn="l">
                        <a:defRPr sz="1000" b="1">
                          <a:solidFill>
                            <a:srgbClr val="FAF7F2"/>
                          </a:solidFill>
                          <a:latin typeface="Calibri"/>
                        </a:defRPr>
                      </a:pPr>
                      <a:r>
                        <a:t>Recognition</a:t>
                      </a:r>
                    </a:p>
                  </a:txBody>
                  <a:tcPr anchor="ctr">
                    <a:solidFill>
                      <a:srgbClr val="003F5C"/>
                    </a:solidFill>
                  </a:tcPr>
                </a:tc>
                <a:tc>
                  <a:txBody>
                    <a:bodyPr/>
                    <a:lstStyle/>
                    <a:p>
                      <a:pPr algn="l">
                        <a:defRPr sz="1000" b="1">
                          <a:solidFill>
                            <a:srgbClr val="FAF7F2"/>
                          </a:solidFill>
                          <a:latin typeface="Calibri"/>
                        </a:defRPr>
                      </a:pPr>
                      <a:r>
                        <a:t>Immediate Action</a:t>
                      </a:r>
                    </a:p>
                  </a:txBody>
                  <a:tcPr anchor="ctr">
                    <a:solidFill>
                      <a:srgbClr val="003F5C"/>
                    </a:solidFill>
                  </a:tcPr>
                </a:tc>
              </a:tr>
              <a:tr h="365760">
                <a:tc>
                  <a:txBody>
                    <a:bodyPr/>
                    <a:lstStyle/>
                    <a:p>
                      <a:pPr algn="l">
                        <a:defRPr sz="1000">
                          <a:solidFill>
                            <a:srgbClr val="1A1A1A"/>
                          </a:solidFill>
                          <a:latin typeface="Calibri"/>
                        </a:defRPr>
                      </a:pPr>
                      <a:r>
                        <a:t>Syncope</a:t>
                      </a:r>
                    </a:p>
                  </a:txBody>
                  <a:tcPr anchor="ctr"/>
                </a:tc>
                <a:tc>
                  <a:txBody>
                    <a:bodyPr/>
                    <a:lstStyle/>
                    <a:p>
                      <a:pPr algn="l">
                        <a:defRPr sz="1000">
                          <a:solidFill>
                            <a:srgbClr val="1A1A1A"/>
                          </a:solidFill>
                          <a:latin typeface="Calibri"/>
                        </a:defRPr>
                      </a:pPr>
                      <a:r>
                        <a:t>Pale, clammy, yawning, slow pulse, loss of consciousness</a:t>
                      </a:r>
                    </a:p>
                  </a:txBody>
                  <a:tcPr anchor="ctr"/>
                </a:tc>
                <a:tc>
                  <a:txBody>
                    <a:bodyPr/>
                    <a:lstStyle/>
                    <a:p>
                      <a:pPr algn="l">
                        <a:defRPr sz="1000">
                          <a:solidFill>
                            <a:srgbClr val="1A1A1A"/>
                          </a:solidFill>
                          <a:latin typeface="Calibri"/>
                        </a:defRPr>
                      </a:pPr>
                      <a:r>
                        <a:t>Release cups, lower head, cool compress, monitor. If not recovered in 5 min: call 999</a:t>
                      </a:r>
                    </a:p>
                  </a:txBody>
                  <a:tcPr anchor="ctr"/>
                </a:tc>
              </a:tr>
              <a:tr h="365760">
                <a:tc>
                  <a:txBody>
                    <a:bodyPr/>
                    <a:lstStyle/>
                    <a:p>
                      <a:pPr algn="l">
                        <a:defRPr sz="1000">
                          <a:solidFill>
                            <a:srgbClr val="1A1A1A"/>
                          </a:solidFill>
                          <a:latin typeface="Calibri"/>
                        </a:defRPr>
                      </a:pPr>
                      <a:r>
                        <a:t>Excessive Bleeding</a:t>
                      </a:r>
                    </a:p>
                  </a:txBody>
                  <a:tcPr anchor="ctr">
                    <a:solidFill>
                      <a:srgbClr val="F5F2EB"/>
                    </a:solidFill>
                  </a:tcPr>
                </a:tc>
                <a:tc>
                  <a:txBody>
                    <a:bodyPr/>
                    <a:lstStyle/>
                    <a:p>
                      <a:pPr algn="l">
                        <a:defRPr sz="1000">
                          <a:solidFill>
                            <a:srgbClr val="1A1A1A"/>
                          </a:solidFill>
                          <a:latin typeface="Calibri"/>
                        </a:defRPr>
                      </a:pPr>
                      <a:r>
                        <a:t>Soaking gauze; bleeding &gt;5 min</a:t>
                      </a:r>
                    </a:p>
                  </a:txBody>
                  <a:tcPr anchor="ctr">
                    <a:solidFill>
                      <a:srgbClr val="F5F2EB"/>
                    </a:solidFill>
                  </a:tcPr>
                </a:tc>
                <a:tc>
                  <a:txBody>
                    <a:bodyPr/>
                    <a:lstStyle/>
                    <a:p>
                      <a:pPr algn="l">
                        <a:defRPr sz="1000">
                          <a:solidFill>
                            <a:srgbClr val="1A1A1A"/>
                          </a:solidFill>
                          <a:latin typeface="Calibri"/>
                        </a:defRPr>
                      </a:pPr>
                      <a:r>
                        <a:t>Direct pressure, elevate, second dressing. If &gt;10 min: call 999</a:t>
                      </a:r>
                    </a:p>
                  </a:txBody>
                  <a:tcPr anchor="ctr">
                    <a:solidFill>
                      <a:srgbClr val="F5F2EB"/>
                    </a:solidFill>
                  </a:tcPr>
                </a:tc>
              </a:tr>
              <a:tr h="365760">
                <a:tc>
                  <a:txBody>
                    <a:bodyPr/>
                    <a:lstStyle/>
                    <a:p>
                      <a:pPr algn="l">
                        <a:defRPr sz="1000">
                          <a:solidFill>
                            <a:srgbClr val="1A1A1A"/>
                          </a:solidFill>
                          <a:latin typeface="Calibri"/>
                        </a:defRPr>
                      </a:pPr>
                      <a:r>
                        <a:t>Anaphylaxis</a:t>
                      </a:r>
                    </a:p>
                  </a:txBody>
                  <a:tcPr anchor="ctr"/>
                </a:tc>
                <a:tc>
                  <a:txBody>
                    <a:bodyPr/>
                    <a:lstStyle/>
                    <a:p>
                      <a:pPr algn="l">
                        <a:defRPr sz="1000">
                          <a:solidFill>
                            <a:srgbClr val="1A1A1A"/>
                          </a:solidFill>
                          <a:latin typeface="Calibri"/>
                        </a:defRPr>
                      </a:pPr>
                      <a:r>
                        <a:t>Difficulty breathing, swelling, hives</a:t>
                      </a:r>
                    </a:p>
                  </a:txBody>
                  <a:tcPr anchor="ctr"/>
                </a:tc>
                <a:tc>
                  <a:txBody>
                    <a:bodyPr/>
                    <a:lstStyle/>
                    <a:p>
                      <a:pPr algn="l">
                        <a:defRPr sz="1000">
                          <a:solidFill>
                            <a:srgbClr val="1A1A1A"/>
                          </a:solidFill>
                          <a:latin typeface="Calibri"/>
                        </a:defRPr>
                      </a:pPr>
                      <a:r>
                        <a:t>Epinephrine if trained. Call 999 immediately</a:t>
                      </a:r>
                    </a:p>
                  </a:txBody>
                  <a:tcPr anchor="ctr"/>
                </a:tc>
              </a:tr>
              <a:tr h="365760">
                <a:tc>
                  <a:txBody>
                    <a:bodyPr/>
                    <a:lstStyle/>
                    <a:p>
                      <a:pPr algn="l">
                        <a:defRPr sz="1000">
                          <a:solidFill>
                            <a:srgbClr val="1A1A1A"/>
                          </a:solidFill>
                          <a:latin typeface="Calibri"/>
                        </a:defRPr>
                      </a:pPr>
                      <a:r>
                        <a:t>Chest Pain</a:t>
                      </a:r>
                    </a:p>
                  </a:txBody>
                  <a:tcPr anchor="ctr">
                    <a:solidFill>
                      <a:srgbClr val="F5F2EB"/>
                    </a:solidFill>
                  </a:tcPr>
                </a:tc>
                <a:tc>
                  <a:txBody>
                    <a:bodyPr/>
                    <a:lstStyle/>
                    <a:p>
                      <a:pPr algn="l">
                        <a:defRPr sz="1000">
                          <a:solidFill>
                            <a:srgbClr val="1A1A1A"/>
                          </a:solidFill>
                          <a:latin typeface="Calibri"/>
                        </a:defRPr>
                      </a:pPr>
                      <a:r>
                        <a:t>Crushing pain, radiating to arm/jaw, dyspnoea</a:t>
                      </a:r>
                    </a:p>
                  </a:txBody>
                  <a:tcPr anchor="ctr">
                    <a:solidFill>
                      <a:srgbClr val="F5F2EB"/>
                    </a:solidFill>
                  </a:tcPr>
                </a:tc>
                <a:tc>
                  <a:txBody>
                    <a:bodyPr/>
                    <a:lstStyle/>
                    <a:p>
                      <a:pPr algn="l">
                        <a:defRPr sz="1000">
                          <a:solidFill>
                            <a:srgbClr val="1A1A1A"/>
                          </a:solidFill>
                          <a:latin typeface="Calibri"/>
                        </a:defRPr>
                      </a:pPr>
                      <a:r>
                        <a:t>Call 999 immediately. Do not treat</a:t>
                      </a:r>
                    </a:p>
                  </a:txBody>
                  <a:tcPr anchor="ctr">
                    <a:solidFill>
                      <a:srgbClr val="F5F2EB"/>
                    </a:solidFill>
                  </a:tcPr>
                </a:tc>
              </a:tr>
              <a:tr h="365760">
                <a:tc>
                  <a:txBody>
                    <a:bodyPr/>
                    <a:lstStyle/>
                    <a:p>
                      <a:pPr algn="l">
                        <a:defRPr sz="1000">
                          <a:solidFill>
                            <a:srgbClr val="1A1A1A"/>
                          </a:solidFill>
                          <a:latin typeface="Calibri"/>
                        </a:defRPr>
                      </a:pPr>
                      <a:r>
                        <a:t>Seizure</a:t>
                      </a:r>
                    </a:p>
                  </a:txBody>
                  <a:tcPr anchor="ctr"/>
                </a:tc>
                <a:tc>
                  <a:txBody>
                    <a:bodyPr/>
                    <a:lstStyle/>
                    <a:p>
                      <a:pPr algn="l">
                        <a:defRPr sz="1000">
                          <a:solidFill>
                            <a:srgbClr val="1A1A1A"/>
                          </a:solidFill>
                          <a:latin typeface="Calibri"/>
                        </a:defRPr>
                      </a:pPr>
                      <a:r>
                        <a:t>Loss of consciousness, tonic-clonic movements</a:t>
                      </a:r>
                    </a:p>
                  </a:txBody>
                  <a:tcPr anchor="ctr"/>
                </a:tc>
                <a:tc>
                  <a:txBody>
                    <a:bodyPr/>
                    <a:lstStyle/>
                    <a:p>
                      <a:pPr algn="l">
                        <a:defRPr sz="1000">
                          <a:solidFill>
                            <a:srgbClr val="1A1A1A"/>
                          </a:solidFill>
                          <a:latin typeface="Calibri"/>
                        </a:defRPr>
                      </a:pPr>
                      <a:r>
                        <a:t>Protect from injury, do not restrain, time. If &gt;5 min: call 999</a:t>
                      </a:r>
                    </a:p>
                  </a:txBody>
                  <a:tcPr anchor="ctr"/>
                </a:tc>
              </a:tr>
            </a:tbl>
          </a:graphicData>
        </a:graphic>
      </p:graphicFrame>
      <p:sp>
        <p:nvSpPr>
          <p:cNvPr id="6" name="TextBox 5"/>
          <p:cNvSpPr txBox="1"/>
          <p:nvPr/>
        </p:nvSpPr>
        <p:spPr>
          <a:xfrm>
            <a:off x="457200" y="384048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C.1 — Emergency Quick Reference. Print and laminate for clinical wall display. Update emergency contact numbers annually.</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Appendix C | Emergency Response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800" b="1" i="0">
                <a:solidFill>
                  <a:srgbClr val="003F5C"/>
                </a:solidFill>
                <a:latin typeface="Georgia"/>
              </a:defRPr>
            </a:pPr>
            <a:r>
              <a:t>Emergency Contact Numbers</a:t>
            </a:r>
          </a:p>
        </p:txBody>
      </p:sp>
      <p:sp>
        <p:nvSpPr>
          <p:cNvPr id="4" name="Rectangle 3"/>
          <p:cNvSpPr/>
          <p:nvPr/>
        </p:nvSpPr>
        <p:spPr>
          <a:xfrm>
            <a:off x="457200" y="100584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Local Emergency Services: _________________________________</a:t>
            </a:r>
          </a:p>
        </p:txBody>
      </p:sp>
      <p:sp>
        <p:nvSpPr>
          <p:cNvPr id="6" name="TextBox 5"/>
          <p:cNvSpPr txBox="1"/>
          <p:nvPr/>
        </p:nvSpPr>
        <p:spPr>
          <a:xfrm>
            <a:off x="457200" y="182880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Academy Clinical Director: _________________________________</a:t>
            </a:r>
          </a:p>
        </p:txBody>
      </p:sp>
      <p:sp>
        <p:nvSpPr>
          <p:cNvPr id="7" name="TextBox 6"/>
          <p:cNvSpPr txBox="1"/>
          <p:nvPr/>
        </p:nvSpPr>
        <p:spPr>
          <a:xfrm>
            <a:off x="457200" y="228600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Local Poison Control: _________________________________</a:t>
            </a:r>
          </a:p>
        </p:txBody>
      </p:sp>
      <p:sp>
        <p:nvSpPr>
          <p:cNvPr id="8" name="TextBox 7"/>
          <p:cNvSpPr txBox="1"/>
          <p:nvPr/>
        </p:nvSpPr>
        <p:spPr>
          <a:xfrm>
            <a:off x="457200" y="2743200"/>
            <a:ext cx="10972800" cy="365760"/>
          </a:xfrm>
          <a:prstGeom prst="rect">
            <a:avLst/>
          </a:prstGeom>
          <a:noFill/>
        </p:spPr>
        <p:txBody>
          <a:bodyPr wrap="square"/>
          <a:lstStyle/>
          <a:p>
            <a:pPr algn="l">
              <a:lnSpc>
                <a:spcPct val="120000"/>
              </a:lnSpc>
              <a:spcBef>
                <a:spcPts val="0"/>
              </a:spcBef>
              <a:spcAft>
                <a:spcPts val="0"/>
              </a:spcAft>
              <a:defRPr sz="1400" b="0" i="0">
                <a:solidFill>
                  <a:srgbClr val="1A1A1A"/>
                </a:solidFill>
                <a:latin typeface="Calibri"/>
              </a:defRPr>
            </a:pPr>
            <a:r>
              <a:t>Nearest Hospital: _________________________________</a:t>
            </a:r>
          </a:p>
        </p:txBody>
      </p:sp>
      <p:sp>
        <p:nvSpPr>
          <p:cNvPr id="9" name="Rectangle 8"/>
          <p:cNvSpPr/>
          <p:nvPr/>
        </p:nvSpPr>
        <p:spPr>
          <a:xfrm>
            <a:off x="457200" y="3474720"/>
            <a:ext cx="11277295" cy="1097280"/>
          </a:xfrm>
          <a:prstGeom prst="rect">
            <a:avLst/>
          </a:prstGeom>
          <a:solidFill>
            <a:srgbClr val="FCF5F2"/>
          </a:solidFill>
          <a:ln w="25400">
            <a:solidFill>
              <a:srgbClr val="E272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566160"/>
            <a:ext cx="11002975" cy="365760"/>
          </a:xfrm>
          <a:prstGeom prst="rect">
            <a:avLst/>
          </a:prstGeom>
          <a:noFill/>
        </p:spPr>
        <p:txBody>
          <a:bodyPr wrap="none">
            <a:spAutoFit/>
          </a:bodyPr>
          <a:lstStyle/>
          <a:p>
            <a:pPr algn="l">
              <a:defRPr sz="1000" b="1">
                <a:solidFill>
                  <a:srgbClr val="E2725B"/>
                </a:solidFill>
                <a:latin typeface="Calibri"/>
              </a:defRPr>
            </a:pPr>
            <a:r>
              <a:t>WARNING</a:t>
            </a:r>
          </a:p>
        </p:txBody>
      </p:sp>
      <p:sp>
        <p:nvSpPr>
          <p:cNvPr id="11" name="TextBox 10"/>
          <p:cNvSpPr txBox="1"/>
          <p:nvPr/>
        </p:nvSpPr>
        <p:spPr>
          <a:xfrm>
            <a:off x="594360" y="3840480"/>
            <a:ext cx="11002975" cy="640080"/>
          </a:xfrm>
          <a:prstGeom prst="rect">
            <a:avLst/>
          </a:prstGeom>
          <a:noFill/>
        </p:spPr>
        <p:txBody>
          <a:bodyPr wrap="square">
            <a:spAutoFit/>
          </a:bodyPr>
          <a:lstStyle/>
          <a:p>
            <a:pPr algn="l">
              <a:lnSpc>
                <a:spcPct val="115000"/>
              </a:lnSpc>
              <a:defRPr sz="1000">
                <a:solidFill>
                  <a:srgbClr val="1A1A1A"/>
                </a:solidFill>
                <a:latin typeface="Calibri"/>
              </a:defRPr>
            </a:pPr>
            <a:r>
              <a:t>Update these numbers quarterly. An outdated emergency number is as dangerous as no number at all. Test your emergency response plan with a drill at least twice per year.</a:t>
            </a:r>
          </a:p>
        </p:txBody>
      </p:sp>
      <p:sp>
        <p:nvSpPr>
          <p:cNvPr id="12" name="TextBox 11"/>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Appendix C | Emergency Response</a:t>
            </a:r>
          </a:p>
        </p:txBody>
      </p:sp>
      <p:sp>
        <p:nvSpPr>
          <p:cNvPr id="13" name="TextBox 12"/>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40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Appendix D: Clinical Forms Index</a:t>
            </a:r>
          </a:p>
        </p:txBody>
      </p:sp>
      <p:sp>
        <p:nvSpPr>
          <p:cNvPr id="4" name="Rectangle 3"/>
          <p:cNvSpPr/>
          <p:nvPr/>
        </p:nvSpPr>
        <p:spPr>
          <a:xfrm>
            <a:off x="457200" y="9601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188720"/>
            <a:ext cx="10972800" cy="274320"/>
          </a:xfrm>
          <a:prstGeom prst="rect">
            <a:avLst/>
          </a:prstGeom>
          <a:noFill/>
        </p:spPr>
        <p:txBody>
          <a:bodyPr wrap="square"/>
          <a:lstStyle/>
          <a:p>
            <a:pPr algn="l">
              <a:lnSpc>
                <a:spcPct val="120000"/>
              </a:lnSpc>
              <a:spcBef>
                <a:spcPts val="0"/>
              </a:spcBef>
              <a:spcAft>
                <a:spcPts val="0"/>
              </a:spcAft>
              <a:defRPr sz="1300" b="0" i="0">
                <a:solidFill>
                  <a:srgbClr val="1A1A1A"/>
                </a:solidFill>
                <a:latin typeface="Calibri"/>
              </a:defRPr>
            </a:pPr>
            <a:r>
              <a:t>All forms referenced in this Manual are available in the Patient Documentation Pack (SRA-DOC-2026-HJM-002-v1.0):</a:t>
            </a:r>
          </a:p>
        </p:txBody>
      </p:sp>
      <p:sp>
        <p:nvSpPr>
          <p:cNvPr id="6" name="TextBox 5"/>
          <p:cNvSpPr txBox="1"/>
          <p:nvPr/>
        </p:nvSpPr>
        <p:spPr>
          <a:xfrm>
            <a:off x="640080" y="15544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Health History Questionnaire (SRA-FRM-2026-HJM-001)</a:t>
            </a:r>
          </a:p>
        </p:txBody>
      </p:sp>
      <p:sp>
        <p:nvSpPr>
          <p:cNvPr id="7" name="TextBox 6"/>
          <p:cNvSpPr txBox="1"/>
          <p:nvPr/>
        </p:nvSpPr>
        <p:spPr>
          <a:xfrm>
            <a:off x="640080" y="18288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Contraindication Screening Checklist (SRA-FRM-2026-HJM-002)</a:t>
            </a:r>
          </a:p>
        </p:txBody>
      </p:sp>
      <p:sp>
        <p:nvSpPr>
          <p:cNvPr id="8" name="TextBox 7"/>
          <p:cNvSpPr txBox="1"/>
          <p:nvPr/>
        </p:nvSpPr>
        <p:spPr>
          <a:xfrm>
            <a:off x="640080" y="21031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Informed Consent Form — General (SRA-FRM-2026-HJM-004)</a:t>
            </a:r>
          </a:p>
        </p:txBody>
      </p:sp>
      <p:sp>
        <p:nvSpPr>
          <p:cNvPr id="9" name="TextBox 8"/>
          <p:cNvSpPr txBox="1"/>
          <p:nvPr/>
        </p:nvSpPr>
        <p:spPr>
          <a:xfrm>
            <a:off x="640080" y="23774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Informed Consent Form — Hijama Specific (SRA-FRM-2026-HJM-005)</a:t>
            </a:r>
          </a:p>
        </p:txBody>
      </p:sp>
      <p:sp>
        <p:nvSpPr>
          <p:cNvPr id="10" name="TextBox 9"/>
          <p:cNvSpPr txBox="1"/>
          <p:nvPr/>
        </p:nvSpPr>
        <p:spPr>
          <a:xfrm>
            <a:off x="640080" y="26517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Treatment Record Form (SRA-FRM-2026-HJM-008)</a:t>
            </a:r>
          </a:p>
        </p:txBody>
      </p:sp>
      <p:sp>
        <p:nvSpPr>
          <p:cNvPr id="11" name="TextBox 10"/>
          <p:cNvSpPr txBox="1"/>
          <p:nvPr/>
        </p:nvSpPr>
        <p:spPr>
          <a:xfrm>
            <a:off x="640080" y="292608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Incident Report Form (SRA-FRM-2026-HJM-014)</a:t>
            </a:r>
          </a:p>
        </p:txBody>
      </p:sp>
      <p:sp>
        <p:nvSpPr>
          <p:cNvPr id="12" name="TextBox 11"/>
          <p:cNvSpPr txBox="1"/>
          <p:nvPr/>
        </p:nvSpPr>
        <p:spPr>
          <a:xfrm>
            <a:off x="640080" y="320040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Referral Form (SRA-FRM-2026-HJM-013)</a:t>
            </a:r>
          </a:p>
        </p:txBody>
      </p:sp>
      <p:sp>
        <p:nvSpPr>
          <p:cNvPr id="13" name="TextBox 12"/>
          <p:cNvSpPr txBox="1"/>
          <p:nvPr/>
        </p:nvSpPr>
        <p:spPr>
          <a:xfrm>
            <a:off x="640080" y="347472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Discharge Summary Form (SRA-FRM-2026-HJM-015)</a:t>
            </a:r>
          </a:p>
        </p:txBody>
      </p:sp>
      <p:sp>
        <p:nvSpPr>
          <p:cNvPr id="14" name="TextBox 13"/>
          <p:cNvSpPr txBox="1"/>
          <p:nvPr/>
        </p:nvSpPr>
        <p:spPr>
          <a:xfrm>
            <a:off x="640080" y="374904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Practitioner Self-Assessment Form (SRA-FRM-2026-HJM-016)</a:t>
            </a:r>
          </a:p>
        </p:txBody>
      </p:sp>
      <p:sp>
        <p:nvSpPr>
          <p:cNvPr id="15" name="TextBox 14"/>
          <p:cNvSpPr txBox="1"/>
          <p:nvPr/>
        </p:nvSpPr>
        <p:spPr>
          <a:xfrm>
            <a:off x="640080" y="4023360"/>
            <a:ext cx="10515600" cy="274320"/>
          </a:xfrm>
          <a:prstGeom prst="rect">
            <a:avLst/>
          </a:prstGeom>
          <a:noFill/>
        </p:spPr>
        <p:txBody>
          <a:bodyPr wrap="square"/>
          <a:lstStyle/>
          <a:p>
            <a:pPr algn="l">
              <a:lnSpc>
                <a:spcPct val="120000"/>
              </a:lnSpc>
              <a:spcBef>
                <a:spcPts val="0"/>
              </a:spcBef>
              <a:spcAft>
                <a:spcPts val="0"/>
              </a:spcAft>
              <a:defRPr sz="1200" b="0" i="0">
                <a:solidFill>
                  <a:srgbClr val="1A1A1A"/>
                </a:solidFill>
                <a:latin typeface="Calibri"/>
              </a:defRPr>
            </a:pPr>
            <a:r>
              <a:t>• Sterilisation Log Template (SRA-FRM-2026-HJM-017)</a:t>
            </a:r>
          </a:p>
        </p:txBody>
      </p:sp>
      <p:sp>
        <p:nvSpPr>
          <p:cNvPr id="16" name="TextBox 15"/>
          <p:cNvSpPr txBox="1"/>
          <p:nvPr/>
        </p:nvSpPr>
        <p:spPr>
          <a:xfrm>
            <a:off x="914400" y="4754880"/>
            <a:ext cx="10362895" cy="365760"/>
          </a:xfrm>
          <a:prstGeom prst="rect">
            <a:avLst/>
          </a:prstGeom>
          <a:noFill/>
        </p:spPr>
        <p:txBody>
          <a:bodyPr wrap="square"/>
          <a:lstStyle/>
          <a:p>
            <a:pPr algn="ctr">
              <a:lnSpc>
                <a:spcPct val="120000"/>
              </a:lnSpc>
              <a:spcBef>
                <a:spcPts val="0"/>
              </a:spcBef>
              <a:spcAft>
                <a:spcPts val="0"/>
              </a:spcAft>
              <a:defRPr sz="1400" b="0" i="1">
                <a:solidFill>
                  <a:srgbClr val="003F5C"/>
                </a:solidFill>
                <a:latin typeface="Georgia"/>
              </a:defRPr>
            </a:pPr>
            <a:r>
              <a:t>"And say: My Lord, increase me in knowledge."</a:t>
            </a:r>
            <a:br/>
            <a:r>
              <a:t>— Surah Ta-Ha, 20:114</a:t>
            </a:r>
          </a:p>
        </p:txBody>
      </p:sp>
      <p:sp>
        <p:nvSpPr>
          <p:cNvPr id="17" name="TextBox 16"/>
          <p:cNvSpPr txBox="1"/>
          <p:nvPr/>
        </p:nvSpPr>
        <p:spPr>
          <a:xfrm>
            <a:off x="914400" y="5303520"/>
            <a:ext cx="10362895" cy="274320"/>
          </a:xfrm>
          <a:prstGeom prst="rect">
            <a:avLst/>
          </a:prstGeom>
          <a:noFill/>
        </p:spPr>
        <p:txBody>
          <a:bodyPr wrap="square"/>
          <a:lstStyle/>
          <a:p>
            <a:pPr algn="ctr">
              <a:lnSpc>
                <a:spcPct val="120000"/>
              </a:lnSpc>
              <a:spcBef>
                <a:spcPts val="0"/>
              </a:spcBef>
              <a:spcAft>
                <a:spcPts val="0"/>
              </a:spcAft>
              <a:defRPr sz="1200" b="0" i="0">
                <a:solidFill>
                  <a:srgbClr val="1A1A1A"/>
                </a:solidFill>
                <a:latin typeface="Calibri"/>
              </a:defRPr>
            </a:pPr>
            <a:r>
              <a:t>This Manual is a living document. It will be reviewed annually and updated as needed.</a:t>
            </a:r>
          </a:p>
        </p:txBody>
      </p:sp>
      <p:sp>
        <p:nvSpPr>
          <p:cNvPr id="18" name="TextBox 17"/>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Appendix D | Clinical Forms Index</a:t>
            </a:r>
          </a:p>
        </p:txBody>
      </p:sp>
      <p:sp>
        <p:nvSpPr>
          <p:cNvPr id="19" name="TextBox 18"/>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41</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731520"/>
            <a:ext cx="112772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914400"/>
            <a:ext cx="10972800" cy="457200"/>
          </a:xfrm>
          <a:prstGeom prst="rect">
            <a:avLst/>
          </a:prstGeom>
          <a:noFill/>
        </p:spPr>
        <p:txBody>
          <a:bodyPr wrap="square"/>
          <a:lstStyle/>
          <a:p>
            <a:pPr algn="l">
              <a:lnSpc>
                <a:spcPct val="120000"/>
              </a:lnSpc>
              <a:spcBef>
                <a:spcPts val="0"/>
              </a:spcBef>
              <a:spcAft>
                <a:spcPts val="0"/>
              </a:spcAft>
              <a:defRPr sz="2600" b="1" i="0">
                <a:solidFill>
                  <a:srgbClr val="003F5C"/>
                </a:solidFill>
                <a:latin typeface="Georgia"/>
              </a:defRPr>
            </a:pPr>
            <a:r>
              <a:t>Document Control</a:t>
            </a:r>
          </a:p>
        </p:txBody>
      </p:sp>
      <p:graphicFrame>
        <p:nvGraphicFramePr>
          <p:cNvPr id="5" name="Table 4"/>
          <p:cNvGraphicFramePr>
            <a:graphicFrameLocks noGrp="1"/>
          </p:cNvGraphicFramePr>
          <p:nvPr/>
        </p:nvGraphicFramePr>
        <p:xfrm>
          <a:off x="457200" y="1554480"/>
          <a:ext cx="11277292" cy="731520"/>
        </p:xfrm>
        <a:graphic>
          <a:graphicData uri="http://schemas.openxmlformats.org/drawingml/2006/table">
            <a:tbl>
              <a:tblPr firstRow="1" bandRow="1">
                <a:tableStyleId>{5C22544A-7EE6-4342-B048-85BDC9FD1C3A}</a:tableStyleId>
              </a:tblPr>
              <a:tblGrid>
                <a:gridCol w="2819323"/>
                <a:gridCol w="2819323"/>
                <a:gridCol w="2819323"/>
                <a:gridCol w="2819323"/>
              </a:tblGrid>
              <a:tr h="365760">
                <a:tc>
                  <a:txBody>
                    <a:bodyPr/>
                    <a:lstStyle/>
                    <a:p>
                      <a:pPr algn="l">
                        <a:defRPr sz="1000" b="1">
                          <a:solidFill>
                            <a:srgbClr val="FAF7F2"/>
                          </a:solidFill>
                          <a:latin typeface="Calibri"/>
                        </a:defRPr>
                      </a:pPr>
                      <a:r>
                        <a:t>Version</a:t>
                      </a:r>
                    </a:p>
                  </a:txBody>
                  <a:tcPr anchor="ctr">
                    <a:solidFill>
                      <a:srgbClr val="003F5C"/>
                    </a:solidFill>
                  </a:tcPr>
                </a:tc>
                <a:tc>
                  <a:txBody>
                    <a:bodyPr/>
                    <a:lstStyle/>
                    <a:p>
                      <a:pPr algn="l">
                        <a:defRPr sz="1000" b="1">
                          <a:solidFill>
                            <a:srgbClr val="FAF7F2"/>
                          </a:solidFill>
                          <a:latin typeface="Calibri"/>
                        </a:defRPr>
                      </a:pPr>
                      <a:r>
                        <a:t>Date</a:t>
                      </a:r>
                    </a:p>
                  </a:txBody>
                  <a:tcPr anchor="ctr">
                    <a:solidFill>
                      <a:srgbClr val="003F5C"/>
                    </a:solidFill>
                  </a:tcPr>
                </a:tc>
                <a:tc>
                  <a:txBody>
                    <a:bodyPr/>
                    <a:lstStyle/>
                    <a:p>
                      <a:pPr algn="l">
                        <a:defRPr sz="1000" b="1">
                          <a:solidFill>
                            <a:srgbClr val="FAF7F2"/>
                          </a:solidFill>
                          <a:latin typeface="Calibri"/>
                        </a:defRPr>
                      </a:pPr>
                      <a:r>
                        <a:t>Author</a:t>
                      </a:r>
                    </a:p>
                  </a:txBody>
                  <a:tcPr anchor="ctr">
                    <a:solidFill>
                      <a:srgbClr val="003F5C"/>
                    </a:solidFill>
                  </a:tcPr>
                </a:tc>
                <a:tc>
                  <a:txBody>
                    <a:bodyPr/>
                    <a:lstStyle/>
                    <a:p>
                      <a:pPr algn="l">
                        <a:defRPr sz="1000" b="1">
                          <a:solidFill>
                            <a:srgbClr val="FAF7F2"/>
                          </a:solidFill>
                          <a:latin typeface="Calibri"/>
                        </a:defRPr>
                      </a:pPr>
                      <a:r>
                        <a:t>Changes</a:t>
                      </a:r>
                    </a:p>
                  </a:txBody>
                  <a:tcPr anchor="ctr">
                    <a:solidFill>
                      <a:srgbClr val="003F5C"/>
                    </a:solidFill>
                  </a:tcPr>
                </a:tc>
              </a:tr>
              <a:tr h="365760">
                <a:tc>
                  <a:txBody>
                    <a:bodyPr/>
                    <a:lstStyle/>
                    <a:p>
                      <a:pPr algn="l">
                        <a:defRPr sz="1000">
                          <a:solidFill>
                            <a:srgbClr val="1A1A1A"/>
                          </a:solidFill>
                          <a:latin typeface="Calibri"/>
                        </a:defRPr>
                      </a:pPr>
                      <a:r>
                        <a:t>v1.0</a:t>
                      </a:r>
                    </a:p>
                  </a:txBody>
                  <a:tcPr anchor="ctr"/>
                </a:tc>
                <a:tc>
                  <a:txBody>
                    <a:bodyPr/>
                    <a:lstStyle/>
                    <a:p>
                      <a:pPr algn="l">
                        <a:defRPr sz="1000">
                          <a:solidFill>
                            <a:srgbClr val="1A1A1A"/>
                          </a:solidFill>
                          <a:latin typeface="Calibri"/>
                        </a:defRPr>
                      </a:pPr>
                      <a:r>
                        <a:t>2026-07-06</a:t>
                      </a:r>
                    </a:p>
                  </a:txBody>
                  <a:tcPr anchor="ctr"/>
                </a:tc>
                <a:tc>
                  <a:txBody>
                    <a:bodyPr/>
                    <a:lstStyle/>
                    <a:p>
                      <a:pPr algn="l">
                        <a:defRPr sz="1000">
                          <a:solidFill>
                            <a:srgbClr val="1A1A1A"/>
                          </a:solidFill>
                          <a:latin typeface="Calibri"/>
                        </a:defRPr>
                      </a:pPr>
                      <a:r>
                        <a:t>Academic Production Team</a:t>
                      </a:r>
                    </a:p>
                  </a:txBody>
                  <a:tcPr anchor="ctr"/>
                </a:tc>
                <a:tc>
                  <a:txBody>
                    <a:bodyPr/>
                    <a:lstStyle/>
                    <a:p>
                      <a:pPr algn="l">
                        <a:defRPr sz="1000">
                          <a:solidFill>
                            <a:srgbClr val="1A1A1A"/>
                          </a:solidFill>
                          <a:latin typeface="Calibri"/>
                        </a:defRPr>
                      </a:pPr>
                      <a:r>
                        <a:t>Initial production per Academy Blueprint v2.0 and Three Foundational Constitutions</a:t>
                      </a:r>
                    </a:p>
                  </a:txBody>
                  <a:tcPr anchor="ctr"/>
                </a:tc>
              </a:tr>
            </a:tbl>
          </a:graphicData>
        </a:graphic>
      </p:graphicFrame>
      <p:sp>
        <p:nvSpPr>
          <p:cNvPr id="6" name="TextBox 5"/>
          <p:cNvSpPr txBox="1"/>
          <p:nvPr/>
        </p:nvSpPr>
        <p:spPr>
          <a:xfrm>
            <a:off x="457200" y="2377440"/>
            <a:ext cx="10972800" cy="274320"/>
          </a:xfrm>
          <a:prstGeom prst="rect">
            <a:avLst/>
          </a:prstGeom>
          <a:noFill/>
        </p:spPr>
        <p:txBody>
          <a:bodyPr wrap="square"/>
          <a:lstStyle/>
          <a:p>
            <a:pPr algn="l">
              <a:lnSpc>
                <a:spcPct val="120000"/>
              </a:lnSpc>
              <a:spcBef>
                <a:spcPts val="0"/>
              </a:spcBef>
              <a:spcAft>
                <a:spcPts val="0"/>
              </a:spcAft>
              <a:defRPr sz="1000" b="0" i="1">
                <a:solidFill>
                  <a:srgbClr val="1A1A1A"/>
                </a:solidFill>
                <a:latin typeface="Calibri"/>
              </a:defRPr>
            </a:pPr>
            <a:r>
              <a:t>Table D.2 — Version History</a:t>
            </a:r>
          </a:p>
        </p:txBody>
      </p:sp>
      <p:sp>
        <p:nvSpPr>
          <p:cNvPr id="7" name="TextBox 6"/>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End Matter</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7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828800" y="2011680"/>
            <a:ext cx="85340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828800" y="4114800"/>
            <a:ext cx="8534095" cy="25400"/>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362895" cy="548640"/>
          </a:xfrm>
          <a:prstGeom prst="rect">
            <a:avLst/>
          </a:prstGeom>
          <a:noFill/>
        </p:spPr>
        <p:txBody>
          <a:bodyPr wrap="square"/>
          <a:lstStyle/>
          <a:p>
            <a:pPr algn="ctr">
              <a:lnSpc>
                <a:spcPct val="120000"/>
              </a:lnSpc>
              <a:spcBef>
                <a:spcPts val="0"/>
              </a:spcBef>
              <a:spcAft>
                <a:spcPts val="0"/>
              </a:spcAft>
              <a:defRPr sz="2400" b="0" i="1">
                <a:solidFill>
                  <a:srgbClr val="003F5C"/>
                </a:solidFill>
                <a:latin typeface="Georgia"/>
              </a:defRPr>
            </a:pPr>
            <a:r>
              <a:t>"The best of you are those who learn the Qur'an and teach it."</a:t>
            </a:r>
          </a:p>
        </p:txBody>
      </p:sp>
      <p:sp>
        <p:nvSpPr>
          <p:cNvPr id="6" name="TextBox 5"/>
          <p:cNvSpPr txBox="1"/>
          <p:nvPr/>
        </p:nvSpPr>
        <p:spPr>
          <a:xfrm>
            <a:off x="914400" y="2926080"/>
            <a:ext cx="10362895" cy="274320"/>
          </a:xfrm>
          <a:prstGeom prst="rect">
            <a:avLst/>
          </a:prstGeom>
          <a:noFill/>
        </p:spPr>
        <p:txBody>
          <a:bodyPr wrap="square"/>
          <a:lstStyle/>
          <a:p>
            <a:pPr algn="ctr">
              <a:lnSpc>
                <a:spcPct val="120000"/>
              </a:lnSpc>
              <a:spcBef>
                <a:spcPts val="0"/>
              </a:spcBef>
              <a:spcAft>
                <a:spcPts val="0"/>
              </a:spcAft>
              <a:defRPr sz="1400" b="0" i="0">
                <a:solidFill>
                  <a:srgbClr val="1A1A1A"/>
                </a:solidFill>
                <a:latin typeface="Calibri"/>
              </a:defRPr>
            </a:pPr>
            <a:r>
              <a:t>— Sahih al-Bukhari</a:t>
            </a:r>
          </a:p>
        </p:txBody>
      </p:sp>
      <p:sp>
        <p:nvSpPr>
          <p:cNvPr id="7" name="TextBox 6"/>
          <p:cNvSpPr txBox="1"/>
          <p:nvPr/>
        </p:nvSpPr>
        <p:spPr>
          <a:xfrm>
            <a:off x="914400" y="4389120"/>
            <a:ext cx="10362895" cy="365760"/>
          </a:xfrm>
          <a:prstGeom prst="rect">
            <a:avLst/>
          </a:prstGeom>
          <a:noFill/>
        </p:spPr>
        <p:txBody>
          <a:bodyPr wrap="square"/>
          <a:lstStyle/>
          <a:p>
            <a:pPr algn="ctr">
              <a:lnSpc>
                <a:spcPct val="120000"/>
              </a:lnSpc>
              <a:spcBef>
                <a:spcPts val="0"/>
              </a:spcBef>
              <a:spcAft>
                <a:spcPts val="0"/>
              </a:spcAft>
              <a:defRPr sz="1800" b="1" i="0">
                <a:solidFill>
                  <a:srgbClr val="003F5C"/>
                </a:solidFill>
                <a:latin typeface="Georgia"/>
              </a:defRPr>
            </a:pPr>
            <a:r>
              <a:t>SUNNAH REMEDIES ACADEMY</a:t>
            </a:r>
          </a:p>
        </p:txBody>
      </p:sp>
      <p:sp>
        <p:nvSpPr>
          <p:cNvPr id="8" name="TextBox 7"/>
          <p:cNvSpPr txBox="1"/>
          <p:nvPr/>
        </p:nvSpPr>
        <p:spPr>
          <a:xfrm>
            <a:off x="914400" y="4754880"/>
            <a:ext cx="10362895" cy="274320"/>
          </a:xfrm>
          <a:prstGeom prst="rect">
            <a:avLst/>
          </a:prstGeom>
          <a:noFill/>
        </p:spPr>
        <p:txBody>
          <a:bodyPr wrap="square"/>
          <a:lstStyle/>
          <a:p>
            <a:pPr algn="ctr">
              <a:lnSpc>
                <a:spcPct val="120000"/>
              </a:lnSpc>
              <a:spcBef>
                <a:spcPts val="0"/>
              </a:spcBef>
              <a:spcAft>
                <a:spcPts val="0"/>
              </a:spcAft>
              <a:defRPr sz="1400" b="0" i="0">
                <a:solidFill>
                  <a:srgbClr val="1A1A1A"/>
                </a:solidFill>
                <a:latin typeface="Calibri"/>
              </a:defRPr>
            </a:pPr>
            <a:r>
              <a:t>Healing by the Book and the Sunnah</a:t>
            </a:r>
          </a:p>
        </p:txBody>
      </p:sp>
      <p:sp>
        <p:nvSpPr>
          <p:cNvPr id="9" name="TextBox 8"/>
          <p:cNvSpPr txBox="1"/>
          <p:nvPr/>
        </p:nvSpPr>
        <p:spPr>
          <a:xfrm>
            <a:off x="914400" y="5120640"/>
            <a:ext cx="10362895" cy="274320"/>
          </a:xfrm>
          <a:prstGeom prst="rect">
            <a:avLst/>
          </a:prstGeom>
          <a:noFill/>
        </p:spPr>
        <p:txBody>
          <a:bodyPr wrap="square"/>
          <a:lstStyle/>
          <a:p>
            <a:pPr algn="ctr">
              <a:lnSpc>
                <a:spcPct val="120000"/>
              </a:lnSpc>
              <a:spcBef>
                <a:spcPts val="0"/>
              </a:spcBef>
              <a:spcAft>
                <a:spcPts val="0"/>
              </a:spcAft>
              <a:defRPr sz="1200" b="0" i="0">
                <a:solidFill>
                  <a:srgbClr val="1A1A1A"/>
                </a:solidFill>
                <a:latin typeface="Calibri"/>
              </a:defRPr>
            </a:pPr>
            <a:r>
              <a:t>www.sunnahremedies.academy</a:t>
            </a:r>
          </a:p>
        </p:txBody>
      </p:sp>
      <p:sp>
        <p:nvSpPr>
          <p:cNvPr id="10" name="TextBox 9"/>
          <p:cNvSpPr txBox="1"/>
          <p:nvPr/>
        </p:nvSpPr>
        <p:spPr>
          <a:xfrm>
            <a:off x="914400" y="5669280"/>
            <a:ext cx="10362895" cy="274320"/>
          </a:xfrm>
          <a:prstGeom prst="rect">
            <a:avLst/>
          </a:prstGeom>
          <a:noFill/>
        </p:spPr>
        <p:txBody>
          <a:bodyPr wrap="square"/>
          <a:lstStyle/>
          <a:p>
            <a:pPr algn="ctr">
              <a:lnSpc>
                <a:spcPct val="120000"/>
              </a:lnSpc>
              <a:spcBef>
                <a:spcPts val="0"/>
              </a:spcBef>
              <a:spcAft>
                <a:spcPts val="0"/>
              </a:spcAft>
              <a:defRPr sz="1000" b="0" i="0">
                <a:solidFill>
                  <a:srgbClr val="1A1A1A"/>
                </a:solidFill>
                <a:latin typeface="Calibri"/>
              </a:defRPr>
            </a:pPr>
            <a:r>
              <a:t>SRA-DOC-2026-HJM-001-v1.0 | PRACTITIONER | ©2026 Sunnah Remedies Academy</a:t>
            </a:r>
          </a:p>
        </p:txBody>
      </p:sp>
      <p:sp>
        <p:nvSpPr>
          <p:cNvPr id="11" name="TextBox 10"/>
          <p:cNvSpPr txBox="1"/>
          <p:nvPr/>
        </p:nvSpPr>
        <p:spPr>
          <a:xfrm>
            <a:off x="457200" y="6492240"/>
            <a:ext cx="3657600" cy="274320"/>
          </a:xfrm>
          <a:prstGeom prst="rect">
            <a:avLst/>
          </a:prstGeom>
          <a:noFill/>
        </p:spPr>
        <p:txBody>
          <a:bodyPr wrap="square"/>
          <a:lstStyle/>
          <a:p>
            <a:pPr algn="l">
              <a:lnSpc>
                <a:spcPct val="120000"/>
              </a:lnSpc>
              <a:spcBef>
                <a:spcPts val="0"/>
              </a:spcBef>
              <a:spcAft>
                <a:spcPts val="0"/>
              </a:spcAft>
              <a:defRPr sz="800" b="0" i="0">
                <a:solidFill>
                  <a:srgbClr val="1A1A1A"/>
                </a:solidFill>
                <a:latin typeface="Calibri"/>
              </a:defRPr>
            </a:pPr>
            <a:r>
              <a:t>SUNNAH REMEDIES ACADEMY</a:t>
            </a:r>
          </a:p>
        </p:txBody>
      </p:sp>
      <p:sp>
        <p:nvSpPr>
          <p:cNvPr id="12" name="TextBox 11"/>
          <p:cNvSpPr txBox="1"/>
          <p:nvPr/>
        </p:nvSpPr>
        <p:spPr>
          <a:xfrm>
            <a:off x="8229600" y="6492240"/>
            <a:ext cx="3474720" cy="274320"/>
          </a:xfrm>
          <a:prstGeom prst="rect">
            <a:avLst/>
          </a:prstGeom>
          <a:noFill/>
        </p:spPr>
        <p:txBody>
          <a:bodyPr wrap="square"/>
          <a:lstStyle/>
          <a:p>
            <a:pPr algn="r">
              <a:lnSpc>
                <a:spcPct val="120000"/>
              </a:lnSpc>
              <a:spcBef>
                <a:spcPts val="0"/>
              </a:spcBef>
              <a:spcAft>
                <a:spcPts val="0"/>
              </a:spcAft>
              <a:defRPr sz="800" b="0" i="0">
                <a:solidFill>
                  <a:srgbClr val="1A1A1A"/>
                </a:solidFill>
                <a:latin typeface="Calibri"/>
              </a:defRPr>
            </a:pPr>
            <a:r>
              <a:t>42</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F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5180990" y="1828800"/>
            <a:ext cx="1828800" cy="1828800"/>
          </a:xfrm>
          <a:prstGeom prst="ellipse">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180990" y="2468880"/>
            <a:ext cx="1828800" cy="457200"/>
          </a:xfrm>
          <a:prstGeom prst="rect">
            <a:avLst/>
          </a:prstGeom>
          <a:noFill/>
        </p:spPr>
        <p:txBody>
          <a:bodyPr wrap="none">
            <a:spAutoFit/>
          </a:bodyPr>
          <a:lstStyle/>
          <a:p>
            <a:pPr algn="ctr">
              <a:defRPr sz="2800" b="1">
                <a:solidFill>
                  <a:srgbClr val="FAF7F2"/>
                </a:solidFill>
              </a:defRPr>
            </a:pPr>
            <a:r>
              <a:t>SRA</a:t>
            </a:r>
          </a:p>
        </p:txBody>
      </p:sp>
      <p:sp>
        <p:nvSpPr>
          <p:cNvPr id="5" name="TextBox 4"/>
          <p:cNvSpPr txBox="1"/>
          <p:nvPr/>
        </p:nvSpPr>
        <p:spPr>
          <a:xfrm>
            <a:off x="914400" y="3840480"/>
            <a:ext cx="10362895" cy="457200"/>
          </a:xfrm>
          <a:prstGeom prst="rect">
            <a:avLst/>
          </a:prstGeom>
          <a:noFill/>
        </p:spPr>
        <p:txBody>
          <a:bodyPr wrap="square"/>
          <a:lstStyle/>
          <a:p>
            <a:pPr algn="ctr">
              <a:lnSpc>
                <a:spcPct val="120000"/>
              </a:lnSpc>
              <a:spcBef>
                <a:spcPts val="0"/>
              </a:spcBef>
              <a:spcAft>
                <a:spcPts val="0"/>
              </a:spcAft>
              <a:defRPr sz="2800" b="1" i="0">
                <a:solidFill>
                  <a:srgbClr val="B8860B"/>
                </a:solidFill>
                <a:latin typeface="Georgia"/>
              </a:defRPr>
            </a:pPr>
            <a:r>
              <a:t>SUNNAH REMEDIES ACADEMY</a:t>
            </a:r>
          </a:p>
        </p:txBody>
      </p:sp>
      <p:sp>
        <p:nvSpPr>
          <p:cNvPr id="6" name="TextBox 5"/>
          <p:cNvSpPr txBox="1"/>
          <p:nvPr/>
        </p:nvSpPr>
        <p:spPr>
          <a:xfrm>
            <a:off x="914400" y="4389120"/>
            <a:ext cx="10362895" cy="365760"/>
          </a:xfrm>
          <a:prstGeom prst="rect">
            <a:avLst/>
          </a:prstGeom>
          <a:noFill/>
        </p:spPr>
        <p:txBody>
          <a:bodyPr wrap="square"/>
          <a:lstStyle/>
          <a:p>
            <a:pPr algn="ctr">
              <a:lnSpc>
                <a:spcPct val="120000"/>
              </a:lnSpc>
              <a:spcBef>
                <a:spcPts val="0"/>
              </a:spcBef>
              <a:spcAft>
                <a:spcPts val="0"/>
              </a:spcAft>
              <a:defRPr sz="1600" b="0" i="0">
                <a:solidFill>
                  <a:srgbClr val="FAF7F2"/>
                </a:solidFill>
                <a:latin typeface="Calibri"/>
              </a:defRPr>
            </a:pPr>
            <a:r>
              <a:t>Institute of Prophetic Medicine</a:t>
            </a:r>
          </a:p>
        </p:txBody>
      </p:sp>
      <p:sp>
        <p:nvSpPr>
          <p:cNvPr id="7" name="TextBox 6"/>
          <p:cNvSpPr txBox="1"/>
          <p:nvPr/>
        </p:nvSpPr>
        <p:spPr>
          <a:xfrm>
            <a:off x="914400" y="4754880"/>
            <a:ext cx="10362895" cy="365760"/>
          </a:xfrm>
          <a:prstGeom prst="rect">
            <a:avLst/>
          </a:prstGeom>
          <a:noFill/>
        </p:spPr>
        <p:txBody>
          <a:bodyPr wrap="square"/>
          <a:lstStyle/>
          <a:p>
            <a:pPr algn="ctr">
              <a:lnSpc>
                <a:spcPct val="120000"/>
              </a:lnSpc>
              <a:spcBef>
                <a:spcPts val="0"/>
              </a:spcBef>
              <a:spcAft>
                <a:spcPts val="0"/>
              </a:spcAft>
              <a:defRPr sz="1400" b="0" i="0">
                <a:solidFill>
                  <a:srgbClr val="FAF7F2"/>
                </a:solidFill>
                <a:latin typeface="Calibri"/>
              </a:defRPr>
            </a:pPr>
            <a:r>
              <a:t>Healing by the Book and the Sunnah</a:t>
            </a:r>
          </a:p>
        </p:txBody>
      </p:sp>
      <p:sp>
        <p:nvSpPr>
          <p:cNvPr id="8" name="TextBox 7"/>
          <p:cNvSpPr txBox="1"/>
          <p:nvPr/>
        </p:nvSpPr>
        <p:spPr>
          <a:xfrm>
            <a:off x="914400" y="5303520"/>
            <a:ext cx="10362895" cy="274320"/>
          </a:xfrm>
          <a:prstGeom prst="rect">
            <a:avLst/>
          </a:prstGeom>
          <a:noFill/>
        </p:spPr>
        <p:txBody>
          <a:bodyPr wrap="square"/>
          <a:lstStyle/>
          <a:p>
            <a:pPr algn="ctr">
              <a:lnSpc>
                <a:spcPct val="120000"/>
              </a:lnSpc>
              <a:spcBef>
                <a:spcPts val="0"/>
              </a:spcBef>
              <a:spcAft>
                <a:spcPts val="0"/>
              </a:spcAft>
              <a:defRPr sz="1200" b="0" i="0">
                <a:solidFill>
                  <a:srgbClr val="FAF7F2"/>
                </a:solidFill>
                <a:latin typeface="Calibri"/>
              </a:defRPr>
            </a:pPr>
            <a:r>
              <a:t>Certified Hijama Practitioner Programme</a:t>
            </a:r>
          </a:p>
        </p:txBody>
      </p:sp>
      <p:sp>
        <p:nvSpPr>
          <p:cNvPr id="9" name="TextBox 8"/>
          <p:cNvSpPr txBox="1"/>
          <p:nvPr/>
        </p:nvSpPr>
        <p:spPr>
          <a:xfrm>
            <a:off x="914400" y="5669280"/>
            <a:ext cx="10362895" cy="274320"/>
          </a:xfrm>
          <a:prstGeom prst="rect">
            <a:avLst/>
          </a:prstGeom>
          <a:noFill/>
        </p:spPr>
        <p:txBody>
          <a:bodyPr wrap="square"/>
          <a:lstStyle/>
          <a:p>
            <a:pPr algn="ctr">
              <a:lnSpc>
                <a:spcPct val="120000"/>
              </a:lnSpc>
              <a:spcBef>
                <a:spcPts val="0"/>
              </a:spcBef>
              <a:spcAft>
                <a:spcPts val="0"/>
              </a:spcAft>
              <a:defRPr sz="1000" b="0" i="0">
                <a:solidFill>
                  <a:srgbClr val="FAF7F2"/>
                </a:solidFill>
                <a:latin typeface="Calibri"/>
              </a:defRPr>
            </a:pPr>
            <a:r>
              <a:t>Document ID: SRA-DOC-2026-HJM-001-v1.0 | Classification: PRACTITIONER</a:t>
            </a:r>
          </a:p>
        </p:txBody>
      </p:sp>
      <p:sp>
        <p:nvSpPr>
          <p:cNvPr id="10" name="TextBox 9"/>
          <p:cNvSpPr txBox="1"/>
          <p:nvPr/>
        </p:nvSpPr>
        <p:spPr>
          <a:xfrm>
            <a:off x="914400" y="6035040"/>
            <a:ext cx="10362895" cy="182880"/>
          </a:xfrm>
          <a:prstGeom prst="rect">
            <a:avLst/>
          </a:prstGeom>
          <a:noFill/>
        </p:spPr>
        <p:txBody>
          <a:bodyPr wrap="square"/>
          <a:lstStyle/>
          <a:p>
            <a:pPr algn="ctr">
              <a:lnSpc>
                <a:spcPct val="120000"/>
              </a:lnSpc>
              <a:spcBef>
                <a:spcPts val="0"/>
              </a:spcBef>
              <a:spcAft>
                <a:spcPts val="0"/>
              </a:spcAft>
              <a:defRPr sz="1000" b="0" i="0">
                <a:solidFill>
                  <a:srgbClr val="FAF7F2"/>
                </a:solidFill>
                <a:latin typeface="Calibri"/>
              </a:defRPr>
            </a:pPr>
            <a:r>
              <a:t>© 2026 Sunnah Remedies Academy.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