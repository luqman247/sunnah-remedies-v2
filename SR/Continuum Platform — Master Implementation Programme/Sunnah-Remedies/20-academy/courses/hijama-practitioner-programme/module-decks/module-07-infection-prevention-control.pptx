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Infection Prevention &amp; Control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Chain of Infection, Blood-Borne Pathogens, and Clinical Safety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Chain of Infection and Blood-Borne Pathogens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six links of infection, HIV/HBV/HCV risks, and universal precautions for Hijama practice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of infection • Blood-borne pathogens • Universal precautions • Exposure incidents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Hand Hygiene, PPE, and Waste Management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5 Moments, PPE selection, sterilisation validation, and clinical waste disposal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hygiene • PPE • Sterilisation validation • Waste management • Environmental cleaning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transforms infection control from abstract theory into daily practice.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Break every link in the chain of infection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Protect yourself from blood-borne pathogens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universal precautions without exception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clinical waste correctly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4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"Allah does not burden a soul beyond that it can bear." — Qur'an 2:286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Chain of Infection and Blood-Borne Pathogens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Every Link — Protecting Practitioner and Patient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Chain of Infection: Breaking Every Link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LINKS — BREAK ANY ONE, STOP THE INFECTION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889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57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33500" y="20574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Infectious Agent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Bacteria, viruses, fungi. SRA control: sterile equipment, antiseptic skin prep.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1993900"/>
            <a:ext cx="4699000" cy="889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2057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86500" y="20574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Reservoir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Human body, contaminated surfaces. SRA control: patient screening, surface disinfection.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68000" y="1993900"/>
            <a:ext cx="4826000" cy="88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2057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39500" y="2057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of Exit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Blood, secretions. SRA control: PPE, careful handling of blood.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3009900"/>
            <a:ext cx="4699000" cy="88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" y="30734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33500" y="30734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of Transmission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Direct contact, fomites. SRA control: single-use items, hand hygiene.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3009900"/>
            <a:ext cx="4699000" cy="889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3073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86500" y="30734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of Entry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Cuts, mucous membranes. SRA control: PPE, no eating/drinking in clinic.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668000" y="3009900"/>
            <a:ext cx="4826000" cy="889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0" y="30734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239500" y="3073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Susceptible Host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Immunocompromised. SRA control: postpone treatment if practitioner is unwell.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4318000"/>
            <a:ext cx="14732000" cy="762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4445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don't need to break all six links — breaking just one stops transmission. In Hijama, we target multiple links simultaneously for defence in depth.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Blood-Borne Pathogens in Hijama Practice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PATHOGENS — ZERO TOLERANCE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0160000" cy="3048000"/>
        </p:xfrm>
        <a:graphic>
          <a:graphicData uri="http://schemas.openxmlformats.org/drawingml/2006/table">
            <a:tbl>
              <a:tblPr/>
              <a:tblGrid>
                <a:gridCol w="1778"/>
                <a:gridCol w="2222"/>
                <a:gridCol w="2222"/>
                <a:gridCol w="2667"/>
              </a:tblGrid>
              <a:tr h="119.9999999999999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Pathogen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Transmission Route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Hijama Risk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Precaution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Blood, sexual, mother-to-child. Virus dies quickly outside body.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Low but serious. Risk via needlestick or blood contact with open skin.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Single-use blades only. No blade recapping. Sharps container immediately.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HBV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Blood and bodily fluids. Survives 7+ days on surfaces.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High. 100x more infectious than HIV. Most significant Hijama risk.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Vaccination for all practitioners. Double-gloving for incisions. Surface disinfection.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HCV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Blood-to-blood. No vaccine available.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Moderate. Chronic infection risk high if contracted.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Strict sharps protocols. Never pass uncapped blades. Immediate disposal.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5334000"/>
            <a:ext cx="10160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5461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60500" y="5397500"/>
            <a:ext cx="927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Rule: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screen patients for blood-borne infections via health questionnaire. Never treat without documented screening. Postpone if active infection suspected.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1303000" y="2032000"/>
            <a:ext cx="4191000" cy="4000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1"/>
          <p:cNvSpPr/>
          <p:nvPr/>
        </p:nvSpPr>
        <p:spPr>
          <a:xfrm>
            <a:off x="11557000" y="2222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EXPOSURE PROTOCOL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5570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3"/>
          <p:cNvSpPr/>
          <p:nvPr/>
        </p:nvSpPr>
        <p:spPr>
          <a:xfrm>
            <a:off x="11557000" y="2730500"/>
            <a:ext cx="3683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exposed to patient blood: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Wash area immediately with soap and water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Report to supervisor without delay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Document incident (time, source, action)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Seek medical evaluation within 24 hours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Follow-up testing at 6 weeks, 3 months, 6 months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"And whoever saves one life, it is as if he saved mankind entirely." — Qur'an 5:32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Universal Precautions: Treat All Blood as Infectious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NON-NEGOTIABLE 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Gloves Always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Double-glove for incisions. Change between patients. Never reuse.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0000" y="20955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Hygiene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and after every patient. Before donning and after removing gloves.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303000" y="20955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Respiratory Protection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Mask when risk of splashing. Face shield for incision-heavy sessions.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3238500"/>
            <a:ext cx="4699000" cy="1016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Sharps Handling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recap blades. Dispose immediately in puncture-proof container.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3238500"/>
            <a:ext cx="4699000" cy="1016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0000" y="3302000"/>
            <a:ext cx="3937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 Disinfection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and disinfect all surfaces between patients. Use TGA-registered products.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68000" y="3238500"/>
            <a:ext cx="4826000" cy="1016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303000" y="33020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Waste Disposal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Segregate at point of generation. Colour-coded bins. Licensed collection.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2000" y="4572000"/>
            <a:ext cx="14732000" cy="635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4635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Principle: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cannot tell by looking. Every patient. Every time. No exceptions.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14732000" cy="69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524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Universal precautions protect both practitioner and patient. The patient with a blood-borne infection deserves the same respectful, safe treatment as any other. These precautions are not stigma — they are standard of care.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Hand Hygiene, PPE, and Waste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Protocols for Clinical Safety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WHO 5 Moments of Hand Hygiene — Hijama Adapted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MOMENTS — EVERY SESSION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25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0500" y="2095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touching the patient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Before palpating skin, checking points, or any contact.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2984500"/>
            <a:ext cx="7112000" cy="825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4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0500" y="3048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clean/aseptic procedure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Before cupping, incisions, or applying dressings.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3937000"/>
            <a:ext cx="7112000" cy="825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0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0500" y="4000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body fluid exposure risk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After removing cups, handling blood, or changing dressings.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4889500"/>
            <a:ext cx="7112000" cy="825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0500" y="4953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touching the patient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After completing treatment, before removing gloves.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7112000" cy="825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5905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0500" y="5905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touching patient surroundings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After adjusting bed, equipment, or any surfaces.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635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 MATTERS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Soap and Water (20 seconds):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Wet, lather, scrub all surfaces — palms, backs, between fingers, under nails. Rinse thoroughly. Dry with single-use towel.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Alcohol-Based Rub (20-30 seconds):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palmful. Cover all hand surfaces. Rub until dry. Use when hands are not visibly soiled.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NOT to use alcohol rub: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Hands visibly dirty or contaminated with blood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After using the restroom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Before eating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2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"Purification is half of faith." — Hadith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Personal Protective Equipment (PPE)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 AND USING PPE CORRECTLY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6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Gloves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4892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Nitrile preferred (latex allergy risk)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Double-glove for wet cupping with incisions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Change between every patient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Remove by turning inside out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wash or reuse disposable gloves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68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Apron / Gown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5500" y="24892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Fluid-resistant for wet cupping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Long sleeves, tie at neck and waist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Change if visibly soiled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Remove by rolling outward, away from body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Dispose after single 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68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Mask &amp; Eye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58500" y="2489200"/>
            <a:ext cx="444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Surgical mask for standard procedures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Face shield when splash risk exists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Protects mucous membranes (eyes, nose, mouth)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Fit snugly over nose and under chin</a:t>
            </a:r>
            <a:endParaRPr lang="en-US" sz="1100" dirty="0"/>
          </a:p>
          <a:p>
            <a:pPr algn="l">
              <a:lnSpc>
                <a:spcPct val="145000"/>
              </a:lnSpc>
            </a:pPr>
            <a:r>
              <a:rPr lang="en-US" sz="11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Change between patients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2000" y="425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DONNING 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000" y="4635500"/>
            <a:ext cx="7112000" cy="4572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673600"/>
            <a:ext cx="673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Apron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Mask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Eye Protection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Gloves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2000" y="546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DOFFING ORDER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2000" y="5778500"/>
            <a:ext cx="7112000" cy="4572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816600"/>
            <a:ext cx="673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Gloves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Apron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Eye Protection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Mask  →  </a:t>
            </a:r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Hygiene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55000" y="4254500"/>
            <a:ext cx="7239000" cy="2222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4419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PPE CHECKLIST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4724400"/>
            <a:ext cx="635000" cy="254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4889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every session, verify: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Correct PPE for procedure type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 items within expiry date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tears, holes, or defects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Proper size and fit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 hygiene before donning and after doffing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Waste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SEGRAGATE AT POINT OF GENERATION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3048000"/>
        </p:xfrm>
        <a:graphic>
          <a:graphicData uri="http://schemas.openxmlformats.org/drawingml/2006/table">
            <a:tbl>
              <a:tblPr/>
              <a:tblGrid>
                <a:gridCol w="2578"/>
                <a:gridCol w="3544"/>
                <a:gridCol w="3222"/>
                <a:gridCol w="3222"/>
                <a:gridCol w="2900"/>
                <a:gridCol w="3222"/>
              </a:tblGrid>
              <a:tr h="119.9999999999999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Examples in Hijama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Container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Label / Marking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Disposal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Used blades, lancets, broken glass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Yellow puncture-proof sharps bin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Biohazard symbol, fill line marked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Upright, secure, away from public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Licensed contractor, incineration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Soiled gauze, dressings, gloves, aprons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Yellow bag or bin with lid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Biohazard symbol, date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Cool, dry area, max 72 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Licensed contractor, heat treatment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226.6666666666666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Packaging, paper, uncontaminated items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Black bag or general waste bin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special marking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 waste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Municipal collection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5334000"/>
            <a:ext cx="14732000" cy="698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5397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dispose of clinical waste in general waste bins.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Never overfill sharps containers past the fill line (usually 3/4 full). Always use a licensed waste contractor — document collection with consignment notes.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2000" y="6286500"/>
            <a:ext cx="14732000" cy="63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6350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a waste log — document type, quantity, date collected, and contractor details. This is a legal requirement in most jurisdictions and essential for audit trails.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M7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Prevention &amp;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7: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the chain.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chain of infection has six links. Breaking even one stops transmission. In Hijama, we target multiple links for defence in depth.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Blood-borne pathogens are real.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HBV is 100x more infectious than HIV. HCV has no vaccine. Screen every patient. Protect yourself.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precautions — no exceptions.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Treat all blood as infectious. You cannot tell by looking. Every patient. Every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hygiene is your first defence.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5 Moments, every session. 20 seconds with soap and water. Alcohol rub when hands are clean.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waste correctly.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Segregate at point of generation. Use licensed contractors. Document everything. Protect the community.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Patient Consultation &amp; Assessment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8, you will learn: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Taking a comprehensive patient history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Contraindications and when to refer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Informed consent procedures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Building rapport and trust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Documentation standards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infection control knowledge from this module becomes the foundation for safe patient interactions in every consultation.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921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"And whoever saves one life, it is as if he saved mankind entirely."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5:32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4826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07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Infection control is not bureaucracy — it is the sacred duty of protecting every soul who enters your clinic. Master these protocols, and your hands become instruments of healing, free from harm.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7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Infection Prevention &amp; Control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7: Infection Prevention &amp; Control</dc:title>
  <dc:subject>SRA-001 | Module 7: Infection Prevention &amp; Control</dc:subject>
  <dc:creator>Kimi</dc:creator>
  <cp:lastModifiedBy>Kimi</cp:lastModifiedBy>
  <cp:revision>1</cp:revision>
  <dcterms:created xsi:type="dcterms:W3CDTF">2026-07-06T09:17:13Z</dcterms:created>
  <dcterms:modified xsi:type="dcterms:W3CDTF">2026-07-06T09:17:13Z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7: Infection Prevention &amp; Control","ContentProducer":"001191110108MACG2KBH8F10000","ProduceID":"19f34fdf-a742-83e6-8000-000074fec293","ReservedCode1":"","ContentPropagator":"001191110108MACG2KBH8F20000","PropagateID":"19f34489-a1f2-82b2-8000-09219025796f","ReservedCode2":""}</vt:lpwstr>
  </property>
</Properties>
</file>