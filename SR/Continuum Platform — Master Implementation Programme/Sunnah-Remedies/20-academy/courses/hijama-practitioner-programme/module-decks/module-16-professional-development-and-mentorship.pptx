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Quattrocento Sans" charset="-122" pitchFamily="34"/>
      <p:regular r:id="rId19"/>
    </p:embeddedFont>
    <p:embeddedFont>
      <p:font typeface="Oranienbaum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8000" y="2794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SRA-001  |  MODULE 16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6858000" y="3365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4" name="Text 2"/>
          <p:cNvSpPr/>
          <p:nvPr/>
        </p:nvSpPr>
        <p:spPr>
          <a:xfrm>
            <a:off x="2413000" y="3683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Professional Development and Mentorship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048000" y="4826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800" spc="2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Lifelong Learning, Teaching, and Leading the Profession Forward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858000" y="5524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7" name="Text 5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Development and Mentorship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Contents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78000"/>
            <a:ext cx="7112000" cy="2921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9" name="Text 7"/>
          <p:cNvSpPr/>
          <p:nvPr/>
        </p:nvSpPr>
        <p:spPr>
          <a:xfrm>
            <a:off x="1016000" y="1905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016000" y="2476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Lifelong Learning and Growth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16000" y="2921000"/>
            <a:ext cx="660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CPD planning and reflective practice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Professional networks and associations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Career pathways in Hijama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382000" y="1778000"/>
            <a:ext cx="7112000" cy="2921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1905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636000" y="24765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Teaching and Mentoring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36000" y="2921000"/>
            <a:ext cx="6604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Adult learning and lesson planning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Mentorship models and feedback</a:t>
            </a:r>
            <a:endParaRPr lang="en-US" sz="12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Professional ethics in teaching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Lifelong Learning and Growth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CPD, Networks, and Career Pathways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Development and Mentorship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CPD Planning and Reflective Practice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CPD REQUIREMENTS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14732000" cy="889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1435100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SRA certification requires 20 hours CPD per year (minimum)  •  At least 10 hours must be clinical/practical  •  Maximum 10 hours can be online/distance learning  •  Document all CPD with certificates or reflective logs  •  CPD topics: clinical skills, research, business, teaching, first aid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2000" y="3175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ANNUAL CPD PLAN TEMPLATE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581400"/>
          <a:ext cx="14732000" cy="1968500"/>
        </p:xfrm>
        <a:graphic>
          <a:graphicData uri="http://schemas.openxmlformats.org/drawingml/2006/table">
            <a:tbl>
              <a:tblPr/>
              <a:tblGrid>
                <a:gridCol w="3867"/>
                <a:gridCol w="5156"/>
                <a:gridCol w="3222"/>
                <a:gridCol w="3222"/>
                <a:gridCol w="3222"/>
              </a:tblGrid>
              <a:tr h="55118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Quarter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Activity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Hours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Type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Status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82677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Q1 (Jan-Mar)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Advanced cupping workshop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8 hours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Clinical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Planned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82677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Q2 (Apr-Jun)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Research methods online course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6 hours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Online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Planned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82677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Q3+Q4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Conference attendance + case presentation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10 hours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Mixed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Planned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62000" y="5816600"/>
            <a:ext cx="14732000" cy="889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4" name="Text 11"/>
          <p:cNvSpPr/>
          <p:nvPr/>
        </p:nvSpPr>
        <p:spPr>
          <a:xfrm>
            <a:off x="952500" y="58928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REFLECTIVE PRACTICE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52500" y="6197600"/>
            <a:ext cx="1435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every significant case or event, ask: What happened? What did I do well? What could I improve? What will I do differently next time? Write your reflections — they become your greatest teacher.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Development and Mentorship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Professional Networks and Associations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NETWORKING OPPORTUNITIES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4699000" cy="190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Professional Associations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Sunnah Remedies Academy alumni network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International Cupping Therapy Association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Local complementary medicine councils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Islamic medicine organisations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Benefits: advocacy, resources, referrals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Membership demonstrates commitment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15000" y="2032000"/>
            <a:ext cx="4699000" cy="1905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1336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Conferences and Events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05500" y="2463800"/>
            <a:ext cx="431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Annual SRA practitioner conference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Integrative medicine symposiums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Islamic health and wellness expos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Present your case studies and audits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Networking with peers and mentors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CPD hours for attendance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32000"/>
            <a:ext cx="4826000" cy="1905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1336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Online Communities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58500" y="2463800"/>
            <a:ext cx="4445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SRA private practitioner forum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Professional social media groups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Webinars and virtual grand rounds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Peer consultation on complex cases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Share resources and research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Build relationships across distances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Development and Mentorship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Career Pathways in Hijama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FOUR PATHWAYS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3492500" cy="2159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33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Clinical Specialist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463800"/>
            <a:ext cx="3175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Deep expertise in specific area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Sports injuries, fertility, chronic pain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Referral network of GPs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Premium pricing for specialisation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Publish case series in your niche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Speak at conferences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2-3 years post-certification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08500" y="2032000"/>
            <a:ext cx="3492500" cy="2159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4660900" y="2133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Educator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0900" y="2463800"/>
            <a:ext cx="3175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Teach Hijama at training institutions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Develop curriculum and materials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Mentor students and graduates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Run workshops and CPD events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Write textbooks and guides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Online course creation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3-5 years post-certification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255000" y="2032000"/>
            <a:ext cx="3492500" cy="2159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07400" y="2133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Researcher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07400" y="2463800"/>
            <a:ext cx="3175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Conduct clinical trials and studies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Collaborate with universities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Publish in peer-reviewed journals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Present at academic conferences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Advance the evidence base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Secure research grants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4-6 years post-certification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001500" y="2032000"/>
            <a:ext cx="3492500" cy="2159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12153900" y="2133600"/>
            <a:ext cx="317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Leader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153900" y="2463800"/>
            <a:ext cx="31750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Run a multi-practitioner clinic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Lead professional associations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Shape policy and regulation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Advocate for Hijama recognition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Build institutions and standards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Mentor the next generation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5+ years post-certification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6000" y="1524000"/>
            <a:ext cx="3810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20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016000" y="3048000"/>
            <a:ext cx="152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16000" y="3937000"/>
            <a:ext cx="1524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4191000"/>
            <a:ext cx="1143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15000"/>
              </a:lnSpc>
            </a:pPr>
            <a:r>
              <a:rPr lang="en-US" sz="36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Teaching and Mentoring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Adult Learning, Mentorship Models, and Professional Ethics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Development and Mentorship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Teaching Hijama Effectively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ADULT LEARNING PRINCIPLES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06600"/>
            <a:ext cx="3492500" cy="1587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108200"/>
            <a:ext cx="317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Self-Directed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Adult learners need to know why they are learning something. Connect every lesson to clinical application. Let students set their own learning goals.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08500" y="2006600"/>
            <a:ext cx="3492500" cy="1587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2" name="Text 10"/>
          <p:cNvSpPr/>
          <p:nvPr/>
        </p:nvSpPr>
        <p:spPr>
          <a:xfrm>
            <a:off x="4660900" y="2108200"/>
            <a:ext cx="317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Experiential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Adults learn by doing. Minimise lecture time, maximise hands-on practice. Use real cases, not just theory. Let students make mistakes in a safe environment.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55000" y="2006600"/>
            <a:ext cx="3492500" cy="1587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4" name="Text 12"/>
          <p:cNvSpPr/>
          <p:nvPr/>
        </p:nvSpPr>
        <p:spPr>
          <a:xfrm>
            <a:off x="8407400" y="2108200"/>
            <a:ext cx="317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Problem-Centred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Adults want to solve problems, not memorise facts. Teach through case studies and clinical scenarios. Ask "What would you do?" not "What is the answer?"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2001500" y="2006600"/>
            <a:ext cx="3492500" cy="1587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6" name="Text 14"/>
          <p:cNvSpPr/>
          <p:nvPr/>
        </p:nvSpPr>
        <p:spPr>
          <a:xfrm>
            <a:off x="12153900" y="2108200"/>
            <a:ext cx="3175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Respectful</a:t>
            </a:r>
            <a:endParaRPr lang="en-US" sz="1000" dirty="0"/>
          </a:p>
          <a:p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Adult learners bring life experience. Acknowledge their existing knowledge. Create a collaborative learning environment, not a hierarchical one.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2000" y="3810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LESSON PLAN STRUCTURE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216400"/>
          <a:ext cx="14732000" cy="1841500"/>
        </p:xfrm>
        <a:graphic>
          <a:graphicData uri="http://schemas.openxmlformats.org/drawingml/2006/table">
            <a:tbl>
              <a:tblPr/>
              <a:tblGrid>
                <a:gridCol w="2256"/>
                <a:gridCol w="6122"/>
                <a:gridCol w="5156"/>
                <a:gridCol w="5156"/>
              </a:tblGrid>
              <a:tr h="51562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Phase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Activity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Time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Purpose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71818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Hook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Case study, question, or demonstration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5-10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Engage attention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71818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Teach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Explain concept with visual aids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15-20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Transfer knowledge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71818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Apply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Hands-on practice, group work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30-45 min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Develop skill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Development and Mentorship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Mentorship Models and Feedback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MENTORSHIP APPROACHES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06600"/>
            <a:ext cx="4699000" cy="1651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0828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Formal Mentorship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130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Structured program with defined goals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Regular scheduled meetings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Documented progress and milestones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Typically 6-12 month commitment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Clear boundaries and expectations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715000" y="2006600"/>
            <a:ext cx="4699000" cy="16510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5905500" y="2082800"/>
            <a:ext cx="4318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Peer Mentorship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05500" y="2413000"/>
            <a:ext cx="431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Mutually beneficial relationship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Similar experience levels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Case discussion and problem-solving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Informal, flexible structure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Accountability partnership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0668000" y="2006600"/>
            <a:ext cx="4826000" cy="1651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2082800"/>
            <a:ext cx="444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Group Supervision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858500" y="2413000"/>
            <a:ext cx="444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3-6 practitioners meet regularly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Present cases for group discussion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Diverse perspectives and insights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Cost-effective and time-efficient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Builds professional community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2000" y="39116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GIVING CONSTRUCTIVE FEEDBACK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2000" y="4318000"/>
            <a:ext cx="14732000" cy="1333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4419600"/>
            <a:ext cx="143510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5000"/>
              </a:lnSpc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SBI Model:</a:t>
            </a:r>
            <a:pPr algn="l">
              <a:lnSpc>
                <a:spcPct val="145000"/>
              </a:lnSpc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Situation-Behaviour-Impact. "When you were doing the wet cupping [situation], I noticed you maintained sterile technique throughout [behaviour], which made me confident in your clinical safety [impact]."</a:t>
            </a:r>
            <a:endParaRPr lang="en-US" sz="1000" dirty="0"/>
          </a:p>
          <a:p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 improvement:</a:t>
            </a:r>
            <a:pPr algn="l">
              <a:lnSpc>
                <a:spcPct val="145000"/>
              </a:lnSpc>
              <a:spcBef>
                <a:spcPts val="400"/>
              </a:spcBef>
            </a:pPr>
            <a:r>
              <a:rPr lang="en-US" sz="10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"During the consultation [situation], the patient mentioned chest pain and you continued with treatment planning [behaviour]. In future, chest pain requires immediate referral to a GP before any Hijama [impact]."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Development and Mentorship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Professional Ethics in Teaching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TEACHER-STUDENT BOUNDARIES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14605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133600"/>
            <a:ext cx="673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Appropriate Conduct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52500" y="2463800"/>
            <a:ext cx="6731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Teach within your demonstrated competence — never teach techniques you have not mastered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Acknowledge the limits of your knowledge openly — "I don't know, but I will find out" builds trust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Maintain professional boundaries: no financial exploitation, no inappropriate relationships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Provide honest assessment of student competence — certification requires genuine skill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28000" y="2032000"/>
            <a:ext cx="7366000" cy="14605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318500" y="2133600"/>
            <a:ext cx="698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Student Safety in Training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18500" y="2463800"/>
            <a:ext cx="698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Students practise on each other only with informed consent and under direct supervision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Never require students to receive wet cupping as a condition of training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Ensure adequate supervision ratios: maximum 6 students per supervisor for practical sessions</a:t>
            </a:r>
            <a:endParaRPr lang="en-US" sz="900" dirty="0"/>
          </a:p>
          <a:p>
            <a:pPr algn="l">
              <a:lnSpc>
                <a:spcPct val="140000"/>
              </a:lnSpc>
            </a:pPr>
            <a:r>
              <a:rPr lang="en-US" sz="9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Have emergency protocols in place during all practical training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62000" y="3746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STANDARDS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4152900"/>
          <a:ext cx="14732000" cy="1841500"/>
        </p:xfrm>
        <a:graphic>
          <a:graphicData uri="http://schemas.openxmlformats.org/drawingml/2006/table">
            <a:tbl>
              <a:tblPr/>
              <a:tblGrid>
                <a:gridCol w="3867"/>
                <a:gridCol w="7411"/>
                <a:gridCol w="3706"/>
                <a:gridCol w="3706"/>
              </a:tblGrid>
              <a:tr h="515620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Standard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Requirement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Frequency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6F3EE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Evidence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2E"/>
                    </a:solidFill>
                  </a:tcPr>
                </a:tc>
              </a:tr>
              <a:tr h="71818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CPD compliance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20 hours minimum per year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Annual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Certificates, log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  <a:tr h="71818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Insurance current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Professional indemnity maintained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Annual review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Policy document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DE7"/>
                    </a:solidFill>
                  </a:tcPr>
                </a:tc>
              </a:tr>
              <a:tr h="718185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Scope adherence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Practise only within certified scope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Ongoing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A1A"/>
                          </a:solidFill>
                          <a:latin typeface="Quattrocento Sans" pitchFamily="34" charset="0"/>
                          <a:ea typeface="Quattrocento Sans" pitchFamily="34" charset="-122"/>
                          <a:cs typeface="Quattrocento Sans" pitchFamily="34" charset="-120"/>
                        </a:rPr>
                        <a:t>Self-assessment</a:t>
                      </a:r>
                      <a:endParaRPr lang="en-US" sz="1400" dirty="0">
                        <a:latin typeface="Quattrocento Sans" charset="0"/>
                        <a:ea typeface="Quattrocento Sans" charset="0"/>
                        <a:cs typeface="Quattrocento Sans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E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08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3" name="Text 1"/>
          <p:cNvSpPr/>
          <p:nvPr/>
        </p:nvSpPr>
        <p:spPr>
          <a:xfrm>
            <a:off x="254000" y="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M16</a:t>
            </a:r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 |  SRA-001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810000" y="0"/>
            <a:ext cx="863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Professional Development and Mentorship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3716000" y="0"/>
            <a:ext cx="2286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spc="2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762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8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Module 16: Key Takeaways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762000" y="1333500"/>
            <a:ext cx="1016000" cy="381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1587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spc="200" kern="0" dirty="0">
                <a:solidFill>
                  <a:srgbClr val="0E3B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FIVE ESSENTIAL LESSONS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2000" y="20320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2095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97000" y="209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CPD is not a checkbox — it is a commitment.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Plan your 20 hours annually with intention. Mix clinical, research, and business learning. Document everything.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2000" y="30226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" y="30861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97000" y="30861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Your network is your professional lifeline.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Join associations, attend conferences, and participate in online communities. Isolation leads to stagnation.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40132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16" name="Text 14"/>
          <p:cNvSpPr/>
          <p:nvPr/>
        </p:nvSpPr>
        <p:spPr>
          <a:xfrm>
            <a:off x="889000" y="40767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97000" y="40767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Teaching is the highest form of learning.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you teach Hijama, you deepen your own understanding. Adult learners need relevance, experience, and respect.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62000" y="5003800"/>
            <a:ext cx="7112000" cy="863600"/>
          </a:xfrm>
          <a:prstGeom prst="rect">
            <a:avLst/>
          </a:prstGeom>
          <a:solidFill>
            <a:srgbClr val="F0EDE7"/>
          </a:solidFill>
          <a:ln/>
        </p:spPr>
      </p:sp>
      <p:sp>
        <p:nvSpPr>
          <p:cNvPr id="19" name="Text 17"/>
          <p:cNvSpPr/>
          <p:nvPr/>
        </p:nvSpPr>
        <p:spPr>
          <a:xfrm>
            <a:off x="889000" y="50673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0E3B2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397000" y="50673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Feedback is a gift — give it well, receive it gratefully.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1A1A1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the SBI model. Be specific, behavioural, and focused on impact. Avoid personal criticism.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62000" y="5994400"/>
            <a:ext cx="7112000" cy="8636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" y="60579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200" dirty="0">
                <a:solidFill>
                  <a:srgbClr val="C7A25A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97000" y="60579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Ethics in teaching protects everyone.</a:t>
            </a:r>
            <a:pPr algn="l">
              <a:lnSpc>
                <a:spcPct val="14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Teach within your competence, maintain boundaries, ensure student safety, and never compromise standards for convenience.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55000" y="2032000"/>
            <a:ext cx="7239000" cy="4826000"/>
          </a:xfrm>
          <a:prstGeom prst="rect">
            <a:avLst/>
          </a:prstGeom>
          <a:solidFill>
            <a:srgbClr val="0E3B2E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2222500"/>
            <a:ext cx="381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100" spc="3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LOOKING AHEAD: MODULE 17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572500" y="2540000"/>
            <a:ext cx="635000" cy="254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27" name="Text 25"/>
          <p:cNvSpPr/>
          <p:nvPr/>
        </p:nvSpPr>
        <p:spPr>
          <a:xfrm>
            <a:off x="8572500" y="2730500"/>
            <a:ext cx="6604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2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Capstone: Clinical Competency Assessment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572500" y="3302000"/>
            <a:ext cx="6604000" cy="336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Module 17, you will: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6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Demonstrate full clinical competency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Complete simulated patient assessments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Perform wet and dry cupping under exam conditions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Pass written and practical examinations</a:t>
            </a:r>
            <a:endParaRPr lang="en-US" sz="1200" dirty="0"/>
          </a:p>
          <a:p>
            <a:pPr algn="l">
              <a:lnSpc>
                <a:spcPct val="150000"/>
              </a:lnSpc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Receive your SRA-001 certification</a:t>
            </a:r>
            <a:endParaRPr lang="en-US" sz="1200" dirty="0"/>
          </a:p>
          <a:p>
            <a:pPr algn="l">
              <a:lnSpc>
                <a:spcPct val="150000"/>
              </a:lnSpc>
              <a:spcBef>
                <a:spcPts val="1000"/>
              </a:spcBef>
            </a:pPr>
            <a:r>
              <a:rPr lang="en-US" sz="12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17 is your moment of validation — the culmination of 17 modules of study, practice, and growth. You are ready.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100" dirty="0">
                <a:solidFill>
                  <a:srgbClr val="6B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3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5400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3" name="Text 1"/>
          <p:cNvSpPr/>
          <p:nvPr/>
        </p:nvSpPr>
        <p:spPr>
          <a:xfrm>
            <a:off x="2413000" y="2794000"/>
            <a:ext cx="1143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i="1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"Whoever guides someone to goodness will have a reward like the one who did it."</a:t>
            </a:r>
            <a:endParaRPr lang="en-US" sz="2200" dirty="0"/>
          </a:p>
          <a:p>
            <a:pPr algn="ctr">
              <a:lnSpc>
                <a:spcPct val="150000"/>
              </a:lnSpc>
              <a:spcBef>
                <a:spcPts val="1000"/>
              </a:spcBef>
            </a:pPr>
            <a:r>
              <a:rPr lang="en-US" sz="160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 Sahih Muslim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858000" y="5016500"/>
            <a:ext cx="2540000" cy="12700"/>
          </a:xfrm>
          <a:prstGeom prst="rect">
            <a:avLst/>
          </a:prstGeom>
          <a:solidFill>
            <a:srgbClr val="C7A25A"/>
          </a:solidFill>
          <a:ln/>
        </p:spPr>
      </p:sp>
      <p:sp>
        <p:nvSpPr>
          <p:cNvPr id="5" name="Text 3"/>
          <p:cNvSpPr/>
          <p:nvPr/>
        </p:nvSpPr>
        <p:spPr>
          <a:xfrm>
            <a:off x="3048000" y="52705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practitioner who only heals themselves has limited impact. The practitioner who teaches others to heal multiplies their benefit a thousandfold. Your journey does not end with your own mastery — it begins anew with every student you guide, every colleague you mentor, and every life you touch through this sacred craft.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18000" y="6858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spc="400" kern="0" dirty="0">
                <a:solidFill>
                  <a:srgbClr val="C7A25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MODULE 16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48000" y="7366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dirty="0">
                <a:solidFill>
                  <a:srgbClr val="F6F3EE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Professional Development and Mentorship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318000" y="8128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spc="400" kern="0" dirty="0">
                <a:solidFill>
                  <a:srgbClr val="F6F3E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SUNNAH REMEDIES  ·  INSTITUTE OF PROPHETIC MEDICINE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SRA-001 | Module 16: Professional Development and Mentorship</dc:title>
  <dc:subject>SRA-001 | Module 16: Professional Development and Mentorship</dc:subject>
  <dc:creator>Kimi</dc:creator>
  <cp:lastModifiedBy>Kimi</cp:lastModifiedBy>
  <cp:revision>1</cp:revision>
  <dcterms:created xsi:type="dcterms:W3CDTF">2026-07-06T09:18:25Z</dcterms:created>
  <dcterms:modified xsi:type="dcterms:W3CDTF">2026-07-06T09:18:25Z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{"Label":"SRA-001 | Module 16: Professional Development and Mentorship","ContentProducer":"001191110108MACG2KBH8F10000","ProduceID":"19f35d09-6632-841f-8000-0000d2be9b3c","ReservedCode1":"","ContentPropagator":"001191110108MACG2KBH8F20000","PropagateID":"19f34489-a1f2-82b2-8000-09219025796f","ReservedCode2":""}</vt:lpwstr>
  </property>
</Properties>
</file>