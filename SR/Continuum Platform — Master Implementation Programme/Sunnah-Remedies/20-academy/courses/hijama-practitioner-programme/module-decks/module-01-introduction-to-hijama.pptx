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6256000" cy="9144000"/>
  <p:notesSz cx="9144000" cy="16256000"/>
  <p:embeddedFontLst>
    <p:embeddedFont>
      <p:font typeface="Oranienbaum" charset="-122" pitchFamily="34"/>
      <p:regular r:id="rId23"/>
    </p:embeddedFont>
    <p:embeddedFont>
      <p:font typeface="Quattrocento Sans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2794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SRA-001 | Module 1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223000" y="3937000"/>
            <a:ext cx="381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2413000" y="4191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048000" y="4953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Definitions, Scope, and Professional Identity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18000" y="787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16000"/>
            <a:ext cx="50800" cy="7112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101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70000" y="1778000"/>
            <a:ext cx="2540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5400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048000" y="2540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is Hijama?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48000" y="3048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Definitions, modalities, regulatory framework, and scope of practice for the Certified Hijama Practitioner.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4572000"/>
            <a:ext cx="8890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53340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048000" y="5334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Hijama Practitioner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48000" y="5842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Role, responsibility, the Amanah Framework, Ihsan in practice, and the SRA Competency Framework.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8382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| Certified Hijama Practitioner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m6loj3dnedbk/mnt/agents/output/sra-001-module-1/images/5_Hijama_Cupping_Therapy_in_Sharjah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is Hijama?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16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Definitions, Modalities, and Regulatory Framework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Defining Hijama: Wet Cupping Therapy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651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DEFINITION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032000"/>
            <a:ext cx="812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(wet cupping) is a therapeutic procedure involving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superficial incision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skin, followed by the application of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pressure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a suction cup, resulting in the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extraction of blood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superficial capillary network.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3937000"/>
            <a:ext cx="50800" cy="1016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937000"/>
            <a:ext cx="787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i="1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"Indeed, the best of remedies you have is Hijama." — Sahih al-Bukhari, Hadith 5371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3340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THREE ELEMENTS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2000" y="5842000"/>
            <a:ext cx="457200" cy="45720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84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7000" y="58166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7000" y="61468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Superficial skin puncture 0.5–1mm depth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26000" y="5842000"/>
            <a:ext cx="457200" cy="45720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4826000" y="584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61000" y="58166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Pressure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61000" y="61468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Suction applied via cup to draw blood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6985000"/>
            <a:ext cx="457200" cy="45720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6985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97000" y="69596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Blood Extraction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97000" y="72898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Collection of blood from superficial capillaries</a:t>
            </a:r>
            <a:endParaRPr lang="en-US" sz="1400" dirty="0"/>
          </a:p>
        </p:txBody>
      </p:sp>
      <p:pic>
        <p:nvPicPr>
          <p:cNvPr id="25" name="Image 0" descr="https://kimi-img.moonshot.cn/pub/slides/okc/km6loj3dnedbk/mnt/agents/output/sra-001-module-1/images/5_Hijama_Cupping_Therapy_in_Sharja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0" y="1651000"/>
            <a:ext cx="6096000" cy="68580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398000" y="8534400"/>
            <a:ext cx="609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Hijama treatment in clinical setting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5240000" y="8826500"/>
            <a:ext cx="76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Cupping Modalities: A Comparative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5080000"/>
        </p:xfrm>
        <a:graphic>
          <a:graphicData uri="http://schemas.openxmlformats.org/drawingml/2006/table">
            <a:tbl>
              <a:tblPr/>
              <a:tblGrid>
                <a:gridCol w="2651760"/>
                <a:gridCol w="4419600"/>
                <a:gridCol w="1178560"/>
                <a:gridCol w="3241040"/>
                <a:gridCol w="3241040"/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Modality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Technique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Incision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Key Indication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Evidence Base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Wet Cupping (Hijama)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Suction + incision + blood extraction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Musculoskeletal pain, wellness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Moderate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Dry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Suction only — no incision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Myofascial pain, sports recovery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Moderate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Fire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Heated cup creates suction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TCM indications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Massage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Moving cup with oil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Lymphatic drainage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Preliminary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Flash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Rapid application/removal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Localised pain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Herbal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Cup contains heated herbs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Respiratory (TCM)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Traditional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Needle Cupping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Acupuncture needle + cup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Pain conditions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62000" y="6985000"/>
            <a:ext cx="14732000" cy="101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0" name="Shape 7"/>
          <p:cNvSpPr/>
          <p:nvPr/>
        </p:nvSpPr>
        <p:spPr>
          <a:xfrm>
            <a:off x="762000" y="6985000"/>
            <a:ext cx="508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" y="7048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 CLINICAL PEARL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16000" y="73406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explain wet vs. dry cupping to patients. Many use "cupping" for either — clarity prevents misunderstanding.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SRA Hijama Definition Framework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24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procedure must satisfy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four elements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be classified as Hijama (wet cupping) under SRA standards: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476500"/>
            <a:ext cx="3429000" cy="2794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2603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16000" y="3111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Incision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5306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Superficial skin puncture with sterile lancet. Depth: 0.5–1mm. Length: 5–7mm. Deliberate, controlled, superficial only.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45000" y="2476500"/>
            <a:ext cx="3429000" cy="2794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9000" y="2603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99000" y="3111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Pressure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99000" y="35306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Suction via cup using manual or electric pump. Pressure: -0.05 to -0.08 MPa. Creates vasodilation.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28000" y="2476500"/>
            <a:ext cx="3429000" cy="2794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2000" y="2603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382000" y="3111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Blood Extraction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35306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Blood drawn from superficial capillaries. Volume: 50–150ml total. Flow indicates successful extraction.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811000" y="2476500"/>
            <a:ext cx="3429000" cy="2794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12065000" y="2603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2065000" y="3111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Therapeutic Intent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65000" y="3530600"/>
            <a:ext cx="292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Performed for therapeutic purpose: pain relief, wellness, or clinical indication. Not cosmetic.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2000" y="5588000"/>
            <a:ext cx="14732000" cy="1016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588000"/>
            <a:ext cx="50800" cy="1016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5651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DISTINCTION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6000" y="59436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incision and blood extraction, the procedure is </a:t>
            </a:r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dry cupping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distinct modality with different requirements.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Regulatory Landscape: Global Perspectives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24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regulatory status of Hijama varies significantly by jurisdiction. Practitioners must understand and comply with local requirements.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86000"/>
          <a:ext cx="14732000" cy="3937000"/>
        </p:xfrm>
        <a:graphic>
          <a:graphicData uri="http://schemas.openxmlformats.org/drawingml/2006/table">
            <a:tbl>
              <a:tblPr/>
              <a:tblGrid>
                <a:gridCol w="2209800"/>
                <a:gridCol w="3683000"/>
                <a:gridCol w="2946400"/>
                <a:gridCol w="589280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Jurisdiction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Regulatory Status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Governing Body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Key Requirements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4960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United Kingdom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Unregulated — voluntary accreditation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CMA, IPHM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Indemnity insurance; accredited body membership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4960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United States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Varies by state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State health boards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Some states require licensure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4960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Canada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Largely unregulated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Provincial authorities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Varies by province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4960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Australia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Self-regulated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AHPRA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General health service standards apply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4960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UAE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Regulated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DHA, DOH, MOHAP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Licensed practitioner; clinic approval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4960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Saudi Arabia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Regulated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SCHS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Practitioner and facility licensing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2000" y="6477000"/>
            <a:ext cx="14732000" cy="1270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1" name="Shape 8"/>
          <p:cNvSpPr/>
          <p:nvPr/>
        </p:nvSpPr>
        <p:spPr>
          <a:xfrm>
            <a:off x="762000" y="6477000"/>
            <a:ext cx="50800" cy="1270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2" name="Text 9"/>
          <p:cNvSpPr/>
          <p:nvPr/>
        </p:nvSpPr>
        <p:spPr>
          <a:xfrm>
            <a:off x="1016000" y="6540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16000" y="685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Regardless of jurisdiction, all SRA-certified practitioners must maintain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indemnity insurance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practise within the SRA-defined scope, and comply with the SRA Code of Ethics (SRA-CE-001). Voluntary accreditation through CMA and IPHM provides external validation of standards.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Scope of Practice: What CHPs Can and Cannot Do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PERMITTED ACTIVITIES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2000" y="2006600"/>
            <a:ext cx="6985000" cy="3556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2133600"/>
            <a:ext cx="6477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Perform wet cupping (Hijama) procedures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Perform dry cupping procedures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Conduct pre-treatment patient assessments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Obtain informed consent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Provide aftercare advice and follow-up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Maintain clinical documentation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Recommend general lifestyle advice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Refer to other healthcare professionals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0" y="158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200" kern="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PROHIBITED ACTIVITIES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0" y="2006600"/>
            <a:ext cx="7366000" cy="3556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2000" y="21336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Diagnose medical conditions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Prescribe medication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Perform invasive procedures beyond cupping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Claim to cure specific diseases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Advise patients to stop conventional treatment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Treat without valid consent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Practice outside areas of competence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8B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Make unsubstantiated therapeutic claims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2000" y="5842000"/>
            <a:ext cx="14732000" cy="1524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96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REFERRAL PATHWAYS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350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CHPs are trained to recognise when a patient requires referral to a GP, specialist, or emergency service. The SRA Clinical Decision Tree (SRA-CF-001) provides a structured framework for these decisions.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in doubt, always refer.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m6loj3dnedbk/mnt/agents/output/sra-001-module-1/images/6_Hijama_Cupping_Therapy_excellenc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4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Hijama Practitioner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16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Role, Responsibility, and Excellence in Practice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Practitioner as Amanah-Holder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651000"/>
            <a:ext cx="50800" cy="1397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651000"/>
            <a:ext cx="812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إِنَّا عَرَضْنَا الْأَمَانَةَ عَلَى السَّمَاوَاتِ وَالْأَرْضِ وَالْجِبَالِ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16000" y="2222500"/>
            <a:ext cx="812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i="1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"Indeed, We offered the Trust to the heavens and the earth..."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266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Qur'an 33:72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2000" y="3302000"/>
            <a:ext cx="812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Amanah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sacred trust. In Islamic ethics, it represents the profound responsibility entrusted to human beings. For the Hijama practitioner, this trust is lived out in every patient interaction: the patient entrusts their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their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their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dignity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your care.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2000" y="533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IMPLICATIONS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2000" y="5715000"/>
            <a:ext cx="812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Competence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You must be skilled before you touch a patient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Honesty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Never claim what you cannot verify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Confidentiality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What is shared in the clinic stays there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Compassion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Every patient deserves your full presence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Humility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Know your limits and refer when needed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98000" y="1651000"/>
            <a:ext cx="6096000" cy="6604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779000" y="203200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Amanah in Practice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779000" y="2603500"/>
            <a:ext cx="1016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8" name="Text 16"/>
          <p:cNvSpPr/>
          <p:nvPr/>
        </p:nvSpPr>
        <p:spPr>
          <a:xfrm>
            <a:off x="9779000" y="2857500"/>
            <a:ext cx="533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a patient lies on your treatment table, they are vulnerable — physically exposed, seeking relief, placing their hope in your hands.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not merely a clinical transaction. It is a </a:t>
            </a:r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sacred trust</a:t>
            </a:r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(amanah) that Allah has placed upon you as a practitioner of healing.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Prophet (peace be upon him) said: </a:t>
            </a:r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5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"Allah does not bestow a favour upon a servant and then take it away, but He tests him through it."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skill in Hijama is such a favour. Use it with excellence, integrity, and gratitude.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SRA Amanah Framework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24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pillars define the trustworthy practitioner. Each pillar is non-negotiable — weakness in any one undermines the entire foundation.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349500"/>
            <a:ext cx="4699000" cy="228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47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51000" y="2514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Competence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048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mastery of Hijama procedures. Sound anatomical knowledge. Evidence-informed practice. Recognition of personal limits.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2349500"/>
            <a:ext cx="4699000" cy="2286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9000" y="247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04000" y="2514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Intellectual Honesty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69000" y="3048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Honest communication of evidence. No unsubstantiated claims. Clear distinction between what is proven, probable, and traditional.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668000" y="2349500"/>
            <a:ext cx="4826000" cy="2286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22000" y="247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1557000" y="25146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Safety Priority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22000" y="30480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Uncompromising safety standards. Rigorous infection control. Proactive risk management. Emergency preparedness.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4889500"/>
            <a:ext cx="7239000" cy="2286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6000" y="501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651000" y="5054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Confidentiality and Respect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5588000"/>
            <a:ext cx="673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information protected. Dignity maintained in all interactions. Cultural sensitivity practised. The therapeutic relationship honoured as a sacred trust.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55000" y="4889500"/>
            <a:ext cx="7239000" cy="2286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9000" y="5016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144000" y="5054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9000" y="5588000"/>
            <a:ext cx="673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Lifelong learning commitment. CPD engagement. Reflective practice. Staying current with evidence. Seeking feedback and acting upon it.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2000" y="7493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i="1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framework appears in the SRA Code of Ethics (SRA-CE-001) and is assessed throughout the programme.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Ihsan in Clinical Practice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651000"/>
            <a:ext cx="50800" cy="16510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651000"/>
            <a:ext cx="812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i="1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"Worship Allah as if you see Him, and if you do not see Him, know that He sees you."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16000" y="266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Sahih Muslim, Hadith 8 (The Hadith of Gabriel)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6000" y="3048000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the definition of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Ihsan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excellence in awareness of Allah.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2000" y="3683000"/>
            <a:ext cx="812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Ihsan?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2000" y="4165600"/>
            <a:ext cx="812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Ihsan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(excellence) is the spiritual quality of doing everything with full awareness that Allah is watching. It transforms ordinary actions into acts of worship. For the Hijama practitioner, Ihsan means: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2000" y="5778500"/>
            <a:ext cx="812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Every incision is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precise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because Allah sees your hand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Every assessment is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thorough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because Allah knows your intention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Every interaction is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compassionate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because the patient is an amanah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Every decision is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because Allah is the ultimate witness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398000" y="1651000"/>
            <a:ext cx="6096000" cy="6604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779000" y="203200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Ihsan in Action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779000" y="2603500"/>
            <a:ext cx="1016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18" name="Text 16"/>
          <p:cNvSpPr/>
          <p:nvPr/>
        </p:nvSpPr>
        <p:spPr>
          <a:xfrm>
            <a:off x="9779000" y="2857500"/>
            <a:ext cx="533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Prophet (peace be upon him) said: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i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"Indeed, Allah loves that when one of you does something, he does it with excellence (itqan)."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not perfectionism — it is </a:t>
            </a:r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5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conscious excellence</a:t>
            </a:r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practitioner who works with ihsan: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Prepares meticulously before each patient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Reviews their technique regularly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Seeks feedback and acts on it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Approaches every treatment as an act of service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500"/>
              </a:spcBef>
            </a:pPr>
            <a:r>
              <a:rPr lang="en-US" sz="15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Ihsan is the difference between a technician and a healer.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SRA Competency Framework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24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domains define practitioner competence.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Level 3 (Competent)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required in all domains for CHP certification.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286000"/>
          <a:ext cx="14732000" cy="4572000"/>
        </p:xfrm>
        <a:graphic>
          <a:graphicData uri="http://schemas.openxmlformats.org/drawingml/2006/table">
            <a:tbl>
              <a:tblPr/>
              <a:tblGrid>
                <a:gridCol w="2946400"/>
                <a:gridCol w="2946400"/>
                <a:gridCol w="2946400"/>
                <a:gridCol w="2946400"/>
                <a:gridCol w="29464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Domain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Level 1: Foundational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Level 2: Developing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Level 3: Competent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Level 4: Proficient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Knowledge (Ilm)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Recalls facts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Explains concepts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Applies knowledge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Synthesises and teaches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Clinical Assessment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Identifies components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Performs with guidance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Performs independently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Adapts to complex cases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Technical Skills (Itqan)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Observes and describes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Practises with supervision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Performs competently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Refines and innovates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Safety Management (Hifz)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Recognises hazards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Applies protocols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Manages incidents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Prevents and educates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Communication (Kalam)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Listens actively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Communicates clearly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Adapts to context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Inspires and mentors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Professionalism (Amanah)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Understands ethics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Applies principles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Models excellence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Leads and influences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2000" y="7112000"/>
            <a:ext cx="14732000" cy="889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" y="7239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Certification Requirement: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Level 3 (Competent) in all six domains — verified through written exam, OSCE, and portfolio.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Professional Identity and Boundaries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CHP PROFESSIONAL 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1968500"/>
            <a:ext cx="711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Certified Hijama Practitioner is a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complementary therapy professional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who: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Practises wet and dry cupping within a defined scope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Integrates Islamic ethics with clinical standards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Works collaboratively within healthcare system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Maintains continuous professional development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15875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BOUNDARIES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82000" y="19685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boundaries for ethical practice: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No personal relationships with current patients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No financial exploitation of patient vulnerability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No advice contradicting patient's medical care</a:t>
            </a:r>
            <a:endParaRPr lang="en-US" sz="1700" dirty="0"/>
          </a:p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No treatment without valid, informed consent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2000" y="4445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INTERPROFESSIONAL RELATIONSHIPS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2000" y="4851400"/>
            <a:ext cx="14732000" cy="1651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49784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CHPs work within a broader healthcare ecosystem. Building respectful relationships with GPs, physiotherapists, and other healthcare professionals is essential: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Referral to GP: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Unexplained symptoms, red flags, conditions beyond scope |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Collaboration: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Integrated care plans with patient's consent |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Professional letters, shared records (with consent)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85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PRACTITIONER WELLBEING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2000" y="7264400"/>
            <a:ext cx="14732000" cy="101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73914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cannot pour from an empty vessel. Maintain your own physical, mental, and spiritual wellbeing. Regular Hijama for yourself, proper rest, continuous learning, and peer support are not luxuries — they are professional necessities.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Hijama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1: Summary and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97000" y="1689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Hijama is Wet Cupping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97000" y="2070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incision + negative pressure + blood extraction. Distinct from dry cupping and other modalities.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82000" y="1714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17000" y="1689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CHPs Work Within Defined Scope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17000" y="2070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boundaries on what can and cannot be done. When in doubt, refer. Patient safety is paramount.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2000" y="30480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048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7000" y="3022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is Rooted in Amanah and Ihsan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97000" y="34036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sacred trust of patient care and the pursuit of excellence in awareness of Allah.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82000" y="30480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3048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17000" y="3022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Competency in Six Domains Required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17000" y="34036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Knowledge, assessment, technical skills, safety, communication, professionalism — all at Level 3.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62000" y="4381500"/>
            <a:ext cx="457200" cy="457200"/>
          </a:xfrm>
          <a:prstGeom prst="ellipse">
            <a:avLst/>
          </a:prstGeom>
          <a:solidFill>
            <a:srgbClr val="C7A25A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438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97000" y="4356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 and Ethics are Non-Negotiable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97000" y="47371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Amanah Framework and SRA Code of Ethics govern every aspect of practice.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2000" y="5715000"/>
            <a:ext cx="14732000" cy="12700"/>
          </a:xfrm>
          <a:prstGeom prst="rect">
            <a:avLst/>
          </a:prstGeom>
          <a:solidFill>
            <a:srgbClr val="E0DCD6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5969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COMING NEXT — MODULE 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2000" y="6350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History of Cupping Around the World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62000" y="6858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ancient Egypt to the Islamic Golden Age — tracing the scholarly history of cupping therapy across civilisations.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398000" y="5969000"/>
            <a:ext cx="6096000" cy="1778000"/>
          </a:xfrm>
          <a:prstGeom prst="rect">
            <a:avLst/>
          </a:prstGeom>
          <a:solidFill>
            <a:srgbClr val="F0EDE7"/>
          </a:solidFill>
          <a:ln w="12700">
            <a:solidFill>
              <a:srgbClr val="E0DC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52000" y="6070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52000" y="6375400"/>
            <a:ext cx="558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patient asks you to diagnose their back pain. What is your response as a CHP?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Discuss in your Reflect–Learn–Apply journal.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2667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i="1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"Indeed, Allah commands you to render trusts to whom they are due."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53000" y="381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Qur'an 4:58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0" y="4826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Reflection: How will you embody amanah in your practice as a Hijama practitioner?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6223000"/>
            <a:ext cx="2540000" cy="12700"/>
          </a:xfrm>
          <a:prstGeom prst="rect">
            <a:avLst/>
          </a:prstGeom>
          <a:solidFill>
            <a:srgbClr val="C7A25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660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3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1 COMPLETE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8000" y="7874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1: Introduction to Hijama</dc:title>
  <dc:subject>SRA-001 | Module 1: Introduction to Hijama</dc:subject>
  <dc:creator>Kimi</dc:creator>
  <cp:lastModifiedBy>Kimi</cp:lastModifiedBy>
  <cp:revision>1</cp:revision>
  <dcterms:created xsi:type="dcterms:W3CDTF">2026-07-06T09:14:42Z</dcterms:created>
  <dcterms:modified xsi:type="dcterms:W3CDTF">2026-07-06T09:14:42Z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1: Introduction to Hijama","ContentProducer":"001191110108MACG2KBH8F10000","ProduceID":"19f3478d-d5e2-89bb-8000-00000c6bdd76","ReservedCode1":"","ContentPropagator":"001191110108MACG2KBH8F20000","PropagateID":"19f34489-a1f2-82b2-8000-09219025796f","ReservedCode2":""}</vt:lpwstr>
  </property>
</Properties>
</file>