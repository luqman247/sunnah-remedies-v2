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Quattrocento Sans" charset="-122" pitchFamily="34"/>
      <p:regular r:id="rId19"/>
    </p:embeddedFont>
    <p:embeddedFont>
      <p:font typeface="Oranienbaum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8000" y="279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SRA-001  |  MODULE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858000" y="3365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Text 2"/>
          <p:cNvSpPr/>
          <p:nvPr/>
        </p:nvSpPr>
        <p:spPr>
          <a:xfrm>
            <a:off x="1778000" y="3683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Hijama Techniques: Wet Cupping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048000" y="4826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Complete Procedure: Preparation, Incision, and Blood Management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5524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0"/>
            <a:ext cx="508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5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159000" y="2184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Wet Cupping Procedure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59000" y="26416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Skin preparation, incision technique, and the complete wet cupping procedure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59000" y="3429000"/>
            <a:ext cx="635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Skin prep • Incision technique • Suction sequence • Blood flow • Removal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431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159000" y="4343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Advanced Wet Cupping and Safety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59000" y="48006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Wound care, multiple points, volume management, and complication handling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59000" y="5588000"/>
            <a:ext cx="635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Wound care • Dressing • Multiple points • Complications • Emergency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0" y="2032000"/>
            <a:ext cx="63500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9461500" y="228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FOCUS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61500" y="26416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6" name="Text 14"/>
          <p:cNvSpPr/>
          <p:nvPr/>
        </p:nvSpPr>
        <p:spPr>
          <a:xfrm>
            <a:off x="9461500" y="2857500"/>
            <a:ext cx="5715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module covers the core Hijama technique — wet cupping with controlled incision.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the end of this module, you will: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Prepare skin correctly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Make precise incisions safely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Perform the complete procedure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Manage blood flow appropriately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Dress wounds and monitor healing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3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best treatment is cupping." — Jami' at-Tirmidhi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Wet Cupping Procedure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Preparation, Incision, and the Complete Sequence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M10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Hijama Techniques: Wet Cupping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Skin Preparation and Site Selection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PREPARATION CHECKLIST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101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97000" y="2095500"/>
            <a:ext cx="393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Cleanse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Wash area with antiseptic soap. Dry thoroughly. Remove oils, lotions, or dirt.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2032000"/>
            <a:ext cx="4699000" cy="101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3" name="Text 11"/>
          <p:cNvSpPr/>
          <p:nvPr/>
        </p:nvSpPr>
        <p:spPr>
          <a:xfrm>
            <a:off x="5842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0000" y="2095500"/>
            <a:ext cx="393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Shave if needed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dense hair with a disposable razor. Hair prevents cup seal and incision access.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32000"/>
            <a:ext cx="4826000" cy="101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303000" y="2095500"/>
            <a:ext cx="406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 points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 skin-safe marker to mark incision points. Verify with patient.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2000" y="3238500"/>
            <a:ext cx="4699000" cy="1016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" y="330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97000" y="3302000"/>
            <a:ext cx="393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Disinfect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antiseptic (chlorhexidine or povidone-iodine) in outward circles. Allow to dry.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15000" y="3238500"/>
            <a:ext cx="4699000" cy="1016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22" name="Text 20"/>
          <p:cNvSpPr/>
          <p:nvPr/>
        </p:nvSpPr>
        <p:spPr>
          <a:xfrm>
            <a:off x="5842000" y="330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50000" y="3302000"/>
            <a:ext cx="393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Gloves on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Double-glove for wet cupping. Prepare sterile blade and gauze within reach.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668000" y="3238500"/>
            <a:ext cx="4826000" cy="1016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25" name="Text 23"/>
          <p:cNvSpPr/>
          <p:nvPr/>
        </p:nvSpPr>
        <p:spPr>
          <a:xfrm>
            <a:off x="10795000" y="330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303000" y="3302000"/>
            <a:ext cx="406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 patient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Comfortable, supported position. Treatment area fully exposed and accessible.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2000" y="4508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 SELECTION PRINCIPLES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2000" y="4953000"/>
            <a:ext cx="7112000" cy="1714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5054600"/>
            <a:ext cx="673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Select fleshy, muscular areas — avoid bone prominence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Ensure adequate blood supply (warm, pink skin)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Avoid moles, scars, and visible veins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Consider patient comfort and dignity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Verify selected points with your assessment findings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Always begin with Al-Kahil for first-time patients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55000" y="4953000"/>
            <a:ext cx="7239000" cy="1714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31" name="Text 29"/>
          <p:cNvSpPr/>
          <p:nvPr/>
        </p:nvSpPr>
        <p:spPr>
          <a:xfrm>
            <a:off x="8509000" y="5054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STERILE FIELD SETUP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9000" y="5359400"/>
            <a:ext cx="635000" cy="254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3" name="Text 31"/>
          <p:cNvSpPr/>
          <p:nvPr/>
        </p:nvSpPr>
        <p:spPr>
          <a:xfrm>
            <a:off x="8509000" y="5486400"/>
            <a:ext cx="6731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Arrange sterile field: sterile blade (single-use), gauze, antiseptic, sharps container, dressing. Open packaging without touching sterile surfaces. Maintain aseptic technique throughout.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62000" y="6731000"/>
            <a:ext cx="14732000" cy="63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5" name="Text 33"/>
          <p:cNvSpPr/>
          <p:nvPr/>
        </p:nvSpPr>
        <p:spPr>
          <a:xfrm>
            <a:off x="1016000" y="67945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Proper preparation takes 10–15 minutes but prevents complications. Never rush preparation to save time — a well-prepared site ensures patient safety and optimal blood flow.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M10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Hijama Techniques: Wet Cupping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Incision Technique: Precision and Safety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SRA INCISION PROTOCOL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1879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Depth and Angle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63800"/>
            <a:ext cx="4318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Depth: 0.5–1 mm (epidermis only)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Angle: 45–60 degrees to skin surface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Length: 3–5 mm per incision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Number: 3–5 incisions per cup site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Direction: parallel to skin tension lines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2032000"/>
            <a:ext cx="4699000" cy="1879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Blade Handling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05500" y="2463800"/>
            <a:ext cx="4318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Single-use sterile blades only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Never recap — dispose immediately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Hold like a pen, firm controlled grip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Light, swift scratching motion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Never saw or drag across skin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32000"/>
            <a:ext cx="4826000" cy="1879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21336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Blood Flow Assessment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858500" y="2463800"/>
            <a:ext cx="4445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Normal: dark, thick, clotted blood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Flow rate: slow drip, not spurting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Volume: 50–100 ml per session total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Duration: 3–7 minutes per cup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Colour change to red = flow complete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2000" y="3937000"/>
            <a:ext cx="14732000" cy="698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0132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Incisions must be superficial — through the epidermis only. Deeper incisions damage dermis, cause scarring, and increase infection risk. Practise on simulation skin until confident.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2000" y="4889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INCISION SEQUENCE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5308600"/>
            <a:ext cx="14732000" cy="1206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5397500"/>
            <a:ext cx="14351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Remove cup after initial suction (skin is raised and congested) →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Make swift, light incisions on the raised area (3–5 per site) →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Reapply cup immediately →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Blood flows into cup under negative pressure →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Monitor colour and volume →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Remove when flow slows or colour changes to bright red</a:t>
            </a:r>
            <a:endParaRPr lang="en-US" sz="11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key is speed — minimise time between cup removal and reapplication to maintain the vacuum effect.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2000" y="6858000"/>
            <a:ext cx="14732000" cy="698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69215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incision should feel like a light scratch to your own fingernail. If you feel resistance, you are too deep. If no blood appears, you are too shallow. Practise until the depth becomes muscle memory.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M10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Hijama Techniques: Wet Cupping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Complete Wet Cupping Procedure: Step by Step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 STEPS FROM START TO FINISH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9652000" cy="4699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92710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Greet and position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Patient comfortable, area exposed, consent confirmed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Prepare skin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Cleanse, shave if needed, disinfect, mark points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Apply cup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Place over marked point, create medium suction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Wait 3–5 minutes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Skin congests and rises into the cup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Remove cup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Break seal, set cup aside (blood-free)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 Make incisions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3–5 swift, light scratches on raised skin (0.5–1 mm)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 Reapply cup immediately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Same position, same or slightly stronger suction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 Monitor blood flow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Watch colour, volume, and patient comfort (3–7 min)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 Remove and clean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Break seal, dispose of blood safely, clean site with gauze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 Dress wound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Apply antiseptic and sterile dressing, dispose of sharps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1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 steps 3–10 for each additional point. Work systematically from top to bottom.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795000" y="2032000"/>
            <a:ext cx="4699000" cy="4699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0" y="215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PRACTITIONER REMINDERS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049000" y="2463800"/>
            <a:ext cx="635000" cy="254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2641600"/>
            <a:ext cx="4191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Timing: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Total session: 45–60 minutes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Per point: 8–12 minutes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Between points: 2–3 minutes</a:t>
            </a:r>
            <a:endParaRPr lang="en-US" sz="10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Communication: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Explain each step before doing it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Ask about comfort continuously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Reassure if patient is anxious</a:t>
            </a:r>
            <a:endParaRPr lang="en-US" sz="10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Order: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Work top to bottom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Sunnah points first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Symptomatic points after</a:t>
            </a:r>
            <a:endParaRPr lang="en-US" sz="10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Hygiene: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Change gloves between points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Never touch blade to non-sterile surface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Advanced Wet Cupping and Safety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Wound Care, Multiple Points, and Complication Management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M10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Hijama Techniques: Wet Cupping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Wound Care: Dressing and Healing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POST-PROCEDURE CARE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2667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673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Clean the site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Gently wipe with sterile gauze soaked in antiseptic. Remove all blood residue.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Apply antiseptic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 chlorhexidine or povidone-iodine. Apply with sterile gauze, not directly from bottle.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Apply dressing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Sterile non-adherent pad over the site. Secure with hypoallergenic tape.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Dispose of waste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All blood-soiled materials into clinical waste. Blade into sharps container.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Document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Record points treated, blood volume, patient response, dressing applied.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 Aftercare instructions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Give written instructions. Schedule follow-up if needed.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55000" y="2032000"/>
            <a:ext cx="7239000" cy="2667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2" name="Text 10"/>
          <p:cNvSpPr/>
          <p:nvPr/>
        </p:nvSpPr>
        <p:spPr>
          <a:xfrm>
            <a:off x="8509000" y="2133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HEALING TIMELINE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09000" y="2438400"/>
            <a:ext cx="635000" cy="254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8509000" y="2590800"/>
            <a:ext cx="6731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 1–2: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Small wounds visible, slight tenderness. Dressing stays on 24 hours.</a:t>
            </a:r>
            <a:endParaRPr lang="en-US" sz="11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 3–5: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Scabs form. Patient can shower gently. Pat dry, do not rub.</a:t>
            </a:r>
            <a:endParaRPr lang="en-US" sz="11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 7–10: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Scabs fall off naturally. Pink new skin visible. Circular marks fade.</a:t>
            </a:r>
            <a:endParaRPr lang="en-US" sz="11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 14: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Most sites fully healed. Marks may persist 2–4 weeks.</a:t>
            </a:r>
            <a:endParaRPr lang="en-US" sz="11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Warning signs: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Increasing redness, warmth, pus, or fever — refer to GP immediately.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2000" y="495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DRESSING OPTIONS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359400"/>
          <a:ext cx="14732000" cy="1333500"/>
        </p:xfrm>
        <a:graphic>
          <a:graphicData uri="http://schemas.openxmlformats.org/drawingml/2006/table">
            <a:tbl>
              <a:tblPr/>
              <a:tblGrid>
                <a:gridCol w="2578"/>
                <a:gridCol w="5639"/>
                <a:gridCol w="5639"/>
                <a:gridCol w="4833"/>
              </a:tblGrid>
              <a:tr h="3733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Type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Best For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Application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Duration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50673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Non-adherent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Standard wet cupping sites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Place pad over site, tape edges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 hours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50673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Hydrocolloid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Oozing sites, faster healing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Apply directly, waterproof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2–3 days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62000" y="6921500"/>
            <a:ext cx="14732000" cy="63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8" name="Text 15"/>
          <p:cNvSpPr/>
          <p:nvPr/>
        </p:nvSpPr>
        <p:spPr>
          <a:xfrm>
            <a:off x="1016000" y="6985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quality of your wound care determines how patients remember their experience. Clean, gentle, thorough care builds trust and ensures optimal healing. Never rush the dressing process.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M10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Hijama Techniques: Wet Cupping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Multiple Points and Volume Management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TREATING MULTIPLE POINTS IN ONE SESSION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1879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673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Recommended Order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63800"/>
            <a:ext cx="6731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Begin with Al-Kahil (between shoulder blades)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Next Al-Akhda'ain (both sides of neck)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Then symptomatic points (back, limbs)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Work from top to bottom of body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Maximum 7 points for beginners, 12 for experienced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55000" y="2032000"/>
            <a:ext cx="7239000" cy="1879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8509000" y="2133600"/>
            <a:ext cx="673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Volume Guidelines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9000" y="2463800"/>
            <a:ext cx="6731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Total blood per session: 50–100 ml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Per point: 5–15 ml typically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Never exceed 150 ml total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Anaemic patients: reduce by 30–50%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First-time patients: fewer points, less volume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2000" y="3937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FREQUENCY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343400"/>
          <a:ext cx="14732000" cy="1651000"/>
        </p:xfrm>
        <a:graphic>
          <a:graphicData uri="http://schemas.openxmlformats.org/drawingml/2006/table">
            <a:tbl>
              <a:tblPr/>
              <a:tblGrid>
                <a:gridCol w="2578"/>
                <a:gridCol w="4028"/>
                <a:gridCol w="4028"/>
                <a:gridCol w="4833"/>
                <a:gridCol w="3222"/>
              </a:tblGrid>
              <a:tr h="4622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Patient Type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Initial Phase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Maintenance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Considerations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Maximum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82550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Healthy adult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Monthly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Every 4–6 weeks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Monitor iron levels annually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Every 2 weeks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82550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Chronic condition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Weekly for 4 weeks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Monthly thereafter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Monitor Hb, reduce if anaemic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Weekly max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62000" y="6248400"/>
            <a:ext cx="14732000" cy="1016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8" name="Text 15"/>
          <p:cNvSpPr/>
          <p:nvPr/>
        </p:nvSpPr>
        <p:spPr>
          <a:xfrm>
            <a:off x="952500" y="6324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TRACKING AND MONITORING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52500" y="6629400"/>
            <a:ext cx="1435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 every session: date, points treated, blood volume per point, patient response, practitioner notes. Track cumulative volume over time. For frequent patients, recommend annual blood tests including full blood count and iron studies.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M10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Hijama Techniques: Wet Cupping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Complications: Recognition and Management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POTENTIAL COMPLICATIONS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2667000"/>
        </p:xfrm>
        <a:graphic>
          <a:graphicData uri="http://schemas.openxmlformats.org/drawingml/2006/table">
            <a:tbl>
              <a:tblPr/>
              <a:tblGrid>
                <a:gridCol w="2256"/>
                <a:gridCol w="4189"/>
                <a:gridCol w="4189"/>
                <a:gridCol w="4189"/>
                <a:gridCol w="3867"/>
              </a:tblGrid>
              <a:tr h="74676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Complication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Signs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Immediate Action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Prevention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Refer?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17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Excessive bleeding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Blood fills cup rapidly, spurting flow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Remove cup immediately, apply firm pressure with gauze for 10 min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Check anticoagulant use, proper depth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If pressure fails after 15 min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17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Infection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Redness, warmth, pus, fever, increasing pain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Do not treat. Advise GP visit for antibiotics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Strict aseptic technique, sterile blades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Yes — immediately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17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Vasovagal syncope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Pale, sweaty, dizzy, nausea, loss of consciousness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Remove all cups, lay flat, elevate legs, cool compress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Ensure patient has eaten, calm environment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If not recovered in 5 min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2000" y="4889500"/>
            <a:ext cx="7112000" cy="1397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4978400"/>
            <a:ext cx="673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Emergency Protocol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52500" y="53086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Stop treatment immediately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Ensure patient safety first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Call emergency services if: unconscious &gt;5 min, severe bleeding, allergic reaction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55000" y="4889500"/>
            <a:ext cx="7239000" cy="1498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4" name="Text 11"/>
          <p:cNvSpPr/>
          <p:nvPr/>
        </p:nvSpPr>
        <p:spPr>
          <a:xfrm>
            <a:off x="8509000" y="4978400"/>
            <a:ext cx="673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Prevention is Paramount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509000" y="5308600"/>
            <a:ext cx="673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Thorough patient screening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Strict aseptic technique always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Correct incision depth (0.5–1 mm only)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Never rush — speed causes errors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62000" y="6477000"/>
            <a:ext cx="14732000" cy="698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7" name="Text 14"/>
          <p:cNvSpPr/>
          <p:nvPr/>
        </p:nvSpPr>
        <p:spPr>
          <a:xfrm>
            <a:off x="1016000" y="65405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years of practice, you may never see a serious complication — but you must always be prepared. Know your emergency procedures by heart. Keep emergency contacts posted visibly in your clinic.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M10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Hijama Techniques: Wet Cupping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10: Key Takeaways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ESSENTIAL LESSONS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97000" y="2095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Preparation is everything.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Cleanse, shave, disinfect, mark. A well-prepared site ensures safety and optimal blood flow. Never rush preparation.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2000" y="3022600"/>
            <a:ext cx="7112000" cy="863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" y="3086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97000" y="30861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Incisions are superficial only.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0.5–1 mm depth, 45–60 degree angle, light scratching motion. Deeper incisions cause scarring and infection risk.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2000" y="40132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" y="40767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97000" y="40767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 the ten-step sequence.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Suction → remove → incise → re-suction → monitor → remove → clean → dress. Speed between removal and reapplication is key.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2000" y="5003800"/>
            <a:ext cx="7112000" cy="863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" y="50673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97000" y="50673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volume and frequency.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50–100 ml per session maximum. Track cumulative volume. Monitor for anaemia in frequent patients.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59944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" y="60579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97000" y="60579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 your complications.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Excessive bleeding, infection, fainting — recognise early, act decisively, refer when needed. Prevention through proper technique.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55000" y="2032000"/>
            <a:ext cx="7239000" cy="482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8572500" y="2222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LOOKING AHEAD: MODULE 11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72500" y="2540000"/>
            <a:ext cx="635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7" name="Text 25"/>
          <p:cNvSpPr/>
          <p:nvPr/>
        </p:nvSpPr>
        <p:spPr>
          <a:xfrm>
            <a:off x="8572500" y="2730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Clinical Conditions and Treatment Plans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572500" y="3302000"/>
            <a:ext cx="6604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Module 11, you will learn: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Hijama for musculoskeletal pain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Hijama for migraines and headaches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Hijama for digestive disorders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Hijama for respiratory conditions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Hijama for stress and anxiety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technical skills from this module are now applied to specific clinical conditions with evidence-based treatment protocols.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5400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" name="Text 1"/>
          <p:cNvSpPr/>
          <p:nvPr/>
        </p:nvSpPr>
        <p:spPr>
          <a:xfrm>
            <a:off x="2413000" y="2794000"/>
            <a:ext cx="1143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"The best treatment is cupping. It removes blood, lightens the back, and sharpens the eyesight."</a:t>
            </a:r>
            <a:endParaRPr lang="en-US" sz="2200" dirty="0"/>
          </a:p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Jami' at-Tirmidhi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5016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52705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have now learned the complete wet cupping procedure — from preparation to dressing, from single points to multiple sessions. With these skills, you carry forward a healing tradition that dates back to the Prophet Muhammad (peace be upon him).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18000" y="685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10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8000" y="7366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Hijama Techniques: Wet Cupping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SRA-001 | Module 10: Hijama Techniques: Wet Cupping</dc:title>
  <dc:subject>SRA-001 | Module 10: Hijama Techniques: Wet Cupping</dc:subject>
  <dc:creator>Kimi</dc:creator>
  <cp:lastModifiedBy>Kimi</cp:lastModifiedBy>
  <cp:revision>1</cp:revision>
  <dcterms:created xsi:type="dcterms:W3CDTF">2026-07-06T09:17:43Z</dcterms:created>
  <dcterms:modified xsi:type="dcterms:W3CDTF">2026-07-06T09:17:43Z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{"Label":"SRA-001 | Module 10: Hijama Techniques: Wet Cupping","ContentProducer":"001191110108MACG2KBH8F10000","ProduceID":"19f352fb-ab92-8217-8000-0000e9928d84","ReservedCode1":"","ContentPropagator":"001191110108MACG2KBH8F20000","PropagateID":"19f34489-a1f2-82b2-8000-09219025796f","ReservedCode2":""}</vt:lpwstr>
  </property>
</Properties>
</file>