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Oranienbaum" charset="-122" pitchFamily="34"/>
      <p:regular r:id="rId22"/>
    </p:embeddedFont>
    <p:embeddedFont>
      <p:font typeface="Quattrocento Sans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000" y="2794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4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SRA-001 | Module 2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223000" y="3937000"/>
            <a:ext cx="381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Text 2"/>
          <p:cNvSpPr/>
          <p:nvPr/>
        </p:nvSpPr>
        <p:spPr>
          <a:xfrm>
            <a:off x="1778000" y="4191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OF CUPPING AROUND THE WORLD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13000" y="49530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Ancient Civilisations to Contemporary Revival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18000" y="7874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16000"/>
            <a:ext cx="50800" cy="7112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101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70000" y="1778000"/>
            <a:ext cx="2540000" cy="12700"/>
          </a:xfrm>
          <a:prstGeom prst="rect">
            <a:avLst/>
          </a:prstGeom>
          <a:solidFill>
            <a:srgbClr val="E0DCD6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5400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048000" y="2540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Ancient Civilisations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48000" y="3048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Egypt, China, Greece — tracing the earliest evidence of cupping therapy across three great civilisations.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4572000"/>
            <a:ext cx="8890000" cy="12700"/>
          </a:xfrm>
          <a:prstGeom prst="rect">
            <a:avLst/>
          </a:prstGeom>
          <a:solidFill>
            <a:srgbClr val="E0DCD6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53340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048000" y="5334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Islamic Golden Age to Today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48000" y="5842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Scholarly contributions, colonial decline, and the contemporary revival of professional Hijama.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SRA-001 | Certified Hijama Practitioner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m6loj3dnedbk/mnt/agents/output/sra-001-module-2/images/3_Ancient_Egyptian_Medical_Texts_Worl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4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Ancient Civilisations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016000" y="508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Egypt, China, Greece — The Early Evolution of Cupping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of Cupping Around the World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Ancient Egypt: The Earliest Documented Evidence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C. 1550 BCE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032000"/>
            <a:ext cx="787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Ebers Papyrus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(c. 1550 BCE) contains the earliest written record of cupping therapy. This 110-page medical scroll describes the removal of disease-causing substances through suction.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Egyptian physicians believed in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metu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channels through which bodily fluids flowed. Cupping was used to restore balance by drawing harmful substances to the surface.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826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CONTRIBUTIONS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5207000"/>
            <a:ext cx="787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Ebers Papyrus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700+ remedies, cupping described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Edwin Smith Papyrus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surgical procedures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Kahun Papyrus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gynaecological treatments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Concept of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channels (metu)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precursor to meridians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Cupping combined with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incision and scarification</a:t>
            </a:r>
            <a:endParaRPr lang="en-US" sz="1600" dirty="0"/>
          </a:p>
        </p:txBody>
      </p:sp>
      <p:pic>
        <p:nvPicPr>
          <p:cNvPr id="12" name="Image 0" descr="https://kimi-img.moonshot.cn/pub/slides/okc/km6loj3dnedbk/mnt/agents/output/sra-001-module-2/images/1_Ancient_Egyptian_Medical_Texts_Wor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587500"/>
            <a:ext cx="6350000" cy="4572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0" y="6248400"/>
            <a:ext cx="635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Ebers Papyrus — one of the oldest medical texts known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62000" y="7493000"/>
            <a:ext cx="14732000" cy="762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5" name="Shape 12"/>
          <p:cNvSpPr/>
          <p:nvPr/>
        </p:nvSpPr>
        <p:spPr>
          <a:xfrm>
            <a:off x="762000" y="7493000"/>
            <a:ext cx="50800" cy="762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7556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Scholarly Note: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the Ebers Papyrus is the earliest written record, archaeological evidence suggests cupping-like practices may predate it. Claims beyond c. 1550 BCE require careful source criticism.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of Cupping Around the World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Ancient China: The Development of Systematic Cupping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281 CE ONWARDS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032000"/>
            <a:ext cx="787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China developed the most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approach to cupping. The earliest documentation appears in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Zhao Xuemin's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writings (281 CE), describing the use of animal horns to create suction.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practice — called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"ba guan"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(pulling up the jar) — became integrated with the broader framework of Traditional Chinese Medicine.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2000" y="45720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TCM THEORETICAL FRAMEWORK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4978400"/>
            <a:ext cx="2413000" cy="1270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" y="50546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Meridians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9000" y="5397500"/>
            <a:ext cx="2159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pathways through which qi flows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65500" y="4978400"/>
            <a:ext cx="2413000" cy="1270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2500" y="50546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Qi (Chi)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92500" y="5397500"/>
            <a:ext cx="2159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Vital life force circulating through the body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69000" y="4978400"/>
            <a:ext cx="2413000" cy="1270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6000" y="50546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Blood Stagnation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96000" y="5397500"/>
            <a:ext cx="2159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Blocked flow causing pain and disease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2000" y="6540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INSTRUMENT EVOLUTION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2000" y="6921500"/>
            <a:ext cx="787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Animal horns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Bamboo cups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Ceramic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Bronze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Glass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plastic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material brought different thermal and suction properties.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0" y="1587500"/>
            <a:ext cx="6350000" cy="6477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0" y="1778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Chinese Cupping: Key Facts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398000" y="22225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5" name="Text 23"/>
          <p:cNvSpPr/>
          <p:nvPr/>
        </p:nvSpPr>
        <p:spPr>
          <a:xfrm>
            <a:off x="9398000" y="2413000"/>
            <a:ext cx="5842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Earliest documentation: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281 CE by Zhao Xuemin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Original term: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"Jiao fa" (horn method)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Evolved term: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"Ba guan" (pulling the jar)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technique: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Fire cupping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Theoretical basis: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Meridians, qi, blood stagnation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text: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Comprehensive Medicine by Honourable Masters (Wang Weiyi, 1026)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status: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Integrated into TCM practice globally; NCCIH recognises it as a complementary therapy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TCM cupping theory differs from Hijama's Islamic framework, both share the practical observation that suction on the skin produces therapeutic effects. Evidence from TCM research informs Hijama practice.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of Cupping Around the World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Ancient Greece: Hippocratic Medicine and Cupping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5TH–4TH CENTURY BCE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032000"/>
            <a:ext cx="787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Hippocratic Corpus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(5th–4th century BCE) contains detailed clinical descriptions of cupping. Hippocrates recommended cupping for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menstrual irregularities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lung diseases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musculoskeletal conditions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Greek medicine understood cupping through the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humours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theory that health depends on the balance of bodily fluids.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31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FOUR HUMOURS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4724400"/>
            <a:ext cx="1778000" cy="1143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5500" y="4826000"/>
            <a:ext cx="1651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Blood</a:t>
            </a:r>
            <a:endParaRPr lang="en-US" sz="13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 and wet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67000" y="4724400"/>
            <a:ext cx="1778000" cy="1143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30500" y="4826000"/>
            <a:ext cx="1651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Phlegm</a:t>
            </a:r>
            <a:endParaRPr lang="en-US" sz="13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Cold and wet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4724400"/>
            <a:ext cx="1778000" cy="1143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5500" y="4826000"/>
            <a:ext cx="1651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Black Bile</a:t>
            </a:r>
            <a:endParaRPr lang="en-US" sz="13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Cold and dry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77000" y="4724400"/>
            <a:ext cx="1778000" cy="1143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0500" y="4826000"/>
            <a:ext cx="1651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Yellow Bile</a:t>
            </a:r>
            <a:endParaRPr lang="en-US" sz="13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 and dry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2000" y="6159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GREEK FIGURES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2000" y="6540500"/>
            <a:ext cx="787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Hippocrates (c. 460–370 BCE):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Described cupping for lung diseases, menstrual disorders, and pain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Herodotus (c. 484–425 BCE):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Documented cupping use among Egyptians and Scythians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Galen (129–216 CE):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Expanded humoural theory; systematic approach to evacuation therapy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0" y="1587500"/>
            <a:ext cx="6350000" cy="6477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9461500" y="1841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Greek Cupping: Clinical Approach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61500" y="23114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4" name="Text 22"/>
          <p:cNvSpPr/>
          <p:nvPr/>
        </p:nvSpPr>
        <p:spPr>
          <a:xfrm>
            <a:off x="9461500" y="2540000"/>
            <a:ext cx="5715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Greek physicians approached cupping with systematic rigour: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Diagnosis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Identify humoural imbalance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Indication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Determine if evacuation was appropriate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Contraindication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Recognise when cupping was harmful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Technique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Apply cups with precision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Follow-up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Monitor restoration of balance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approach mirrors the modern clinical decision-making process.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4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physician must tell the antecedents, know the present, and foretell the future."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Hippocrates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of Cupping Around the World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SRA Historical Timeline: Ancient Period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540000"/>
            <a:ext cx="14732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9" name="Shape 7"/>
          <p:cNvSpPr/>
          <p:nvPr/>
        </p:nvSpPr>
        <p:spPr>
          <a:xfrm>
            <a:off x="1651000" y="2451100"/>
            <a:ext cx="203200" cy="203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0320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c. 1550 BCE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9000" y="27940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Egypt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31496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Ebers Papyrus: earliest written record of cupping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53000" y="2451100"/>
            <a:ext cx="203200" cy="203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4" name="Text 12"/>
          <p:cNvSpPr/>
          <p:nvPr/>
        </p:nvSpPr>
        <p:spPr>
          <a:xfrm>
            <a:off x="4191000" y="20320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c. 400 BCE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4000" y="27940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7000" y="31496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Hippocratic Corpus: clinical descriptions of cupping therapy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55000" y="2451100"/>
            <a:ext cx="203200" cy="203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3000" y="20320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281 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66000" y="27940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China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2000" y="31496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Zhao Xuemin: systematic documentation of cupping in TCM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811000" y="2451100"/>
            <a:ext cx="203200" cy="20320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0" y="20320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7TH–13TH C.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22000" y="27940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Islamic Age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668000" y="31496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Golden Age: comprehensive scholarship on Hijama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2000" y="4445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OVERVIEW: ANCIENT CIVILISATIONS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851400"/>
          <a:ext cx="14732000" cy="2921000"/>
        </p:xfrm>
        <a:graphic>
          <a:graphicData uri="http://schemas.openxmlformats.org/drawingml/2006/table">
            <a:tbl>
              <a:tblPr/>
              <a:tblGrid>
                <a:gridCol w="2209800"/>
                <a:gridCol w="3241040"/>
                <a:gridCol w="2946400"/>
                <a:gridCol w="3241040"/>
                <a:gridCol w="309372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Civilisation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Key Text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Theoretical Basis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Instruments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Key Contribution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59880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Egypt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Ebers Papyrus (c. 1550 BCE)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Metu (channels)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Animal horns, bronze cups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Earliest written record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59880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Greece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Hippocratic Corpus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Four humours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Bronze cups, glass cups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Systematic clinical approach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59880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China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Zhao Xuemin (281 CE)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Meridians, qi, blood stagnation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Bamboo, ceramic, horn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Systematic TCM integration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59880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Islamic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Zad al-Ma'ad (14th c.)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Prophetic tradition + observation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Glass, horn, metal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Comprehensive scholarship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m6loj3dnedbk/mnt/agents/output/sra-001-module-2/images/5_Abdullah_ibn_al_Fadl_Preparing_Medicin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4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Islamic Golden Age to Today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016000" y="508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Scholarly Contributions, Decline, and Contemporary Revival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of Cupping Around the World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Islamic Golden Age: A Renaissance of Medicine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7TH–13TH CENTURY 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032000"/>
            <a:ext cx="812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Islamic Golden Age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(7th–13th century CE) represents the most significant period in cupping history. Under Islamic civilisation, cupping evolved from folk practice into a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scholarly medical discipline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factors drove this: the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translation movement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bimaristan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(hospital) system, and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Tibb al-Nabawi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(Prophetic Medicine).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572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TRANSFORMATIVE FACTORS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5016500"/>
            <a:ext cx="406400" cy="4064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5016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33500" y="4991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Translation Movement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33500" y="5334000"/>
            <a:ext cx="736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Scholars translated Greek, Persian, Sanskrit, and Egyptian medical texts into Arabic, preserving and synthesising knowledge.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000" y="6096000"/>
            <a:ext cx="406400" cy="4064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6096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33500" y="6070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Bimaristan 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33500" y="6413500"/>
            <a:ext cx="736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Institutional hospitals with wards, pharmacies, and teaching facilities — cupping practised under medical supervision.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7175500"/>
            <a:ext cx="406400" cy="4064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7175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7150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Tibb al-Nabawi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7493000"/>
            <a:ext cx="736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Prophetic Medicine — the scholarly study of health practices from the Prophet Muhammad (peace be upon him).</a:t>
            </a:r>
            <a:endParaRPr lang="en-US" sz="1400" dirty="0"/>
          </a:p>
        </p:txBody>
      </p:sp>
      <p:pic>
        <p:nvPicPr>
          <p:cNvPr id="23" name="Image 0" descr="https://kimi-img.moonshot.cn/pub/slides/okc/km6loj3dnedbk/mnt/agents/output/sra-001-module-2/images/5_Abdullah_ibn_al_Fadl_Preparing_Medic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1000" y="2032000"/>
            <a:ext cx="6223000" cy="53340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271000" y="7442200"/>
            <a:ext cx="6223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Islamic Golden Age manuscript — De Materia Medica of Dioscorides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of Cupping Around the World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Islamic Scholars and Their Contributions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587500"/>
            <a:ext cx="7175500" cy="1651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6764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Ibn Sina (Avicenna) — 980–1037 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2057400"/>
            <a:ext cx="6667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Al-Qanun fi al-Tibb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(The Canon of Medicine) — the most influential medical text in history. Documented cupping indications, contraindications, and techniques with systematic precision. Used in European medical schools until the 17th century.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91500" y="1587500"/>
            <a:ext cx="7302500" cy="1651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5500" y="16764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Al-Zahrawi (Albucasis) — 936–1013 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45500" y="2057400"/>
            <a:ext cx="679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Al-Tasrif li-man 'ajaza 'an al-Ta'alif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30-volume medical encyclopaedia. Invented surgical instruments including cupping tools. His illustrated surgical manual set the standard for operative technique for centuries.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3492500"/>
            <a:ext cx="7175500" cy="1651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000" y="35814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Al-Razi (Rhazes) — 854–925 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16000" y="3962400"/>
            <a:ext cx="6667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Al-Hawi fi al-Tibb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(The Comprehensive Book of Medicine). Distinguished smallpox from measles. Documented clinical cases with cupping, emphasising observation and evidence over theory alone.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91500" y="3492500"/>
            <a:ext cx="7302500" cy="1651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8445500" y="3581400"/>
            <a:ext cx="571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Ibn al-Qayyim — 1292–1350 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45500" y="3962400"/>
            <a:ext cx="679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Zad al-Ma'ad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(Provisions of the Hereafter) — the most comprehensive work on Prophetic Medicine. His section on Hijama remains the definitive scholarly text, combining authentic Hadith with clinical observation.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000" y="546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SCHOLARLY APPROACH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5867400"/>
            <a:ext cx="14732000" cy="1270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6000" y="59944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scholars shared a common methodology: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(1)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Collect and verify sources — whether Hadith or clinical observation,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(2)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Synthesise existing knowledge — Greek, Persian, Indian, and Egyptian traditions,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(3)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original observation — document new clinical findings,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(4)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Organise systematically — create reference works for future practitioners. This methodology — source verification, synthesis, original observation, systematic organisation — is the scholarly tradition SRA continues.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of Cupping Around the World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Ibn al-Qayyim and the Scholarship of Hijama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1292–1350 CE  |  DAMASCUS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95500"/>
            <a:ext cx="50800" cy="1143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095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i="1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"Hijama is the most beneficial of all medical procedures — it removes harmful blood, relieves pain, and restores health."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048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Ibn al-Qayyim, Zad al-Ma'ad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3492500"/>
            <a:ext cx="812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Ibn al-Qayyim al-Jawziyya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was a Hanbali scholar and physician whose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Zad al-Ma'ad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(Provisions of the Hereafter) is the most comprehensive work on Prophetic Medicine.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 methodology combined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 Hadith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observation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verifying traditional claims against patient outcomes.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9055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IBN AL-QAYYIM'S CONTRIBUTIONS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2000" y="6286500"/>
            <a:ext cx="812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Documented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points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anatomical precision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Established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timing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(17th, 19th, 21st of lunar month)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Described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contraindications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clinical reasoning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Created a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framework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still used today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Distinguished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 from weak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narrations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398000" y="1587500"/>
            <a:ext cx="6096000" cy="6604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715500" y="18415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Why Zad al-Ma'ad Matters Today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715500" y="23114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0" y="2540000"/>
            <a:ext cx="5461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Ibn al-Qayyim's work remains the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foundational text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three reasons: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Source Verification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 authenticated Hadith using rigorous methodology — checking chains (isnad) and narrator reliability.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Clinical Observation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 verified claims through patient outcomes, adding his own clinical notes.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Systematic Organisation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 created a bedside reference — indications, contraindications, technique, all in one place.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4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"This is the scholarly tradition SRA continues."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of Cupping Around the World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Decline, Colonialism, and Modern Revival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DECLINE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1968500"/>
            <a:ext cx="736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the 18th century, traditional medicine faced decline: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Colonial suppression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indigenous medical systems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Institutional closure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bimaristans and madrasas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of manuscripts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scholarly lineages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 to Western medicine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sole legitimate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127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REVIVAL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4508500"/>
            <a:ext cx="736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Since the late 20th century, Hijama has revived: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Islamic revival movements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renewed interest in Sunnah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growth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177 RCTs by 2022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spread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Middle East, Asia, Europe, Americas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Professionalisation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SRA and similar institutions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36000" y="1587500"/>
            <a:ext cx="6858000" cy="6477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53500" y="18415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Global Spread of Hijama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53500" y="23114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5" name="Text 13"/>
          <p:cNvSpPr/>
          <p:nvPr/>
        </p:nvSpPr>
        <p:spPr>
          <a:xfrm>
            <a:off x="8953500" y="25400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Middle East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Strongest tradition — Saudi Arabia, UAE, Egypt, Turkey. Government-regulated.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53500" y="3619500"/>
            <a:ext cx="622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South Asia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Pakistan, India, Bangladesh — deep Unani Tibb integration.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53500" y="4635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Europe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UK, Germany, Netherlands — growing Muslim communities.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53500" y="57150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Americas &amp; Africa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USA, Canada, Nigeria, South Africa — emerging markets.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53500" y="6731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i="1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World Health Organisation recognises traditional medicine as an important component of healthcare systems globally.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of Cupping Around the World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Contemporary Landscape: Evidence and Professionalism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FOLK PRACTICE TO PROFESSIONAL THERAPY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1968500"/>
            <a:ext cx="147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Contemporary Hijama stands at a crossroads. The 21st century has seen an unprecedented shift from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folk practice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evidence-informed professional therapy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This transformation demands rigorous standards, systematic research, and intellectual honesty about both strengths and limitations.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2000" y="3365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RESEARCH MILESTONES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3771900"/>
            <a:ext cx="3429000" cy="1524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38735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2012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52500" y="4254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Cramer et al. systematic review: 135 RCTs on cupping for pain conditions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45000" y="3771900"/>
            <a:ext cx="3429000" cy="1524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5500" y="38735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2022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35500" y="4254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Updated review: 177 RCTs. Evidence for back pain, neck pain, and hypertension confirmed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8000" y="3771900"/>
            <a:ext cx="3429000" cy="1524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8500" y="38735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2024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18500" y="4254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Mechanism research advances: NO release, myofascial decompression, immune modulation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811000" y="3771900"/>
            <a:ext cx="3683000" cy="1524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01500" y="38735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2026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001500" y="42545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establishes the first international competency framework for Hijama practitioners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2000" y="5651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CHALLENGES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2000" y="6057900"/>
            <a:ext cx="14732000" cy="1270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000" y="61849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Standardisation: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universal training standards exist outside SRA |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quality: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Many studies are small, single-blind, or methodologically weak |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Regulation: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Most jurisdictions lack specific Hijama legislation |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Conventional medicine often views Hijama with scepticism |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SRA's role: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Addressing all four through the Academy Framework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of Cupping Around the World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2: Summary and Key Takeaways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171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97000" y="1689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3,500+ Years of Practice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97000" y="20701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Cupping has been practised across Egypt, Greece, China, and the Islamic world for millennia.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82000" y="17145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171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017000" y="1689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Islamic Scholars Led the Way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17000" y="20701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Ibn Sina, Al-Zahrawi, Al-Razi, and Ibn al-Qayyim made the most comprehensive contributions.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30480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048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97000" y="3022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Zad al-Ma'ad: The Foundational Text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97000" y="34036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Ibn al-Qayyim's work remains the definitive scholarly reference for Hijama practitioners.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82000" y="30480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0" y="3048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17000" y="3022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Colonial Disruption, Then Revival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17000" y="34036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Colonialism caused significant loss of knowledge; the late 20th century saw remarkable revival.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62000" y="43815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438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97000" y="4356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Evidence-Informed Professionalism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97000" y="47371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demands rigorous standards, honest evidence, and professional accountability.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2000" y="5715000"/>
            <a:ext cx="14732000" cy="12700"/>
          </a:xfrm>
          <a:prstGeom prst="rect">
            <a:avLst/>
          </a:prstGeom>
          <a:solidFill>
            <a:srgbClr val="E0DCD6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5969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COMING NEXT — MODULE 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2000" y="6350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Hijama in Islam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2000" y="6858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Qur'anic foundations, authentic Hadith, Sunnah points, scholarly tradition, and the Evidence &amp; Sunnah Matrix.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398000" y="5969000"/>
            <a:ext cx="6096000" cy="1778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52000" y="6070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52000" y="6375400"/>
            <a:ext cx="558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Why is Ibn al-Qayyim's Zad al-Ma'ad considered the foundational text for Hijama?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Discuss in your Reflect–Learn–Apply journal.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" name="Text 1"/>
          <p:cNvSpPr/>
          <p:nvPr/>
        </p:nvSpPr>
        <p:spPr>
          <a:xfrm>
            <a:off x="2413000" y="2667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i="1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"And He will teach him the Book and wisdom and the Torah and the Gospel."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53000" y="381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Qur'an 3:48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0" y="4826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Reflection: How does understanding the history of cupping deepen your respect for this therapeutic tradition?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6223000"/>
            <a:ext cx="2540000" cy="12700"/>
          </a:xfrm>
          <a:prstGeom prst="rect">
            <a:avLst/>
          </a:prstGeom>
          <a:solidFill>
            <a:srgbClr val="C7A25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660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3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2 COMPLETE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18000" y="7874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SRA-001 | Module 2: History of Cupping Around the World</dc:title>
  <dc:subject>SRA-001 | Module 2: History of Cupping Around the World</dc:subject>
  <dc:creator>Kimi</dc:creator>
  <cp:lastModifiedBy>Kimi</cp:lastModifiedBy>
  <cp:revision>1</cp:revision>
  <dcterms:created xsi:type="dcterms:W3CDTF">2026-07-06T09:15:21Z</dcterms:created>
  <dcterms:modified xsi:type="dcterms:W3CDTF">2026-07-06T09:15:21Z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{"Label":"SRA-001 | Module 2: History of Cupping Around the World","ContentProducer":"001191110108MACG2KBH8F10000","ProduceID":"19f3486b-21b2-892f-8000-0000b004a258","ReservedCode1":"","ContentPropagator":"001191110108MACG2KBH8F20000","PropagateID":"19f34489-a1f2-82b2-8000-09219025796f","ReservedCode2":""}</vt:lpwstr>
  </property>
</Properties>
</file>