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6256000" cy="9144000"/>
  <p:notesSz cx="9144000" cy="16256000"/>
  <p:embeddedFontLst>
    <p:embeddedFont>
      <p:font typeface="Quattrocento Sans" charset="-122" pitchFamily="34"/>
      <p:regular r:id="rId23"/>
    </p:embeddedFont>
    <p:embeddedFont>
      <p:font typeface="Oranienbaum" charset="-122" pitchFamily="34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8000" y="279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SRA-001  |  MODULE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858000" y="3365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Text 2"/>
          <p:cNvSpPr/>
          <p:nvPr/>
        </p:nvSpPr>
        <p:spPr>
          <a:xfrm>
            <a:off x="1778000" y="3683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Human Anatomy for Practitioners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413000" y="48260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Skin, Circulation, Lymphatics, and the Musculoskeletal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5524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778000"/>
            <a:ext cx="50800" cy="5842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796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095500" y="1905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Skin Anatomy and Histology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95500" y="23114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Epidermis, dermis, hypodermis — structure, function, and clinical implications for incision depth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6000" y="3175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095500" y="32004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Circulatory System and Heart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95500" y="36068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Vascular architecture, blood composition, cardiovascular conditions, and anticoagulant considerations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44704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095500" y="44958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Lymphatic System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95500" y="49022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Lymphatic vessels, nodes, drainage pathways, and the SRA safety zone map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16000" y="57658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095500" y="57912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Fascia, Muscles, and the Musculoskeletal System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095500" y="61976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Fascial layers, myofascial pain, major muscle groups, and the muscle-based cup placement guide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0" y="1778000"/>
            <a:ext cx="6350000" cy="5842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9461500" y="2032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FOCUS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61500" y="23876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0" name="Text 18"/>
          <p:cNvSpPr/>
          <p:nvPr/>
        </p:nvSpPr>
        <p:spPr>
          <a:xfrm>
            <a:off x="9461500" y="2641600"/>
            <a:ext cx="5715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module provides the anatomical foundation for every clinical decision you will make.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the end of this module, you will: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Understand skin structure and safe incision depth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Identify vessels to avoid and targets to aim for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Know lymphatic safety zones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Apply fascial anatomy to point selection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Screen for anatomical contraindications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500" i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"And indeed, We have honoured the children of Adam." — Qur'an 17:70</a:t>
            </a:r>
            <a:endParaRPr lang="en-US" sz="15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42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Skin Anatomy and Histology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Body's Largest Organ — Structure, Function, and Clinical Implications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M5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Anatomy for Practitioners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Three Layers: Epidermis, Dermis, Hypodermis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587500"/>
            <a:ext cx="4699000" cy="22225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587500"/>
            <a:ext cx="4699000" cy="508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17780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Epidermis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2133600"/>
            <a:ext cx="431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0.05–1.5 mm | Avascular | 5 sublayers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0600" y="24384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outermost barrier layer. No blood vessels — nutrients diffuse from the dermis. Contains keratinocytes and melanocytes. The stratum corneum provides waterproof protection.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0" y="1587500"/>
            <a:ext cx="4699000" cy="22225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1587500"/>
            <a:ext cx="4699000" cy="508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17780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Dermis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2133600"/>
            <a:ext cx="431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1–4 mm | Vascular | Collagen and elastin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24384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functional core. Papillary layer (superficial) with capillary loops — the target of wet cupping. Reticular layer (deep) with collagen, elastin, and nerve endings. Contains hair follicles and sweat glands.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668000" y="1587500"/>
            <a:ext cx="4826000" cy="22225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68000" y="1587500"/>
            <a:ext cx="4826000" cy="5080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10896600" y="1778000"/>
            <a:ext cx="444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Hypodermis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896600" y="21336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 | Subcutaneous fat | Insulation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896600" y="2438400"/>
            <a:ext cx="444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deepest layer. Adipose tissue for insulation, cushioning, and energy storage. Contains larger blood vessels and nerves. Thickness varies significantly by body site and body composition.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2000" y="412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SCARIFICATION DEPTH GUIDE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2000" y="4533900"/>
            <a:ext cx="7175500" cy="11684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4635500"/>
            <a:ext cx="673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Papillary dermis (superficial vascular layer)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Depth: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0.5–1 mm |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Length: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5–7 mm |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3–5 incisions per cup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Deeper incisions increase scarring risk without improving outcomes.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2000" y="58674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SKIN THICKNESS BY BODY SITE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273800"/>
          <a:ext cx="7175500" cy="1905000"/>
        </p:xfrm>
        <a:graphic>
          <a:graphicData uri="http://schemas.openxmlformats.org/drawingml/2006/table">
            <a:tbl>
              <a:tblPr/>
              <a:tblGrid>
                <a:gridCol w="3228975"/>
                <a:gridCol w="1793875"/>
                <a:gridCol w="215265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Body Site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Thickness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Clinical Note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Eyelid, genitalia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 mm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Never cup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Forearm, abdomen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1–2 mm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Shallow incisions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Back, shoulders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2–4 mm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Standard depth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Sole, palm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2–5 mm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Thick stratum corneum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8318500" y="58674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AGE-RELATED CHANGES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318500" y="6273800"/>
            <a:ext cx="7175500" cy="1905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47100" y="6375400"/>
            <a:ext cx="6731000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Elderly patients: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Thinner epidermis, reduced collagen, slower wound healing. Use shallower incisions (0.5 mm). Extend monitoring period.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3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Children: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Thinner skin overall. Cupping on children requires specialised training (SRA-010). Not covered in SRA-001.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3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Stretch marks: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Thinned dermis with scar tissue. Avoid scarified cupping over striae.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M5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Anatomy for Practitioners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Skin Conditions, Wound Healing, and Clinical Safety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SKIN CONDITIONS — SCREEN BEFORE EVERY TREATMENT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93900"/>
          <a:ext cx="7874000" cy="2667000"/>
        </p:xfrm>
        <a:graphic>
          <a:graphicData uri="http://schemas.openxmlformats.org/drawingml/2006/table">
            <a:tbl>
              <a:tblPr/>
              <a:tblGrid>
                <a:gridCol w="2204720"/>
                <a:gridCol w="3307080"/>
                <a:gridCol w="236220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Condition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Appearance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SRA Action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Active eczema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Red, inflamed, weeping patches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Contraindicated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Psoriasis plaques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Thick, silvery-scaled patches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Avoid plaques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Keloid scarring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Raised, firm scar tissue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Contraindicated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Thin/fragile skin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Transparent, tears easily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Shallow incisions only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4953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PHASES OF WOUND HEALING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2000" y="5359400"/>
            <a:ext cx="304800" cy="3048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12" name="Text 9"/>
          <p:cNvSpPr/>
          <p:nvPr/>
        </p:nvSpPr>
        <p:spPr>
          <a:xfrm>
            <a:off x="1193800" y="5334000"/>
            <a:ext cx="330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Haemostasis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Immediate clotting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62000" y="5765800"/>
            <a:ext cx="304800" cy="3048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14" name="Text 11"/>
          <p:cNvSpPr/>
          <p:nvPr/>
        </p:nvSpPr>
        <p:spPr>
          <a:xfrm>
            <a:off x="1193800" y="5740400"/>
            <a:ext cx="330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Inflammation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Days 1–4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62000" y="6172200"/>
            <a:ext cx="304800" cy="3048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16" name="Text 13"/>
          <p:cNvSpPr/>
          <p:nvPr/>
        </p:nvSpPr>
        <p:spPr>
          <a:xfrm>
            <a:off x="1193800" y="6146800"/>
            <a:ext cx="330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Proliferation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Days 3–21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62000" y="6578600"/>
            <a:ext cx="304800" cy="3048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18" name="Text 15"/>
          <p:cNvSpPr/>
          <p:nvPr/>
        </p:nvSpPr>
        <p:spPr>
          <a:xfrm>
            <a:off x="1193800" y="6553200"/>
            <a:ext cx="330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Remodelling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Weeks to months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144000" y="1587500"/>
            <a:ext cx="6350000" cy="6477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0" name="Text 17"/>
          <p:cNvSpPr/>
          <p:nvPr/>
        </p:nvSpPr>
        <p:spPr>
          <a:xfrm>
            <a:off x="9461500" y="18415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Clinical Safety Protocol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461500" y="23114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2" name="Text 19"/>
          <p:cNvSpPr/>
          <p:nvPr/>
        </p:nvSpPr>
        <p:spPr>
          <a:xfrm>
            <a:off x="9461500" y="2540000"/>
            <a:ext cx="5715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every treatment: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inspection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Scan for rashes, lesions, scars, or abnormalities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Palpation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Feel for texture changes, temperature differences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history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Ask about skin conditions and medications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Record skin assessment findings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in doubt, do not treat.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 skin conditions you are not trained to assess to a medical professional.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Cupping marks are not bruises.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are capillary rupture under controlled negative pressure — a normal outcome. Explain this to patients before treatment.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42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Circulatory System and Heart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Vascular Architecture, Blood Composition, and Cardiovascular Safety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M5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Anatomy for Practitioners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Blood Vessels: From Arteries to Veins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7874000" cy="2667000"/>
        </p:xfrm>
        <a:graphic>
          <a:graphicData uri="http://schemas.openxmlformats.org/drawingml/2006/table">
            <a:tbl>
              <a:tblPr/>
              <a:tblGrid>
                <a:gridCol w="1732280"/>
                <a:gridCol w="3149600"/>
                <a:gridCol w="299212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Vessel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Structure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Clinical Relevance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7280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Arteries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Thick muscular walls, pulsatile, oxygenated blood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AVOID — bleeding is dangerous and hard to control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7280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Veins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Thinner walls, valves, deoxygenated blood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Superficial veins are the target; deep veins avoided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7307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Capillaries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Single-cell layer, gas and nutrient exchange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The TARGET of wet cupping — dermal capillary loops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62000" y="4572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 VESSELS TO AVOID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2000" y="4978400"/>
            <a:ext cx="7874000" cy="1270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2000" y="4978400"/>
            <a:ext cx="50800" cy="1270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2" name="Text 9"/>
          <p:cNvSpPr/>
          <p:nvPr/>
        </p:nvSpPr>
        <p:spPr>
          <a:xfrm>
            <a:off x="990600" y="5080000"/>
            <a:ext cx="7429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Arteries: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Brachial (upper arm), axillary (armpit), carotid (neck), femoral (groin)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veins: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deep venous structures — cup only superficial tissue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Varicose veins: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Never cup over dilated, tortuous veins — thrombosis risk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2000" y="6540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TARGET: DERMAL CAPILLARY LOOPS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2000" y="6946900"/>
            <a:ext cx="7874000" cy="1117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5" name="Text 12"/>
          <p:cNvSpPr/>
          <p:nvPr/>
        </p:nvSpPr>
        <p:spPr>
          <a:xfrm>
            <a:off x="990600" y="7048500"/>
            <a:ext cx="7429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papillary dermis contains dense capillary loops. Wet cupping incisions reach these loops, allowing controlled capillary bleeding. Depth control is critical.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44000" y="1587500"/>
            <a:ext cx="6350000" cy="6477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7" name="Text 14"/>
          <p:cNvSpPr/>
          <p:nvPr/>
        </p:nvSpPr>
        <p:spPr>
          <a:xfrm>
            <a:off x="9461500" y="18415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Vascular Safety Rule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461500" y="23114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9" name="Text 16"/>
          <p:cNvSpPr/>
          <p:nvPr/>
        </p:nvSpPr>
        <p:spPr>
          <a:xfrm>
            <a:off x="9461500" y="2540000"/>
            <a:ext cx="5715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single most important vascular safety principle: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Cup where you can see superficial capillaries — never where you can feel a pulse.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pulse means an artery. Arterial bleeding under negative pressure is rapid and dangerous.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to check: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Palpate the area before cupping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Feel for pulsation — if present, move the cup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Visualise superficial veins — avoid varicosities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Know your anatomy — study vascular maps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Endothelial function: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endothelium releases NO in response to mechanical stimulation — the mechanism behind reactive hyperemia and pain relief.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M5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Anatomy for Practitioners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Blood Composition and Cardiovascular Considerations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BLOOD COMPOSITION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1993900"/>
            <a:ext cx="2349500" cy="101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" y="2095500"/>
            <a:ext cx="2159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Plasma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55%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38500" y="1993900"/>
            <a:ext cx="2349500" cy="1016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0100" y="2095500"/>
            <a:ext cx="2159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 Blood Cells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44%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15000" y="1993900"/>
            <a:ext cx="2349500" cy="1016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16600" y="2095500"/>
            <a:ext cx="2159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WBCs + Platelets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2000" y="3302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CARDIOVASCULAR CONDITIONS — SCREENING REQUIRED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708400"/>
          <a:ext cx="7366000" cy="2222500"/>
        </p:xfrm>
        <a:graphic>
          <a:graphicData uri="http://schemas.openxmlformats.org/drawingml/2006/table">
            <a:tbl>
              <a:tblPr/>
              <a:tblGrid>
                <a:gridCol w="2062480"/>
                <a:gridCol w="2578100"/>
                <a:gridCol w="2725420"/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Condition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Definition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SRA Guidance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59340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Hypertension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BP &gt;140/90 mmHg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Caution — monitor BP pre/post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59340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Hypotension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BP &lt;90/60 mmHg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High syncope risk — avoid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59118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Arrhythmias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Irregular heartbeat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Medical clearance required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762000" y="6223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ANTICOAGULANTS — BLEEDING RISK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62000" y="6629400"/>
            <a:ext cx="736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Warfarin, Heparin, DOACs (apixaban, rivaroxaban), Aspirin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all increase bleeding risk. Patients on anticoagulants may still receive dry cupping. Wet cupping requires medical clearance and extended observation. Always ask about blood thinners during intake.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636000" y="1587500"/>
            <a:ext cx="6858000" cy="6477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0" name="Text 17"/>
          <p:cNvSpPr/>
          <p:nvPr/>
        </p:nvSpPr>
        <p:spPr>
          <a:xfrm>
            <a:off x="8953500" y="18415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BP Monitoring Protocol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953500" y="23114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2" name="Text 19"/>
          <p:cNvSpPr/>
          <p:nvPr/>
        </p:nvSpPr>
        <p:spPr>
          <a:xfrm>
            <a:off x="8953500" y="2540000"/>
            <a:ext cx="6223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Pre-treatment BP check: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Take after 5 minutes rest, seated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correct cuff size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Record in patient notes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Contraindications: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BP &gt;180/110 — do not treat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BP &lt;90/60 — do not treat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Uncontrolled hypertension — refer to GP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Post-treatment: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Monitor for 10-15 minutes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Watch for dizziness, pallor, sweating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Re-check BP if symptomatic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 pre- and post-treatment BP, any symptoms, and your clinical decision. This protects you and your patient.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42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Lymphatic 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Lymphatic Architecture, Drainage Pathways, and Safe Practice Zones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M5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Anatomy for Practitioners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Lymphatic Vessels, Nodes, and Drainage Pathways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498600"/>
            <a:ext cx="1473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lymphatic system is a network of vessels, nodes, and organs that transports lymph — a clear fluid containing white blood cells — throughout the body. It is central to immune function and fluid balance.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2260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LYMPH FLOW PATHWAY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2667000"/>
            <a:ext cx="2730500" cy="8255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3600" y="27686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Interstitial fluid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tissues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56000" y="28575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000500" y="2667000"/>
            <a:ext cx="2730500" cy="8255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02100" y="27686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Lymphatic capillaries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uptake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94500" y="28575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239000" y="2667000"/>
            <a:ext cx="2730500" cy="8255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40600" y="27686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Collecting vessels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 lymph nodes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33000" y="28575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477500" y="2667000"/>
            <a:ext cx="2730500" cy="8255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79100" y="27686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Lymphatic ducts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subclavian veins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2000" y="3810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 LYMPH NODE GROUPS — ALL CUPPING CONTRAINDICATIONS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216400"/>
          <a:ext cx="7874000" cy="2222500"/>
        </p:xfrm>
        <a:graphic>
          <a:graphicData uri="http://schemas.openxmlformats.org/drawingml/2006/table">
            <a:tbl>
              <a:tblPr/>
              <a:tblGrid>
                <a:gridCol w="1968500"/>
                <a:gridCol w="2362200"/>
                <a:gridCol w="3543300"/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Node Group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Location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Why Avoid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59340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Cervical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Neck, jawline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Immune tissue — risk of damage/infection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59340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Axillary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Armpit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Major drainage hub — disruption risk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59118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Inguinal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Groin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Lower body drainage — avoid entirely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62000" y="6731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LYMPHATIC OEDEMA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2000" y="7137400"/>
            <a:ext cx="7874000" cy="889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90600" y="7239000"/>
            <a:ext cx="742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Accumulation of lymph fluid causing swelling. Causes: cancer surgery, infection, trauma, congenital.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Contraindication for cupping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consult a lymphoedema specialist.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144000" y="3810000"/>
            <a:ext cx="6350000" cy="431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7" name="Text 24"/>
          <p:cNvSpPr/>
          <p:nvPr/>
        </p:nvSpPr>
        <p:spPr>
          <a:xfrm>
            <a:off x="9461500" y="40386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Facts for Practice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9461500" y="45085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9" name="Text 26"/>
          <p:cNvSpPr/>
          <p:nvPr/>
        </p:nvSpPr>
        <p:spPr>
          <a:xfrm>
            <a:off x="9461500" y="4724400"/>
            <a:ext cx="5715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Lymphatic vessels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thin-walled with one-way valves. They run alongside veins but are not visible.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Lymph nodes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filter lymph and house immune cells. They are palpable when enlarged (reactive).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thoracic duct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drains 75% of the body — from the left side and below the diaphragm.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right lymphatic duct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drains the right upper quadrant only.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M5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Anatomy for Practitioners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Lymphatic Safety Zones and Cupping Integration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LYMPHATIC SAFETY MAP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1993900"/>
            <a:ext cx="4699000" cy="1524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Shape 8"/>
          <p:cNvSpPr/>
          <p:nvPr/>
        </p:nvSpPr>
        <p:spPr>
          <a:xfrm>
            <a:off x="990600" y="2159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133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Green Zones — Safe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0600" y="2540000"/>
            <a:ext cx="4254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Upper back, mid-back, lower back, posterior thighs, calves. Standard cupping with no lymphatic restrictions.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0" y="1993900"/>
            <a:ext cx="4699000" cy="1524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2159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7722" y="0"/>
                  <a:pt x="155089" y="4420"/>
                  <a:pt x="158909" y="11460"/>
                </a:cubicBezTo>
                <a:lnTo>
                  <a:pt x="276781" y="229741"/>
                </a:lnTo>
                <a:cubicBezTo>
                  <a:pt x="280437" y="236508"/>
                  <a:pt x="280273" y="244693"/>
                  <a:pt x="276344" y="251296"/>
                </a:cubicBezTo>
                <a:cubicBezTo>
                  <a:pt x="272415" y="257899"/>
                  <a:pt x="265266" y="261938"/>
                  <a:pt x="257572" y="261938"/>
                </a:cubicBezTo>
                <a:lnTo>
                  <a:pt x="21828" y="261938"/>
                </a:lnTo>
                <a:cubicBezTo>
                  <a:pt x="14134" y="261938"/>
                  <a:pt x="7040" y="257899"/>
                  <a:pt x="3056" y="251296"/>
                </a:cubicBezTo>
                <a:cubicBezTo>
                  <a:pt x="-928" y="244693"/>
                  <a:pt x="-1037" y="236508"/>
                  <a:pt x="2619" y="229741"/>
                </a:cubicBezTo>
                <a:lnTo>
                  <a:pt x="120491" y="11460"/>
                </a:lnTo>
                <a:cubicBezTo>
                  <a:pt x="124311" y="4420"/>
                  <a:pt x="131678" y="0"/>
                  <a:pt x="139700" y="0"/>
                </a:cubicBezTo>
                <a:close/>
                <a:moveTo>
                  <a:pt x="139700" y="91678"/>
                </a:moveTo>
                <a:cubicBezTo>
                  <a:pt x="132442" y="91678"/>
                  <a:pt x="126603" y="97517"/>
                  <a:pt x="126603" y="104775"/>
                </a:cubicBezTo>
                <a:lnTo>
                  <a:pt x="126603" y="165894"/>
                </a:lnTo>
                <a:cubicBezTo>
                  <a:pt x="126603" y="173152"/>
                  <a:pt x="132442" y="178991"/>
                  <a:pt x="139700" y="178991"/>
                </a:cubicBezTo>
                <a:cubicBezTo>
                  <a:pt x="146958" y="178991"/>
                  <a:pt x="152797" y="173152"/>
                  <a:pt x="152797" y="165894"/>
                </a:cubicBezTo>
                <a:lnTo>
                  <a:pt x="152797" y="104775"/>
                </a:lnTo>
                <a:cubicBezTo>
                  <a:pt x="152797" y="97517"/>
                  <a:pt x="146958" y="91678"/>
                  <a:pt x="139700" y="91678"/>
                </a:cubicBezTo>
                <a:close/>
                <a:moveTo>
                  <a:pt x="154270" y="209550"/>
                </a:moveTo>
                <a:cubicBezTo>
                  <a:pt x="154602" y="204142"/>
                  <a:pt x="151905" y="198996"/>
                  <a:pt x="147268" y="196192"/>
                </a:cubicBezTo>
                <a:cubicBezTo>
                  <a:pt x="142632" y="193387"/>
                  <a:pt x="136823" y="193387"/>
                  <a:pt x="132186" y="196192"/>
                </a:cubicBezTo>
                <a:cubicBezTo>
                  <a:pt x="127550" y="198996"/>
                  <a:pt x="124853" y="204142"/>
                  <a:pt x="125184" y="209550"/>
                </a:cubicBezTo>
                <a:cubicBezTo>
                  <a:pt x="124853" y="214958"/>
                  <a:pt x="127550" y="220104"/>
                  <a:pt x="132186" y="222908"/>
                </a:cubicBezTo>
                <a:cubicBezTo>
                  <a:pt x="136823" y="225713"/>
                  <a:pt x="142632" y="225713"/>
                  <a:pt x="147268" y="222908"/>
                </a:cubicBezTo>
                <a:cubicBezTo>
                  <a:pt x="151905" y="220104"/>
                  <a:pt x="154602" y="214958"/>
                  <a:pt x="154270" y="209550"/>
                </a:cubicBezTo>
                <a:close/>
              </a:path>
            </a:pathLst>
          </a:custGeom>
          <a:solidFill>
            <a:srgbClr val="0E3B2E"/>
          </a:solidFill>
          <a:ln/>
        </p:spPr>
      </p:sp>
      <p:sp>
        <p:nvSpPr>
          <p:cNvPr id="15" name="Text 13"/>
          <p:cNvSpPr/>
          <p:nvPr/>
        </p:nvSpPr>
        <p:spPr>
          <a:xfrm>
            <a:off x="6324600" y="2133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Amber Zones — Caution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2540000"/>
            <a:ext cx="4254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Neck (away from nodes), lateral chest, anterior abdomen. Cup with awareness of nearby lymphatic structures.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668000" y="1993900"/>
            <a:ext cx="4826000" cy="1524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96600" y="2159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91132" y="91132"/>
                </a:moveTo>
                <a:cubicBezTo>
                  <a:pt x="96262" y="86003"/>
                  <a:pt x="104557" y="86003"/>
                  <a:pt x="109632" y="91132"/>
                </a:cubicBezTo>
                <a:lnTo>
                  <a:pt x="139645" y="121146"/>
                </a:lnTo>
                <a:lnTo>
                  <a:pt x="169659" y="91132"/>
                </a:lnTo>
                <a:cubicBezTo>
                  <a:pt x="174789" y="86003"/>
                  <a:pt x="183083" y="86003"/>
                  <a:pt x="188158" y="91132"/>
                </a:cubicBezTo>
                <a:cubicBezTo>
                  <a:pt x="193233" y="96262"/>
                  <a:pt x="193288" y="104557"/>
                  <a:pt x="188158" y="109632"/>
                </a:cubicBezTo>
                <a:lnTo>
                  <a:pt x="158145" y="139645"/>
                </a:lnTo>
                <a:lnTo>
                  <a:pt x="188158" y="169659"/>
                </a:lnTo>
                <a:cubicBezTo>
                  <a:pt x="193288" y="174789"/>
                  <a:pt x="193288" y="183083"/>
                  <a:pt x="188158" y="188158"/>
                </a:cubicBezTo>
                <a:cubicBezTo>
                  <a:pt x="183029" y="193233"/>
                  <a:pt x="174734" y="193288"/>
                  <a:pt x="169659" y="188158"/>
                </a:cubicBezTo>
                <a:lnTo>
                  <a:pt x="139645" y="158145"/>
                </a:lnTo>
                <a:lnTo>
                  <a:pt x="109632" y="188158"/>
                </a:lnTo>
                <a:cubicBezTo>
                  <a:pt x="104502" y="193288"/>
                  <a:pt x="96207" y="193288"/>
                  <a:pt x="91132" y="188158"/>
                </a:cubicBezTo>
                <a:cubicBezTo>
                  <a:pt x="86057" y="183029"/>
                  <a:pt x="86003" y="174734"/>
                  <a:pt x="91132" y="169659"/>
                </a:cubicBezTo>
                <a:lnTo>
                  <a:pt x="121146" y="139645"/>
                </a:lnTo>
                <a:lnTo>
                  <a:pt x="91132" y="109632"/>
                </a:lnTo>
                <a:cubicBezTo>
                  <a:pt x="86003" y="104502"/>
                  <a:pt x="86003" y="96207"/>
                  <a:pt x="91132" y="91132"/>
                </a:cubicBez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19" name="Text 17"/>
          <p:cNvSpPr/>
          <p:nvPr/>
        </p:nvSpPr>
        <p:spPr>
          <a:xfrm>
            <a:off x="11277600" y="2133600"/>
            <a:ext cx="393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 Zones — Avoid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896600" y="2540000"/>
            <a:ext cx="4381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Directly over cervical nodes (neck), axillary (armpit), inguinal (groin), popliteal fossa. Never cup over lymph node groups.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2000" y="3746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CUPPING AND LYMPHATIC STIMULATION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2000" y="4152900"/>
            <a:ext cx="787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Moving cupping (sliding)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creates a shearing force on superficial tissues that may enhance lymphatic flow. The negative pressure draws interstitial fluid toward the surface, potentially stimulating lymphatic uptake.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62000" y="5461000"/>
            <a:ext cx="7874000" cy="762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0600" y="5562600"/>
            <a:ext cx="742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Evidence: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Moderate — imaging studies show increased lymphatic flow after moving cupping. SRA classifies as "Supported" on the Evidence &amp; Sunnah Matrix.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2000" y="6413500"/>
            <a:ext cx="7874000" cy="1397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6" name="Text 24"/>
          <p:cNvSpPr/>
          <p:nvPr/>
        </p:nvSpPr>
        <p:spPr>
          <a:xfrm>
            <a:off x="990600" y="6540500"/>
            <a:ext cx="74295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 Application: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patients with lymphatic congestion (not oedema), moving cupping on green zones may support drainage. Always work TOWARD the heart. Never work away from the heart — this forces fluid against valve direction.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44000" y="3746500"/>
            <a:ext cx="6350000" cy="431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8" name="Text 26"/>
          <p:cNvSpPr/>
          <p:nvPr/>
        </p:nvSpPr>
        <p:spPr>
          <a:xfrm>
            <a:off x="9461500" y="39751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Golden Rule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461500" y="44450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30" name="Text 28"/>
          <p:cNvSpPr/>
          <p:nvPr/>
        </p:nvSpPr>
        <p:spPr>
          <a:xfrm>
            <a:off x="9461500" y="4673600"/>
            <a:ext cx="5715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cup directly over lymph node groups.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non-negotiable. The consequences include: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Node damage and immune disruption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Infection risk (lymph carries pathogens)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Lymphatic obstruction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Legal liability if harm occurs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you are unsure whether a site is over a node group,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a different site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There is always an alternative location.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42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Fascia, Muscles, and the Musculoskeletal 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Fascial Layers, Muscle Groups, and Myofascial Decompression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M5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Anatomy for Practitioners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Fascial Layers and Myofascial Pain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FASCIAL LAYERS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1993900"/>
            <a:ext cx="4699000" cy="1270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1993900"/>
            <a:ext cx="50800" cy="1270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2057400"/>
            <a:ext cx="4254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Superficial Fascia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0600" y="23876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Hypodermis — adipose tissue, loose areolar connective tissue. Allows skin movement over deeper structures.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0" y="1993900"/>
            <a:ext cx="4699000" cy="13335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1993900"/>
            <a:ext cx="50800" cy="1333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2057400"/>
            <a:ext cx="4254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Fascia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0" y="2387600"/>
            <a:ext cx="4254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Dense regular connective tissue surrounding muscles. Contains collagen and elastin. Target of myofascial decompression.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668000" y="1993900"/>
            <a:ext cx="4826000" cy="1270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68000" y="1993900"/>
            <a:ext cx="50800" cy="127000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10896600" y="2057400"/>
            <a:ext cx="4381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Visceral Fascia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896600" y="2387600"/>
            <a:ext cx="438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Surrounds internal organs. Not directly relevant to cupping but important for understanding fascial continuity.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2000" y="3619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MYOFASCIAL PAIN SYNDROME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2000" y="4025900"/>
            <a:ext cx="787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Chronic pain condition characterised by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trigger points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hyperirritable nodules within taut bands of muscle fascia. Trigger points cause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referred pain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predictable patterns and restrict range of motion.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2000" y="5334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CUPPING AFFECTS FASCIA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2000" y="5740400"/>
            <a:ext cx="7874000" cy="1397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5867400"/>
            <a:ext cx="74295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pressure creates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fascial layer separation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lifting tissue between skin and muscle. This restores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glide between layers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decompresses trigger points, and reduces mechanoreceptor hypersensitivity. Ultrasound confirms fascial changes post-cupping (Dunning et al., 2024).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44000" y="3619500"/>
            <a:ext cx="6350000" cy="431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7" name="Text 25"/>
          <p:cNvSpPr/>
          <p:nvPr/>
        </p:nvSpPr>
        <p:spPr>
          <a:xfrm>
            <a:off x="9461500" y="38481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Fascial Composition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61500" y="43180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9" name="Text 27"/>
          <p:cNvSpPr/>
          <p:nvPr/>
        </p:nvSpPr>
        <p:spPr>
          <a:xfrm>
            <a:off x="9461500" y="4546600"/>
            <a:ext cx="5715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Collagen fibres: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 tensile strength. Arranged in lines of tension — the basis of myofascial lines.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Elastin: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elasticity and recoil. Allows fascia to stretch and return.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Ground substance: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Gel-like matrix that lubricates fibre movement. Becomes thickened with disuse and inflammation — reducing glide.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Fibroblasts: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Cells that produce collagen and elastin. Respond to mechanical loading — including the load from cupping.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M5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Anatomy for Practitioners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Major Muscle Groups for Cupping Practice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3556000"/>
        </p:xfrm>
        <a:graphic>
          <a:graphicData uri="http://schemas.openxmlformats.org/drawingml/2006/table">
            <a:tbl>
              <a:tblPr/>
              <a:tblGrid>
                <a:gridCol w="2651760"/>
                <a:gridCol w="4419600"/>
                <a:gridCol w="3977640"/>
                <a:gridCol w="3683000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Muscle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Location / Function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Cupping Points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Common Conditions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61874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Trapezius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Upper back, neck, shoulders — posture and scapular movement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Al-Kahil (DU14/15), Al-Katifain (GB21)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Tension headaches, neck pain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61874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Erector spinae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Paraspinal muscles — spinal extension and posture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Bilateral to spine, BL points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Lower back pain, sciatica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61874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Latissimus dorsi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Broad back muscle — shoulder adduction, extension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Lateral lower back, posterior axillary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Shoulder impingement, back pain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61874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Rhomboids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Interscapular — scapular retraction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Between medial scapular border and spine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Interscapular pain, rounded shoulders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61874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Gluteals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Buttock — hip extension, external rotation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Gluteal region, piriformis area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Piriformis syndrome, hip pain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62000" y="53975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MUSCLE-BASED CUP PLACEMENT PRINCIPLES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2000" y="5803900"/>
            <a:ext cx="4699000" cy="1143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90600" y="5930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42875" y="15875"/>
                </a:moveTo>
                <a:cubicBezTo>
                  <a:pt x="142875" y="7094"/>
                  <a:pt x="135781" y="0"/>
                  <a:pt x="127000" y="0"/>
                </a:cubicBezTo>
                <a:cubicBezTo>
                  <a:pt x="118219" y="0"/>
                  <a:pt x="111125" y="7094"/>
                  <a:pt x="111125" y="15875"/>
                </a:cubicBezTo>
                <a:lnTo>
                  <a:pt x="111125" y="119063"/>
                </a:lnTo>
                <a:cubicBezTo>
                  <a:pt x="111125" y="123428"/>
                  <a:pt x="107553" y="127000"/>
                  <a:pt x="103188" y="127000"/>
                </a:cubicBezTo>
                <a:cubicBezTo>
                  <a:pt x="98822" y="127000"/>
                  <a:pt x="95250" y="123428"/>
                  <a:pt x="95250" y="119063"/>
                </a:cubicBezTo>
                <a:lnTo>
                  <a:pt x="95250" y="31750"/>
                </a:lnTo>
                <a:cubicBezTo>
                  <a:pt x="95250" y="22969"/>
                  <a:pt x="88156" y="15875"/>
                  <a:pt x="79375" y="15875"/>
                </a:cubicBezTo>
                <a:cubicBezTo>
                  <a:pt x="70594" y="15875"/>
                  <a:pt x="63500" y="22969"/>
                  <a:pt x="63500" y="31750"/>
                </a:cubicBezTo>
                <a:lnTo>
                  <a:pt x="63500" y="166688"/>
                </a:lnTo>
                <a:cubicBezTo>
                  <a:pt x="63500" y="167432"/>
                  <a:pt x="63500" y="168225"/>
                  <a:pt x="63550" y="168970"/>
                </a:cubicBezTo>
                <a:lnTo>
                  <a:pt x="33536" y="140395"/>
                </a:lnTo>
                <a:cubicBezTo>
                  <a:pt x="25598" y="132854"/>
                  <a:pt x="13047" y="133152"/>
                  <a:pt x="5457" y="141089"/>
                </a:cubicBezTo>
                <a:cubicBezTo>
                  <a:pt x="-2133" y="149027"/>
                  <a:pt x="-1786" y="161578"/>
                  <a:pt x="6152" y="169168"/>
                </a:cubicBezTo>
                <a:lnTo>
                  <a:pt x="61913" y="222250"/>
                </a:lnTo>
                <a:cubicBezTo>
                  <a:pt x="83294" y="242639"/>
                  <a:pt x="111720" y="254000"/>
                  <a:pt x="141288" y="254000"/>
                </a:cubicBezTo>
                <a:lnTo>
                  <a:pt x="150813" y="254000"/>
                </a:lnTo>
                <a:cubicBezTo>
                  <a:pt x="199033" y="254000"/>
                  <a:pt x="238125" y="214908"/>
                  <a:pt x="238125" y="166688"/>
                </a:cubicBezTo>
                <a:lnTo>
                  <a:pt x="238125" y="63500"/>
                </a:lnTo>
                <a:cubicBezTo>
                  <a:pt x="238125" y="54719"/>
                  <a:pt x="231031" y="47625"/>
                  <a:pt x="222250" y="47625"/>
                </a:cubicBezTo>
                <a:cubicBezTo>
                  <a:pt x="213469" y="47625"/>
                  <a:pt x="206375" y="54719"/>
                  <a:pt x="206375" y="63500"/>
                </a:cubicBezTo>
                <a:lnTo>
                  <a:pt x="206375" y="119063"/>
                </a:lnTo>
                <a:cubicBezTo>
                  <a:pt x="206375" y="123428"/>
                  <a:pt x="202803" y="127000"/>
                  <a:pt x="198438" y="127000"/>
                </a:cubicBezTo>
                <a:cubicBezTo>
                  <a:pt x="194072" y="127000"/>
                  <a:pt x="190500" y="123428"/>
                  <a:pt x="190500" y="119063"/>
                </a:cubicBezTo>
                <a:lnTo>
                  <a:pt x="190500" y="31750"/>
                </a:lnTo>
                <a:cubicBezTo>
                  <a:pt x="190500" y="22969"/>
                  <a:pt x="183406" y="15875"/>
                  <a:pt x="174625" y="15875"/>
                </a:cubicBezTo>
                <a:cubicBezTo>
                  <a:pt x="165844" y="15875"/>
                  <a:pt x="158750" y="22969"/>
                  <a:pt x="158750" y="31750"/>
                </a:cubicBezTo>
                <a:lnTo>
                  <a:pt x="158750" y="119063"/>
                </a:lnTo>
                <a:cubicBezTo>
                  <a:pt x="158750" y="123428"/>
                  <a:pt x="155178" y="127000"/>
                  <a:pt x="150813" y="127000"/>
                </a:cubicBezTo>
                <a:cubicBezTo>
                  <a:pt x="146447" y="127000"/>
                  <a:pt x="142875" y="123428"/>
                  <a:pt x="142875" y="119063"/>
                </a:cubicBezTo>
                <a:lnTo>
                  <a:pt x="142875" y="15875"/>
                </a:lnTo>
                <a:close/>
              </a:path>
            </a:pathLst>
          </a:custGeom>
          <a:solidFill>
            <a:srgbClr val="C7A25A"/>
          </a:solidFill>
          <a:ln/>
        </p:spPr>
      </p:sp>
      <p:sp>
        <p:nvSpPr>
          <p:cNvPr id="12" name="Text 9"/>
          <p:cNvSpPr/>
          <p:nvPr/>
        </p:nvSpPr>
        <p:spPr>
          <a:xfrm>
            <a:off x="1346200" y="5905500"/>
            <a:ext cx="393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Palpate First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90600" y="6248400"/>
            <a:ext cx="4254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Feel for taut bands, trigger points, and tissue texture before placing cups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715000" y="5803900"/>
            <a:ext cx="4699000" cy="1143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0" y="5930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49423" y="-11212"/>
                </a:moveTo>
                <a:cubicBezTo>
                  <a:pt x="137021" y="-17413"/>
                  <a:pt x="116880" y="-17413"/>
                  <a:pt x="104477" y="-11212"/>
                </a:cubicBezTo>
                <a:lnTo>
                  <a:pt x="9227" y="36413"/>
                </a:lnTo>
                <a:cubicBezTo>
                  <a:pt x="-3175" y="42614"/>
                  <a:pt x="-3175" y="52685"/>
                  <a:pt x="9227" y="58886"/>
                </a:cubicBezTo>
                <a:cubicBezTo>
                  <a:pt x="21630" y="65088"/>
                  <a:pt x="41771" y="65088"/>
                  <a:pt x="54173" y="58886"/>
                </a:cubicBezTo>
                <a:lnTo>
                  <a:pt x="95250" y="38348"/>
                </a:lnTo>
                <a:lnTo>
                  <a:pt x="95250" y="215652"/>
                </a:lnTo>
                <a:lnTo>
                  <a:pt x="54173" y="195163"/>
                </a:lnTo>
                <a:cubicBezTo>
                  <a:pt x="41771" y="188962"/>
                  <a:pt x="21630" y="188962"/>
                  <a:pt x="9227" y="195163"/>
                </a:cubicBezTo>
                <a:cubicBezTo>
                  <a:pt x="-3175" y="201364"/>
                  <a:pt x="-3175" y="211435"/>
                  <a:pt x="9227" y="217636"/>
                </a:cubicBezTo>
                <a:lnTo>
                  <a:pt x="104477" y="265261"/>
                </a:lnTo>
                <a:cubicBezTo>
                  <a:pt x="110430" y="268238"/>
                  <a:pt x="118467" y="269925"/>
                  <a:pt x="126901" y="269925"/>
                </a:cubicBezTo>
                <a:cubicBezTo>
                  <a:pt x="135334" y="269925"/>
                  <a:pt x="143371" y="268238"/>
                  <a:pt x="149324" y="265261"/>
                </a:cubicBezTo>
                <a:lnTo>
                  <a:pt x="244574" y="217636"/>
                </a:lnTo>
                <a:cubicBezTo>
                  <a:pt x="256977" y="211435"/>
                  <a:pt x="256977" y="201364"/>
                  <a:pt x="244574" y="195163"/>
                </a:cubicBezTo>
                <a:cubicBezTo>
                  <a:pt x="232172" y="188962"/>
                  <a:pt x="212030" y="188962"/>
                  <a:pt x="199628" y="195163"/>
                </a:cubicBezTo>
                <a:lnTo>
                  <a:pt x="158552" y="215702"/>
                </a:lnTo>
                <a:lnTo>
                  <a:pt x="158552" y="38348"/>
                </a:lnTo>
                <a:lnTo>
                  <a:pt x="199628" y="58886"/>
                </a:lnTo>
                <a:cubicBezTo>
                  <a:pt x="212030" y="65088"/>
                  <a:pt x="232172" y="65088"/>
                  <a:pt x="244574" y="58886"/>
                </a:cubicBezTo>
                <a:cubicBezTo>
                  <a:pt x="256977" y="52685"/>
                  <a:pt x="256977" y="42614"/>
                  <a:pt x="244574" y="36413"/>
                </a:cubicBezTo>
                <a:lnTo>
                  <a:pt x="149324" y="-11212"/>
                </a:lnTo>
                <a:close/>
              </a:path>
            </a:pathLst>
          </a:custGeom>
          <a:solidFill>
            <a:srgbClr val="C7A25A"/>
          </a:solidFill>
          <a:ln/>
        </p:spPr>
      </p:sp>
      <p:sp>
        <p:nvSpPr>
          <p:cNvPr id="16" name="Text 13"/>
          <p:cNvSpPr/>
          <p:nvPr/>
        </p:nvSpPr>
        <p:spPr>
          <a:xfrm>
            <a:off x="6299200" y="5905500"/>
            <a:ext cx="393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Follow Fibre Direction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43600" y="6248400"/>
            <a:ext cx="4254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 cups along the direction of muscle fibres for optimal fascial decompression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668000" y="5803900"/>
            <a:ext cx="4826000" cy="1143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896600" y="5930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2250" y="127000"/>
                </a:moveTo>
                <a:cubicBezTo>
                  <a:pt x="222250" y="74430"/>
                  <a:pt x="179570" y="31750"/>
                  <a:pt x="127000" y="31750"/>
                </a:cubicBezTo>
                <a:cubicBezTo>
                  <a:pt x="74430" y="31750"/>
                  <a:pt x="31750" y="74430"/>
                  <a:pt x="31750" y="127000"/>
                </a:cubicBezTo>
                <a:cubicBezTo>
                  <a:pt x="31750" y="179570"/>
                  <a:pt x="74430" y="222250"/>
                  <a:pt x="127000" y="222250"/>
                </a:cubicBezTo>
                <a:cubicBezTo>
                  <a:pt x="179570" y="222250"/>
                  <a:pt x="222250" y="179570"/>
                  <a:pt x="222250" y="127000"/>
                </a:cubicBez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27000" y="166688"/>
                </a:moveTo>
                <a:cubicBezTo>
                  <a:pt x="148904" y="166688"/>
                  <a:pt x="166688" y="148904"/>
                  <a:pt x="166688" y="127000"/>
                </a:cubicBezTo>
                <a:cubicBezTo>
                  <a:pt x="166688" y="105096"/>
                  <a:pt x="148904" y="87313"/>
                  <a:pt x="127000" y="87313"/>
                </a:cubicBezTo>
                <a:cubicBezTo>
                  <a:pt x="105096" y="87313"/>
                  <a:pt x="87313" y="105096"/>
                  <a:pt x="87313" y="127000"/>
                </a:cubicBezTo>
                <a:cubicBezTo>
                  <a:pt x="87313" y="148904"/>
                  <a:pt x="105096" y="166688"/>
                  <a:pt x="127000" y="166688"/>
                </a:cubicBezTo>
                <a:close/>
                <a:moveTo>
                  <a:pt x="127000" y="55563"/>
                </a:moveTo>
                <a:cubicBezTo>
                  <a:pt x="166427" y="55563"/>
                  <a:pt x="198438" y="87573"/>
                  <a:pt x="198438" y="127000"/>
                </a:cubicBezTo>
                <a:cubicBezTo>
                  <a:pt x="198438" y="166427"/>
                  <a:pt x="166427" y="198438"/>
                  <a:pt x="127000" y="198438"/>
                </a:cubicBezTo>
                <a:cubicBezTo>
                  <a:pt x="87573" y="198438"/>
                  <a:pt x="55563" y="166427"/>
                  <a:pt x="55563" y="127000"/>
                </a:cubicBezTo>
                <a:cubicBezTo>
                  <a:pt x="55563" y="87573"/>
                  <a:pt x="87573" y="55563"/>
                  <a:pt x="127000" y="55563"/>
                </a:cubicBezTo>
                <a:close/>
                <a:moveTo>
                  <a:pt x="111125" y="127000"/>
                </a:moveTo>
                <a:cubicBezTo>
                  <a:pt x="111125" y="118238"/>
                  <a:pt x="118238" y="111125"/>
                  <a:pt x="127000" y="111125"/>
                </a:cubicBezTo>
                <a:cubicBezTo>
                  <a:pt x="135762" y="111125"/>
                  <a:pt x="142875" y="118238"/>
                  <a:pt x="142875" y="127000"/>
                </a:cubicBezTo>
                <a:cubicBezTo>
                  <a:pt x="142875" y="135762"/>
                  <a:pt x="135762" y="142875"/>
                  <a:pt x="127000" y="142875"/>
                </a:cubicBezTo>
                <a:cubicBezTo>
                  <a:pt x="118238" y="142875"/>
                  <a:pt x="111125" y="135762"/>
                  <a:pt x="111125" y="127000"/>
                </a:cubicBezTo>
                <a:close/>
              </a:path>
            </a:pathLst>
          </a:custGeom>
          <a:solidFill>
            <a:srgbClr val="C7A25A"/>
          </a:solidFill>
          <a:ln/>
        </p:spPr>
      </p:sp>
      <p:sp>
        <p:nvSpPr>
          <p:cNvPr id="20" name="Text 17"/>
          <p:cNvSpPr/>
          <p:nvPr/>
        </p:nvSpPr>
        <p:spPr>
          <a:xfrm>
            <a:off x="11252200" y="59055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Trigger Points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896600" y="6248400"/>
            <a:ext cx="4381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 cups directly over palpated trigger points for maximal therapeutic effect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62000" y="7213600"/>
            <a:ext cx="14732000" cy="7874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3" name="Text 20"/>
          <p:cNvSpPr/>
          <p:nvPr/>
        </p:nvSpPr>
        <p:spPr>
          <a:xfrm>
            <a:off x="1016000" y="7315200"/>
            <a:ext cx="1422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Sunnah points (Al-Kahil, Al-Katifain) align with major muscle groups. The Prophet's guidance and modern anatomy converge — both point to where treatment is most effective.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M5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Anatomy for Practitioners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5: Summary and Key Takeaways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145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171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97000" y="16891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Skin Has Three Layers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97000" y="20701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Incision depth targets the papillary dermis (0.5–1mm). Skin thickness varies by body site — adjust accordingly.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82000" y="17145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0" y="171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017000" y="16891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Avoid All Arteries and Deep Veins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17000" y="20701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Cup only where superficial capillary networks exist. Palpate for pulses before every placement. Screen BP and anticoagulant use.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2000" y="30480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3048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97000" y="3022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Cup Over Lymph Node Groups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97000" y="34036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 your green, amber, and red zones. Cervical, axillary, and inguinal nodes are absolute contraindications.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82000" y="30480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21" name="Text 19"/>
          <p:cNvSpPr/>
          <p:nvPr/>
        </p:nvSpPr>
        <p:spPr>
          <a:xfrm>
            <a:off x="8382000" y="3048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17000" y="3022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Fascial Decompression Relieves Pain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17000" y="34036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pressure creates fascial separation, restores glide, and decompresses trigger points. The primary mechanism for MSK pain.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62000" y="43815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438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97000" y="43561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Screen for Contraindications Every Time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97000" y="47371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Skin conditions, cardiovascular risk, anticoagulants, lymphatic issues — the 7-Step Assessment protects you and your patient.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2000" y="5715000"/>
            <a:ext cx="14732000" cy="12700"/>
          </a:xfrm>
          <a:prstGeom prst="rect">
            <a:avLst/>
          </a:prstGeom>
          <a:solidFill>
            <a:srgbClr val="E0DCD6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5969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COMING NEXT — MODULE 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2000" y="6350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Equipment, Instruments &amp; Supplies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62000" y="685800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Cup types, pump systems, sterile lancets, clinic setup, sterilisation, and the SAFE Protocol equipment checklist.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398000" y="5969000"/>
            <a:ext cx="6096000" cy="1778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52000" y="6070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52000" y="6375400"/>
            <a:ext cx="558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patient has thin, fragile skin and is on warfarin. What modifications do you make to your treatment plan?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Discuss in your Reflect–Learn–Apply journal.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2540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2667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i="1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"And indeed, We have honoured the children of Adam."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953000" y="381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Qur'an 17:70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413000" y="4826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Reflection: How does understanding the intricate anatomy of the human body deepen your reverence for Allah's creation and your commitment to safe practice?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6223000"/>
            <a:ext cx="2540000" cy="12700"/>
          </a:xfrm>
          <a:prstGeom prst="rect">
            <a:avLst/>
          </a:prstGeom>
          <a:solidFill>
            <a:srgbClr val="C7A25A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660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3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5 COMPLETE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18000" y="7874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SRA-001 | Module 5: Human Anatomy for Practitioners</dc:title>
  <dc:subject>SRA-001 | Module 5: Human Anatomy for Practitioners</dc:subject>
  <dc:creator>Kimi</dc:creator>
  <cp:lastModifiedBy>Kimi</cp:lastModifiedBy>
  <cp:revision>1</cp:revision>
  <dcterms:created xsi:type="dcterms:W3CDTF">2026-07-06T09:16:25Z</dcterms:created>
  <dcterms:modified xsi:type="dcterms:W3CDTF">2026-07-06T09:16:25Z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{"Label":"SRA-001 | Module 5: Human Anatomy for Practitioners","ContentProducer":"001191110108MACG2KBH8F10000","ProduceID":"19f34ce5-8e82-8d20-8000-000098f1233b","ReservedCode1":"","ContentPropagator":"001191110108MACG2KBH8F20000","PropagateID":"19f34489-a1f2-82b2-8000-09219025796f","ReservedCode2":""}</vt:lpwstr>
  </property>
</Properties>
</file>