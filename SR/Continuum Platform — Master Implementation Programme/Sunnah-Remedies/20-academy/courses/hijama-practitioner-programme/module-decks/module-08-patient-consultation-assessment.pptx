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683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Patient Consultation &amp; Assessment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Taking, Contraindications, Consent, and Treatment Planning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Consultation Process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taking, contraindications, red flags, and informed consent for safe Hijama practice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history • Contraindications • Red flags • Informed consent • Documentation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Physical Assessment &amp; Treatment Planning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assessment, point selection, treatment planning, and session documentation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 • Palpation • Sunnah points • Treatment mapping • SOAP notes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builds the clinical relationship between practitioner and patient.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Take a comprehensive patient history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Identify contraindications and red flags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Obtain valid informed consent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Select appropriate Hijama points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treatments using SOAP notes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strong believer is better and more beloved to Allah than the weak believer, while there is good in both." — Sahih Muslim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Consultation Process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History, Contraindications, and Informed Consent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Patient History: Foundation of Safe Practice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ESSENTIAL AREAS OF INQUIRY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Presenting Complaint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they seek Hijama. Pain location, duration, severity, aggravating factors.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0000" y="20955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History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Chronic conditions, surgeries, hospitalisations, blood-borne infections.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303000" y="20955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Medications &amp; Allergies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meds (especially anticoagulants), supplements, known allergies.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3238500"/>
            <a:ext cx="4699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33020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Lifestyle Factors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Diet, exercise, sleep, stress, occupation, menstrual history (female patients).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3238500"/>
            <a:ext cx="4699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0000" y="33020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 Hijama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experience, response, adverse reactions, practitioner details.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668000" y="3238500"/>
            <a:ext cx="4826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03000" y="33020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&amp; Family History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conditions (diabetes, heart disease), smoking, alcohol, support system.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2000" y="45720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4635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Tip: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open-ended questions: "What brings you to Hijama today?" not "You have back pain, right?" Listen more than you speak. The history reveals what the patient may not know to tell you.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000" y="5524500"/>
            <a:ext cx="7112000" cy="1524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6261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2500" y="59436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Record all findings in patient file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patient own words for complaint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Note any discrepancies or concerns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Date and sign all entries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55000" y="5524500"/>
            <a:ext cx="7239000" cy="1397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9000" y="56515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Confidentiality: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patient information is protected. Store records securely. Never discuss patients outside the clinic. Digital records must be encrypted. This is both a legal and Islamic ethical obligation — maintaining the trust (amanah) placed in you.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Contraindications: When NOT to Treat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ABSOLUTE CONTRAINDICATIONS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68500"/>
            <a:ext cx="7112000" cy="2540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0701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treat — refer to medical practitioner: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Pregnancy (especially first trimester, lumbar area)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Haemophilia or other bleeding disorders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Active cancer or chemotherapy treatment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Severe anaemia (Hb &lt; 8 g/dL)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Active skin infection at treatment site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Severe cardiovascular instability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refusal or inability to consent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5000" y="158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 CONTRAINDICATIONS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55000" y="1968500"/>
            <a:ext cx="7239000" cy="2540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500" y="2070100"/>
            <a:ext cx="685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Proceed with caution — modify treatment: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Diabetes (monitor for delayed healing)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Mild anaemia (reduce cup count, monitor)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Elderly/frail patients (gentle suction, fewer cups)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Anticoagulant medication (consult GP first)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Recent surgery near treatment area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Menstruation (avoid abdominal points)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Children under 7 (specialist referral)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4762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FLAGS — REFER IMMEDIATELY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5143500"/>
            <a:ext cx="14732000" cy="1168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207000"/>
            <a:ext cx="143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Chest pain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Cardiac referral |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loss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Medical investigation |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Neurological symptoms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Neurology referral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Severe headache with fever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Emergency |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Uncontrolled bleeding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Emergency |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Suicidal ideation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Crisis team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in doubt, refer out. Your scope is Hijama — not diagnosis.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000" y="6413500"/>
            <a:ext cx="14732000" cy="63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47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contraindication is not a rejection of the patient — it is a professional boundary that protects them. Always explain why, offer alternatives, and document your decision.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Informed Consent: The Four Pillars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CONSENT REQUIRES ALL FOUR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3492500" cy="165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22400" y="2133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2500" y="25400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 the procedure, what to expect, potential risks (bruising, scarring, infection), and benefits. Use plain language. Check understanding.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8500" y="2032000"/>
            <a:ext cx="3492500" cy="1651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4635500" y="20955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8900" y="2133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9000" y="25400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must understand the information, retain it, weigh it, and communicate a decision. Assess for impairment.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55000" y="2032000"/>
            <a:ext cx="3492500" cy="165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20955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15400" y="2133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Voluntariness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45500" y="25400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must be free from coercion, pressure, or undue influence. Patient may withdraw consent at any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001500" y="2032000"/>
            <a:ext cx="3492500" cy="1651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28500" y="2095500"/>
            <a:ext cx="4572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661900" y="2133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192000" y="25400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consent in writing. Signed consent form with date. Store securely. Include what was discussed and agreed.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2000" y="3937000"/>
            <a:ext cx="7112000" cy="1968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4038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CONSIDERATIONS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2500" y="4356100"/>
            <a:ext cx="673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Minors: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Consent from parent/guardian required. Assent from child if mature enough.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Vulnerable adults: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Assess capacity carefully. May need advocate or deputy.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barriers: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professional interpreter. Never use family members.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situations: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Implied consent if patient unable to consent and delay would cause harm.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55000" y="3937000"/>
            <a:ext cx="7239000" cy="196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9000" y="4038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IS ONGOING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9000" y="43815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is not a one-time signature — it is a continuous process. Check in with the patient throughout: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"Are you comfortable?"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"Do you want to continue?"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"Let me know if you need a break."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11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Respectful communication is itself a form of care.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Physical Assessment &amp; Treatment Planning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Observation, Palpation, Point Selection, and Documentation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Physical Assessment: Look, Touch, Ask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PILLARS OF PHYSICAL ASSESSMENT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266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" y="21336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159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Observation (Look)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2540000"/>
            <a:ext cx="431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Posture and gait as patient enters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Skin colour, texture, lesions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Muscle tone and symmetry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Scars, moles, tattoos at site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Signs of inflammation (redness, heat, swelling)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General appearance (pallor, fatigue)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Breathing pattern and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032000"/>
            <a:ext cx="4699000" cy="2667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5880100" y="21336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50000" y="2159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Palpation (Touch)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05500" y="2540000"/>
            <a:ext cx="431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Skin temperature at treatment area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Muscle tension and trigger points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Tenderness and pain referral patterns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Tissue texture (granular, ropey, smooth)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Range of motion assessment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Always ask permission before touching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Explain what you are doing and why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68000" y="2032000"/>
            <a:ext cx="4826000" cy="266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833100" y="21336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303000" y="21590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Questioning (Ask)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58500" y="2540000"/>
            <a:ext cx="444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"Show me exactly where it hurts"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"When did this start?"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"What makes it better or worse?"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"Have you had this before?"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"Rate your pain 0–10"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"How does this affect your daily life?"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Listen actively — body language matters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2000" y="49530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016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Tip: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palpate with clean, warm hands. Cold hands startle the patient and tense the muscles. Ask before you touch, explain what you feel, and never palpate through clothing.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5905500"/>
            <a:ext cx="7112000" cy="1143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9944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YOUR 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2500" y="62992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are a Hijama practitioner, not a physician. Assess for treatment suitability, not medical diagnosis. If you suspect underlying pathology, refer to a medical doctor.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55000" y="5905500"/>
            <a:ext cx="7239000" cy="1143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6032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Documentation: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 all assessment findings. Note what you observed, palpated, and what the patient reported. This forms the baseline for measuring treatment outcomes.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Point Selection: Sunnah and Clinical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SYSTEMS OF POINT SELECTION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292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Sunnah Points (Al-Hijamah)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2514600"/>
            <a:ext cx="4318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Al-Kahil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Between the shoulder blades (GV14 area). The most emphasised point in hadith. Used for general detox and immunity.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Al-Akhda'ain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Both sides of the neck, posterior to the sternocleidomastoid. For headaches, hypertension, and detox.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 points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Crown and temporal areas for migraines and neurological conditions.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2921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Meridian-Based Points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05500" y="2514600"/>
            <a:ext cx="4318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traditional Chinese medicine meridian theory. Points selected along channels corresponding to the affected organ or system.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Bladder channel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Back points for musculoskeletal and organ support.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Gallbladder channel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Lateral body for migraines and tension.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 meridian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Midline back for spinal and neurological conditions.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292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Symptomatic (Ahlocal) Points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58500" y="2514600"/>
            <a:ext cx="4445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selected directly at or near the site of pain or dysfunction. Also called Ashi points.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points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Directly over the painful area for musculoskeletal conditions.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Distal points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Away from the site but along the same channel.</a:t>
            </a:r>
            <a:endParaRPr lang="en-US" sz="11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with sunnah points for comprehensive treatment.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14732000" cy="1651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5308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POINT COMBINATIONS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5651500"/>
          <a:ext cx="14351000" cy="1079500"/>
        </p:xfrm>
        <a:graphic>
          <a:graphicData uri="http://schemas.openxmlformats.org/drawingml/2006/table">
            <a:tbl>
              <a:tblPr/>
              <a:tblGrid>
                <a:gridCol w="3139"/>
                <a:gridCol w="4394"/>
                <a:gridCol w="4394"/>
                <a:gridCol w="5807"/>
              </a:tblGrid>
              <a:tr h="3022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Condition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Primary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Secondary Points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Rationale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3022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General detox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Al-Kahil (GV14)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Al-Akhda'ain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Immune stimulation, blood purification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022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Lower back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BL23–BL26, local Ashi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Al-Kahil, BL40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Kidney/back support, distal relief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2000" y="70485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19"/>
          <p:cNvSpPr/>
          <p:nvPr/>
        </p:nvSpPr>
        <p:spPr>
          <a:xfrm>
            <a:off x="1016000" y="7112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begin with Al-Kahil for first-time patients — it is the most authenticated sunnah point and provides systemic benefit. Add symptomatic points based on your assessment findings.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Treatment Planning and Documentation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PLANNING FRAMEWORK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7112000" cy="2540000"/>
        </p:xfrm>
        <a:graphic>
          <a:graphicData uri="http://schemas.openxmlformats.org/drawingml/2006/table">
            <a:tbl>
              <a:tblPr/>
              <a:tblGrid>
                <a:gridCol w="1244"/>
                <a:gridCol w="3111"/>
              </a:tblGrid>
              <a:tr h="8128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SRA Guidance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11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Frequency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 for maintenance. Weekly for acute conditions. Minimum 4 weeks between full sessions.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1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 count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Beginners: 5–7 cups. Experienced: up to 12. Never exceed patient tolerance.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11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5–10 minutes per cup. Monitor skin colour. Remove if dark purple or patient reports pain.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11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Follow-up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Schedule next session. Provide aftercare instructions. 48-hour check-in call.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55000" y="2032000"/>
            <a:ext cx="7239000" cy="254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8"/>
          <p:cNvSpPr/>
          <p:nvPr/>
        </p:nvSpPr>
        <p:spPr>
          <a:xfrm>
            <a:off x="8509000" y="2133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SOAP NOTES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9000" y="24384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3" name="Text 10"/>
          <p:cNvSpPr/>
          <p:nvPr/>
        </p:nvSpPr>
        <p:spPr>
          <a:xfrm>
            <a:off x="8509000" y="26035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— Subjective: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Patient reported complaints in their own words.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 — Objective: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Your observations, palpation findings, assessment results.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— Assessment: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Your clinical reasoning — treatment suitability, point selection.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— Plan: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Points used, cups applied, duration, aftercare, follow-up.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notes immediately after session. Never rely on memory.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2000" y="488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AFTERCARE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2000" y="5308600"/>
            <a:ext cx="3492500" cy="120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397500"/>
            <a:ext cx="317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24 hours: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shower on cup sites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strenuous exercise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swimming or sauna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08500" y="5308600"/>
            <a:ext cx="3492500" cy="120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8" name="Text 15"/>
          <p:cNvSpPr/>
          <p:nvPr/>
        </p:nvSpPr>
        <p:spPr>
          <a:xfrm>
            <a:off x="4660900" y="5397500"/>
            <a:ext cx="317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Hydration &amp; diet: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Drink plenty of water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cold drinks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Eat nourishing foods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55000" y="5308600"/>
            <a:ext cx="3492500" cy="120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0" name="Text 17"/>
          <p:cNvSpPr/>
          <p:nvPr/>
        </p:nvSpPr>
        <p:spPr>
          <a:xfrm>
            <a:off x="8407400" y="5397500"/>
            <a:ext cx="317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Skin care: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Marks are normal (7–14 days)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olive oil if dry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Report infection signs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2001500" y="5308600"/>
            <a:ext cx="3492500" cy="120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2" name="Text 19"/>
          <p:cNvSpPr/>
          <p:nvPr/>
        </p:nvSpPr>
        <p:spPr>
          <a:xfrm>
            <a:off x="12153900" y="5397500"/>
            <a:ext cx="317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to call: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Excessive bleeding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Signs of infection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Fever or dizziness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2000" y="67310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4" name="Text 21"/>
          <p:cNvSpPr/>
          <p:nvPr/>
        </p:nvSpPr>
        <p:spPr>
          <a:xfrm>
            <a:off x="1016000" y="6794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 every patient a written aftercare sheet. Verbal instructions are easily forgotten. Written instructions protect the patient and demonstrate your professionalism.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M8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Consultation &amp;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8: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history is your foundation.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thorough consultation covering six areas of inquiry prevents harm and guides effective treatment selection.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your contraindications.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Absolute contraindications mean no treatment. Relative contraindications mean modified treatment. When in doubt, refer out.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is continuous.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Information, capacity, voluntariness, documentation — all four pillars, every patient, every session. Consent can be withdrawn at any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 before you treat.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Look, touch, ask. Document everything. Your assessment forms the baseline for measuring outcomes.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meticulously.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SOAP notes, consent forms, aftercare instructions — these protect you, the patient, and the profession.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Techniques: Dry Cupping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9,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Principles of suction and negative pressure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Dry cupping techniques and applications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Cup placement and timing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Moving cupping (sliding technique)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Flash cupping for stimulation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consultation skills from this module become the practical foundation for every treatment session you perform.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"The strong believer is better and more beloved to Allah than the weak believer, while there is good in both."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Sahih Muslim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4826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07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consultation is where healing begins. Listen deeply, assess thoroughly, obtain consent respectfully, and plan carefully. Your patients entrust you with their health — honour that trust with excellence in every interaction.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8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Patient Consultation &amp; Assessment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8: Patient Consultation &amp; Assessment</dc:title>
  <dc:subject>SRA-001 | Module 8: Patient Consultation &amp; Assessment</dc:subject>
  <dc:creator>Kimi</dc:creator>
  <cp:lastModifiedBy>Kimi</cp:lastModifiedBy>
  <cp:revision>1</cp:revision>
  <dcterms:created xsi:type="dcterms:W3CDTF">2026-07-06T09:17:20Z</dcterms:created>
  <dcterms:modified xsi:type="dcterms:W3CDTF">2026-07-06T09:17:20Z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8: Patient Consultation &amp; Assessment","ContentProducer":"001191110108MACG2KBH8F10000","ProduceID":"19f350c0-e622-87ae-8000-00003459254e","ReservedCode1":"","ContentPropagator":"001191110108MACG2KBH8F20000","PropagateID":"19f34489-a1f2-82b2-8000-09219025796f","ReservedCode2":""}</vt:lpwstr>
  </property>
</Properties>
</file>