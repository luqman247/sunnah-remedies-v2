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Quattrocento Sans" charset="-122" pitchFamily="34"/>
      <p:regular r:id="rId19"/>
    </p:embeddedFont>
    <p:embeddedFont>
      <p:font typeface="Oranienbaum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8000" y="279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SRA-001  |  MODULE 13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858000" y="3365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Text 2"/>
          <p:cNvSpPr/>
          <p:nvPr/>
        </p:nvSpPr>
        <p:spPr>
          <a:xfrm>
            <a:off x="2413000" y="3683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Business of Hijama: Clinic Setup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048000" y="4826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Framework, Clinic Design, Operations, and Marketing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5524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0"/>
            <a:ext cx="508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5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159000" y="2184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Legal and Regulatory Framework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59000" y="26416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Registration, insurance, clinic space design, equipment, and supplies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59000" y="3429000"/>
            <a:ext cx="635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registration • Insurance • Clinic design • Equipment • Suppliers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431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159000" y="4343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Operations and Marketing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59000" y="48006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Pricing, marketing ethics, patient acquisition, and quality systems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59000" y="5588000"/>
            <a:ext cx="635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Pricing • Marketing • Scheduling • Records • Quality assurance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0" y="2032000"/>
            <a:ext cx="63500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9461500" y="228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FOCUS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61500" y="26416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6" name="Text 14"/>
          <p:cNvSpPr/>
          <p:nvPr/>
        </p:nvSpPr>
        <p:spPr>
          <a:xfrm>
            <a:off x="9461500" y="2857500"/>
            <a:ext cx="5715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module prepares you for professional practice.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the end of this module, you will: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Meet legal requirements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Design clinic space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Set competitive pricing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Market ethically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Run efficient operations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3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lawful earnings of a worker are among the best of deeds." — Sunan Ibn Majah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Legal and Regulatory Framework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a Compliant and Professional Practice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M13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of Hijama: Clinic Setup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Legal Requirements and Professional Protection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CHECKLIST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2476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Business Registration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63800"/>
            <a:ext cx="431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ABN/ACN registration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Business name registration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Local council approval (home business or commercial)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Zoning compliance check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GST registration if turnover &gt; $75k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Tax file number for business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Workers compensation (if employing staff)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Consult accountant for structure (sole trader vs company)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2476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Insurance Essentials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05500" y="2463800"/>
            <a:ext cx="431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45000"/>
              </a:lnSpc>
            </a:pPr>
            <a:r>
              <a:rPr lang="en-US" sz="1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indemnity:</a:t>
            </a:r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Covers treatment errors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45000"/>
              </a:lnSpc>
            </a:pPr>
            <a:r>
              <a:rPr lang="en-US" sz="1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liability:</a:t>
            </a:r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Covers patient injury on premises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45000"/>
              </a:lnSpc>
            </a:pPr>
            <a:r>
              <a:rPr lang="en-US" sz="1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liability:</a:t>
            </a:r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Covers equipment defects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45000"/>
              </a:lnSpc>
            </a:pPr>
            <a:r>
              <a:rPr lang="en-US" sz="1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Building/Contents:</a:t>
            </a:r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Protects clinic assets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Minimum $5M coverage recommended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Ensure Hijama is specifically covered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Review annually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Keep certificates displayed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2476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21336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Scope and Referrals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58500" y="2463800"/>
            <a:ext cx="444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Know your scope: Hijama practitioner, not physician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Build referral network with GPs and specialists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Maintain referral pad or contact list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 all referrals made and received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Join professional associations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Stay updated on regulations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SRA certification displayed prominently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Continuing education requirements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2000" y="4762500"/>
            <a:ext cx="14732000" cy="698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8514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Warning: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Practising without professional indemnity insurance is reckless and may be illegal. One adverse event without insurance can destroy your finances and career. Insurance is not optional — it is professional duty.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M13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of Hijama: Clinic Setup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Clinic Space Design and Zoning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THREE-ZONE 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190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Clean Zone (Reception)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638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Patient waiting area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Reception desk and records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Hand sanitiser station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Educational materials display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Comfortable seating, calm decor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clinical equipment stored here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1905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Treatment Zone (Neutral)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05500" y="24638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Treatment couch and equipment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Cupping supplies within reach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Good lighting (natural + task)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Privacy screens or curtains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Patient gown and towels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Emergency contact posted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1905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21336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Dirty Zone (Decontamination)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58500" y="2463800"/>
            <a:ext cx="444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Hand wash sink (separate from clinic)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Sharps container and clinical waste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Soiled linen hamper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Cleaning supplies storage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Separate from patient areas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Clear signage and access control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2000" y="4191000"/>
            <a:ext cx="14732000" cy="1524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42672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REQUIREMENTS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2500" y="4572000"/>
            <a:ext cx="1435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Minimum 15 sqm treatment room • Ventilation: natural or mechanical exhaust • Bright lighting for precise work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Non-slip, easy-clean flooring • Bathroom access for patients • Parking or public transport nearby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M13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of Hijama: Clinic Setup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Equipment and Supply Management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STARTUP INVENTORY CHECKLIST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2667000"/>
        </p:xfrm>
        <a:graphic>
          <a:graphicData uri="http://schemas.openxmlformats.org/drawingml/2006/table">
            <a:tbl>
              <a:tblPr/>
              <a:tblGrid>
                <a:gridCol w="3222"/>
                <a:gridCol w="5800"/>
                <a:gridCol w="3222"/>
                <a:gridCol w="3222"/>
                <a:gridCol w="3222"/>
              </a:tblGrid>
              <a:tr h="74676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Category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Items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Est. Cost (AUD)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Supplier Type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Reorder Level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134.1666666666666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Cups &amp; pumps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Assorted cups, manual pump, silicone cups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$200–400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Medical supplier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When 20% remain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134.1666666666666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Consumables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Blades, gauze, gloves, dressings, antiseptic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$150–300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Medical wholesaler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Monthly check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134.1666666666666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Safety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Sharps bins, clinical waste bags, first aid kit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$100–200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Waste contractor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When 1 bin left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134.1666666666666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Clinic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Couch, towels, gowns, cleaning supplies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$500–1000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Various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As needed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2000" y="4889500"/>
            <a:ext cx="14732000" cy="1270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497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SUPPLY MANAGEMENT TIPS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52500" y="5283200"/>
            <a:ext cx="1435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Maintain stock register with usage tracking and reorder points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Build relationships with 2–3 suppliers • Buy consumables in bulk to reduce cost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Check expiry dates monthly — rotate stock (FIFO)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Budget $200–400/month for consumables at full capacity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Operations and Marketing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Pricing, Patient Acquisition, and Quality Systems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M13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of Hijama: Clinic Setup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Pricing Strategies and Service Packages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PRICING FRAMEWORK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2032000"/>
        </p:xfrm>
        <a:graphic>
          <a:graphicData uri="http://schemas.openxmlformats.org/drawingml/2006/table">
            <a:tbl>
              <a:tblPr/>
              <a:tblGrid>
                <a:gridCol w="3222"/>
                <a:gridCol w="4833"/>
                <a:gridCol w="3222"/>
                <a:gridCol w="3706"/>
                <a:gridCol w="3706"/>
              </a:tblGrid>
              <a:tr h="56896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Service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Duration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Price Range (AUD)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894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Dry cupping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Assessment + dry cupping session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45 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$60–90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Entry-level service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894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Wet cupping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Full consultation + wet cupping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60 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$80–120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Core service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894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Extended wet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Multiple points, complex case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90 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$120–160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Premium service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4254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PACKAGE IDEAS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2000" y="4673600"/>
            <a:ext cx="3492500" cy="1270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762500"/>
            <a:ext cx="3175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Patient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consult + first session at 15% off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Includes health assessment and aftercare kit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08500" y="4673600"/>
            <a:ext cx="3492500" cy="1270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4" name="Text 11"/>
          <p:cNvSpPr/>
          <p:nvPr/>
        </p:nvSpPr>
        <p:spPr>
          <a:xfrm>
            <a:off x="4660900" y="4762500"/>
            <a:ext cx="3175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Loyalty (6 sessions)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Pre-paid package with 10% discount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 12 months, transferable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55000" y="4673600"/>
            <a:ext cx="3492500" cy="1270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3"/>
          <p:cNvSpPr/>
          <p:nvPr/>
        </p:nvSpPr>
        <p:spPr>
          <a:xfrm>
            <a:off x="8407400" y="4762500"/>
            <a:ext cx="3175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Family Package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family members, 4 sessions each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 discount on total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2001500" y="4673600"/>
            <a:ext cx="3492500" cy="1270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8" name="Text 15"/>
          <p:cNvSpPr/>
          <p:nvPr/>
        </p:nvSpPr>
        <p:spPr>
          <a:xfrm>
            <a:off x="12153900" y="4762500"/>
            <a:ext cx="3175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 Detox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sessions per year at change of seasons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 discount, reminder service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M13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of Hijama: Clinic Setup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Marketing and Patient Acquisition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MARKETING PRINCIPLES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06600"/>
            <a:ext cx="14732000" cy="101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082800"/>
            <a:ext cx="1435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Never promise cures — share evidence and testimonials only with consent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 not criticise conventional medicine — position Hijama as complementary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Respect patient privacy — never share photos or details without written consent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 truthful about qualifications — display SRA certification prominently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2000" y="3175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 CHANNELS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2000" y="3581400"/>
            <a:ext cx="3492500" cy="15494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576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Word of Mouth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975100"/>
            <a:ext cx="3175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Most powerful channel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Deliver exceptional results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Ask satisfied patients to refer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Offer referral incentive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Follow up with gratitude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08500" y="3581400"/>
            <a:ext cx="3492500" cy="15494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660900" y="36576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Social Media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0900" y="3975100"/>
            <a:ext cx="3175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Educational posts on benefits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Share hadith on Hijama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Before/after (with consent)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Live Q&amp;A sessions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Respond to all enquiries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55000" y="3581400"/>
            <a:ext cx="3492500" cy="15494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8407400" y="36576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07400" y="3975100"/>
            <a:ext cx="3175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Partner with local mosques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Offer free health talks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Attend community events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Sponsor Islamic programs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Build trust over time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001500" y="3581400"/>
            <a:ext cx="3492500" cy="15494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12153900" y="36576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153900" y="3975100"/>
            <a:ext cx="3175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Join GP referral networks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List on health directories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Collaborate with therapists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Attend health expos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Publish case studies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2000" y="5308600"/>
            <a:ext cx="14732000" cy="1117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538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 STRATEGIES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2500" y="5689600"/>
            <a:ext cx="1435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Send follow-up SMS 48 hours after treatment  •  Schedule next appointment before patient leaves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Birthday greetings and seasonal reminders  •  Request feedback and act on it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Create VIP program for regular patients  •  Newsletter with health tips monthly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M13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of Hijama: Clinic Setup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Operations and Quality Assurance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OPERATIONS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06600"/>
            <a:ext cx="7112000" cy="1587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0828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Booking and Scheduling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13000"/>
            <a:ext cx="6731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online booking system (Cliniko, Halaxy, or similar)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Allow 30 min between appointments for cleaning/setup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Send automated SMS reminders 24 hours prior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Maintain waitlist for cancellations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Block time for admin, stock check, and cleaning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28000" y="2006600"/>
            <a:ext cx="7366000" cy="1587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318500" y="2082800"/>
            <a:ext cx="698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Patient Records Management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18500" y="2413000"/>
            <a:ext cx="6985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Secure digital records with encryption and backup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Consent forms signed and stored per privacy law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Treatment notes: date, points, response, advice given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Retain records minimum 7 years (adults), until 25 (children)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Never discuss patient details with unauthorised persons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2000" y="3683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ASSURANCE SYSTEM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089400"/>
          <a:ext cx="14732000" cy="1968500"/>
        </p:xfrm>
        <a:graphic>
          <a:graphicData uri="http://schemas.openxmlformats.org/drawingml/2006/table">
            <a:tbl>
              <a:tblPr/>
              <a:tblGrid>
                <a:gridCol w="3544"/>
                <a:gridCol w="5478"/>
                <a:gridCol w="4833"/>
                <a:gridCol w="4833"/>
              </a:tblGrid>
              <a:tr h="5511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Area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Standard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Frequency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Responsible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82677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Infection control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All instruments sterilised, single-use where required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Every treatment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Practitioner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82677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Equipment check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Pumps, cups, couch — inspect and clean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Daily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Practitioner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82677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Patient feedback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Survey after every 3rd visit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Ongoing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Admin/reception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62000" y="6286500"/>
            <a:ext cx="14732000" cy="698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8" name="Text 15"/>
          <p:cNvSpPr/>
          <p:nvPr/>
        </p:nvSpPr>
        <p:spPr>
          <a:xfrm>
            <a:off x="952500" y="6350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IMPROVEMENT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2500" y="6629400"/>
            <a:ext cx="143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Monthly review of patient outcomes and feedback  •  Attend 2+ professional development events per year  •  Stay current with research  •  Mentor junior practitioners  •  Seek peer supervision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M13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of Hijama: Clinic Setup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13: Key Takeaways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ESSENTIAL LESSONS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97000" y="2095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compliance is non-negotiable.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Register your business, secure professional indemnity insurance, and know your scope of practice. One oversight can end your career.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2000" y="30226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" y="3086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97000" y="3086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 design protects patients.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Clean/dirty zone separation, proper ventilation, and adequate space are not luxuries — they are infection control essentials.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2000" y="40132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" y="40767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97000" y="40767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for value, not competition.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Your training, expertise, and safety standards justify premium pricing. Packages and loyalty programs build sustainable income.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2000" y="50038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" y="50673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97000" y="50673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ethically, serve sincerely.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Word of mouth from excellent care outperforms any advertisement. Never compromise truth or patient privacy for marketing.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59944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" y="60579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97000" y="60579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Systems create excellence.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Booking, records, quality checks, and continuous improvement transform a good practitioner into a trusted professional practice.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55000" y="2032000"/>
            <a:ext cx="7239000" cy="482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8572500" y="2222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LOOKING AHEAD: MODULE 14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72500" y="2540000"/>
            <a:ext cx="635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7" name="Text 25"/>
          <p:cNvSpPr/>
          <p:nvPr/>
        </p:nvSpPr>
        <p:spPr>
          <a:xfrm>
            <a:off x="8572500" y="2730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Advanced Hijama Therapeutics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572500" y="3302000"/>
            <a:ext cx="6604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Module 14, you will learn: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Advanced point selection strategies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Integrative approaches with other therapies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Complex case management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Treatment sequencing and layering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Outcome measurement and documentation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on your clinical foundation, Module 14 elevates your practice to advanced therapeutic applications with greater precision and confidence.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400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" name="Text 1"/>
          <p:cNvSpPr/>
          <p:nvPr/>
        </p:nvSpPr>
        <p:spPr>
          <a:xfrm>
            <a:off x="2413000" y="2794000"/>
            <a:ext cx="1143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"The best of people are those who are most beneficial to people."</a:t>
            </a:r>
            <a:endParaRPr lang="en-US" sz="2200" dirty="0"/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Al-Mu'jam al-Awsat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5016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52705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Hijama practice is more than a business — it is a service to the Ummah. When you combine clinical excellence with ethical business practices, you create a legacy of healing that benefits generations. Build with integrity, serve with compassion, and trust in Allah's provision.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18000" y="685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13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8000" y="7366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Business of Hijama: Clinic Setup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SRA-001 | Module 13: Business of Hijama: Clinic Setup</dc:title>
  <dc:subject>SRA-001 | Module 13: Business of Hijama: Clinic Setup</dc:subject>
  <dc:creator>Kimi</dc:creator>
  <cp:lastModifiedBy>Kimi</cp:lastModifiedBy>
  <cp:revision>1</cp:revision>
  <dcterms:created xsi:type="dcterms:W3CDTF">2026-07-06T09:18:02Z</dcterms:created>
  <dcterms:modified xsi:type="dcterms:W3CDTF">2026-07-06T09:18:02Z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{"Label":"SRA-001 | Module 13: Business of Hijama: Clinic Setup","ContentProducer":"001191110108MACG2KBH8F10000","ProduceID":"19f356b6-be62-8293-8000-0000c281863c","ReservedCode1":"","ContentPropagator":"001191110108MACG2KBH8F20000","PropagateID":"19f34489-a1f2-82b2-8000-09219025796f","ReservedCode2":""}</vt:lpwstr>
  </property>
</Properties>
</file>