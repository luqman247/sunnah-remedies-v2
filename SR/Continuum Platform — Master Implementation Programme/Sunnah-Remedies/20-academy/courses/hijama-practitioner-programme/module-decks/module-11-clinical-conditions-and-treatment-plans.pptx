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6256000" cy="9144000"/>
  <p:notesSz cx="9144000" cy="16256000"/>
  <p:embeddedFontLst>
    <p:embeddedFont>
      <p:font typeface="Quattrocento Sans" charset="-122" pitchFamily="34"/>
      <p:regular r:id="rId19"/>
    </p:embeddedFont>
    <p:embeddedFont>
      <p:font typeface="Oranienbaum"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4318000" y="2794000"/>
            <a:ext cx="7620000" cy="381000"/>
          </a:xfrm>
          <a:prstGeom prst="rect">
            <a:avLst/>
          </a:prstGeom>
          <a:noFill/>
          <a:ln/>
        </p:spPr>
        <p:txBody>
          <a:bodyPr wrap="none" lIns="0" tIns="0" rIns="0" bIns="0" rtlCol="0" anchor="ctr"/>
          <a:lstStyle/>
          <a:p>
            <a:pPr algn="ctr">
              <a:lnSpc>
                <a:spcPct val="120000"/>
              </a:lnSpc>
            </a:pPr>
            <a:r>
              <a:rPr lang="en-US" sz="1400" spc="400" kern="0" dirty="0">
                <a:solidFill>
                  <a:srgbClr val="F6F3EE"/>
                </a:solidFill>
                <a:latin typeface="Quattrocento Sans" pitchFamily="34" charset="0"/>
                <a:ea typeface="Quattrocento Sans" pitchFamily="34" charset="-122"/>
                <a:cs typeface="Quattrocento Sans" pitchFamily="34" charset="-120"/>
              </a:rPr>
              <a:t>SRA-001  |  MODULE 11</a:t>
            </a:r>
            <a:endParaRPr lang="en-US" sz="1400" dirty="0"/>
          </a:p>
        </p:txBody>
      </p:sp>
      <p:sp>
        <p:nvSpPr>
          <p:cNvPr id="3" name="Shape 1"/>
          <p:cNvSpPr/>
          <p:nvPr/>
        </p:nvSpPr>
        <p:spPr>
          <a:xfrm>
            <a:off x="6858000" y="3365500"/>
            <a:ext cx="2540000" cy="12700"/>
          </a:xfrm>
          <a:prstGeom prst="rect">
            <a:avLst/>
          </a:prstGeom>
          <a:solidFill>
            <a:srgbClr val="C7A25A"/>
          </a:solidFill>
          <a:ln/>
        </p:spPr>
      </p:sp>
      <p:sp>
        <p:nvSpPr>
          <p:cNvPr id="4" name="Text 2"/>
          <p:cNvSpPr/>
          <p:nvPr/>
        </p:nvSpPr>
        <p:spPr>
          <a:xfrm>
            <a:off x="1778000" y="3683000"/>
            <a:ext cx="12700000" cy="889000"/>
          </a:xfrm>
          <a:prstGeom prst="rect">
            <a:avLst/>
          </a:prstGeom>
          <a:noFill/>
          <a:ln/>
        </p:spPr>
        <p:txBody>
          <a:bodyPr wrap="none" lIns="0" tIns="0" rIns="0" bIns="0" rtlCol="0" anchor="ctr"/>
          <a:lstStyle/>
          <a:p>
            <a:pPr algn="ctr">
              <a:lnSpc>
                <a:spcPct val="120000"/>
              </a:lnSpc>
            </a:pPr>
            <a:r>
              <a:rPr lang="en-US" sz="4800" dirty="0">
                <a:solidFill>
                  <a:srgbClr val="F6F3EE"/>
                </a:solidFill>
                <a:latin typeface="Oranienbaum" pitchFamily="34" charset="0"/>
                <a:ea typeface="Oranienbaum" pitchFamily="34" charset="-122"/>
                <a:cs typeface="Oranienbaum" pitchFamily="34" charset="-120"/>
              </a:rPr>
              <a:t>Clinical Conditions and Treatment Plans</a:t>
            </a:r>
            <a:endParaRPr lang="en-US" sz="4800" dirty="0"/>
          </a:p>
        </p:txBody>
      </p:sp>
      <p:sp>
        <p:nvSpPr>
          <p:cNvPr id="5" name="Text 3"/>
          <p:cNvSpPr/>
          <p:nvPr/>
        </p:nvSpPr>
        <p:spPr>
          <a:xfrm>
            <a:off x="2413000" y="4826000"/>
            <a:ext cx="11430000" cy="381000"/>
          </a:xfrm>
          <a:prstGeom prst="rect">
            <a:avLst/>
          </a:prstGeom>
          <a:noFill/>
          <a:ln/>
        </p:spPr>
        <p:txBody>
          <a:bodyPr wrap="none" lIns="0" tIns="0" rIns="0" bIns="0" rtlCol="0" anchor="ctr"/>
          <a:lstStyle/>
          <a:p>
            <a:pPr algn="ctr">
              <a:lnSpc>
                <a:spcPct val="120000"/>
              </a:lnSpc>
            </a:pPr>
            <a:r>
              <a:rPr lang="en-US" sz="1800" spc="200" kern="0" dirty="0">
                <a:solidFill>
                  <a:srgbClr val="C7A25A"/>
                </a:solidFill>
                <a:latin typeface="Quattrocento Sans" pitchFamily="34" charset="0"/>
                <a:ea typeface="Quattrocento Sans" pitchFamily="34" charset="-122"/>
                <a:cs typeface="Quattrocento Sans" pitchFamily="34" charset="-120"/>
              </a:rPr>
              <a:t>Applying Hijama to Specific Conditions with Evidence-Based Protocols</a:t>
            </a:r>
            <a:endParaRPr lang="en-US" sz="1800" dirty="0"/>
          </a:p>
        </p:txBody>
      </p:sp>
      <p:sp>
        <p:nvSpPr>
          <p:cNvPr id="6" name="Shape 4"/>
          <p:cNvSpPr/>
          <p:nvPr/>
        </p:nvSpPr>
        <p:spPr>
          <a:xfrm>
            <a:off x="6858000" y="5524500"/>
            <a:ext cx="2540000" cy="12700"/>
          </a:xfrm>
          <a:prstGeom prst="rect">
            <a:avLst/>
          </a:prstGeom>
          <a:solidFill>
            <a:srgbClr val="C7A25A"/>
          </a:solidFill>
          <a:ln/>
        </p:spPr>
      </p:sp>
      <p:sp>
        <p:nvSpPr>
          <p:cNvPr id="7" name="Text 5"/>
          <p:cNvSpPr/>
          <p:nvPr/>
        </p:nvSpPr>
        <p:spPr>
          <a:xfrm>
            <a:off x="4318000" y="8128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762000" y="698500"/>
            <a:ext cx="6350000" cy="571500"/>
          </a:xfrm>
          <a:prstGeom prst="rect">
            <a:avLst/>
          </a:prstGeom>
          <a:noFill/>
          <a:ln/>
        </p:spPr>
        <p:txBody>
          <a:bodyPr wrap="none" lIns="0" tIns="0" rIns="0" bIns="0" rtlCol="0" anchor="ctr"/>
          <a:lstStyle/>
          <a:p>
            <a:pPr algn="l">
              <a:lnSpc>
                <a:spcPct val="120000"/>
              </a:lnSpc>
            </a:pPr>
            <a:r>
              <a:rPr lang="en-US" sz="3200" dirty="0">
                <a:solidFill>
                  <a:srgbClr val="0E3B2E"/>
                </a:solidFill>
                <a:latin typeface="Oranienbaum" pitchFamily="34" charset="0"/>
                <a:ea typeface="Oranienbaum" pitchFamily="34" charset="-122"/>
                <a:cs typeface="Oranienbaum" pitchFamily="34" charset="-120"/>
              </a:rPr>
              <a:t>Module Overview</a:t>
            </a:r>
            <a:endParaRPr lang="en-US" sz="3200" dirty="0"/>
          </a:p>
        </p:txBody>
      </p:sp>
      <p:sp>
        <p:nvSpPr>
          <p:cNvPr id="3" name="Shape 1"/>
          <p:cNvSpPr/>
          <p:nvPr/>
        </p:nvSpPr>
        <p:spPr>
          <a:xfrm>
            <a:off x="762000" y="1333500"/>
            <a:ext cx="1016000" cy="38100"/>
          </a:xfrm>
          <a:prstGeom prst="rect">
            <a:avLst/>
          </a:prstGeom>
          <a:solidFill>
            <a:srgbClr val="C7A25A"/>
          </a:solidFill>
          <a:ln/>
        </p:spPr>
      </p:sp>
      <p:sp>
        <p:nvSpPr>
          <p:cNvPr id="4" name="Shape 2"/>
          <p:cNvSpPr/>
          <p:nvPr/>
        </p:nvSpPr>
        <p:spPr>
          <a:xfrm>
            <a:off x="762000" y="2032000"/>
            <a:ext cx="50800" cy="4318000"/>
          </a:xfrm>
          <a:prstGeom prst="rect">
            <a:avLst/>
          </a:prstGeom>
          <a:solidFill>
            <a:srgbClr val="0E3B2E"/>
          </a:solidFill>
          <a:ln/>
        </p:spPr>
      </p:sp>
      <p:sp>
        <p:nvSpPr>
          <p:cNvPr id="5" name="Text 3"/>
          <p:cNvSpPr/>
          <p:nvPr/>
        </p:nvSpPr>
        <p:spPr>
          <a:xfrm>
            <a:off x="1016000" y="2159000"/>
            <a:ext cx="1016000" cy="635000"/>
          </a:xfrm>
          <a:prstGeom prst="rect">
            <a:avLst/>
          </a:prstGeom>
          <a:noFill/>
          <a:ln/>
        </p:spPr>
        <p:txBody>
          <a:bodyPr wrap="none" lIns="0" tIns="0" rIns="0" bIns="0" rtlCol="0" anchor="t"/>
          <a:lstStyle/>
          <a:p>
            <a:pPr algn="l">
              <a:lnSpc>
                <a:spcPct val="120000"/>
              </a:lnSpc>
            </a:pPr>
            <a:r>
              <a:rPr lang="en-US" sz="4800" dirty="0">
                <a:solidFill>
                  <a:srgbClr val="C7A25A"/>
                </a:solidFill>
                <a:latin typeface="Oranienbaum" pitchFamily="34" charset="0"/>
                <a:ea typeface="Oranienbaum" pitchFamily="34" charset="-122"/>
                <a:cs typeface="Oranienbaum" pitchFamily="34" charset="-120"/>
              </a:rPr>
              <a:t>01</a:t>
            </a:r>
            <a:endParaRPr lang="en-US" sz="4800" dirty="0"/>
          </a:p>
        </p:txBody>
      </p:sp>
      <p:sp>
        <p:nvSpPr>
          <p:cNvPr id="6" name="Text 4"/>
          <p:cNvSpPr/>
          <p:nvPr/>
        </p:nvSpPr>
        <p:spPr>
          <a:xfrm>
            <a:off x="2159000" y="2184400"/>
            <a:ext cx="6350000" cy="381000"/>
          </a:xfrm>
          <a:prstGeom prst="rect">
            <a:avLst/>
          </a:prstGeom>
          <a:noFill/>
          <a:ln/>
        </p:spPr>
        <p:txBody>
          <a:bodyPr wrap="none" lIns="0" tIns="0" rIns="0" bIns="0" rtlCol="0" anchor="ctr"/>
          <a:lstStyle/>
          <a:p>
            <a:pPr algn="l">
              <a:lnSpc>
                <a:spcPct val="120000"/>
              </a:lnSpc>
            </a:pPr>
            <a:r>
              <a:rPr lang="en-US" sz="2200" dirty="0">
                <a:solidFill>
                  <a:srgbClr val="0E3B2E"/>
                </a:solidFill>
                <a:latin typeface="Oranienbaum" pitchFamily="34" charset="0"/>
                <a:ea typeface="Oranienbaum" pitchFamily="34" charset="-122"/>
                <a:cs typeface="Oranienbaum" pitchFamily="34" charset="-120"/>
              </a:rPr>
              <a:t>Musculoskeletal and Neurological Conditions</a:t>
            </a:r>
            <a:endParaRPr lang="en-US" sz="2200" dirty="0"/>
          </a:p>
        </p:txBody>
      </p:sp>
      <p:sp>
        <p:nvSpPr>
          <p:cNvPr id="7" name="Text 5"/>
          <p:cNvSpPr/>
          <p:nvPr/>
        </p:nvSpPr>
        <p:spPr>
          <a:xfrm>
            <a:off x="2159000" y="2641600"/>
            <a:ext cx="6350000" cy="736600"/>
          </a:xfrm>
          <a:prstGeom prst="rect">
            <a:avLst/>
          </a:prstGeom>
          <a:noFill/>
          <a:ln/>
        </p:spPr>
        <p:txBody>
          <a:bodyPr wrap="square" lIns="0" tIns="0" rIns="0" bIns="0" rtlCol="0" anchor="t"/>
          <a:lstStyle/>
          <a:p>
            <a:pPr algn="l">
              <a:lnSpc>
                <a:spcPct val="140000"/>
              </a:lnSpc>
            </a:pPr>
            <a:r>
              <a:rPr lang="en-US" sz="1600" dirty="0">
                <a:solidFill>
                  <a:srgbClr val="6B6B6B"/>
                </a:solidFill>
                <a:latin typeface="Quattrocento Sans" pitchFamily="34" charset="0"/>
                <a:ea typeface="Quattrocento Sans" pitchFamily="34" charset="-122"/>
                <a:cs typeface="Quattrocento Sans" pitchFamily="34" charset="-120"/>
              </a:rPr>
              <a:t>Back pain, neck pain, migraines, sciatica, and sports injury protocols</a:t>
            </a:r>
            <a:endParaRPr lang="en-US" sz="1600" dirty="0"/>
          </a:p>
        </p:txBody>
      </p:sp>
      <p:sp>
        <p:nvSpPr>
          <p:cNvPr id="8" name="Text 6"/>
          <p:cNvSpPr/>
          <p:nvPr/>
        </p:nvSpPr>
        <p:spPr>
          <a:xfrm>
            <a:off x="2159000" y="3429000"/>
            <a:ext cx="6350000" cy="660400"/>
          </a:xfrm>
          <a:prstGeom prst="rect">
            <a:avLst/>
          </a:prstGeom>
          <a:noFill/>
          <a:ln/>
        </p:spPr>
        <p:txBody>
          <a:bodyPr wrap="square" lIns="0" tIns="0" rIns="0" bIns="0" rtlCol="0" anchor="t"/>
          <a:lstStyle/>
          <a:p>
            <a:pPr algn="l">
              <a:lnSpc>
                <a:spcPct val="150000"/>
              </a:lnSpc>
            </a:pPr>
            <a:r>
              <a:rPr lang="en-US" sz="1400" dirty="0">
                <a:solidFill>
                  <a:srgbClr val="6B6B6B"/>
                </a:solidFill>
                <a:latin typeface="Quattrocento Sans" pitchFamily="34" charset="0"/>
                <a:ea typeface="Quattrocento Sans" pitchFamily="34" charset="-122"/>
                <a:cs typeface="Quattrocento Sans" pitchFamily="34" charset="-120"/>
              </a:rPr>
              <a:t>Back pain • Neck pain • Migraines • Sciatica • Sports injuries</a:t>
            </a:r>
            <a:endParaRPr lang="en-US" sz="1400" dirty="0"/>
          </a:p>
        </p:txBody>
      </p:sp>
      <p:sp>
        <p:nvSpPr>
          <p:cNvPr id="9" name="Text 7"/>
          <p:cNvSpPr/>
          <p:nvPr/>
        </p:nvSpPr>
        <p:spPr>
          <a:xfrm>
            <a:off x="1016000" y="4318000"/>
            <a:ext cx="1016000" cy="635000"/>
          </a:xfrm>
          <a:prstGeom prst="rect">
            <a:avLst/>
          </a:prstGeom>
          <a:noFill/>
          <a:ln/>
        </p:spPr>
        <p:txBody>
          <a:bodyPr wrap="none" lIns="0" tIns="0" rIns="0" bIns="0" rtlCol="0" anchor="t"/>
          <a:lstStyle/>
          <a:p>
            <a:pPr algn="l">
              <a:lnSpc>
                <a:spcPct val="120000"/>
              </a:lnSpc>
            </a:pPr>
            <a:r>
              <a:rPr lang="en-US" sz="4800" dirty="0">
                <a:solidFill>
                  <a:srgbClr val="C7A25A"/>
                </a:solidFill>
                <a:latin typeface="Oranienbaum" pitchFamily="34" charset="0"/>
                <a:ea typeface="Oranienbaum" pitchFamily="34" charset="-122"/>
                <a:cs typeface="Oranienbaum" pitchFamily="34" charset="-120"/>
              </a:rPr>
              <a:t>02</a:t>
            </a:r>
            <a:endParaRPr lang="en-US" sz="4800" dirty="0"/>
          </a:p>
        </p:txBody>
      </p:sp>
      <p:sp>
        <p:nvSpPr>
          <p:cNvPr id="10" name="Text 8"/>
          <p:cNvSpPr/>
          <p:nvPr/>
        </p:nvSpPr>
        <p:spPr>
          <a:xfrm>
            <a:off x="2159000" y="4343400"/>
            <a:ext cx="6350000" cy="381000"/>
          </a:xfrm>
          <a:prstGeom prst="rect">
            <a:avLst/>
          </a:prstGeom>
          <a:noFill/>
          <a:ln/>
        </p:spPr>
        <p:txBody>
          <a:bodyPr wrap="none" lIns="0" tIns="0" rIns="0" bIns="0" rtlCol="0" anchor="ctr"/>
          <a:lstStyle/>
          <a:p>
            <a:pPr algn="l">
              <a:lnSpc>
                <a:spcPct val="120000"/>
              </a:lnSpc>
            </a:pPr>
            <a:r>
              <a:rPr lang="en-US" sz="2200" dirty="0">
                <a:solidFill>
                  <a:srgbClr val="0E3B2E"/>
                </a:solidFill>
                <a:latin typeface="Oranienbaum" pitchFamily="34" charset="0"/>
                <a:ea typeface="Oranienbaum" pitchFamily="34" charset="-122"/>
                <a:cs typeface="Oranienbaum" pitchFamily="34" charset="-120"/>
              </a:rPr>
              <a:t>Systemic and Wellness Applications</a:t>
            </a:r>
            <a:endParaRPr lang="en-US" sz="2200" dirty="0"/>
          </a:p>
        </p:txBody>
      </p:sp>
      <p:sp>
        <p:nvSpPr>
          <p:cNvPr id="11" name="Text 9"/>
          <p:cNvSpPr/>
          <p:nvPr/>
        </p:nvSpPr>
        <p:spPr>
          <a:xfrm>
            <a:off x="2159000" y="4800600"/>
            <a:ext cx="6350000" cy="736600"/>
          </a:xfrm>
          <a:prstGeom prst="rect">
            <a:avLst/>
          </a:prstGeom>
          <a:noFill/>
          <a:ln/>
        </p:spPr>
        <p:txBody>
          <a:bodyPr wrap="square" lIns="0" tIns="0" rIns="0" bIns="0" rtlCol="0" anchor="t"/>
          <a:lstStyle/>
          <a:p>
            <a:pPr algn="l">
              <a:lnSpc>
                <a:spcPct val="140000"/>
              </a:lnSpc>
            </a:pPr>
            <a:r>
              <a:rPr lang="en-US" sz="1600" dirty="0">
                <a:solidFill>
                  <a:srgbClr val="6B6B6B"/>
                </a:solidFill>
                <a:latin typeface="Quattrocento Sans" pitchFamily="34" charset="0"/>
                <a:ea typeface="Quattrocento Sans" pitchFamily="34" charset="-122"/>
                <a:cs typeface="Quattrocento Sans" pitchFamily="34" charset="-120"/>
              </a:rPr>
              <a:t>Digestive, respiratory, detox, immunity, and stress management protocols</a:t>
            </a:r>
            <a:endParaRPr lang="en-US" sz="1600" dirty="0"/>
          </a:p>
        </p:txBody>
      </p:sp>
      <p:sp>
        <p:nvSpPr>
          <p:cNvPr id="12" name="Text 10"/>
          <p:cNvSpPr/>
          <p:nvPr/>
        </p:nvSpPr>
        <p:spPr>
          <a:xfrm>
            <a:off x="2159000" y="5588000"/>
            <a:ext cx="6350000" cy="660400"/>
          </a:xfrm>
          <a:prstGeom prst="rect">
            <a:avLst/>
          </a:prstGeom>
          <a:noFill/>
          <a:ln/>
        </p:spPr>
        <p:txBody>
          <a:bodyPr wrap="square" lIns="0" tIns="0" rIns="0" bIns="0" rtlCol="0" anchor="t"/>
          <a:lstStyle/>
          <a:p>
            <a:pPr algn="l">
              <a:lnSpc>
                <a:spcPct val="150000"/>
              </a:lnSpc>
            </a:pPr>
            <a:r>
              <a:rPr lang="en-US" sz="1400" dirty="0">
                <a:solidFill>
                  <a:srgbClr val="6B6B6B"/>
                </a:solidFill>
                <a:latin typeface="Quattrocento Sans" pitchFamily="34" charset="0"/>
                <a:ea typeface="Quattrocento Sans" pitchFamily="34" charset="-122"/>
                <a:cs typeface="Quattrocento Sans" pitchFamily="34" charset="-120"/>
              </a:rPr>
              <a:t>Digestive • Respiratory • Detox • Immunity • Stress</a:t>
            </a:r>
            <a:endParaRPr lang="en-US" sz="1400" dirty="0"/>
          </a:p>
        </p:txBody>
      </p:sp>
      <p:sp>
        <p:nvSpPr>
          <p:cNvPr id="13" name="Shape 11"/>
          <p:cNvSpPr/>
          <p:nvPr/>
        </p:nvSpPr>
        <p:spPr>
          <a:xfrm>
            <a:off x="9144000" y="2032000"/>
            <a:ext cx="6350000" cy="4318000"/>
          </a:xfrm>
          <a:prstGeom prst="rect">
            <a:avLst/>
          </a:prstGeom>
          <a:solidFill>
            <a:srgbClr val="0E3B2E"/>
          </a:solidFill>
          <a:ln/>
        </p:spPr>
      </p:sp>
      <p:sp>
        <p:nvSpPr>
          <p:cNvPr id="14" name="Text 12"/>
          <p:cNvSpPr/>
          <p:nvPr/>
        </p:nvSpPr>
        <p:spPr>
          <a:xfrm>
            <a:off x="9461500" y="2286000"/>
            <a:ext cx="2540000" cy="254000"/>
          </a:xfrm>
          <a:prstGeom prst="rect">
            <a:avLst/>
          </a:prstGeom>
          <a:noFill/>
          <a:ln/>
        </p:spPr>
        <p:txBody>
          <a:bodyPr wrap="none" lIns="0" tIns="0" rIns="0" bIns="0" rtlCol="0" anchor="ctr"/>
          <a:lstStyle/>
          <a:p>
            <a:pPr algn="l">
              <a:lnSpc>
                <a:spcPct val="120000"/>
              </a:lnSpc>
            </a:pPr>
            <a:r>
              <a:rPr lang="en-US" sz="1100" spc="300" kern="0" dirty="0">
                <a:solidFill>
                  <a:srgbClr val="C7A25A"/>
                </a:solidFill>
                <a:latin typeface="Quattrocento Sans" pitchFamily="34" charset="0"/>
                <a:ea typeface="Quattrocento Sans" pitchFamily="34" charset="-122"/>
                <a:cs typeface="Quattrocento Sans" pitchFamily="34" charset="-120"/>
              </a:rPr>
              <a:t>MODULE FOCUS</a:t>
            </a:r>
            <a:endParaRPr lang="en-US" sz="1100" dirty="0"/>
          </a:p>
        </p:txBody>
      </p:sp>
      <p:sp>
        <p:nvSpPr>
          <p:cNvPr id="15" name="Shape 13"/>
          <p:cNvSpPr/>
          <p:nvPr/>
        </p:nvSpPr>
        <p:spPr>
          <a:xfrm>
            <a:off x="9461500" y="2641600"/>
            <a:ext cx="762000" cy="25400"/>
          </a:xfrm>
          <a:prstGeom prst="rect">
            <a:avLst/>
          </a:prstGeom>
          <a:solidFill>
            <a:srgbClr val="C7A25A"/>
          </a:solidFill>
          <a:ln/>
        </p:spPr>
      </p:sp>
      <p:sp>
        <p:nvSpPr>
          <p:cNvPr id="16" name="Text 14"/>
          <p:cNvSpPr/>
          <p:nvPr/>
        </p:nvSpPr>
        <p:spPr>
          <a:xfrm>
            <a:off x="9461500" y="2857500"/>
            <a:ext cx="5715000" cy="3302000"/>
          </a:xfrm>
          <a:prstGeom prst="rect">
            <a:avLst/>
          </a:prstGeom>
          <a:noFill/>
          <a:ln/>
        </p:spPr>
        <p:txBody>
          <a:bodyPr wrap="square" lIns="0" tIns="0" rIns="0" bIns="0" rtlCol="0" anchor="t"/>
          <a:lstStyle/>
          <a:p>
            <a:pPr algn="l">
              <a:lnSpc>
                <a:spcPct val="145000"/>
              </a:lnSpc>
            </a:pPr>
            <a:r>
              <a:rPr lang="en-US" sz="1300" dirty="0">
                <a:solidFill>
                  <a:srgbClr val="F6F3EE"/>
                </a:solidFill>
                <a:latin typeface="Quattrocento Sans" pitchFamily="34" charset="0"/>
                <a:ea typeface="Quattrocento Sans" pitchFamily="34" charset="-122"/>
                <a:cs typeface="Quattrocento Sans" pitchFamily="34" charset="-120"/>
              </a:rPr>
              <a:t>This module applies your technical skills to real clinical scenarios.</a:t>
            </a:r>
            <a:endParaRPr lang="en-US" sz="1300" dirty="0"/>
          </a:p>
          <a:p>
            <a:pPr algn="l">
              <a:lnSpc>
                <a:spcPct val="145000"/>
              </a:lnSpc>
              <a:spcBef>
                <a:spcPts val="800"/>
              </a:spcBef>
            </a:pPr>
            <a:r>
              <a:rPr lang="en-US" sz="1300" b="1" dirty="0">
                <a:solidFill>
                  <a:srgbClr val="F6F3EE"/>
                </a:solidFill>
                <a:latin typeface="Quattrocento Sans" pitchFamily="34" charset="0"/>
                <a:ea typeface="Quattrocento Sans" pitchFamily="34" charset="-122"/>
                <a:cs typeface="Quattrocento Sans" pitchFamily="34" charset="-120"/>
              </a:rPr>
              <a:t>By the end of this module, you will:</a:t>
            </a:r>
            <a:endParaRPr lang="en-US" sz="1300" dirty="0"/>
          </a:p>
          <a:p>
            <a:pPr algn="l">
              <a:lnSpc>
                <a:spcPct val="145000"/>
              </a:lnSpc>
              <a:spcBef>
                <a:spcPts val="400"/>
              </a:spcBef>
            </a:pPr>
            <a:r>
              <a:rPr lang="en-US" sz="1300" dirty="0">
                <a:solidFill>
                  <a:srgbClr val="F6F3EE"/>
                </a:solidFill>
                <a:latin typeface="Quattrocento Sans" pitchFamily="34" charset="0"/>
                <a:ea typeface="Quattrocento Sans" pitchFamily="34" charset="-122"/>
                <a:cs typeface="Quattrocento Sans" pitchFamily="34" charset="-120"/>
              </a:rPr>
              <a:t>• Treat musculoskeletal pain</a:t>
            </a:r>
            <a:endParaRPr lang="en-US" sz="1300" dirty="0"/>
          </a:p>
          <a:p>
            <a:pPr algn="l">
              <a:lnSpc>
                <a:spcPct val="145000"/>
              </a:lnSpc>
            </a:pPr>
            <a:r>
              <a:rPr lang="en-US" sz="1300" dirty="0">
                <a:solidFill>
                  <a:srgbClr val="F6F3EE"/>
                </a:solidFill>
                <a:latin typeface="Quattrocento Sans" pitchFamily="34" charset="0"/>
                <a:ea typeface="Quattrocento Sans" pitchFamily="34" charset="-122"/>
                <a:cs typeface="Quattrocento Sans" pitchFamily="34" charset="-120"/>
              </a:rPr>
              <a:t>• Manage migraines and headaches</a:t>
            </a:r>
            <a:endParaRPr lang="en-US" sz="1300" dirty="0"/>
          </a:p>
          <a:p>
            <a:pPr algn="l">
              <a:lnSpc>
                <a:spcPct val="145000"/>
              </a:lnSpc>
            </a:pPr>
            <a:r>
              <a:rPr lang="en-US" sz="1300" dirty="0">
                <a:solidFill>
                  <a:srgbClr val="F6F3EE"/>
                </a:solidFill>
                <a:latin typeface="Quattrocento Sans" pitchFamily="34" charset="0"/>
                <a:ea typeface="Quattrocento Sans" pitchFamily="34" charset="-122"/>
                <a:cs typeface="Quattrocento Sans" pitchFamily="34" charset="-120"/>
              </a:rPr>
              <a:t>• Support digestive function</a:t>
            </a:r>
            <a:endParaRPr lang="en-US" sz="1300" dirty="0"/>
          </a:p>
          <a:p>
            <a:pPr algn="l">
              <a:lnSpc>
                <a:spcPct val="145000"/>
              </a:lnSpc>
            </a:pPr>
            <a:r>
              <a:rPr lang="en-US" sz="1300" dirty="0">
                <a:solidFill>
                  <a:srgbClr val="F6F3EE"/>
                </a:solidFill>
                <a:latin typeface="Quattrocento Sans" pitchFamily="34" charset="0"/>
                <a:ea typeface="Quattrocento Sans" pitchFamily="34" charset="-122"/>
                <a:cs typeface="Quattrocento Sans" pitchFamily="34" charset="-120"/>
              </a:rPr>
              <a:t>• Address respiratory conditions</a:t>
            </a:r>
            <a:endParaRPr lang="en-US" sz="1300" dirty="0"/>
          </a:p>
          <a:p>
            <a:pPr algn="l">
              <a:lnSpc>
                <a:spcPct val="145000"/>
              </a:lnSpc>
            </a:pPr>
            <a:r>
              <a:rPr lang="en-US" sz="1300" dirty="0">
                <a:solidFill>
                  <a:srgbClr val="F6F3EE"/>
                </a:solidFill>
                <a:latin typeface="Quattrocento Sans" pitchFamily="34" charset="0"/>
                <a:ea typeface="Quattrocento Sans" pitchFamily="34" charset="-122"/>
                <a:cs typeface="Quattrocento Sans" pitchFamily="34" charset="-120"/>
              </a:rPr>
              <a:t>• Design wellness protocols</a:t>
            </a:r>
            <a:endParaRPr lang="en-US" sz="1300" dirty="0"/>
          </a:p>
          <a:p>
            <a:pPr algn="l">
              <a:lnSpc>
                <a:spcPct val="145000"/>
              </a:lnSpc>
              <a:spcBef>
                <a:spcPts val="600"/>
              </a:spcBef>
            </a:pPr>
            <a:r>
              <a:rPr lang="en-US" sz="1300" i="1" dirty="0">
                <a:solidFill>
                  <a:srgbClr val="F6F3EE"/>
                </a:solidFill>
                <a:latin typeface="Quattrocento Sans" pitchFamily="34" charset="0"/>
                <a:ea typeface="Quattrocento Sans" pitchFamily="34" charset="-122"/>
                <a:cs typeface="Quattrocento Sans" pitchFamily="34" charset="-120"/>
              </a:rPr>
              <a:t>"Cupping is a remedy for every disease." — Sunan Ibn Majah</a:t>
            </a:r>
            <a:endParaRPr lang="en-US" sz="13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01</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1430000" cy="762000"/>
          </a:xfrm>
          <a:prstGeom prst="rect">
            <a:avLst/>
          </a:prstGeom>
          <a:noFill/>
          <a:ln/>
        </p:spPr>
        <p:txBody>
          <a:bodyPr wrap="none" lIns="0" tIns="0" rIns="0" bIns="0" rtlCol="0" anchor="ctr"/>
          <a:lstStyle/>
          <a:p>
            <a:pPr algn="l">
              <a:lnSpc>
                <a:spcPct val="115000"/>
              </a:lnSpc>
            </a:pPr>
            <a:r>
              <a:rPr lang="en-US" sz="3600" dirty="0">
                <a:solidFill>
                  <a:srgbClr val="F6F3EE"/>
                </a:solidFill>
                <a:latin typeface="Oranienbaum" pitchFamily="34" charset="0"/>
                <a:ea typeface="Oranienbaum" pitchFamily="34" charset="-122"/>
                <a:cs typeface="Oranienbaum" pitchFamily="34" charset="-120"/>
              </a:rPr>
              <a:t>Musculoskeletal and Neurological Conditions</a:t>
            </a:r>
            <a:endParaRPr lang="en-US" sz="36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Pain Management and Recovery Protocols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M11</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Clinical Conditions and Treatment Plans</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Musculoskeletal Pain: Back, Neck, and Shoulders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CONDITION-SPECIFIC PROTOCOLS</a:t>
            </a:r>
            <a:endParaRPr lang="en-US" sz="1200" dirty="0"/>
          </a:p>
        </p:txBody>
      </p:sp>
      <p:sp>
        <p:nvSpPr>
          <p:cNvPr id="9" name="Shape 7"/>
          <p:cNvSpPr/>
          <p:nvPr/>
        </p:nvSpPr>
        <p:spPr>
          <a:xfrm>
            <a:off x="762000" y="2032000"/>
            <a:ext cx="4699000" cy="2476500"/>
          </a:xfrm>
          <a:prstGeom prst="rect">
            <a:avLst/>
          </a:prstGeom>
          <a:solidFill>
            <a:srgbClr val="0E3B2E"/>
          </a:solidFill>
          <a:ln/>
        </p:spPr>
      </p:sp>
      <p:sp>
        <p:nvSpPr>
          <p:cNvPr id="10" name="Text 8"/>
          <p:cNvSpPr/>
          <p:nvPr/>
        </p:nvSpPr>
        <p:spPr>
          <a:xfrm>
            <a:off x="952500" y="2133600"/>
            <a:ext cx="4318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Lower Back Pain</a:t>
            </a:r>
            <a:endParaRPr lang="en-US" sz="1400" dirty="0"/>
          </a:p>
        </p:txBody>
      </p:sp>
      <p:sp>
        <p:nvSpPr>
          <p:cNvPr id="11" name="Text 9"/>
          <p:cNvSpPr/>
          <p:nvPr/>
        </p:nvSpPr>
        <p:spPr>
          <a:xfrm>
            <a:off x="952500" y="2463800"/>
            <a:ext cx="4318000" cy="1905000"/>
          </a:xfrm>
          <a:prstGeom prst="rect">
            <a:avLst/>
          </a:prstGeom>
          <a:noFill/>
          <a:ln/>
        </p:spPr>
        <p:txBody>
          <a:bodyPr wrap="square" lIns="0" tIns="0" rIns="0" bIns="0" rtlCol="0" anchor="t"/>
          <a:lstStyle/>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Al-Kahil (GV14), BL23–BL26, local Ashi, BL40 (distal)</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Moving cupping over lumbar area, then static cups on BL points</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Medium to strong</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Weekly for 4 weeks, then monthly</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Notes: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Most common presentation. Check for disc involvement — refer if neurological symptoms.</a:t>
            </a:r>
            <a:endParaRPr lang="en-US" sz="1100" dirty="0"/>
          </a:p>
        </p:txBody>
      </p:sp>
      <p:sp>
        <p:nvSpPr>
          <p:cNvPr id="12" name="Shape 10"/>
          <p:cNvSpPr/>
          <p:nvPr/>
        </p:nvSpPr>
        <p:spPr>
          <a:xfrm>
            <a:off x="5715000" y="2032000"/>
            <a:ext cx="4699000" cy="2476500"/>
          </a:xfrm>
          <a:prstGeom prst="rect">
            <a:avLst/>
          </a:prstGeom>
          <a:solidFill>
            <a:srgbClr val="F0EDE7"/>
          </a:solidFill>
          <a:ln/>
        </p:spPr>
      </p:sp>
      <p:sp>
        <p:nvSpPr>
          <p:cNvPr id="13" name="Text 11"/>
          <p:cNvSpPr/>
          <p:nvPr/>
        </p:nvSpPr>
        <p:spPr>
          <a:xfrm>
            <a:off x="5905500" y="2133600"/>
            <a:ext cx="4318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Neck Pain</a:t>
            </a:r>
            <a:endParaRPr lang="en-US" sz="1400" dirty="0"/>
          </a:p>
        </p:txBody>
      </p:sp>
      <p:sp>
        <p:nvSpPr>
          <p:cNvPr id="14" name="Text 12"/>
          <p:cNvSpPr/>
          <p:nvPr/>
        </p:nvSpPr>
        <p:spPr>
          <a:xfrm>
            <a:off x="5905500" y="2463800"/>
            <a:ext cx="4318000" cy="1905000"/>
          </a:xfrm>
          <a:prstGeom prst="rect">
            <a:avLst/>
          </a:prstGeom>
          <a:noFill/>
          <a:ln/>
        </p:spPr>
        <p:txBody>
          <a:bodyPr wrap="square" lIns="0" tIns="0" rIns="0" bIns="0" rtlCol="0" anchor="t"/>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Al-Akhda'ain, GB20, GB21, SI14, local Ashi</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Flash cupping for stimulation, static cups on GB points</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Light to medium</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Fortnightly</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Notes:</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Common in office workers. Check posture and ergonomics. Light suction — neck skin is thin.</a:t>
            </a:r>
            <a:endParaRPr lang="en-US" sz="1100" dirty="0"/>
          </a:p>
        </p:txBody>
      </p:sp>
      <p:sp>
        <p:nvSpPr>
          <p:cNvPr id="15" name="Shape 13"/>
          <p:cNvSpPr/>
          <p:nvPr/>
        </p:nvSpPr>
        <p:spPr>
          <a:xfrm>
            <a:off x="10668000" y="2032000"/>
            <a:ext cx="4826000" cy="2476500"/>
          </a:xfrm>
          <a:prstGeom prst="rect">
            <a:avLst/>
          </a:prstGeom>
          <a:solidFill>
            <a:srgbClr val="0E3B2E"/>
          </a:solidFill>
          <a:ln/>
        </p:spPr>
      </p:sp>
      <p:sp>
        <p:nvSpPr>
          <p:cNvPr id="16" name="Text 14"/>
          <p:cNvSpPr/>
          <p:nvPr/>
        </p:nvSpPr>
        <p:spPr>
          <a:xfrm>
            <a:off x="10858500" y="2133600"/>
            <a:ext cx="4445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Shoulder Pain</a:t>
            </a:r>
            <a:endParaRPr lang="en-US" sz="1400" dirty="0"/>
          </a:p>
        </p:txBody>
      </p:sp>
      <p:sp>
        <p:nvSpPr>
          <p:cNvPr id="17" name="Text 15"/>
          <p:cNvSpPr/>
          <p:nvPr/>
        </p:nvSpPr>
        <p:spPr>
          <a:xfrm>
            <a:off x="10858500" y="2463800"/>
            <a:ext cx="4445000" cy="1905000"/>
          </a:xfrm>
          <a:prstGeom prst="rect">
            <a:avLst/>
          </a:prstGeom>
          <a:noFill/>
          <a:ln/>
        </p:spPr>
        <p:txBody>
          <a:bodyPr wrap="square" lIns="0" tIns="0" rIns="0" bIns="0" rtlCol="0" anchor="t"/>
          <a:lstStyle/>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GB21, SI9, LI15, local Ashi around deltoid</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Moving cupping over deltoid, static on trigger points</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Medium</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Weekly for 3 weeks</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Notes: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Assess range of motion. Frozen shoulder requires patience — gradual improvement over months.</a:t>
            </a:r>
            <a:endParaRPr lang="en-US" sz="1100" dirty="0"/>
          </a:p>
        </p:txBody>
      </p:sp>
      <p:sp>
        <p:nvSpPr>
          <p:cNvPr id="18" name="Shape 16"/>
          <p:cNvSpPr/>
          <p:nvPr/>
        </p:nvSpPr>
        <p:spPr>
          <a:xfrm>
            <a:off x="762000" y="4762500"/>
            <a:ext cx="14732000" cy="698500"/>
          </a:xfrm>
          <a:prstGeom prst="rect">
            <a:avLst/>
          </a:prstGeom>
          <a:solidFill>
            <a:srgbClr val="0E3B2E"/>
          </a:solidFill>
          <a:ln/>
        </p:spPr>
      </p:sp>
      <p:sp>
        <p:nvSpPr>
          <p:cNvPr id="19" name="Text 17"/>
          <p:cNvSpPr/>
          <p:nvPr/>
        </p:nvSpPr>
        <p:spPr>
          <a:xfrm>
            <a:off x="1016000" y="4826000"/>
            <a:ext cx="14224000" cy="571500"/>
          </a:xfrm>
          <a:prstGeom prst="rect">
            <a:avLst/>
          </a:prstGeom>
          <a:noFill/>
          <a:ln/>
        </p:spPr>
        <p:txBody>
          <a:bodyPr wrap="square" lIns="0" tIns="0" rIns="0" bIns="0" rtlCol="0" anchor="ctr"/>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Always begin with Al-Kahil even for localised pain — it provides systemic benefit and supports the immune response. Add local points based on your assessment.</a:t>
            </a:r>
            <a:endParaRPr lang="en-US" sz="1200" dirty="0"/>
          </a:p>
        </p:txBody>
      </p:sp>
      <p:sp>
        <p:nvSpPr>
          <p:cNvPr id="20" name="Shape 18"/>
          <p:cNvSpPr/>
          <p:nvPr/>
        </p:nvSpPr>
        <p:spPr>
          <a:xfrm>
            <a:off x="762000" y="5715000"/>
            <a:ext cx="14732000" cy="1016000"/>
          </a:xfrm>
          <a:prstGeom prst="rect">
            <a:avLst/>
          </a:prstGeom>
          <a:solidFill>
            <a:srgbClr val="F0EDE7"/>
          </a:solidFill>
          <a:ln/>
        </p:spPr>
      </p:sp>
      <p:sp>
        <p:nvSpPr>
          <p:cNvPr id="21" name="Text 19"/>
          <p:cNvSpPr/>
          <p:nvPr/>
        </p:nvSpPr>
        <p:spPr>
          <a:xfrm>
            <a:off x="1016000" y="5816600"/>
            <a:ext cx="14224000" cy="812800"/>
          </a:xfrm>
          <a:prstGeom prst="rect">
            <a:avLst/>
          </a:prstGeom>
          <a:noFill/>
          <a:ln/>
        </p:spPr>
        <p:txBody>
          <a:bodyPr wrap="square" lIns="0" tIns="0" rIns="0" bIns="0" rtlCol="0" anchor="ctr"/>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Scope reminder:</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Hijama relieves pain and supports healing but does not cure underlying structural damage. If pain persists after 4 sessions, or if neurological symptoms develop, refer to a medical practitioner for imaging and diagnosis. Your role is complementary, not替代 (substitutive).</a:t>
            </a:r>
            <a:endParaRPr lang="en-US" sz="1100" dirty="0"/>
          </a:p>
        </p:txBody>
      </p:sp>
      <p:sp>
        <p:nvSpPr>
          <p:cNvPr id="22" name="Text 20"/>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04</a:t>
            </a:r>
            <a:endParaRPr lang="en-US" sz="11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M11</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Clinical Conditions and Treatment Plans</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Migraines, Headaches, and Sciatica</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NEUROLOGICAL PROTOCOLS</a:t>
            </a:r>
            <a:endParaRPr lang="en-US" sz="1200" dirty="0"/>
          </a:p>
        </p:txBody>
      </p:sp>
      <p:sp>
        <p:nvSpPr>
          <p:cNvPr id="9" name="Shape 7"/>
          <p:cNvSpPr/>
          <p:nvPr/>
        </p:nvSpPr>
        <p:spPr>
          <a:xfrm>
            <a:off x="762000" y="2032000"/>
            <a:ext cx="7112000" cy="1968500"/>
          </a:xfrm>
          <a:prstGeom prst="rect">
            <a:avLst/>
          </a:prstGeom>
          <a:solidFill>
            <a:srgbClr val="0E3B2E"/>
          </a:solidFill>
          <a:ln/>
        </p:spPr>
      </p:sp>
      <p:sp>
        <p:nvSpPr>
          <p:cNvPr id="10" name="Text 8"/>
          <p:cNvSpPr/>
          <p:nvPr/>
        </p:nvSpPr>
        <p:spPr>
          <a:xfrm>
            <a:off x="952500" y="21336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Migraines and Headaches</a:t>
            </a:r>
            <a:endParaRPr lang="en-US" sz="1400" dirty="0"/>
          </a:p>
        </p:txBody>
      </p:sp>
      <p:sp>
        <p:nvSpPr>
          <p:cNvPr id="11" name="Text 9"/>
          <p:cNvSpPr/>
          <p:nvPr/>
        </p:nvSpPr>
        <p:spPr>
          <a:xfrm>
            <a:off x="952500" y="2463800"/>
            <a:ext cx="6731000" cy="1422400"/>
          </a:xfrm>
          <a:prstGeom prst="rect">
            <a:avLst/>
          </a:prstGeom>
          <a:noFill/>
          <a:ln/>
        </p:spPr>
        <p:txBody>
          <a:bodyPr wrap="square" lIns="0" tIns="0" rIns="0" bIns="0" rtlCol="0" anchor="t"/>
          <a:lstStyle/>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Al-Akhda'ain, GB20, GB21, temporal points (Ex-HN5), BL10</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Flash cupping on neck, static on head points (light suction), Al-Kahil</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Light — head skin is thin and sensitive</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At onset of migraine, then monthly prevention</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Evidence: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Multiple studies show significant reduction in migraine frequency and intensity</a:t>
            </a:r>
            <a:endParaRPr lang="en-US" sz="1100" dirty="0"/>
          </a:p>
        </p:txBody>
      </p:sp>
      <p:sp>
        <p:nvSpPr>
          <p:cNvPr id="12" name="Shape 10"/>
          <p:cNvSpPr/>
          <p:nvPr/>
        </p:nvSpPr>
        <p:spPr>
          <a:xfrm>
            <a:off x="8255000" y="2032000"/>
            <a:ext cx="7239000" cy="1968500"/>
          </a:xfrm>
          <a:prstGeom prst="rect">
            <a:avLst/>
          </a:prstGeom>
          <a:solidFill>
            <a:srgbClr val="F0EDE7"/>
          </a:solidFill>
          <a:ln/>
        </p:spPr>
      </p:sp>
      <p:sp>
        <p:nvSpPr>
          <p:cNvPr id="13" name="Text 11"/>
          <p:cNvSpPr/>
          <p:nvPr/>
        </p:nvSpPr>
        <p:spPr>
          <a:xfrm>
            <a:off x="8509000" y="2133600"/>
            <a:ext cx="6731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Sciatica</a:t>
            </a:r>
            <a:endParaRPr lang="en-US" sz="1400" dirty="0"/>
          </a:p>
        </p:txBody>
      </p:sp>
      <p:sp>
        <p:nvSpPr>
          <p:cNvPr id="14" name="Text 12"/>
          <p:cNvSpPr/>
          <p:nvPr/>
        </p:nvSpPr>
        <p:spPr>
          <a:xfrm>
            <a:off x="8509000" y="2463800"/>
            <a:ext cx="6731000" cy="1422400"/>
          </a:xfrm>
          <a:prstGeom prst="rect">
            <a:avLst/>
          </a:prstGeom>
          <a:noFill/>
          <a:ln/>
        </p:spPr>
        <p:txBody>
          <a:bodyPr wrap="square" lIns="0" tIns="0" rIns="0" bIns="0" rtlCol="0" anchor="t"/>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BL23–BL26, BL40, BL54–BL57, GB30, local Ashi along pain pathway</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Moving cupping along BL channel, static on lumbar and distal points</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Medium to strong on back, medium on leg</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Weekly for 4–6 weeks</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Caution:</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If bowel/bladder symptoms present, refer urgently — possible cauda equina</a:t>
            </a:r>
            <a:endParaRPr lang="en-US" sz="1100" dirty="0"/>
          </a:p>
        </p:txBody>
      </p:sp>
      <p:sp>
        <p:nvSpPr>
          <p:cNvPr id="15" name="Text 13"/>
          <p:cNvSpPr/>
          <p:nvPr/>
        </p:nvSpPr>
        <p:spPr>
          <a:xfrm>
            <a:off x="762000" y="4254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KEY ASSESSMENT QUESTIONS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2000" y="4660900"/>
          <a:ext cx="14732000" cy="1651000"/>
        </p:xfrm>
        <a:graphic>
          <a:graphicData uri="http://schemas.openxmlformats.org/drawingml/2006/table">
            <a:tbl>
              <a:tblPr/>
              <a:tblGrid>
                <a:gridCol w="2578"/>
                <a:gridCol w="6444"/>
                <a:gridCol w="4833"/>
                <a:gridCol w="4833"/>
              </a:tblGrid>
              <a:tr h="462280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Condition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Key Question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Red Flag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Action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82550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Headache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Is this the worst headache you have ever had?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Thunderclap onset, fever, neck stiffness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Refer to emergency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82550000">
                <a:tc>
                  <a:txBody>
                    <a:bodyPr/>
                    <a:lstStyle/>
                    <a:p>
                      <a:pPr algn="ctr"/>
                      <a:r>
                        <a:rPr lang="en-US" sz="1400" b="1" dirty="0">
                          <a:solidFill>
                            <a:srgbClr val="1A1A1A"/>
                          </a:solidFill>
                          <a:latin typeface="Quattrocento Sans" pitchFamily="34" charset="0"/>
                          <a:ea typeface="Quattrocento Sans" pitchFamily="34" charset="-122"/>
                          <a:cs typeface="Quattrocento Sans" pitchFamily="34" charset="-120"/>
                        </a:rPr>
                        <a:t>Back pain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Any numbness, tingling, or weakness in legs?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Saddle anaesthesia, bowel/bladder changes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Urgent neuro referral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bl>
          </a:graphicData>
        </a:graphic>
      </p:graphicFrame>
      <p:sp>
        <p:nvSpPr>
          <p:cNvPr id="17" name="Text 14"/>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05</a:t>
            </a:r>
            <a:endParaRPr lang="en-US" sz="11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M11</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Clinical Conditions and Treatment Plans</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Sports Injuries: Recovery and Performance</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ACUTE VS CHRONIC INJURY PROTOCOLS</a:t>
            </a:r>
            <a:endParaRPr lang="en-US" sz="1200" dirty="0"/>
          </a:p>
        </p:txBody>
      </p:sp>
      <p:sp>
        <p:nvSpPr>
          <p:cNvPr id="9" name="Shape 7"/>
          <p:cNvSpPr/>
          <p:nvPr/>
        </p:nvSpPr>
        <p:spPr>
          <a:xfrm>
            <a:off x="762000" y="2032000"/>
            <a:ext cx="7112000" cy="1968500"/>
          </a:xfrm>
          <a:prstGeom prst="rect">
            <a:avLst/>
          </a:prstGeom>
          <a:solidFill>
            <a:srgbClr val="0E3B2E"/>
          </a:solidFill>
          <a:ln/>
        </p:spPr>
      </p:sp>
      <p:sp>
        <p:nvSpPr>
          <p:cNvPr id="10" name="Text 8"/>
          <p:cNvSpPr/>
          <p:nvPr/>
        </p:nvSpPr>
        <p:spPr>
          <a:xfrm>
            <a:off x="952500" y="21336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Acute Injuries (0–72 hours)</a:t>
            </a:r>
            <a:endParaRPr lang="en-US" sz="1400" dirty="0"/>
          </a:p>
        </p:txBody>
      </p:sp>
      <p:sp>
        <p:nvSpPr>
          <p:cNvPr id="11" name="Text 9"/>
          <p:cNvSpPr/>
          <p:nvPr/>
        </p:nvSpPr>
        <p:spPr>
          <a:xfrm>
            <a:off x="952500" y="2463800"/>
            <a:ext cx="6731000" cy="14224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DO NOT cup the injured area.</a:t>
            </a:r>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Inflammation is active. Cupping would increase blood flow and worsen swelling.</a:t>
            </a:r>
            <a:endParaRPr lang="en-US" sz="1000" dirty="0"/>
          </a:p>
          <a:p>
            <a:pPr algn="l">
              <a:lnSpc>
                <a:spcPct val="145000"/>
              </a:lnSpc>
              <a:spcBef>
                <a:spcPts val="400"/>
              </a:spcBef>
            </a:pPr>
            <a:r>
              <a:rPr lang="en-US" sz="1000" b="1" dirty="0">
                <a:solidFill>
                  <a:srgbClr val="F6F3EE"/>
                </a:solidFill>
                <a:latin typeface="Quattrocento Sans" pitchFamily="34" charset="0"/>
                <a:ea typeface="Quattrocento Sans" pitchFamily="34" charset="-122"/>
                <a:cs typeface="Quattrocento Sans" pitchFamily="34" charset="-120"/>
              </a:rPr>
              <a:t>What to do:</a:t>
            </a:r>
            <a:pPr algn="l">
              <a:lnSpc>
                <a:spcPct val="145000"/>
              </a:lnSpc>
              <a:spcBef>
                <a:spcPts val="400"/>
              </a:spcBef>
            </a:pPr>
            <a:r>
              <a:rPr lang="en-US" sz="1000" dirty="0">
                <a:solidFill>
                  <a:srgbClr val="F6F3EE"/>
                </a:solidFill>
                <a:latin typeface="Quattrocento Sans" pitchFamily="34" charset="0"/>
                <a:ea typeface="Quattrocento Sans" pitchFamily="34" charset="-122"/>
                <a:cs typeface="Quattrocento Sans" pitchFamily="34" charset="-120"/>
              </a:rPr>
              <a:t> Cup distal points along the affected channel. For ankle sprain: cup BL points on the calf and thigh. For wrist strain: cup LI and SI points on the forearm and upper arm.</a:t>
            </a:r>
            <a:endParaRPr lang="en-US" sz="1000" dirty="0"/>
          </a:p>
          <a:p>
            <a:pPr algn="l">
              <a:lnSpc>
                <a:spcPct val="145000"/>
              </a:lnSpc>
              <a:spcBef>
                <a:spcPts val="400"/>
              </a:spcBef>
            </a:pPr>
            <a:r>
              <a:rPr lang="en-US" sz="1000" dirty="0">
                <a:solidFill>
                  <a:srgbClr val="F6F3EE"/>
                </a:solidFill>
                <a:latin typeface="Quattrocento Sans" pitchFamily="34" charset="0"/>
                <a:ea typeface="Quattrocento Sans" pitchFamily="34" charset="-122"/>
                <a:cs typeface="Quattrocento Sans" pitchFamily="34" charset="-120"/>
              </a:rPr>
              <a:t>Wait 72 hours before local cupping. Ensure no fracture — refer if unsure.</a:t>
            </a:r>
            <a:endParaRPr lang="en-US" sz="1000" dirty="0"/>
          </a:p>
        </p:txBody>
      </p:sp>
      <p:sp>
        <p:nvSpPr>
          <p:cNvPr id="12" name="Shape 10"/>
          <p:cNvSpPr/>
          <p:nvPr/>
        </p:nvSpPr>
        <p:spPr>
          <a:xfrm>
            <a:off x="8255000" y="2032000"/>
            <a:ext cx="7239000" cy="1778000"/>
          </a:xfrm>
          <a:prstGeom prst="rect">
            <a:avLst/>
          </a:prstGeom>
          <a:solidFill>
            <a:srgbClr val="F0EDE7"/>
          </a:solidFill>
          <a:ln/>
        </p:spPr>
      </p:sp>
      <p:sp>
        <p:nvSpPr>
          <p:cNvPr id="13" name="Text 11"/>
          <p:cNvSpPr/>
          <p:nvPr/>
        </p:nvSpPr>
        <p:spPr>
          <a:xfrm>
            <a:off x="8509000" y="2133600"/>
            <a:ext cx="6731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Chronic Injuries (72+ hours)</a:t>
            </a:r>
            <a:endParaRPr lang="en-US" sz="1400" dirty="0"/>
          </a:p>
        </p:txBody>
      </p:sp>
      <p:sp>
        <p:nvSpPr>
          <p:cNvPr id="14" name="Text 12"/>
          <p:cNvSpPr/>
          <p:nvPr/>
        </p:nvSpPr>
        <p:spPr>
          <a:xfrm>
            <a:off x="8509000" y="2463800"/>
            <a:ext cx="6731000" cy="1244600"/>
          </a:xfrm>
          <a:prstGeom prst="rect">
            <a:avLst/>
          </a:prstGeom>
          <a:noFill/>
          <a:ln/>
        </p:spPr>
        <p:txBody>
          <a:bodyPr wrap="square" lIns="0" tIns="0" rIns="0" bIns="0" rtlCol="0" anchor="t"/>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Cup the injured area directly.</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Moving cupping first to warm tissue, then static cups on Ashi points.</a:t>
            </a:r>
            <a:endParaRPr lang="en-US" sz="1100" dirty="0"/>
          </a:p>
          <a:p>
            <a:pPr algn="l">
              <a:lnSpc>
                <a:spcPct val="145000"/>
              </a:lnSpc>
              <a:spcBef>
                <a:spcPts val="400"/>
              </a:spcBef>
            </a:pPr>
            <a:r>
              <a:rPr lang="en-US" sz="1100" b="1" dirty="0">
                <a:solidFill>
                  <a:srgbClr val="1A1A1A"/>
                </a:solidFill>
                <a:latin typeface="Quattrocento Sans" pitchFamily="34" charset="0"/>
                <a:ea typeface="Quattrocento Sans" pitchFamily="34" charset="-122"/>
                <a:cs typeface="Quattrocento Sans" pitchFamily="34" charset="-120"/>
              </a:rPr>
              <a:t>Protocol:</a:t>
            </a:r>
            <a:pPr algn="l">
              <a:lnSpc>
                <a:spcPct val="145000"/>
              </a:lnSpc>
              <a:spcBef>
                <a:spcPts val="400"/>
              </a:spcBef>
            </a:pPr>
            <a:r>
              <a:rPr lang="en-US" sz="1100" dirty="0">
                <a:solidFill>
                  <a:srgbClr val="1A1A1A"/>
                </a:solidFill>
                <a:latin typeface="Quattrocento Sans" pitchFamily="34" charset="0"/>
                <a:ea typeface="Quattrocento Sans" pitchFamily="34" charset="-122"/>
                <a:cs typeface="Quattrocento Sans" pitchFamily="34" charset="-120"/>
              </a:rPr>
              <a:t> Moving cupping 5 min → static cups on tender points 8 min → light flash cupping to finish. Medium suction.</a:t>
            </a:r>
            <a:endParaRPr lang="en-US" sz="1100" dirty="0"/>
          </a:p>
          <a:p>
            <a:pPr algn="l">
              <a:lnSpc>
                <a:spcPct val="145000"/>
              </a:lnSpc>
              <a:spcBef>
                <a:spcPts val="400"/>
              </a:spcBef>
            </a:pPr>
            <a:r>
              <a:rPr lang="en-US" sz="1100" dirty="0">
                <a:solidFill>
                  <a:srgbClr val="1A1A1A"/>
                </a:solidFill>
                <a:latin typeface="Quattrocento Sans" pitchFamily="34" charset="0"/>
                <a:ea typeface="Quattrocento Sans" pitchFamily="34" charset="-122"/>
                <a:cs typeface="Quattrocento Sans" pitchFamily="34" charset="-120"/>
              </a:rPr>
              <a:t>Frequency: weekly until resolved. Combine with stretching and strengthening advice.</a:t>
            </a:r>
            <a:endParaRPr lang="en-US" sz="1100" dirty="0"/>
          </a:p>
        </p:txBody>
      </p:sp>
      <p:sp>
        <p:nvSpPr>
          <p:cNvPr id="15" name="Text 13"/>
          <p:cNvSpPr/>
          <p:nvPr/>
        </p:nvSpPr>
        <p:spPr>
          <a:xfrm>
            <a:off x="762000" y="40640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PERFORMANCE AND RECOVERY</a:t>
            </a:r>
            <a:endParaRPr lang="en-US" sz="1200" dirty="0"/>
          </a:p>
        </p:txBody>
      </p:sp>
      <p:sp>
        <p:nvSpPr>
          <p:cNvPr id="16" name="Shape 14"/>
          <p:cNvSpPr/>
          <p:nvPr/>
        </p:nvSpPr>
        <p:spPr>
          <a:xfrm>
            <a:off x="762000" y="4470400"/>
            <a:ext cx="14732000" cy="1270000"/>
          </a:xfrm>
          <a:prstGeom prst="rect">
            <a:avLst/>
          </a:prstGeom>
          <a:solidFill>
            <a:srgbClr val="F0EDE7"/>
          </a:solidFill>
          <a:ln/>
        </p:spPr>
      </p:sp>
      <p:sp>
        <p:nvSpPr>
          <p:cNvPr id="17" name="Text 15"/>
          <p:cNvSpPr/>
          <p:nvPr/>
        </p:nvSpPr>
        <p:spPr>
          <a:xfrm>
            <a:off x="952500" y="4572000"/>
            <a:ext cx="14351000" cy="1066800"/>
          </a:xfrm>
          <a:prstGeom prst="rect">
            <a:avLst/>
          </a:prstGeom>
          <a:noFill/>
          <a:ln/>
        </p:spPr>
        <p:txBody>
          <a:bodyPr wrap="square" lIns="0" tIns="0" rIns="0" bIns="0" rtlCol="0" anchor="t"/>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Pre-event:</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Dry cupping 48+ hours before competition. Moving cupping on major muscle groups. Improves circulation and flexibility. Do NOT perform wet cupping before events — marks and soreness affect performance.</a:t>
            </a:r>
            <a:endParaRPr lang="en-US" sz="1100" dirty="0"/>
          </a:p>
          <a:p>
            <a:pPr algn="l">
              <a:lnSpc>
                <a:spcPct val="145000"/>
              </a:lnSpc>
              <a:spcBef>
                <a:spcPts val="400"/>
              </a:spcBef>
            </a:pPr>
            <a:r>
              <a:rPr lang="en-US" sz="1100" b="1" dirty="0">
                <a:solidFill>
                  <a:srgbClr val="1A1A1A"/>
                </a:solidFill>
                <a:latin typeface="Quattrocento Sans" pitchFamily="34" charset="0"/>
                <a:ea typeface="Quattrocento Sans" pitchFamily="34" charset="-122"/>
                <a:cs typeface="Quattrocento Sans" pitchFamily="34" charset="-120"/>
              </a:rPr>
              <a:t>Post-event:</a:t>
            </a:r>
            <a:pPr algn="l">
              <a:lnSpc>
                <a:spcPct val="145000"/>
              </a:lnSpc>
              <a:spcBef>
                <a:spcPts val="400"/>
              </a:spcBef>
            </a:pPr>
            <a:r>
              <a:rPr lang="en-US" sz="1100" dirty="0">
                <a:solidFill>
                  <a:srgbClr val="1A1A1A"/>
                </a:solidFill>
                <a:latin typeface="Quattrocento Sans" pitchFamily="34" charset="0"/>
                <a:ea typeface="Quattrocento Sans" pitchFamily="34" charset="-122"/>
                <a:cs typeface="Quattrocento Sans" pitchFamily="34" charset="-120"/>
              </a:rPr>
              <a:t> Moving cupping within 24–48 hours after intense activity. Reduces DOMS (delayed onset muscle soreness), speeds lactate clearance, promotes recovery. Many professional athletes now use cupping as standard recovery protocol.</a:t>
            </a:r>
            <a:endParaRPr lang="en-US" sz="1100" dirty="0"/>
          </a:p>
        </p:txBody>
      </p:sp>
      <p:sp>
        <p:nvSpPr>
          <p:cNvPr id="18" name="Shape 16"/>
          <p:cNvSpPr/>
          <p:nvPr/>
        </p:nvSpPr>
        <p:spPr>
          <a:xfrm>
            <a:off x="762000" y="6096000"/>
            <a:ext cx="14732000" cy="698500"/>
          </a:xfrm>
          <a:prstGeom prst="rect">
            <a:avLst/>
          </a:prstGeom>
          <a:solidFill>
            <a:srgbClr val="0E3B2E"/>
          </a:solidFill>
          <a:ln/>
        </p:spPr>
      </p:sp>
      <p:sp>
        <p:nvSpPr>
          <p:cNvPr id="19" name="Text 17"/>
          <p:cNvSpPr/>
          <p:nvPr/>
        </p:nvSpPr>
        <p:spPr>
          <a:xfrm>
            <a:off x="1016000" y="6159500"/>
            <a:ext cx="14224000" cy="571500"/>
          </a:xfrm>
          <a:prstGeom prst="rect">
            <a:avLst/>
          </a:prstGeom>
          <a:noFill/>
          <a:ln/>
        </p:spPr>
        <p:txBody>
          <a:bodyPr wrap="square" lIns="0" tIns="0" rIns="0" bIns="0" rtlCol="0" anchor="ctr"/>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Athletes are often your most rewarding patients — they respond quickly and are highly motivated. Build relationships with local sports clubs. Document outcomes to build your reputation in sports Hijama.</a:t>
            </a:r>
            <a:endParaRPr lang="en-US" sz="1200" dirty="0"/>
          </a:p>
        </p:txBody>
      </p:sp>
      <p:sp>
        <p:nvSpPr>
          <p:cNvPr id="20" name="Text 18"/>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06</a:t>
            </a:r>
            <a:endParaRPr lang="en-US" sz="11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02</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1430000" cy="762000"/>
          </a:xfrm>
          <a:prstGeom prst="rect">
            <a:avLst/>
          </a:prstGeom>
          <a:noFill/>
          <a:ln/>
        </p:spPr>
        <p:txBody>
          <a:bodyPr wrap="none" lIns="0" tIns="0" rIns="0" bIns="0" rtlCol="0" anchor="ctr"/>
          <a:lstStyle/>
          <a:p>
            <a:pPr algn="l">
              <a:lnSpc>
                <a:spcPct val="115000"/>
              </a:lnSpc>
            </a:pPr>
            <a:r>
              <a:rPr lang="en-US" sz="3600" dirty="0">
                <a:solidFill>
                  <a:srgbClr val="F6F3EE"/>
                </a:solidFill>
                <a:latin typeface="Oranienbaum" pitchFamily="34" charset="0"/>
                <a:ea typeface="Oranienbaum" pitchFamily="34" charset="-122"/>
                <a:cs typeface="Oranienbaum" pitchFamily="34" charset="-120"/>
              </a:rPr>
              <a:t>Systemic and Wellness Applications</a:t>
            </a:r>
            <a:endParaRPr lang="en-US" sz="36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Digestive, Respiratory, Detox, and Stress Management</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M11</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Clinical Conditions and Treatment Plans</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Digestive Disorders: IBS, Bloating, and Constipation</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DIGESTIVE PROTOCOLS</a:t>
            </a:r>
            <a:endParaRPr lang="en-US" sz="1200" dirty="0"/>
          </a:p>
        </p:txBody>
      </p:sp>
      <p:sp>
        <p:nvSpPr>
          <p:cNvPr id="9" name="Shape 7"/>
          <p:cNvSpPr/>
          <p:nvPr/>
        </p:nvSpPr>
        <p:spPr>
          <a:xfrm>
            <a:off x="762000" y="2032000"/>
            <a:ext cx="7112000" cy="1841500"/>
          </a:xfrm>
          <a:prstGeom prst="rect">
            <a:avLst/>
          </a:prstGeom>
          <a:solidFill>
            <a:srgbClr val="0E3B2E"/>
          </a:solidFill>
          <a:ln/>
        </p:spPr>
      </p:sp>
      <p:sp>
        <p:nvSpPr>
          <p:cNvPr id="10" name="Text 8"/>
          <p:cNvSpPr/>
          <p:nvPr/>
        </p:nvSpPr>
        <p:spPr>
          <a:xfrm>
            <a:off x="952500" y="2133600"/>
            <a:ext cx="6731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IBS and Bloating</a:t>
            </a:r>
            <a:endParaRPr lang="en-US" sz="1400" dirty="0"/>
          </a:p>
        </p:txBody>
      </p:sp>
      <p:sp>
        <p:nvSpPr>
          <p:cNvPr id="11" name="Text 9"/>
          <p:cNvSpPr/>
          <p:nvPr/>
        </p:nvSpPr>
        <p:spPr>
          <a:xfrm>
            <a:off x="952500" y="2463800"/>
            <a:ext cx="6731000" cy="1308100"/>
          </a:xfrm>
          <a:prstGeom prst="rect">
            <a:avLst/>
          </a:prstGeom>
          <a:noFill/>
          <a:ln/>
        </p:spPr>
        <p:txBody>
          <a:bodyPr wrap="square" lIns="0" tIns="0" rIns="0" bIns="0" rtlCol="0" anchor="t"/>
          <a:lstStyle/>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BL20 (spleen), BL21 (stomach), BL18 (liver), BL25 (large intestine), Al-Kahil</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All back points — no abdominal cupping. Moving cupping along the back, static on BL20–BL21.</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Medium</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Fortnightly, combine with dietary advice</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Note: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Abdominal cupping is contraindicated — always use back points for digestive conditions.</a:t>
            </a:r>
            <a:endParaRPr lang="en-US" sz="1100" dirty="0"/>
          </a:p>
        </p:txBody>
      </p:sp>
      <p:sp>
        <p:nvSpPr>
          <p:cNvPr id="12" name="Shape 10"/>
          <p:cNvSpPr/>
          <p:nvPr/>
        </p:nvSpPr>
        <p:spPr>
          <a:xfrm>
            <a:off x="8255000" y="2032000"/>
            <a:ext cx="7239000" cy="1841500"/>
          </a:xfrm>
          <a:prstGeom prst="rect">
            <a:avLst/>
          </a:prstGeom>
          <a:solidFill>
            <a:srgbClr val="F0EDE7"/>
          </a:solidFill>
          <a:ln/>
        </p:spPr>
      </p:sp>
      <p:sp>
        <p:nvSpPr>
          <p:cNvPr id="13" name="Text 11"/>
          <p:cNvSpPr/>
          <p:nvPr/>
        </p:nvSpPr>
        <p:spPr>
          <a:xfrm>
            <a:off x="8509000" y="2133600"/>
            <a:ext cx="6731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Constipation</a:t>
            </a:r>
            <a:endParaRPr lang="en-US" sz="1400" dirty="0"/>
          </a:p>
        </p:txBody>
      </p:sp>
      <p:sp>
        <p:nvSpPr>
          <p:cNvPr id="14" name="Text 12"/>
          <p:cNvSpPr/>
          <p:nvPr/>
        </p:nvSpPr>
        <p:spPr>
          <a:xfrm>
            <a:off x="8509000" y="2463800"/>
            <a:ext cx="6731000" cy="1308100"/>
          </a:xfrm>
          <a:prstGeom prst="rect">
            <a:avLst/>
          </a:prstGeom>
          <a:noFill/>
          <a:ln/>
        </p:spPr>
        <p:txBody>
          <a:bodyPr wrap="square" lIns="0" tIns="0" rIns="0" bIns="0" rtlCol="0" anchor="t"/>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BL25 (large intestine), BL20 (spleen), Al-Kahil, GV4</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Moving cupping along the lower back, static on BL25 bilaterally. Medium to strong suction.</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Medium to strong</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Weekly until regular bowel pattern established</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Advice: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Increase water intake, fibre, and physical activity alongside treatment.</a:t>
            </a:r>
            <a:endParaRPr lang="en-US" sz="1100" dirty="0"/>
          </a:p>
        </p:txBody>
      </p:sp>
      <p:sp>
        <p:nvSpPr>
          <p:cNvPr id="15" name="Shape 13"/>
          <p:cNvSpPr/>
          <p:nvPr/>
        </p:nvSpPr>
        <p:spPr>
          <a:xfrm>
            <a:off x="762000" y="4127500"/>
            <a:ext cx="14732000" cy="698500"/>
          </a:xfrm>
          <a:prstGeom prst="rect">
            <a:avLst/>
          </a:prstGeom>
          <a:solidFill>
            <a:srgbClr val="8B1A1A"/>
          </a:solidFill>
          <a:ln/>
        </p:spPr>
      </p:sp>
      <p:sp>
        <p:nvSpPr>
          <p:cNvPr id="16" name="Text 14"/>
          <p:cNvSpPr/>
          <p:nvPr/>
        </p:nvSpPr>
        <p:spPr>
          <a:xfrm>
            <a:off x="1016000" y="4216400"/>
            <a:ext cx="14224000" cy="533400"/>
          </a:xfrm>
          <a:prstGeom prst="rect">
            <a:avLst/>
          </a:prstGeom>
          <a:noFill/>
          <a:ln/>
        </p:spPr>
        <p:txBody>
          <a:bodyPr wrap="square" lIns="0" tIns="0" rIns="0" bIns="0" rtlCol="0" anchor="ctr"/>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Important:</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Never perform abdominal cupping. All digestive points are on the back. If a patient has unexplained weight loss, blood in stool, or severe abdominal pain — refer to a medical doctor immediately.</a:t>
            </a:r>
            <a:endParaRPr lang="en-US" sz="1200" dirty="0"/>
          </a:p>
        </p:txBody>
      </p:sp>
      <p:sp>
        <p:nvSpPr>
          <p:cNvPr id="17" name="Shape 15"/>
          <p:cNvSpPr/>
          <p:nvPr/>
        </p:nvSpPr>
        <p:spPr>
          <a:xfrm>
            <a:off x="762000" y="5080000"/>
            <a:ext cx="14732000" cy="1270000"/>
          </a:xfrm>
          <a:prstGeom prst="rect">
            <a:avLst/>
          </a:prstGeom>
          <a:solidFill>
            <a:srgbClr val="F0EDE7"/>
          </a:solidFill>
          <a:ln/>
        </p:spPr>
      </p:sp>
      <p:sp>
        <p:nvSpPr>
          <p:cNvPr id="18" name="Text 16"/>
          <p:cNvSpPr/>
          <p:nvPr/>
        </p:nvSpPr>
        <p:spPr>
          <a:xfrm>
            <a:off x="952500" y="51816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0E3B2E"/>
                </a:solidFill>
                <a:latin typeface="Quattrocento Sans" pitchFamily="34" charset="0"/>
                <a:ea typeface="Quattrocento Sans" pitchFamily="34" charset="-122"/>
                <a:cs typeface="Quattrocento Sans" pitchFamily="34" charset="-120"/>
              </a:rPr>
              <a:t>LIFESTYLE INTEGRATION</a:t>
            </a:r>
            <a:endParaRPr lang="en-US" sz="1100" dirty="0"/>
          </a:p>
        </p:txBody>
      </p:sp>
      <p:sp>
        <p:nvSpPr>
          <p:cNvPr id="19" name="Text 17"/>
          <p:cNvSpPr/>
          <p:nvPr/>
        </p:nvSpPr>
        <p:spPr>
          <a:xfrm>
            <a:off x="952500" y="5486400"/>
            <a:ext cx="14351000" cy="762000"/>
          </a:xfrm>
          <a:prstGeom prst="rect">
            <a:avLst/>
          </a:prstGeom>
          <a:noFill/>
          <a:ln/>
        </p:spPr>
        <p:txBody>
          <a:bodyPr wrap="square" lIns="0" tIns="0" rIns="0" bIns="0" rtlCol="0" anchor="t"/>
          <a:lstStyle/>
          <a:p>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Hijama for digestive conditions works best alongside lifestyle changes. Advise patients on: hydration (8 glasses daily), fibre intake (30g daily), regular meal times, reducing processed foods, and managing stress. The Prophet (peace be upon him) recommended eating slowly, stopping before full, and choosing wholesome foods — all relevant to digestive health.</a:t>
            </a:r>
            <a:endParaRPr lang="en-US" sz="1100" dirty="0"/>
          </a:p>
        </p:txBody>
      </p:sp>
      <p:sp>
        <p:nvSpPr>
          <p:cNvPr id="20" name="Text 18"/>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08</a:t>
            </a:r>
            <a:endParaRPr lang="en-US" sz="11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M11</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Clinical Conditions and Treatment Plans</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Respiratory Conditions: Asthma, Allergies, and Sinus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RESPIRATORY PROTOCOLS</a:t>
            </a:r>
            <a:endParaRPr lang="en-US" sz="1200" dirty="0"/>
          </a:p>
        </p:txBody>
      </p:sp>
      <p:sp>
        <p:nvSpPr>
          <p:cNvPr id="9" name="Shape 7"/>
          <p:cNvSpPr/>
          <p:nvPr/>
        </p:nvSpPr>
        <p:spPr>
          <a:xfrm>
            <a:off x="762000" y="2032000"/>
            <a:ext cx="4699000" cy="2286000"/>
          </a:xfrm>
          <a:prstGeom prst="rect">
            <a:avLst/>
          </a:prstGeom>
          <a:solidFill>
            <a:srgbClr val="0E3B2E"/>
          </a:solidFill>
          <a:ln/>
        </p:spPr>
      </p:sp>
      <p:sp>
        <p:nvSpPr>
          <p:cNvPr id="10" name="Text 8"/>
          <p:cNvSpPr/>
          <p:nvPr/>
        </p:nvSpPr>
        <p:spPr>
          <a:xfrm>
            <a:off x="952500" y="2133600"/>
            <a:ext cx="4318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Asthma Support</a:t>
            </a:r>
            <a:endParaRPr lang="en-US" sz="1400" dirty="0"/>
          </a:p>
        </p:txBody>
      </p:sp>
      <p:sp>
        <p:nvSpPr>
          <p:cNvPr id="11" name="Text 9"/>
          <p:cNvSpPr/>
          <p:nvPr/>
        </p:nvSpPr>
        <p:spPr>
          <a:xfrm>
            <a:off x="952500" y="2463800"/>
            <a:ext cx="4318000" cy="1727200"/>
          </a:xfrm>
          <a:prstGeom prst="rect">
            <a:avLst/>
          </a:prstGeom>
          <a:noFill/>
          <a:ln/>
        </p:spPr>
        <p:txBody>
          <a:bodyPr wrap="square" lIns="0" tIns="0" rIns="0" bIns="0" rtlCol="0" anchor="t"/>
          <a:lstStyle/>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BL13 (lung), BL14 (pericardium), BL15 (heart), Al-Kahil, GV14</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Moving cupping over upper back, static on BL13</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Light to medium</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Monthly, increase to fortnightly during pollen season</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Critical:</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Hijama supports — does not replace inhalers. Never advise stopping medication.</a:t>
            </a:r>
            <a:endParaRPr lang="en-US" sz="1100" dirty="0"/>
          </a:p>
        </p:txBody>
      </p:sp>
      <p:sp>
        <p:nvSpPr>
          <p:cNvPr id="12" name="Shape 10"/>
          <p:cNvSpPr/>
          <p:nvPr/>
        </p:nvSpPr>
        <p:spPr>
          <a:xfrm>
            <a:off x="5715000" y="2032000"/>
            <a:ext cx="4699000" cy="2286000"/>
          </a:xfrm>
          <a:prstGeom prst="rect">
            <a:avLst/>
          </a:prstGeom>
          <a:solidFill>
            <a:srgbClr val="F0EDE7"/>
          </a:solidFill>
          <a:ln/>
        </p:spPr>
      </p:sp>
      <p:sp>
        <p:nvSpPr>
          <p:cNvPr id="13" name="Text 11"/>
          <p:cNvSpPr/>
          <p:nvPr/>
        </p:nvSpPr>
        <p:spPr>
          <a:xfrm>
            <a:off x="5905500" y="2133600"/>
            <a:ext cx="4318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Allergies and Rhinitis</a:t>
            </a:r>
            <a:endParaRPr lang="en-US" sz="1400" dirty="0"/>
          </a:p>
        </p:txBody>
      </p:sp>
      <p:sp>
        <p:nvSpPr>
          <p:cNvPr id="14" name="Text 12"/>
          <p:cNvSpPr/>
          <p:nvPr/>
        </p:nvSpPr>
        <p:spPr>
          <a:xfrm>
            <a:off x="5905500" y="2463800"/>
            <a:ext cx="4318000" cy="1727200"/>
          </a:xfrm>
          <a:prstGeom prst="rect">
            <a:avLst/>
          </a:prstGeom>
          <a:noFill/>
          <a:ln/>
        </p:spPr>
        <p:txBody>
          <a:bodyPr wrap="square" lIns="0" tIns="0" rIns="0" bIns="0" rtlCol="0" anchor="t"/>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Al-Akhda'ain, GB20, BL13, LI20 (facial, dry only), Al-Kahil</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Flash cupping on neck, static on BL13, dry cupping on face (very light)</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Light</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Before allergy season and monthly during</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Note: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Facial cupping must be dry only, very gentle, short duration.</a:t>
            </a:r>
            <a:endParaRPr lang="en-US" sz="1100" dirty="0"/>
          </a:p>
        </p:txBody>
      </p:sp>
      <p:sp>
        <p:nvSpPr>
          <p:cNvPr id="15" name="Shape 13"/>
          <p:cNvSpPr/>
          <p:nvPr/>
        </p:nvSpPr>
        <p:spPr>
          <a:xfrm>
            <a:off x="10668000" y="2032000"/>
            <a:ext cx="4826000" cy="2286000"/>
          </a:xfrm>
          <a:prstGeom prst="rect">
            <a:avLst/>
          </a:prstGeom>
          <a:solidFill>
            <a:srgbClr val="0E3B2E"/>
          </a:solidFill>
          <a:ln/>
        </p:spPr>
      </p:sp>
      <p:sp>
        <p:nvSpPr>
          <p:cNvPr id="16" name="Text 14"/>
          <p:cNvSpPr/>
          <p:nvPr/>
        </p:nvSpPr>
        <p:spPr>
          <a:xfrm>
            <a:off x="10858500" y="2133600"/>
            <a:ext cx="4445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Sinus Congestion</a:t>
            </a:r>
            <a:endParaRPr lang="en-US" sz="1400" dirty="0"/>
          </a:p>
        </p:txBody>
      </p:sp>
      <p:sp>
        <p:nvSpPr>
          <p:cNvPr id="17" name="Text 15"/>
          <p:cNvSpPr/>
          <p:nvPr/>
        </p:nvSpPr>
        <p:spPr>
          <a:xfrm>
            <a:off x="10858500" y="2463800"/>
            <a:ext cx="4445000" cy="1727200"/>
          </a:xfrm>
          <a:prstGeom prst="rect">
            <a:avLst/>
          </a:prstGeom>
          <a:noFill/>
          <a:ln/>
        </p:spPr>
        <p:txBody>
          <a:bodyPr wrap="square" lIns="0" tIns="0" rIns="0" bIns="0" rtlCol="0" anchor="t"/>
          <a:lstStyle/>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GB20, BL10, Al-Akhda'ain, temporal area (dry cupping)</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Flash cupping on neck and occiput, very light static on temples</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Light — never strong on head or neck</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As needed during congestion, monthly for prevention</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Tip:</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Patients often report immediate relief from sinus pressure.</a:t>
            </a:r>
            <a:endParaRPr lang="en-US" sz="1100" dirty="0"/>
          </a:p>
        </p:txBody>
      </p:sp>
      <p:sp>
        <p:nvSpPr>
          <p:cNvPr id="18" name="Shape 16"/>
          <p:cNvSpPr/>
          <p:nvPr/>
        </p:nvSpPr>
        <p:spPr>
          <a:xfrm>
            <a:off x="762000" y="4572000"/>
            <a:ext cx="14732000" cy="698500"/>
          </a:xfrm>
          <a:prstGeom prst="rect">
            <a:avLst/>
          </a:prstGeom>
          <a:solidFill>
            <a:srgbClr val="0E3B2E"/>
          </a:solidFill>
          <a:ln/>
        </p:spPr>
      </p:sp>
      <p:sp>
        <p:nvSpPr>
          <p:cNvPr id="19" name="Text 17"/>
          <p:cNvSpPr/>
          <p:nvPr/>
        </p:nvSpPr>
        <p:spPr>
          <a:xfrm>
            <a:off x="1016000" y="4635500"/>
            <a:ext cx="14224000" cy="571500"/>
          </a:xfrm>
          <a:prstGeom prst="rect">
            <a:avLst/>
          </a:prstGeom>
          <a:noFill/>
          <a:ln/>
        </p:spPr>
        <p:txBody>
          <a:bodyPr wrap="square" lIns="0" tIns="0" rIns="0" bIns="0" rtlCol="0" anchor="ctr"/>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Respiratory patients often see results after the first session. Document peak flow or symptom scores before and after treatment to demonstrate efficacy. This builds patient confidence and supports regular maintenance.</a:t>
            </a:r>
            <a:endParaRPr lang="en-US" sz="1200" dirty="0"/>
          </a:p>
        </p:txBody>
      </p:sp>
      <p:sp>
        <p:nvSpPr>
          <p:cNvPr id="20" name="Text 18"/>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09</a:t>
            </a:r>
            <a:endParaRPr lang="en-US" sz="11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M11</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Clinical Conditions and Treatment Plans</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Wellness: Detox, Immunity, and Stress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WELLNESS PROTOCOLS</a:t>
            </a:r>
            <a:endParaRPr lang="en-US" sz="1200" dirty="0"/>
          </a:p>
        </p:txBody>
      </p:sp>
      <p:sp>
        <p:nvSpPr>
          <p:cNvPr id="9" name="Shape 7"/>
          <p:cNvSpPr/>
          <p:nvPr/>
        </p:nvSpPr>
        <p:spPr>
          <a:xfrm>
            <a:off x="762000" y="2032000"/>
            <a:ext cx="4699000" cy="2159000"/>
          </a:xfrm>
          <a:prstGeom prst="rect">
            <a:avLst/>
          </a:prstGeom>
          <a:solidFill>
            <a:srgbClr val="0E3B2E"/>
          </a:solidFill>
          <a:ln/>
        </p:spPr>
      </p:sp>
      <p:sp>
        <p:nvSpPr>
          <p:cNvPr id="10" name="Text 8"/>
          <p:cNvSpPr/>
          <p:nvPr/>
        </p:nvSpPr>
        <p:spPr>
          <a:xfrm>
            <a:off x="952500" y="2133600"/>
            <a:ext cx="4318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General Detox</a:t>
            </a:r>
            <a:endParaRPr lang="en-US" sz="1400" dirty="0"/>
          </a:p>
        </p:txBody>
      </p:sp>
      <p:sp>
        <p:nvSpPr>
          <p:cNvPr id="11" name="Text 9"/>
          <p:cNvSpPr/>
          <p:nvPr/>
        </p:nvSpPr>
        <p:spPr>
          <a:xfrm>
            <a:off x="952500" y="2463800"/>
            <a:ext cx="4318000" cy="1625600"/>
          </a:xfrm>
          <a:prstGeom prst="rect">
            <a:avLst/>
          </a:prstGeom>
          <a:noFill/>
          <a:ln/>
        </p:spPr>
        <p:txBody>
          <a:bodyPr wrap="square" lIns="0" tIns="0" rIns="0" bIns="0" rtlCol="0" anchor="t"/>
          <a:lstStyle/>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Al-Kahil, Al-Akhda'ain</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Wet cupping on both points</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Medium</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Monthly (change of season ideal)</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Benefits:</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Blood purification, immune stimulation, general wellbeing</a:t>
            </a:r>
            <a:endParaRPr lang="en-US" sz="1100" dirty="0"/>
          </a:p>
          <a:p>
            <a:pPr algn="l">
              <a:lnSpc>
                <a:spcPct val="145000"/>
              </a:lnSpc>
            </a:pPr>
            <a:r>
              <a:rPr lang="en-US" sz="1100" b="1" dirty="0">
                <a:solidFill>
                  <a:srgbClr val="F6F3EE"/>
                </a:solidFill>
                <a:latin typeface="Quattrocento Sans" pitchFamily="34" charset="0"/>
                <a:ea typeface="Quattrocento Sans" pitchFamily="34" charset="-122"/>
                <a:cs typeface="Quattrocento Sans" pitchFamily="34" charset="-120"/>
              </a:rPr>
              <a:t>Sunnah:</a:t>
            </a:r>
            <a:pPr algn="l">
              <a:lnSpc>
                <a:spcPct val="145000"/>
              </a:lnSpc>
            </a:pPr>
            <a:r>
              <a:rPr lang="en-US" sz="1100" dirty="0">
                <a:solidFill>
                  <a:srgbClr val="F6F3EE"/>
                </a:solidFill>
                <a:latin typeface="Quattrocento Sans" pitchFamily="34" charset="0"/>
                <a:ea typeface="Quattrocento Sans" pitchFamily="34" charset="-122"/>
                <a:cs typeface="Quattrocento Sans" pitchFamily="34" charset="-120"/>
              </a:rPr>
              <a:t> Recommended on 17th, 19th, 21st of Islamic month</a:t>
            </a:r>
            <a:endParaRPr lang="en-US" sz="1100" dirty="0"/>
          </a:p>
        </p:txBody>
      </p:sp>
      <p:sp>
        <p:nvSpPr>
          <p:cNvPr id="12" name="Shape 10"/>
          <p:cNvSpPr/>
          <p:nvPr/>
        </p:nvSpPr>
        <p:spPr>
          <a:xfrm>
            <a:off x="5715000" y="2032000"/>
            <a:ext cx="4699000" cy="2159000"/>
          </a:xfrm>
          <a:prstGeom prst="rect">
            <a:avLst/>
          </a:prstGeom>
          <a:solidFill>
            <a:srgbClr val="F0EDE7"/>
          </a:solidFill>
          <a:ln/>
        </p:spPr>
      </p:sp>
      <p:sp>
        <p:nvSpPr>
          <p:cNvPr id="13" name="Text 11"/>
          <p:cNvSpPr/>
          <p:nvPr/>
        </p:nvSpPr>
        <p:spPr>
          <a:xfrm>
            <a:off x="5905500" y="2133600"/>
            <a:ext cx="4318000" cy="279400"/>
          </a:xfrm>
          <a:prstGeom prst="rect">
            <a:avLst/>
          </a:prstGeom>
          <a:noFill/>
          <a:ln/>
        </p:spPr>
        <p:txBody>
          <a:bodyPr wrap="none" lIns="0" tIns="0" rIns="0" bIns="0" rtlCol="0" anchor="ctr"/>
          <a:lstStyle/>
          <a:p>
            <a:pPr algn="l">
              <a:lnSpc>
                <a:spcPct val="120000"/>
              </a:lnSpc>
            </a:pPr>
            <a:r>
              <a:rPr lang="en-US" sz="1400" dirty="0">
                <a:solidFill>
                  <a:srgbClr val="0E3B2E"/>
                </a:solidFill>
                <a:latin typeface="Oranienbaum" pitchFamily="34" charset="0"/>
                <a:ea typeface="Oranienbaum" pitchFamily="34" charset="-122"/>
                <a:cs typeface="Oranienbaum" pitchFamily="34" charset="-120"/>
              </a:rPr>
              <a:t>Immune Support</a:t>
            </a:r>
            <a:endParaRPr lang="en-US" sz="1400" dirty="0"/>
          </a:p>
        </p:txBody>
      </p:sp>
      <p:sp>
        <p:nvSpPr>
          <p:cNvPr id="14" name="Text 12"/>
          <p:cNvSpPr/>
          <p:nvPr/>
        </p:nvSpPr>
        <p:spPr>
          <a:xfrm>
            <a:off x="5905500" y="2463800"/>
            <a:ext cx="4318000" cy="1625600"/>
          </a:xfrm>
          <a:prstGeom prst="rect">
            <a:avLst/>
          </a:prstGeom>
          <a:noFill/>
          <a:ln/>
        </p:spPr>
        <p:txBody>
          <a:bodyPr wrap="square" lIns="0" tIns="0" rIns="0" bIns="0" rtlCol="0" anchor="t"/>
          <a:lstStyle/>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Points:</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Al-Kahil, BL13 (lung), BL20 (spleen)</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Technique: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Wet cupping Al-Kahil, dry cupping BL13 and BL20</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Suction:</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Medium</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Frequency:</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Monthly, weekly during cold/flu season</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Benefits:</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Stimulates immune response, reduces illness frequency</a:t>
            </a:r>
            <a:endParaRPr lang="en-US" sz="1100" dirty="0"/>
          </a:p>
          <a:p>
            <a:pPr algn="l">
              <a:lnSpc>
                <a:spcPct val="145000"/>
              </a:lnSpc>
            </a:pPr>
            <a:r>
              <a:rPr lang="en-US" sz="1100" b="1" dirty="0">
                <a:solidFill>
                  <a:srgbClr val="1A1A1A"/>
                </a:solidFill>
                <a:latin typeface="Quattrocento Sans" pitchFamily="34" charset="0"/>
                <a:ea typeface="Quattrocento Sans" pitchFamily="34" charset="-122"/>
                <a:cs typeface="Quattrocento Sans" pitchFamily="34" charset="-120"/>
              </a:rPr>
              <a:t>Note:</a:t>
            </a:r>
            <a:pPr algn="l">
              <a:lnSpc>
                <a:spcPct val="145000"/>
              </a:lnSpc>
            </a:pPr>
            <a:r>
              <a:rPr lang="en-US" sz="1100" dirty="0">
                <a:solidFill>
                  <a:srgbClr val="1A1A1A"/>
                </a:solidFill>
                <a:latin typeface="Quattrocento Sans" pitchFamily="34" charset="0"/>
                <a:ea typeface="Quattrocento Sans" pitchFamily="34" charset="-122"/>
                <a:cs typeface="Quattrocento Sans" pitchFamily="34" charset="-120"/>
              </a:rPr>
              <a:t> Do not treat active fever — wait until recovered.</a:t>
            </a:r>
            <a:endParaRPr lang="en-US" sz="1100" dirty="0"/>
          </a:p>
        </p:txBody>
      </p:sp>
      <p:sp>
        <p:nvSpPr>
          <p:cNvPr id="15" name="Shape 13"/>
          <p:cNvSpPr/>
          <p:nvPr/>
        </p:nvSpPr>
        <p:spPr>
          <a:xfrm>
            <a:off x="10668000" y="2032000"/>
            <a:ext cx="4826000" cy="2476500"/>
          </a:xfrm>
          <a:prstGeom prst="rect">
            <a:avLst/>
          </a:prstGeom>
          <a:solidFill>
            <a:srgbClr val="0E3B2E"/>
          </a:solidFill>
          <a:ln/>
        </p:spPr>
      </p:sp>
      <p:sp>
        <p:nvSpPr>
          <p:cNvPr id="16" name="Text 14"/>
          <p:cNvSpPr/>
          <p:nvPr/>
        </p:nvSpPr>
        <p:spPr>
          <a:xfrm>
            <a:off x="10858500" y="2133600"/>
            <a:ext cx="4445000" cy="279400"/>
          </a:xfrm>
          <a:prstGeom prst="rect">
            <a:avLst/>
          </a:prstGeom>
          <a:noFill/>
          <a:ln/>
        </p:spPr>
        <p:txBody>
          <a:bodyPr wrap="none" lIns="0" tIns="0" rIns="0" bIns="0" rtlCol="0" anchor="ctr"/>
          <a:lstStyle/>
          <a:p>
            <a:pPr algn="l">
              <a:lnSpc>
                <a:spcPct val="120000"/>
              </a:lnSpc>
            </a:pPr>
            <a:r>
              <a:rPr lang="en-US" sz="1400" dirty="0">
                <a:solidFill>
                  <a:srgbClr val="C7A25A"/>
                </a:solidFill>
                <a:latin typeface="Oranienbaum" pitchFamily="34" charset="0"/>
                <a:ea typeface="Oranienbaum" pitchFamily="34" charset="-122"/>
                <a:cs typeface="Oranienbaum" pitchFamily="34" charset="-120"/>
              </a:rPr>
              <a:t>Stress and Anxiety</a:t>
            </a:r>
            <a:endParaRPr lang="en-US" sz="1400" dirty="0"/>
          </a:p>
        </p:txBody>
      </p:sp>
      <p:sp>
        <p:nvSpPr>
          <p:cNvPr id="17" name="Text 15"/>
          <p:cNvSpPr/>
          <p:nvPr/>
        </p:nvSpPr>
        <p:spPr>
          <a:xfrm>
            <a:off x="10858500" y="2463800"/>
            <a:ext cx="4445000" cy="1905000"/>
          </a:xfrm>
          <a:prstGeom prst="rect">
            <a:avLst/>
          </a:prstGeom>
          <a:noFill/>
          <a:ln/>
        </p:spPr>
        <p:txBody>
          <a:bodyPr wrap="square" lIns="0" tIns="0" rIns="0" bIns="0" rtlCol="0" anchor="t"/>
          <a:lstStyle/>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Points:</a:t>
            </a:r>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Al-Akhda'ain, GB20, GB21, HT7 (dry), Al-Kahil</a:t>
            </a:r>
            <a:endParaRPr lang="en-US" sz="1000" dirty="0"/>
          </a:p>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Technique:</a:t>
            </a:r>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Flash cupping neck, moving cupping upper back, light static</a:t>
            </a:r>
            <a:endParaRPr lang="en-US" sz="1000" dirty="0"/>
          </a:p>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Suction:</a:t>
            </a:r>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Light to medium</a:t>
            </a:r>
            <a:endParaRPr lang="en-US" sz="1000" dirty="0"/>
          </a:p>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Frequency:</a:t>
            </a:r>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Fortnightly</a:t>
            </a:r>
            <a:endParaRPr lang="en-US" sz="1000" dirty="0"/>
          </a:p>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Benefits:</a:t>
            </a:r>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Calms nervous system, releases muscle tension, improves sleep</a:t>
            </a:r>
            <a:endParaRPr lang="en-US" sz="1000" dirty="0"/>
          </a:p>
          <a:p>
            <a:pPr algn="l">
              <a:lnSpc>
                <a:spcPct val="145000"/>
              </a:lnSpc>
            </a:pPr>
            <a:r>
              <a:rPr lang="en-US" sz="1000" b="1" dirty="0">
                <a:solidFill>
                  <a:srgbClr val="F6F3EE"/>
                </a:solidFill>
                <a:latin typeface="Quattrocento Sans" pitchFamily="34" charset="0"/>
                <a:ea typeface="Quattrocento Sans" pitchFamily="34" charset="-122"/>
                <a:cs typeface="Quattrocento Sans" pitchFamily="34" charset="-120"/>
              </a:rPr>
              <a:t>Add:</a:t>
            </a:r>
            <a:pPr algn="l">
              <a:lnSpc>
                <a:spcPct val="145000"/>
              </a:lnSpc>
            </a:pPr>
            <a:r>
              <a:rPr lang="en-US" sz="1000" dirty="0">
                <a:solidFill>
                  <a:srgbClr val="F6F3EE"/>
                </a:solidFill>
                <a:latin typeface="Quattrocento Sans" pitchFamily="34" charset="0"/>
                <a:ea typeface="Quattrocento Sans" pitchFamily="34" charset="-122"/>
                <a:cs typeface="Quattrocento Sans" pitchFamily="34" charset="-120"/>
              </a:rPr>
              <a:t> Recommend breathing exercises and dhikr practice.</a:t>
            </a:r>
            <a:endParaRPr lang="en-US" sz="1000" dirty="0"/>
          </a:p>
        </p:txBody>
      </p:sp>
      <p:sp>
        <p:nvSpPr>
          <p:cNvPr id="18" name="Shape 16"/>
          <p:cNvSpPr/>
          <p:nvPr/>
        </p:nvSpPr>
        <p:spPr>
          <a:xfrm>
            <a:off x="762000" y="4699000"/>
            <a:ext cx="14732000" cy="1524000"/>
          </a:xfrm>
          <a:prstGeom prst="rect">
            <a:avLst/>
          </a:prstGeom>
          <a:solidFill>
            <a:srgbClr val="F0EDE7"/>
          </a:solidFill>
          <a:ln/>
        </p:spPr>
      </p:sp>
      <p:sp>
        <p:nvSpPr>
          <p:cNvPr id="19" name="Text 17"/>
          <p:cNvSpPr/>
          <p:nvPr/>
        </p:nvSpPr>
        <p:spPr>
          <a:xfrm>
            <a:off x="952500" y="47752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0E3B2E"/>
                </a:solidFill>
                <a:latin typeface="Quattrocento Sans" pitchFamily="34" charset="0"/>
                <a:ea typeface="Quattrocento Sans" pitchFamily="34" charset="-122"/>
                <a:cs typeface="Quattrocento Sans" pitchFamily="34" charset="-120"/>
              </a:rPr>
              <a:t>SEASONAL PROTOCOL CALENDAR</a:t>
            </a:r>
            <a:endParaRPr lang="en-US" sz="1100" dirty="0"/>
          </a:p>
        </p:txBody>
      </p:sp>
      <p:sp>
        <p:nvSpPr>
          <p:cNvPr id="20" name="Text 18"/>
          <p:cNvSpPr/>
          <p:nvPr/>
        </p:nvSpPr>
        <p:spPr>
          <a:xfrm>
            <a:off x="952500" y="5080000"/>
            <a:ext cx="14351000" cy="1041400"/>
          </a:xfrm>
          <a:prstGeom prst="rect">
            <a:avLst/>
          </a:prstGeom>
          <a:noFill/>
          <a:ln/>
        </p:spPr>
        <p:txBody>
          <a:bodyPr wrap="square" lIns="0" tIns="0" rIns="0" bIns="0" rtlCol="0" anchor="t"/>
          <a:lstStyle/>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Spring:</a:t>
            </a:r>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Detox focus — Al-Kahil + Al-Akhda'ain, support liver (BL18)</a:t>
            </a:r>
            <a:endParaRPr lang="en-US" sz="1000" dirty="0"/>
          </a:p>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Summer:</a:t>
            </a:r>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Energy and digestion — BL20, BL21, general maintenance</a:t>
            </a:r>
            <a:endParaRPr lang="en-US" sz="1000" dirty="0"/>
          </a:p>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Autumn:</a:t>
            </a:r>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Immune preparation — Al-Kahil, BL13, BL20 before cold season</a:t>
            </a:r>
            <a:endParaRPr lang="en-US" sz="1000" dirty="0"/>
          </a:p>
          <a:p>
            <a:pPr algn="l">
              <a:lnSpc>
                <a:spcPct val="145000"/>
              </a:lnSpc>
            </a:pPr>
            <a:r>
              <a:rPr lang="en-US" sz="1000" b="1" dirty="0">
                <a:solidFill>
                  <a:srgbClr val="1A1A1A"/>
                </a:solidFill>
                <a:latin typeface="Quattrocento Sans" pitchFamily="34" charset="0"/>
                <a:ea typeface="Quattrocento Sans" pitchFamily="34" charset="-122"/>
                <a:cs typeface="Quattrocento Sans" pitchFamily="34" charset="-120"/>
              </a:rPr>
              <a:t>Winter:</a:t>
            </a:r>
            <a:pPr algn="l">
              <a:lnSpc>
                <a:spcPct val="145000"/>
              </a:lnSpc>
            </a:pPr>
            <a:r>
              <a:rPr lang="en-US" sz="1000" dirty="0">
                <a:solidFill>
                  <a:srgbClr val="1A1A1A"/>
                </a:solidFill>
                <a:latin typeface="Quattrocento Sans" pitchFamily="34" charset="0"/>
                <a:ea typeface="Quattrocento Sans" pitchFamily="34" charset="-122"/>
                <a:cs typeface="Quattrocento Sans" pitchFamily="34" charset="-120"/>
              </a:rPr>
              <a:t> Immune support — weekly if needed, BL13, Al-Kahil, rest and recovery focus</a:t>
            </a:r>
            <a:endParaRPr lang="en-US" sz="1000" dirty="0"/>
          </a:p>
        </p:txBody>
      </p:sp>
      <p:sp>
        <p:nvSpPr>
          <p:cNvPr id="21" name="Shape 19"/>
          <p:cNvSpPr/>
          <p:nvPr/>
        </p:nvSpPr>
        <p:spPr>
          <a:xfrm>
            <a:off x="762000" y="6350000"/>
            <a:ext cx="14732000" cy="698500"/>
          </a:xfrm>
          <a:prstGeom prst="rect">
            <a:avLst/>
          </a:prstGeom>
          <a:solidFill>
            <a:srgbClr val="0E3B2E"/>
          </a:solidFill>
          <a:ln/>
        </p:spPr>
      </p:sp>
      <p:sp>
        <p:nvSpPr>
          <p:cNvPr id="22" name="Text 20"/>
          <p:cNvSpPr/>
          <p:nvPr/>
        </p:nvSpPr>
        <p:spPr>
          <a:xfrm>
            <a:off x="1016000" y="6413500"/>
            <a:ext cx="14224000" cy="571500"/>
          </a:xfrm>
          <a:prstGeom prst="rect">
            <a:avLst/>
          </a:prstGeom>
          <a:noFill/>
          <a:ln/>
        </p:spPr>
        <p:txBody>
          <a:bodyPr wrap="square" lIns="0" tIns="0" rIns="0" bIns="0" rtlCol="0" anchor="ctr"/>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Wellness patients are your foundation — they come regularly, refer others, and sustain your practice. Design attractive maintenance packages and educate patients on the preventive benefits of seasonal Hijama.</a:t>
            </a:r>
            <a:endParaRPr lang="en-US" sz="1200" dirty="0"/>
          </a:p>
        </p:txBody>
      </p:sp>
      <p:sp>
        <p:nvSpPr>
          <p:cNvPr id="23" name="Text 21"/>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10</a:t>
            </a:r>
            <a:endParaRPr lang="en-US" sz="11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M11</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Clinical Conditions and Treatment Plans</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Module 11: Key Takeaways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FIVE ESSENTIAL LESSONS</a:t>
            </a:r>
            <a:endParaRPr lang="en-US" sz="1200" dirty="0"/>
          </a:p>
        </p:txBody>
      </p:sp>
      <p:sp>
        <p:nvSpPr>
          <p:cNvPr id="9" name="Shape 7"/>
          <p:cNvSpPr/>
          <p:nvPr/>
        </p:nvSpPr>
        <p:spPr>
          <a:xfrm>
            <a:off x="762000" y="2032000"/>
            <a:ext cx="7112000" cy="863600"/>
          </a:xfrm>
          <a:prstGeom prst="rect">
            <a:avLst/>
          </a:prstGeom>
          <a:solidFill>
            <a:srgbClr val="0E3B2E"/>
          </a:solidFill>
          <a:ln/>
        </p:spPr>
      </p:sp>
      <p:sp>
        <p:nvSpPr>
          <p:cNvPr id="10" name="Text 8"/>
          <p:cNvSpPr/>
          <p:nvPr/>
        </p:nvSpPr>
        <p:spPr>
          <a:xfrm>
            <a:off x="889000" y="20955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1</a:t>
            </a:r>
            <a:endParaRPr lang="en-US" sz="2200" dirty="0"/>
          </a:p>
        </p:txBody>
      </p:sp>
      <p:sp>
        <p:nvSpPr>
          <p:cNvPr id="11" name="Text 9"/>
          <p:cNvSpPr/>
          <p:nvPr/>
        </p:nvSpPr>
        <p:spPr>
          <a:xfrm>
            <a:off x="1397000" y="20955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Adapt protocols to the condition.</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Musculoskeletal pain needs local points + distal. Systemic conditions need sunnah points + organ-related back points.</a:t>
            </a:r>
            <a:endParaRPr lang="en-US" sz="1200" dirty="0"/>
          </a:p>
        </p:txBody>
      </p:sp>
      <p:sp>
        <p:nvSpPr>
          <p:cNvPr id="12" name="Shape 10"/>
          <p:cNvSpPr/>
          <p:nvPr/>
        </p:nvSpPr>
        <p:spPr>
          <a:xfrm>
            <a:off x="762000" y="3022600"/>
            <a:ext cx="7112000" cy="863600"/>
          </a:xfrm>
          <a:prstGeom prst="rect">
            <a:avLst/>
          </a:prstGeom>
          <a:solidFill>
            <a:srgbClr val="F0EDE7"/>
          </a:solidFill>
          <a:ln/>
        </p:spPr>
      </p:sp>
      <p:sp>
        <p:nvSpPr>
          <p:cNvPr id="13" name="Text 11"/>
          <p:cNvSpPr/>
          <p:nvPr/>
        </p:nvSpPr>
        <p:spPr>
          <a:xfrm>
            <a:off x="889000" y="3086100"/>
            <a:ext cx="457200" cy="457200"/>
          </a:xfrm>
          <a:prstGeom prst="rect">
            <a:avLst/>
          </a:prstGeom>
          <a:noFill/>
          <a:ln/>
        </p:spPr>
        <p:txBody>
          <a:bodyPr wrap="none" lIns="0" tIns="0" rIns="0" bIns="0" rtlCol="0" anchor="ctr"/>
          <a:lstStyle/>
          <a:p>
            <a:pPr algn="ctr">
              <a:lnSpc>
                <a:spcPct val="120000"/>
              </a:lnSpc>
            </a:pPr>
            <a:r>
              <a:rPr lang="en-US" sz="2200" dirty="0">
                <a:solidFill>
                  <a:srgbClr val="0E3B2E"/>
                </a:solidFill>
                <a:latin typeface="Oranienbaum" pitchFamily="34" charset="0"/>
                <a:ea typeface="Oranienbaum" pitchFamily="34" charset="-122"/>
                <a:cs typeface="Oranienbaum" pitchFamily="34" charset="-120"/>
              </a:rPr>
              <a:t>2</a:t>
            </a:r>
            <a:endParaRPr lang="en-US" sz="2200" dirty="0"/>
          </a:p>
        </p:txBody>
      </p:sp>
      <p:sp>
        <p:nvSpPr>
          <p:cNvPr id="14" name="Text 12"/>
          <p:cNvSpPr/>
          <p:nvPr/>
        </p:nvSpPr>
        <p:spPr>
          <a:xfrm>
            <a:off x="1397000" y="3086100"/>
            <a:ext cx="6350000" cy="698500"/>
          </a:xfrm>
          <a:prstGeom prst="rect">
            <a:avLst/>
          </a:prstGeom>
          <a:noFill/>
          <a:ln/>
        </p:spPr>
        <p:txBody>
          <a:bodyPr wrap="square" lIns="0" tIns="0" rIns="0" bIns="0" rtlCol="0" anchor="t"/>
          <a:lstStyle/>
          <a:p>
            <a:pPr algn="l">
              <a:lnSpc>
                <a:spcPct val="140000"/>
              </a:lnSpc>
            </a:pPr>
            <a:r>
              <a:rPr lang="en-US" sz="1200" b="1" dirty="0">
                <a:solidFill>
                  <a:srgbClr val="1A1A1A"/>
                </a:solidFill>
                <a:latin typeface="Quattrocento Sans" pitchFamily="34" charset="0"/>
                <a:ea typeface="Quattrocento Sans" pitchFamily="34" charset="-122"/>
                <a:cs typeface="Quattrocento Sans" pitchFamily="34" charset="-120"/>
              </a:rPr>
              <a:t>Know your red flags.</a:t>
            </a:r>
            <a:pPr algn="l">
              <a:lnSpc>
                <a:spcPct val="140000"/>
              </a:lnSpc>
            </a:pPr>
            <a:r>
              <a:rPr lang="en-US" sz="1200" dirty="0">
                <a:solidFill>
                  <a:srgbClr val="1A1A1A"/>
                </a:solidFill>
                <a:latin typeface="Quattrocento Sans" pitchFamily="34" charset="0"/>
                <a:ea typeface="Quattrocento Sans" pitchFamily="34" charset="-122"/>
                <a:cs typeface="Quattrocento Sans" pitchFamily="34" charset="-120"/>
              </a:rPr>
              <a:t> Neurological symptoms, thunderclap headaches, unexplained weight loss — refer immediately. Your scope is complementary.</a:t>
            </a:r>
            <a:endParaRPr lang="en-US" sz="1200" dirty="0"/>
          </a:p>
        </p:txBody>
      </p:sp>
      <p:sp>
        <p:nvSpPr>
          <p:cNvPr id="15" name="Shape 13"/>
          <p:cNvSpPr/>
          <p:nvPr/>
        </p:nvSpPr>
        <p:spPr>
          <a:xfrm>
            <a:off x="762000" y="4013200"/>
            <a:ext cx="7112000" cy="863600"/>
          </a:xfrm>
          <a:prstGeom prst="rect">
            <a:avLst/>
          </a:prstGeom>
          <a:solidFill>
            <a:srgbClr val="0E3B2E"/>
          </a:solidFill>
          <a:ln/>
        </p:spPr>
      </p:sp>
      <p:sp>
        <p:nvSpPr>
          <p:cNvPr id="16" name="Text 14"/>
          <p:cNvSpPr/>
          <p:nvPr/>
        </p:nvSpPr>
        <p:spPr>
          <a:xfrm>
            <a:off x="889000" y="40767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3</a:t>
            </a:r>
            <a:endParaRPr lang="en-US" sz="2200" dirty="0"/>
          </a:p>
        </p:txBody>
      </p:sp>
      <p:sp>
        <p:nvSpPr>
          <p:cNvPr id="17" name="Text 15"/>
          <p:cNvSpPr/>
          <p:nvPr/>
        </p:nvSpPr>
        <p:spPr>
          <a:xfrm>
            <a:off x="1397000" y="40767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Never cup the abdomen.</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All digestive points are on the back. Facial cupping is dry only. Respect anatomical boundaries.</a:t>
            </a:r>
            <a:endParaRPr lang="en-US" sz="1200" dirty="0"/>
          </a:p>
        </p:txBody>
      </p:sp>
      <p:sp>
        <p:nvSpPr>
          <p:cNvPr id="18" name="Shape 16"/>
          <p:cNvSpPr/>
          <p:nvPr/>
        </p:nvSpPr>
        <p:spPr>
          <a:xfrm>
            <a:off x="762000" y="5003800"/>
            <a:ext cx="7112000" cy="863600"/>
          </a:xfrm>
          <a:prstGeom prst="rect">
            <a:avLst/>
          </a:prstGeom>
          <a:solidFill>
            <a:srgbClr val="F0EDE7"/>
          </a:solidFill>
          <a:ln/>
        </p:spPr>
      </p:sp>
      <p:sp>
        <p:nvSpPr>
          <p:cNvPr id="19" name="Text 17"/>
          <p:cNvSpPr/>
          <p:nvPr/>
        </p:nvSpPr>
        <p:spPr>
          <a:xfrm>
            <a:off x="889000" y="5067300"/>
            <a:ext cx="457200" cy="457200"/>
          </a:xfrm>
          <a:prstGeom prst="rect">
            <a:avLst/>
          </a:prstGeom>
          <a:noFill/>
          <a:ln/>
        </p:spPr>
        <p:txBody>
          <a:bodyPr wrap="none" lIns="0" tIns="0" rIns="0" bIns="0" rtlCol="0" anchor="ctr"/>
          <a:lstStyle/>
          <a:p>
            <a:pPr algn="ctr">
              <a:lnSpc>
                <a:spcPct val="120000"/>
              </a:lnSpc>
            </a:pPr>
            <a:r>
              <a:rPr lang="en-US" sz="2200" dirty="0">
                <a:solidFill>
                  <a:srgbClr val="0E3B2E"/>
                </a:solidFill>
                <a:latin typeface="Oranienbaum" pitchFamily="34" charset="0"/>
                <a:ea typeface="Oranienbaum" pitchFamily="34" charset="-122"/>
                <a:cs typeface="Oranienbaum" pitchFamily="34" charset="-120"/>
              </a:rPr>
              <a:t>4</a:t>
            </a:r>
            <a:endParaRPr lang="en-US" sz="2200" dirty="0"/>
          </a:p>
        </p:txBody>
      </p:sp>
      <p:sp>
        <p:nvSpPr>
          <p:cNvPr id="20" name="Text 18"/>
          <p:cNvSpPr/>
          <p:nvPr/>
        </p:nvSpPr>
        <p:spPr>
          <a:xfrm>
            <a:off x="1397000" y="5067300"/>
            <a:ext cx="6350000" cy="698500"/>
          </a:xfrm>
          <a:prstGeom prst="rect">
            <a:avLst/>
          </a:prstGeom>
          <a:noFill/>
          <a:ln/>
        </p:spPr>
        <p:txBody>
          <a:bodyPr wrap="square" lIns="0" tIns="0" rIns="0" bIns="0" rtlCol="0" anchor="t"/>
          <a:lstStyle/>
          <a:p>
            <a:pPr algn="l">
              <a:lnSpc>
                <a:spcPct val="140000"/>
              </a:lnSpc>
            </a:pPr>
            <a:r>
              <a:rPr lang="en-US" sz="1200" b="1" dirty="0">
                <a:solidFill>
                  <a:srgbClr val="1A1A1A"/>
                </a:solidFill>
                <a:latin typeface="Quattrocento Sans" pitchFamily="34" charset="0"/>
                <a:ea typeface="Quattrocento Sans" pitchFamily="34" charset="-122"/>
                <a:cs typeface="Quattrocento Sans" pitchFamily="34" charset="-120"/>
              </a:rPr>
              <a:t>Acute vs chronic matters.</a:t>
            </a:r>
            <a:pPr algn="l">
              <a:lnSpc>
                <a:spcPct val="140000"/>
              </a:lnSpc>
            </a:pPr>
            <a:r>
              <a:rPr lang="en-US" sz="1200" dirty="0">
                <a:solidFill>
                  <a:srgbClr val="1A1A1A"/>
                </a:solidFill>
                <a:latin typeface="Quattrocento Sans" pitchFamily="34" charset="0"/>
                <a:ea typeface="Quattrocento Sans" pitchFamily="34" charset="-122"/>
                <a:cs typeface="Quattrocento Sans" pitchFamily="34" charset="-120"/>
              </a:rPr>
              <a:t> Acute injuries: cup distal only. Chronic injuries: cup local directly. Wrong timing worsens outcomes.</a:t>
            </a:r>
            <a:endParaRPr lang="en-US" sz="1200" dirty="0"/>
          </a:p>
        </p:txBody>
      </p:sp>
      <p:sp>
        <p:nvSpPr>
          <p:cNvPr id="21" name="Shape 19"/>
          <p:cNvSpPr/>
          <p:nvPr/>
        </p:nvSpPr>
        <p:spPr>
          <a:xfrm>
            <a:off x="762000" y="5994400"/>
            <a:ext cx="7112000" cy="863600"/>
          </a:xfrm>
          <a:prstGeom prst="rect">
            <a:avLst/>
          </a:prstGeom>
          <a:solidFill>
            <a:srgbClr val="0E3B2E"/>
          </a:solidFill>
          <a:ln/>
        </p:spPr>
      </p:sp>
      <p:sp>
        <p:nvSpPr>
          <p:cNvPr id="22" name="Text 20"/>
          <p:cNvSpPr/>
          <p:nvPr/>
        </p:nvSpPr>
        <p:spPr>
          <a:xfrm>
            <a:off x="889000" y="6057900"/>
            <a:ext cx="457200" cy="457200"/>
          </a:xfrm>
          <a:prstGeom prst="rect">
            <a:avLst/>
          </a:prstGeom>
          <a:noFill/>
          <a:ln/>
        </p:spPr>
        <p:txBody>
          <a:bodyPr wrap="none" lIns="0" tIns="0" rIns="0" bIns="0" rtlCol="0" anchor="ctr"/>
          <a:lstStyle/>
          <a:p>
            <a:pPr algn="ctr">
              <a:lnSpc>
                <a:spcPct val="120000"/>
              </a:lnSpc>
            </a:pPr>
            <a:r>
              <a:rPr lang="en-US" sz="2200" dirty="0">
                <a:solidFill>
                  <a:srgbClr val="C7A25A"/>
                </a:solidFill>
                <a:latin typeface="Oranienbaum" pitchFamily="34" charset="0"/>
                <a:ea typeface="Oranienbaum" pitchFamily="34" charset="-122"/>
                <a:cs typeface="Oranienbaum" pitchFamily="34" charset="-120"/>
              </a:rPr>
              <a:t>5</a:t>
            </a:r>
            <a:endParaRPr lang="en-US" sz="2200" dirty="0"/>
          </a:p>
        </p:txBody>
      </p:sp>
      <p:sp>
        <p:nvSpPr>
          <p:cNvPr id="23" name="Text 21"/>
          <p:cNvSpPr/>
          <p:nvPr/>
        </p:nvSpPr>
        <p:spPr>
          <a:xfrm>
            <a:off x="1397000" y="6057900"/>
            <a:ext cx="6350000" cy="698500"/>
          </a:xfrm>
          <a:prstGeom prst="rect">
            <a:avLst/>
          </a:prstGeom>
          <a:noFill/>
          <a:ln/>
        </p:spPr>
        <p:txBody>
          <a:bodyPr wrap="square" lIns="0" tIns="0" rIns="0" bIns="0" rtlCol="0" anchor="t"/>
          <a:lstStyle/>
          <a:p>
            <a:pPr algn="l">
              <a:lnSpc>
                <a:spcPct val="140000"/>
              </a:lnSpc>
            </a:pPr>
            <a:r>
              <a:rPr lang="en-US" sz="1200" b="1" dirty="0">
                <a:solidFill>
                  <a:srgbClr val="F6F3EE"/>
                </a:solidFill>
                <a:latin typeface="Quattrocento Sans" pitchFamily="34" charset="0"/>
                <a:ea typeface="Quattrocento Sans" pitchFamily="34" charset="-122"/>
                <a:cs typeface="Quattrocento Sans" pitchFamily="34" charset="-120"/>
              </a:rPr>
              <a:t>Wellness is prevention.</a:t>
            </a:r>
            <a:pPr algn="l">
              <a:lnSpc>
                <a:spcPct val="140000"/>
              </a:lnSpc>
            </a:pPr>
            <a:r>
              <a:rPr lang="en-US" sz="1200" dirty="0">
                <a:solidFill>
                  <a:srgbClr val="F6F3EE"/>
                </a:solidFill>
                <a:latin typeface="Quattrocento Sans" pitchFamily="34" charset="0"/>
                <a:ea typeface="Quattrocento Sans" pitchFamily="34" charset="-122"/>
                <a:cs typeface="Quattrocento Sans" pitchFamily="34" charset="-120"/>
              </a:rPr>
              <a:t> Seasonal Hijama, monthly maintenance, and patient education build a sustainable practice and healthier community.</a:t>
            </a:r>
            <a:endParaRPr lang="en-US" sz="1200" dirty="0"/>
          </a:p>
        </p:txBody>
      </p:sp>
      <p:sp>
        <p:nvSpPr>
          <p:cNvPr id="24" name="Shape 22"/>
          <p:cNvSpPr/>
          <p:nvPr/>
        </p:nvSpPr>
        <p:spPr>
          <a:xfrm>
            <a:off x="8255000" y="2032000"/>
            <a:ext cx="7239000" cy="4826000"/>
          </a:xfrm>
          <a:prstGeom prst="rect">
            <a:avLst/>
          </a:prstGeom>
          <a:solidFill>
            <a:srgbClr val="0E3B2E"/>
          </a:solidFill>
          <a:ln/>
        </p:spPr>
      </p:sp>
      <p:sp>
        <p:nvSpPr>
          <p:cNvPr id="25" name="Text 23"/>
          <p:cNvSpPr/>
          <p:nvPr/>
        </p:nvSpPr>
        <p:spPr>
          <a:xfrm>
            <a:off x="8572500" y="2222500"/>
            <a:ext cx="3810000" cy="254000"/>
          </a:xfrm>
          <a:prstGeom prst="rect">
            <a:avLst/>
          </a:prstGeom>
          <a:noFill/>
          <a:ln/>
        </p:spPr>
        <p:txBody>
          <a:bodyPr wrap="none" lIns="0" tIns="0" rIns="0" bIns="0" rtlCol="0" anchor="ctr"/>
          <a:lstStyle/>
          <a:p>
            <a:pPr algn="l">
              <a:lnSpc>
                <a:spcPct val="120000"/>
              </a:lnSpc>
            </a:pPr>
            <a:r>
              <a:rPr lang="en-US" sz="1100" spc="300" kern="0" dirty="0">
                <a:solidFill>
                  <a:srgbClr val="C7A25A"/>
                </a:solidFill>
                <a:latin typeface="Quattrocento Sans" pitchFamily="34" charset="0"/>
                <a:ea typeface="Quattrocento Sans" pitchFamily="34" charset="-122"/>
                <a:cs typeface="Quattrocento Sans" pitchFamily="34" charset="-120"/>
              </a:rPr>
              <a:t>LOOKING AHEAD: MODULE 12</a:t>
            </a:r>
            <a:endParaRPr lang="en-US" sz="1100" dirty="0"/>
          </a:p>
        </p:txBody>
      </p:sp>
      <p:sp>
        <p:nvSpPr>
          <p:cNvPr id="26" name="Shape 24"/>
          <p:cNvSpPr/>
          <p:nvPr/>
        </p:nvSpPr>
        <p:spPr>
          <a:xfrm>
            <a:off x="8572500" y="2540000"/>
            <a:ext cx="635000" cy="25400"/>
          </a:xfrm>
          <a:prstGeom prst="rect">
            <a:avLst/>
          </a:prstGeom>
          <a:solidFill>
            <a:srgbClr val="C7A25A"/>
          </a:solidFill>
          <a:ln/>
        </p:spPr>
      </p:sp>
      <p:sp>
        <p:nvSpPr>
          <p:cNvPr id="27" name="Text 25"/>
          <p:cNvSpPr/>
          <p:nvPr/>
        </p:nvSpPr>
        <p:spPr>
          <a:xfrm>
            <a:off x="8572500" y="2730500"/>
            <a:ext cx="6604000" cy="444500"/>
          </a:xfrm>
          <a:prstGeom prst="rect">
            <a:avLst/>
          </a:prstGeom>
          <a:noFill/>
          <a:ln/>
        </p:spPr>
        <p:txBody>
          <a:bodyPr wrap="none" lIns="0" tIns="0" rIns="0" bIns="0" rtlCol="0" anchor="ctr"/>
          <a:lstStyle/>
          <a:p>
            <a:pPr algn="l">
              <a:lnSpc>
                <a:spcPct val="120000"/>
              </a:lnSpc>
            </a:pPr>
            <a:r>
              <a:rPr lang="en-US" sz="2200" dirty="0">
                <a:solidFill>
                  <a:srgbClr val="F6F3EE"/>
                </a:solidFill>
                <a:latin typeface="Oranienbaum" pitchFamily="34" charset="0"/>
                <a:ea typeface="Oranienbaum" pitchFamily="34" charset="-122"/>
                <a:cs typeface="Oranienbaum" pitchFamily="34" charset="-120"/>
              </a:rPr>
              <a:t>Special Populations</a:t>
            </a:r>
            <a:endParaRPr lang="en-US" sz="2200" dirty="0"/>
          </a:p>
        </p:txBody>
      </p:sp>
      <p:sp>
        <p:nvSpPr>
          <p:cNvPr id="28" name="Text 26"/>
          <p:cNvSpPr/>
          <p:nvPr/>
        </p:nvSpPr>
        <p:spPr>
          <a:xfrm>
            <a:off x="8572500" y="3302000"/>
            <a:ext cx="6604000" cy="3365500"/>
          </a:xfrm>
          <a:prstGeom prst="rect">
            <a:avLst/>
          </a:prstGeom>
          <a:noFill/>
          <a:ln/>
        </p:spPr>
        <p:txBody>
          <a:bodyPr wrap="square" lIns="0" tIns="0" rIns="0" bIns="0" rtlCol="0" anchor="t"/>
          <a:lstStyle/>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In Module 12, you will learn:</a:t>
            </a:r>
            <a:endParaRPr lang="en-US" sz="1200" dirty="0"/>
          </a:p>
          <a:p>
            <a:pPr algn="l">
              <a:lnSpc>
                <a:spcPct val="150000"/>
              </a:lnSpc>
              <a:spcBef>
                <a:spcPts val="600"/>
              </a:spcBef>
            </a:pPr>
            <a:r>
              <a:rPr lang="en-US" sz="1200" dirty="0">
                <a:solidFill>
                  <a:srgbClr val="F6F3EE"/>
                </a:solidFill>
                <a:latin typeface="Quattrocento Sans" pitchFamily="34" charset="0"/>
                <a:ea typeface="Quattrocento Sans" pitchFamily="34" charset="-122"/>
                <a:cs typeface="Quattrocento Sans" pitchFamily="34" charset="-120"/>
              </a:rPr>
              <a:t>• Hijama for women (menstruation, fertility, pregnancy)</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Hijama for children and adolescents</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Hijama for elderly patients</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Hijama for chronic disease patients</a:t>
            </a:r>
            <a:endParaRPr lang="en-US" sz="1200" dirty="0"/>
          </a:p>
          <a:p>
            <a:pPr algn="l">
              <a:lnSpc>
                <a:spcPct val="150000"/>
              </a:lnSpc>
            </a:pPr>
            <a:r>
              <a:rPr lang="en-US" sz="1200" dirty="0">
                <a:solidFill>
                  <a:srgbClr val="F6F3EE"/>
                </a:solidFill>
                <a:latin typeface="Quattrocento Sans" pitchFamily="34" charset="0"/>
                <a:ea typeface="Quattrocento Sans" pitchFamily="34" charset="-122"/>
                <a:cs typeface="Quattrocento Sans" pitchFamily="34" charset="-120"/>
              </a:rPr>
              <a:t>• Cultural sensitivity and gender considerations</a:t>
            </a:r>
            <a:endParaRPr lang="en-US" sz="1200" dirty="0"/>
          </a:p>
          <a:p>
            <a:pPr algn="l">
              <a:lnSpc>
                <a:spcPct val="150000"/>
              </a:lnSpc>
              <a:spcBef>
                <a:spcPts val="1000"/>
              </a:spcBef>
            </a:pPr>
            <a:r>
              <a:rPr lang="en-US" sz="1200" dirty="0">
                <a:solidFill>
                  <a:srgbClr val="F6F3EE"/>
                </a:solidFill>
                <a:latin typeface="Quattrocento Sans" pitchFamily="34" charset="0"/>
                <a:ea typeface="Quattrocento Sans" pitchFamily="34" charset="-122"/>
                <a:cs typeface="Quattrocento Sans" pitchFamily="34" charset="-120"/>
              </a:rPr>
              <a:t>The condition-specific protocols from this module are adapted for special populations with modified techniques and precautions.</a:t>
            </a:r>
            <a:endParaRPr lang="en-US" sz="1200" dirty="0"/>
          </a:p>
        </p:txBody>
      </p:sp>
      <p:sp>
        <p:nvSpPr>
          <p:cNvPr id="29" name="Text 27"/>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11</a:t>
            </a:r>
            <a:endParaRPr lang="en-US" sz="11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3B2E"/>
        </a:solidFill>
      </p:bgPr>
    </p:bg>
    <p:spTree>
      <p:nvGrpSpPr>
        <p:cNvPr id="1" name=""/>
        <p:cNvGrpSpPr/>
        <p:nvPr/>
      </p:nvGrpSpPr>
      <p:grpSpPr>
        <a:xfrm>
          <a:off x="0" y="0"/>
          <a:ext cx="0" cy="0"/>
          <a:chOff x="0" y="0"/>
          <a:chExt cx="0" cy="0"/>
        </a:xfrm>
      </p:grpSpPr>
      <p:sp>
        <p:nvSpPr>
          <p:cNvPr id="2" name="Shape 0"/>
          <p:cNvSpPr/>
          <p:nvPr/>
        </p:nvSpPr>
        <p:spPr>
          <a:xfrm>
            <a:off x="6858000" y="2540000"/>
            <a:ext cx="2540000" cy="12700"/>
          </a:xfrm>
          <a:prstGeom prst="rect">
            <a:avLst/>
          </a:prstGeom>
          <a:solidFill>
            <a:srgbClr val="C7A25A"/>
          </a:solidFill>
          <a:ln/>
        </p:spPr>
      </p:sp>
      <p:sp>
        <p:nvSpPr>
          <p:cNvPr id="3" name="Text 1"/>
          <p:cNvSpPr/>
          <p:nvPr/>
        </p:nvSpPr>
        <p:spPr>
          <a:xfrm>
            <a:off x="2413000" y="2794000"/>
            <a:ext cx="11430000" cy="1841500"/>
          </a:xfrm>
          <a:prstGeom prst="rect">
            <a:avLst/>
          </a:prstGeom>
          <a:noFill/>
          <a:ln/>
        </p:spPr>
        <p:txBody>
          <a:bodyPr wrap="square" lIns="0" tIns="0" rIns="0" bIns="0" rtlCol="0" anchor="ctr"/>
          <a:lstStyle/>
          <a:p>
            <a:pPr algn="ctr">
              <a:lnSpc>
                <a:spcPct val="150000"/>
              </a:lnSpc>
            </a:pPr>
            <a:r>
              <a:rPr lang="en-US" sz="2200" i="1" dirty="0">
                <a:solidFill>
                  <a:srgbClr val="F6F3EE"/>
                </a:solidFill>
                <a:latin typeface="Oranienbaum" pitchFamily="34" charset="0"/>
                <a:ea typeface="Oranienbaum" pitchFamily="34" charset="-122"/>
                <a:cs typeface="Oranienbaum" pitchFamily="34" charset="-120"/>
              </a:rPr>
              <a:t>"Cupping is a remedy for every disease. The best treatment is cupping on the 17th, 19th, and 21st of the month."</a:t>
            </a:r>
            <a:endParaRPr lang="en-US" sz="2200" dirty="0"/>
          </a:p>
          <a:p>
            <a:pPr algn="ctr">
              <a:lnSpc>
                <a:spcPct val="150000"/>
              </a:lnSpc>
              <a:spcBef>
                <a:spcPts val="1000"/>
              </a:spcBef>
            </a:pPr>
            <a:r>
              <a:rPr lang="en-US" sz="1600" dirty="0">
                <a:solidFill>
                  <a:srgbClr val="C7A25A"/>
                </a:solidFill>
                <a:latin typeface="Quattrocento Sans" pitchFamily="34" charset="0"/>
                <a:ea typeface="Quattrocento Sans" pitchFamily="34" charset="-122"/>
                <a:cs typeface="Quattrocento Sans" pitchFamily="34" charset="-120"/>
              </a:rPr>
              <a:t>— Sunan Ibn Majah</a:t>
            </a:r>
            <a:endParaRPr lang="en-US" sz="2200" dirty="0"/>
          </a:p>
        </p:txBody>
      </p:sp>
      <p:sp>
        <p:nvSpPr>
          <p:cNvPr id="4" name="Shape 2"/>
          <p:cNvSpPr/>
          <p:nvPr/>
        </p:nvSpPr>
        <p:spPr>
          <a:xfrm>
            <a:off x="6858000" y="5016500"/>
            <a:ext cx="2540000" cy="12700"/>
          </a:xfrm>
          <a:prstGeom prst="rect">
            <a:avLst/>
          </a:prstGeom>
          <a:solidFill>
            <a:srgbClr val="C7A25A"/>
          </a:solidFill>
          <a:ln/>
        </p:spPr>
      </p:sp>
      <p:sp>
        <p:nvSpPr>
          <p:cNvPr id="5" name="Text 3"/>
          <p:cNvSpPr/>
          <p:nvPr/>
        </p:nvSpPr>
        <p:spPr>
          <a:xfrm>
            <a:off x="3048000" y="5270500"/>
            <a:ext cx="10160000" cy="1016000"/>
          </a:xfrm>
          <a:prstGeom prst="rect">
            <a:avLst/>
          </a:prstGeom>
          <a:noFill/>
          <a:ln/>
        </p:spPr>
        <p:txBody>
          <a:bodyPr wrap="square" lIns="0" tIns="0" rIns="0" bIns="0" rtlCol="0" anchor="ctr"/>
          <a:lstStyle/>
          <a:p>
            <a:pPr algn="ctr">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You now have protocols for the most common conditions seen in Hijama practice. Remember: these are starting points. The master practitioner reads the individual before them and adapts with wisdom and care.</a:t>
            </a:r>
            <a:endParaRPr lang="en-US" sz="1400" dirty="0"/>
          </a:p>
        </p:txBody>
      </p:sp>
      <p:sp>
        <p:nvSpPr>
          <p:cNvPr id="6" name="Text 4"/>
          <p:cNvSpPr/>
          <p:nvPr/>
        </p:nvSpPr>
        <p:spPr>
          <a:xfrm>
            <a:off x="4318000" y="6858000"/>
            <a:ext cx="7620000" cy="381000"/>
          </a:xfrm>
          <a:prstGeom prst="rect">
            <a:avLst/>
          </a:prstGeom>
          <a:noFill/>
          <a:ln/>
        </p:spPr>
        <p:txBody>
          <a:bodyPr wrap="none" lIns="0" tIns="0" rIns="0" bIns="0" rtlCol="0" anchor="ctr"/>
          <a:lstStyle/>
          <a:p>
            <a:pPr algn="ctr">
              <a:lnSpc>
                <a:spcPct val="120000"/>
              </a:lnSpc>
            </a:pPr>
            <a:r>
              <a:rPr lang="en-US" sz="1400" spc="400" kern="0" dirty="0">
                <a:solidFill>
                  <a:srgbClr val="C7A25A"/>
                </a:solidFill>
                <a:latin typeface="Quattrocento Sans" pitchFamily="34" charset="0"/>
                <a:ea typeface="Quattrocento Sans" pitchFamily="34" charset="-122"/>
                <a:cs typeface="Quattrocento Sans" pitchFamily="34" charset="-120"/>
              </a:rPr>
              <a:t>MODULE 11 COMPLETE</a:t>
            </a:r>
            <a:endParaRPr lang="en-US" sz="1400" dirty="0"/>
          </a:p>
        </p:txBody>
      </p:sp>
      <p:sp>
        <p:nvSpPr>
          <p:cNvPr id="7" name="Text 5"/>
          <p:cNvSpPr/>
          <p:nvPr/>
        </p:nvSpPr>
        <p:spPr>
          <a:xfrm>
            <a:off x="3048000" y="7366000"/>
            <a:ext cx="10160000" cy="508000"/>
          </a:xfrm>
          <a:prstGeom prst="rect">
            <a:avLst/>
          </a:prstGeom>
          <a:noFill/>
          <a:ln/>
        </p:spPr>
        <p:txBody>
          <a:bodyPr wrap="none" lIns="0" tIns="0" rIns="0" bIns="0" rtlCol="0" anchor="ctr"/>
          <a:lstStyle/>
          <a:p>
            <a:pPr algn="ctr">
              <a:lnSpc>
                <a:spcPct val="120000"/>
              </a:lnSpc>
            </a:pPr>
            <a:r>
              <a:rPr lang="en-US" sz="2800" dirty="0">
                <a:solidFill>
                  <a:srgbClr val="F6F3EE"/>
                </a:solidFill>
                <a:latin typeface="Oranienbaum" pitchFamily="34" charset="0"/>
                <a:ea typeface="Oranienbaum" pitchFamily="34" charset="-122"/>
                <a:cs typeface="Oranienbaum" pitchFamily="34" charset="-120"/>
              </a:rPr>
              <a:t>Clinical Conditions and Treatment Plans</a:t>
            </a:r>
            <a:endParaRPr lang="en-US" sz="2800" dirty="0"/>
          </a:p>
        </p:txBody>
      </p:sp>
      <p:sp>
        <p:nvSpPr>
          <p:cNvPr id="8" name="Text 6"/>
          <p:cNvSpPr/>
          <p:nvPr/>
        </p:nvSpPr>
        <p:spPr>
          <a:xfrm>
            <a:off x="4318000" y="8128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SRA-001 | Module 11: Clinical Conditions and Treatment Plans</dc:title>
  <dc:subject>SRA-001 | Module 11: Clinical Conditions and Treatment Plans</dc:subject>
  <dc:creator>Kimi</dc:creator>
  <cp:lastModifiedBy>Kimi</cp:lastModifiedBy>
  <cp:revision>1</cp:revision>
  <dcterms:created xsi:type="dcterms:W3CDTF">2026-07-06T09:17:49Z</dcterms:created>
  <dcterms:modified xsi:type="dcterms:W3CDTF">2026-07-06T09:17:49Z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{"Label":"SRA-001 | Module 11: Clinical Conditions and Treatment Plans","ContentProducer":"001191110108MACG2KBH8F10000","ProduceID":"19f35451-1452-8d0b-8000-0000c9054425","ReservedCode1":"","ContentPropagator":"001191110108MACG2KBH8F20000","PropagateID":"19f34489-a1f2-82b2-8000-09219025796f","ReservedCode2":""}</vt:lpwstr>
  </property>
</Properties>
</file>