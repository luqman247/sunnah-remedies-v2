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683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Equipment, Instruments &amp; Supplies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413000" y="4826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Cups, Lancets, Sterilisation, and Clinic Setup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032000"/>
            <a:ext cx="508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159000" y="2184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Cup Types, Pump Systems, and Clinical Supplies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59000" y="2641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Plastic, glass, silicone, and bamboo cups; pump systems; lancets; gloves; antiseptics; the SAFE Protocol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59000" y="3429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 types comparison • Pump systems and pressure • Sterile lancets • Clinical supplies • SRA Equipment Checklist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159000" y="43434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Sterilisation, Clinic Setup, and Maintenance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59000" y="4800600"/>
            <a:ext cx="635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Autoclave, chemical, and disposable sterilisation; clean and dirty zones; equipment maintenance and compliance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59000" y="5588000"/>
            <a:ext cx="635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Sterilisation hierarchy • Clinic layout and workflow • Environmental requirements • Stock management • Regulatory compliance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0" y="2032000"/>
            <a:ext cx="6350000" cy="431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9461500" y="228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1500" y="26416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0" y="2857500"/>
            <a:ext cx="571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module equips you with the practical knowledge to select, maintain, and manage all equipment and supplies for safe Hijama practice.</a:t>
            </a:r>
            <a:endParaRPr lang="en-US" sz="14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end of this module, you will:</a:t>
            </a:r>
            <a:endParaRPr lang="en-US" sz="14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Select appropriate cups for each treatment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Understand sterilisation methods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Design a compliant clinic layout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the SAFE Protocol</a:t>
            </a:r>
            <a:endParaRPr lang="en-US" sz="1400" dirty="0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4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"Allah loves those who purify themselves." — Qur'an 2:222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Cup Types, Pump Systems, and Clinical Supplies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Selecting, Using, and Maintaining the Tools of the Trade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Equipment, Instruments &amp; Supplies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Cup Types: Plastic, Glass, Silicone, and Bamboo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302000"/>
        </p:xfrm>
        <a:graphic>
          <a:graphicData uri="http://schemas.openxmlformats.org/drawingml/2006/table">
            <a:tbl>
              <a:tblPr/>
              <a:tblGrid>
                <a:gridCol w="2209800"/>
                <a:gridCol w="3241040"/>
                <a:gridCol w="3241040"/>
                <a:gridCol w="2946400"/>
                <a:gridCol w="309372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 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Advantages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Best For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SRA Rating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709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Plastic disposable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Hygienic, consistent, lightweight, affordable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Single-use, environmental impact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Wet cupping (Hijama)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RECOMMENDED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709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Glass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Durable, excellent suction, traditional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Breakable, requires sterilisation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cupping, fire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Acceptable (dry)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709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Silicone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Flexible, good for sliding, soft edge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 suction, harder to clean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Moving cupping, sensitive areas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Acceptable (dry)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709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Bamboo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Traditional, natural material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Limited pressure control, hard to sterilise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Cultural/traditional settings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recommended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20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 SIZE SELECTION GUIDE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13400"/>
          <a:ext cx="7620000" cy="1968500"/>
        </p:xfrm>
        <a:graphic>
          <a:graphicData uri="http://schemas.openxmlformats.org/drawingml/2006/table">
            <a:tbl>
              <a:tblPr/>
              <a:tblGrid>
                <a:gridCol w="1905000"/>
                <a:gridCol w="2286000"/>
                <a:gridCol w="3429000"/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Diameter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Body Site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 Use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2–3 cm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Neck, face, hands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Small areas, precise placement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4–5 cm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Back, shoulders, thighs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 size for most treatments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6+ cm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Large muscle groups, gluteals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Broad coverage, MFD technique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890000" y="5613400"/>
            <a:ext cx="6604000" cy="215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8"/>
          <p:cNvSpPr/>
          <p:nvPr/>
        </p:nvSpPr>
        <p:spPr>
          <a:xfrm>
            <a:off x="9144000" y="5778500"/>
            <a:ext cx="6096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Position: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Disposable plastic cups are the standard for wet cupping. They eliminate cross-contamination risk and meet regulatory requirements for single-use invasive devices.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Glass and silicone cups are acceptable for dry cupping only with appropriate sterilisation between uses.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62000" y="7937500"/>
            <a:ext cx="14732000" cy="63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0"/>
          <p:cNvSpPr/>
          <p:nvPr/>
        </p:nvSpPr>
        <p:spPr>
          <a:xfrm>
            <a:off x="1016000" y="80391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have multiple cup sizes available. A treatment often requires 2-3 different sizes for optimal coverage.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Equipment, Instruments &amp; Supplies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Pump Systems, Pressure, and Clinical Supplies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PUMP SYSTEMS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4699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993900"/>
            <a:ext cx="50800" cy="127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057400"/>
            <a:ext cx="425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Pump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0600" y="23876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Reliable, portable, no power needed. Hand-squeezed for negative pressure. Lower cost. More effort for multiple cups.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993900"/>
            <a:ext cx="4699000" cy="1270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993900"/>
            <a:ext cx="50800" cy="1270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057400"/>
            <a:ext cx="425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 Pump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0" y="23876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pressure, built-in gauge, efficient for multiple cups. Higher cost, needs power. Preferred for busy practice.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355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PRESSURE PARAMETERS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962400"/>
          <a:ext cx="7620000" cy="1524000"/>
        </p:xfrm>
        <a:graphic>
          <a:graphicData uri="http://schemas.openxmlformats.org/drawingml/2006/table">
            <a:tbl>
              <a:tblPr/>
              <a:tblGrid>
                <a:gridCol w="2286000"/>
                <a:gridCol w="2667000"/>
                <a:gridCol w="26670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Pressure Range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cupping (strong)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-0.05 to -0.08 MPa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5–15 minutes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cupping (gentle)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-0.03 to -0.05 MPa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5–10 minutes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Wet cupping reapplication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Moderate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5–10 minutes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62000" y="5778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SUPPLIES CHECKLIST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184900"/>
          <a:ext cx="7620000" cy="2032000"/>
        </p:xfrm>
        <a:graphic>
          <a:graphicData uri="http://schemas.openxmlformats.org/drawingml/2006/table">
            <a:tbl>
              <a:tblPr/>
              <a:tblGrid>
                <a:gridCol w="2667000"/>
                <a:gridCol w="2667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Item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Specification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Sterile lancets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21G or 23G, safety 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Single-use only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Gloves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Nitrile, non-powdered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Change between patients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Antiseptic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Chlorhexidine 2% or alcohol 70%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Check expiry date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Sharps container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UN-approved, puncture-resistant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Never overfill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9144000" y="3556000"/>
            <a:ext cx="6350000" cy="508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18"/>
          <p:cNvSpPr/>
          <p:nvPr/>
        </p:nvSpPr>
        <p:spPr>
          <a:xfrm>
            <a:off x="9461500" y="3810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Regulatory Compliance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9461500" y="42799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4" name="Text 20"/>
          <p:cNvSpPr/>
          <p:nvPr/>
        </p:nvSpPr>
        <p:spPr>
          <a:xfrm>
            <a:off x="9461500" y="4508500"/>
            <a:ext cx="5715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 Marking (EU):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Cups and lancets must carry CE marking for EU health and safety conformity.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FDA Clearance (USA):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devices should be FDA-cleared or FDA-registered.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MHRA (UK):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devices must be registered with the MHRA.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Requirements: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your local authority's specific requirements.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Equipment, Instruments &amp; Supplies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SRA Equipment Checklist and SAFE Protocol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SAFE PROTOCOL — EQUIPMENT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3429000" cy="152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32000"/>
            <a:ext cx="50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22400" y="209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9000" y="2514600"/>
            <a:ext cx="311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items touching broken skin are sterile. Lancets are single-use only.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1500" y="1993900"/>
            <a:ext cx="3429000" cy="1524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08500" y="2032000"/>
            <a:ext cx="50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41900" y="209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08500" y="2514600"/>
            <a:ext cx="311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1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within reach before the patient enters. No mid-treatment searching.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1993900"/>
            <a:ext cx="3429000" cy="152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00" y="2032000"/>
            <a:ext cx="50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661400" y="209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0" y="2514600"/>
            <a:ext cx="3111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equipment tested before patient arrival. Pump works, cups intact.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620500" y="1993900"/>
            <a:ext cx="3873500" cy="1524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2" name="Text 20"/>
          <p:cNvSpPr/>
          <p:nvPr/>
        </p:nvSpPr>
        <p:spPr>
          <a:xfrm>
            <a:off x="11747500" y="2032000"/>
            <a:ext cx="50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280900" y="2095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Enough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47500" y="2514600"/>
            <a:ext cx="355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Sufficient quantities for the session. Extra supplies for unexpected needs.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000" y="374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PRE-TREATMENT EQUIPMENT CHECKLIST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52900"/>
          <a:ext cx="7874000" cy="3302000"/>
        </p:xfrm>
        <a:graphic>
          <a:graphicData uri="http://schemas.openxmlformats.org/drawingml/2006/table">
            <a:tbl>
              <a:tblPr/>
              <a:tblGrid>
                <a:gridCol w="3149600"/>
                <a:gridCol w="1968500"/>
                <a:gridCol w="2755900"/>
              </a:tblGrid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Item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Check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366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Cups (correct sizes)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Quantity + quality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Sufficient, no defects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66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Pump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Function test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Creates adequate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66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Lancets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Sterile, in date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21G or 23G, safety 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66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Gloves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Size + quantity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Nitrile, non-powdered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66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Antiseptic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 date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Chlorhexidine 2% or alcohol 70%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66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Gauze and dressings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Sufficient stock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Sterile, appropriate size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3665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Sharps container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full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UN-approved, labelled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Waste bags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Available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 waste + general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9144000" y="3746500"/>
            <a:ext cx="6350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8" name="Text 25"/>
          <p:cNvSpPr/>
          <p:nvPr/>
        </p:nvSpPr>
        <p:spPr>
          <a:xfrm>
            <a:off x="9461500" y="4000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Clean Zone Layout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461500" y="4470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0" name="Text 27"/>
          <p:cNvSpPr/>
          <p:nvPr/>
        </p:nvSpPr>
        <p:spPr>
          <a:xfrm>
            <a:off x="9461500" y="4699000"/>
            <a:ext cx="5715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clean zone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where sterile and clean items are stored and used: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Sterile supplies on a clean tray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Pump within reach, not touching sterile field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Fresh cups in original packaging until use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Organisation principles: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Left to right: clean → used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reach over sterile items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items go immediately to dirty zone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Movement: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to dirty only. Never return to clean zone with contaminated hands.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Sterilisation, Clinic Setup, and Maintenance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a Safe, Professional, and Compliant Clinical Environment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Equipment, Instruments &amp; Supplies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Sterilisation Methods: Autoclave, Chemical, Disposable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STERILISATION HIERARCHY — SPALDING CLASSIFICATION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4699000" cy="1143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2057400"/>
            <a:ext cx="425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Items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90600" y="2387600"/>
            <a:ext cx="425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Penetrate skin or enter sterile tissue. Must be STERILE. Lancets, needles. SRA: single-use disposable.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993900"/>
            <a:ext cx="4699000" cy="1143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057400"/>
            <a:ext cx="4254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Semi-Critical Items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387600"/>
            <a:ext cx="425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mucous membranes. High-level disinfection minimum. Reusable glass cups. Autoclave or chemical.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68000" y="1993900"/>
            <a:ext cx="4826000" cy="1143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96600" y="20574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Non-Critical Items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896600" y="23876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intact skin only. Low-level disinfection. Pumps, surfaces, trolleys. Clean between patients.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2000" y="3492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STERILISATION METHODS COMPARED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98900"/>
          <a:ext cx="14732000" cy="25400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3241040"/>
                <a:gridCol w="2651760"/>
                <a:gridCol w="2946400"/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Method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Best For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Validation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SRA Position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70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Autoclave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Steam 121°C, 15-30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Glass cups, metal tools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Biological indicators weekly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Gold standard for reusables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7035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Chemical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Glutaraldehyde 2-8 hrs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Heat-sensitive items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Test strips each cycle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Acceptable alternative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Disposable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Single-use, then discard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Lancets, plastic cups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Manufacturer certification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RECOMMENDED for Hijama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1" name="Text 18"/>
          <p:cNvSpPr/>
          <p:nvPr/>
        </p:nvSpPr>
        <p:spPr>
          <a:xfrm>
            <a:off x="1016000" y="6985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disposable strategy eliminates the risk of sterilisation failure. For a busy practice, it is also more time-efficient. The additional cost is offset by reduced liability and increased patient confidence.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Equipment, Instruments &amp; Supplies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 Setup: Clean Zones, Workflow, and Environment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ZONES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1993900"/>
            <a:ext cx="4699000" cy="139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47012" y="1583"/>
                </a:moveTo>
                <a:cubicBezTo>
                  <a:pt x="144720" y="546"/>
                  <a:pt x="142265" y="0"/>
                  <a:pt x="139700" y="0"/>
                </a:cubicBezTo>
                <a:cubicBezTo>
                  <a:pt x="137135" y="0"/>
                  <a:pt x="134680" y="546"/>
                  <a:pt x="132388" y="1583"/>
                </a:cubicBezTo>
                <a:lnTo>
                  <a:pt x="29632" y="45184"/>
                </a:lnTo>
                <a:cubicBezTo>
                  <a:pt x="17626" y="50259"/>
                  <a:pt x="8677" y="62101"/>
                  <a:pt x="8731" y="76398"/>
                </a:cubicBezTo>
                <a:cubicBezTo>
                  <a:pt x="9004" y="130532"/>
                  <a:pt x="31269" y="229577"/>
                  <a:pt x="125293" y="274598"/>
                </a:cubicBezTo>
                <a:cubicBezTo>
                  <a:pt x="134407" y="278963"/>
                  <a:pt x="144993" y="278963"/>
                  <a:pt x="154107" y="274598"/>
                </a:cubicBezTo>
                <a:cubicBezTo>
                  <a:pt x="248186" y="229577"/>
                  <a:pt x="270450" y="130532"/>
                  <a:pt x="270669" y="76398"/>
                </a:cubicBezTo>
                <a:cubicBezTo>
                  <a:pt x="270723" y="62101"/>
                  <a:pt x="261774" y="50259"/>
                  <a:pt x="249768" y="45184"/>
                </a:cubicBezTo>
                <a:lnTo>
                  <a:pt x="147012" y="1583"/>
                </a:lnTo>
                <a:close/>
                <a:moveTo>
                  <a:pt x="136208" y="100137"/>
                </a:moveTo>
                <a:lnTo>
                  <a:pt x="139700" y="104775"/>
                </a:lnTo>
                <a:lnTo>
                  <a:pt x="143192" y="100137"/>
                </a:lnTo>
                <a:cubicBezTo>
                  <a:pt x="149250" y="92060"/>
                  <a:pt x="158745" y="87313"/>
                  <a:pt x="168786" y="87313"/>
                </a:cubicBezTo>
                <a:cubicBezTo>
                  <a:pt x="186467" y="87313"/>
                  <a:pt x="200819" y="101664"/>
                  <a:pt x="200819" y="119345"/>
                </a:cubicBezTo>
                <a:lnTo>
                  <a:pt x="200819" y="122238"/>
                </a:lnTo>
                <a:cubicBezTo>
                  <a:pt x="200819" y="149032"/>
                  <a:pt x="164911" y="175771"/>
                  <a:pt x="148158" y="186794"/>
                </a:cubicBezTo>
                <a:cubicBezTo>
                  <a:pt x="142974" y="190178"/>
                  <a:pt x="136426" y="190178"/>
                  <a:pt x="131296" y="186794"/>
                </a:cubicBezTo>
                <a:cubicBezTo>
                  <a:pt x="114543" y="175771"/>
                  <a:pt x="78636" y="148977"/>
                  <a:pt x="78636" y="122238"/>
                </a:cubicBezTo>
                <a:lnTo>
                  <a:pt x="78636" y="119345"/>
                </a:lnTo>
                <a:cubicBezTo>
                  <a:pt x="78636" y="101664"/>
                  <a:pt x="92988" y="87313"/>
                  <a:pt x="110669" y="87313"/>
                </a:cubicBezTo>
                <a:cubicBezTo>
                  <a:pt x="120764" y="87313"/>
                  <a:pt x="130259" y="92060"/>
                  <a:pt x="136262" y="100137"/>
                </a:cubicBez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13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Zone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0600" y="2514600"/>
            <a:ext cx="4254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Treatment area. Sterile supplies, clean equipment. Only clean hands and gloved hands enter.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993900"/>
            <a:ext cx="4699000" cy="1397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43656"/>
                </a:moveTo>
                <a:cubicBezTo>
                  <a:pt x="162188" y="43656"/>
                  <a:pt x="180446" y="29963"/>
                  <a:pt x="180446" y="13097"/>
                </a:cubicBezTo>
                <a:cubicBezTo>
                  <a:pt x="180446" y="-3769"/>
                  <a:pt x="162188" y="-17462"/>
                  <a:pt x="139700" y="-17462"/>
                </a:cubicBezTo>
                <a:cubicBezTo>
                  <a:pt x="117212" y="-17462"/>
                  <a:pt x="98954" y="-3769"/>
                  <a:pt x="98954" y="13097"/>
                </a:cubicBezTo>
                <a:cubicBezTo>
                  <a:pt x="98954" y="29963"/>
                  <a:pt x="117212" y="43656"/>
                  <a:pt x="139700" y="43656"/>
                </a:cubicBezTo>
                <a:close/>
                <a:moveTo>
                  <a:pt x="76689" y="124366"/>
                </a:moveTo>
                <a:lnTo>
                  <a:pt x="93133" y="112033"/>
                </a:lnTo>
                <a:lnTo>
                  <a:pt x="93133" y="149850"/>
                </a:lnTo>
                <a:cubicBezTo>
                  <a:pt x="93133" y="165130"/>
                  <a:pt x="102010" y="179700"/>
                  <a:pt x="117508" y="189632"/>
                </a:cubicBezTo>
                <a:lnTo>
                  <a:pt x="169459" y="223029"/>
                </a:lnTo>
                <a:cubicBezTo>
                  <a:pt x="173752" y="225812"/>
                  <a:pt x="176590" y="229632"/>
                  <a:pt x="177390" y="233834"/>
                </a:cubicBezTo>
                <a:lnTo>
                  <a:pt x="186558" y="281910"/>
                </a:lnTo>
                <a:cubicBezTo>
                  <a:pt x="188377" y="291460"/>
                  <a:pt x="200164" y="298118"/>
                  <a:pt x="212897" y="296753"/>
                </a:cubicBezTo>
                <a:cubicBezTo>
                  <a:pt x="225630" y="295389"/>
                  <a:pt x="234507" y="286549"/>
                  <a:pt x="232688" y="276999"/>
                </a:cubicBezTo>
                <a:lnTo>
                  <a:pt x="223520" y="228922"/>
                </a:lnTo>
                <a:cubicBezTo>
                  <a:pt x="221119" y="216317"/>
                  <a:pt x="212679" y="204857"/>
                  <a:pt x="199800" y="196562"/>
                </a:cubicBezTo>
                <a:lnTo>
                  <a:pt x="174698" y="180409"/>
                </a:lnTo>
                <a:lnTo>
                  <a:pt x="174698" y="117544"/>
                </a:lnTo>
                <a:lnTo>
                  <a:pt x="177463" y="120109"/>
                </a:lnTo>
                <a:cubicBezTo>
                  <a:pt x="190705" y="132551"/>
                  <a:pt x="210787" y="139755"/>
                  <a:pt x="232033" y="139755"/>
                </a:cubicBezTo>
                <a:lnTo>
                  <a:pt x="256189" y="139755"/>
                </a:lnTo>
                <a:cubicBezTo>
                  <a:pt x="269068" y="139755"/>
                  <a:pt x="279473" y="131951"/>
                  <a:pt x="279473" y="122292"/>
                </a:cubicBezTo>
                <a:cubicBezTo>
                  <a:pt x="279473" y="112633"/>
                  <a:pt x="269068" y="104830"/>
                  <a:pt x="256189" y="104830"/>
                </a:cubicBezTo>
                <a:lnTo>
                  <a:pt x="232033" y="104830"/>
                </a:lnTo>
                <a:cubicBezTo>
                  <a:pt x="224975" y="104830"/>
                  <a:pt x="218281" y="102428"/>
                  <a:pt x="213843" y="98281"/>
                </a:cubicBezTo>
                <a:lnTo>
                  <a:pt x="200819" y="86057"/>
                </a:lnTo>
                <a:cubicBezTo>
                  <a:pt x="184084" y="70341"/>
                  <a:pt x="158690" y="61173"/>
                  <a:pt x="131842" y="61173"/>
                </a:cubicBezTo>
                <a:cubicBezTo>
                  <a:pt x="108413" y="61173"/>
                  <a:pt x="85930" y="68158"/>
                  <a:pt x="69413" y="80600"/>
                </a:cubicBezTo>
                <a:lnTo>
                  <a:pt x="43729" y="99645"/>
                </a:lnTo>
                <a:cubicBezTo>
                  <a:pt x="30632" y="109468"/>
                  <a:pt x="23283" y="122783"/>
                  <a:pt x="23283" y="136699"/>
                </a:cubicBezTo>
                <a:lnTo>
                  <a:pt x="23283" y="157163"/>
                </a:lnTo>
                <a:cubicBezTo>
                  <a:pt x="23283" y="166821"/>
                  <a:pt x="33688" y="174625"/>
                  <a:pt x="46567" y="174625"/>
                </a:cubicBezTo>
                <a:cubicBezTo>
                  <a:pt x="59445" y="174625"/>
                  <a:pt x="69850" y="166821"/>
                  <a:pt x="69850" y="157163"/>
                </a:cubicBezTo>
                <a:lnTo>
                  <a:pt x="69850" y="136699"/>
                </a:lnTo>
                <a:cubicBezTo>
                  <a:pt x="69850" y="132060"/>
                  <a:pt x="72324" y="127640"/>
                  <a:pt x="76689" y="124366"/>
                </a:cubicBezTo>
                <a:close/>
                <a:moveTo>
                  <a:pt x="85712" y="222265"/>
                </a:moveTo>
                <a:cubicBezTo>
                  <a:pt x="84620" y="225103"/>
                  <a:pt x="82583" y="227722"/>
                  <a:pt x="79818" y="229796"/>
                </a:cubicBezTo>
                <a:lnTo>
                  <a:pt x="30123" y="267067"/>
                </a:lnTo>
                <a:cubicBezTo>
                  <a:pt x="21028" y="273888"/>
                  <a:pt x="21028" y="284966"/>
                  <a:pt x="30123" y="291787"/>
                </a:cubicBezTo>
                <a:cubicBezTo>
                  <a:pt x="39218" y="298609"/>
                  <a:pt x="53988" y="298609"/>
                  <a:pt x="63083" y="291787"/>
                </a:cubicBezTo>
                <a:lnTo>
                  <a:pt x="112779" y="254516"/>
                </a:lnTo>
                <a:cubicBezTo>
                  <a:pt x="121146" y="248240"/>
                  <a:pt x="127258" y="240437"/>
                  <a:pt x="130532" y="231869"/>
                </a:cubicBezTo>
                <a:lnTo>
                  <a:pt x="132133" y="227722"/>
                </a:lnTo>
                <a:lnTo>
                  <a:pt x="98663" y="206221"/>
                </a:lnTo>
                <a:cubicBezTo>
                  <a:pt x="96844" y="205021"/>
                  <a:pt x="95025" y="203820"/>
                  <a:pt x="93279" y="202510"/>
                </a:cubicBezTo>
                <a:lnTo>
                  <a:pt x="85712" y="222265"/>
                </a:lnTo>
                <a:close/>
              </a:path>
            </a:pathLst>
          </a:cu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600" y="213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Neutral Zone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0" y="2514600"/>
            <a:ext cx="4254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entry, waiting area, consultation space. No clinical procedures. Hand hygiene station.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68000" y="1993900"/>
            <a:ext cx="4826000" cy="1397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96600" y="2159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26118" y="6876"/>
                </a:moveTo>
                <a:cubicBezTo>
                  <a:pt x="126118" y="2347"/>
                  <a:pt x="122432" y="-1037"/>
                  <a:pt x="118599" y="273"/>
                </a:cubicBezTo>
                <a:cubicBezTo>
                  <a:pt x="89059" y="10532"/>
                  <a:pt x="67619" y="41637"/>
                  <a:pt x="67619" y="78363"/>
                </a:cubicBezTo>
                <a:cubicBezTo>
                  <a:pt x="67619" y="92060"/>
                  <a:pt x="70578" y="104939"/>
                  <a:pt x="75865" y="116289"/>
                </a:cubicBezTo>
                <a:cubicBezTo>
                  <a:pt x="65678" y="117272"/>
                  <a:pt x="55492" y="120764"/>
                  <a:pt x="46033" y="126931"/>
                </a:cubicBezTo>
                <a:cubicBezTo>
                  <a:pt x="17948" y="145266"/>
                  <a:pt x="4899" y="181610"/>
                  <a:pt x="11642" y="215607"/>
                </a:cubicBezTo>
                <a:cubicBezTo>
                  <a:pt x="12563" y="220191"/>
                  <a:pt x="17171" y="222156"/>
                  <a:pt x="20809" y="219755"/>
                </a:cubicBezTo>
                <a:cubicBezTo>
                  <a:pt x="23235" y="218172"/>
                  <a:pt x="24496" y="215062"/>
                  <a:pt x="24253" y="211897"/>
                </a:cubicBezTo>
                <a:cubicBezTo>
                  <a:pt x="24108" y="210096"/>
                  <a:pt x="24059" y="208295"/>
                  <a:pt x="24059" y="206385"/>
                </a:cubicBezTo>
                <a:cubicBezTo>
                  <a:pt x="24059" y="138991"/>
                  <a:pt x="113506" y="138991"/>
                  <a:pt x="113506" y="206385"/>
                </a:cubicBezTo>
                <a:cubicBezTo>
                  <a:pt x="113506" y="254625"/>
                  <a:pt x="67667" y="268377"/>
                  <a:pt x="41619" y="247531"/>
                </a:cubicBezTo>
                <a:cubicBezTo>
                  <a:pt x="39436" y="245785"/>
                  <a:pt x="36526" y="245403"/>
                  <a:pt x="34197" y="246931"/>
                </a:cubicBezTo>
                <a:cubicBezTo>
                  <a:pt x="30802" y="249168"/>
                  <a:pt x="30026" y="254352"/>
                  <a:pt x="32888" y="257354"/>
                </a:cubicBezTo>
                <a:cubicBezTo>
                  <a:pt x="55492" y="281255"/>
                  <a:pt x="90126" y="286767"/>
                  <a:pt x="118308" y="268377"/>
                </a:cubicBezTo>
                <a:cubicBezTo>
                  <a:pt x="126991" y="262701"/>
                  <a:pt x="134219" y="255334"/>
                  <a:pt x="139894" y="246876"/>
                </a:cubicBezTo>
                <a:cubicBezTo>
                  <a:pt x="145569" y="255389"/>
                  <a:pt x="152797" y="262756"/>
                  <a:pt x="161480" y="268377"/>
                </a:cubicBezTo>
                <a:cubicBezTo>
                  <a:pt x="189662" y="286767"/>
                  <a:pt x="224296" y="281255"/>
                  <a:pt x="246900" y="257354"/>
                </a:cubicBezTo>
                <a:cubicBezTo>
                  <a:pt x="249762" y="254352"/>
                  <a:pt x="248986" y="249113"/>
                  <a:pt x="245591" y="246931"/>
                </a:cubicBezTo>
                <a:cubicBezTo>
                  <a:pt x="243262" y="245403"/>
                  <a:pt x="240352" y="245785"/>
                  <a:pt x="238169" y="247531"/>
                </a:cubicBezTo>
                <a:cubicBezTo>
                  <a:pt x="212121" y="268377"/>
                  <a:pt x="166282" y="254625"/>
                  <a:pt x="166282" y="206385"/>
                </a:cubicBezTo>
                <a:cubicBezTo>
                  <a:pt x="166282" y="138991"/>
                  <a:pt x="255729" y="138991"/>
                  <a:pt x="255729" y="206385"/>
                </a:cubicBezTo>
                <a:cubicBezTo>
                  <a:pt x="255729" y="208240"/>
                  <a:pt x="255680" y="210096"/>
                  <a:pt x="255535" y="211897"/>
                </a:cubicBezTo>
                <a:cubicBezTo>
                  <a:pt x="255292" y="215062"/>
                  <a:pt x="256553" y="218172"/>
                  <a:pt x="258979" y="219755"/>
                </a:cubicBezTo>
                <a:cubicBezTo>
                  <a:pt x="262568" y="222101"/>
                  <a:pt x="267225" y="220191"/>
                  <a:pt x="268146" y="215607"/>
                </a:cubicBezTo>
                <a:cubicBezTo>
                  <a:pt x="274889" y="181665"/>
                  <a:pt x="261840" y="145266"/>
                  <a:pt x="233755" y="126931"/>
                </a:cubicBezTo>
                <a:cubicBezTo>
                  <a:pt x="224296" y="120764"/>
                  <a:pt x="214158" y="117272"/>
                  <a:pt x="203923" y="116289"/>
                </a:cubicBezTo>
                <a:cubicBezTo>
                  <a:pt x="209210" y="104939"/>
                  <a:pt x="212169" y="92060"/>
                  <a:pt x="212169" y="78363"/>
                </a:cubicBezTo>
                <a:cubicBezTo>
                  <a:pt x="212169" y="41637"/>
                  <a:pt x="190729" y="10532"/>
                  <a:pt x="161189" y="273"/>
                </a:cubicBezTo>
                <a:cubicBezTo>
                  <a:pt x="157357" y="-1037"/>
                  <a:pt x="153670" y="2347"/>
                  <a:pt x="153670" y="6876"/>
                </a:cubicBezTo>
                <a:cubicBezTo>
                  <a:pt x="153670" y="10096"/>
                  <a:pt x="155610" y="12879"/>
                  <a:pt x="158278" y="14079"/>
                </a:cubicBezTo>
                <a:cubicBezTo>
                  <a:pt x="198733" y="32415"/>
                  <a:pt x="192621" y="111433"/>
                  <a:pt x="139943" y="111433"/>
                </a:cubicBezTo>
                <a:cubicBezTo>
                  <a:pt x="87264" y="111433"/>
                  <a:pt x="81055" y="32415"/>
                  <a:pt x="121510" y="14079"/>
                </a:cubicBezTo>
                <a:cubicBezTo>
                  <a:pt x="124178" y="12879"/>
                  <a:pt x="126118" y="10096"/>
                  <a:pt x="126118" y="6876"/>
                </a:cubicBezTo>
                <a:close/>
                <a:moveTo>
                  <a:pt x="120491" y="157163"/>
                </a:moveTo>
                <a:cubicBezTo>
                  <a:pt x="120491" y="149364"/>
                  <a:pt x="124189" y="142158"/>
                  <a:pt x="130193" y="138259"/>
                </a:cubicBezTo>
                <a:cubicBezTo>
                  <a:pt x="136196" y="134360"/>
                  <a:pt x="143592" y="134360"/>
                  <a:pt x="149595" y="138259"/>
                </a:cubicBezTo>
                <a:cubicBezTo>
                  <a:pt x="155599" y="142158"/>
                  <a:pt x="159297" y="149364"/>
                  <a:pt x="159297" y="157163"/>
                </a:cubicBezTo>
                <a:cubicBezTo>
                  <a:pt x="159297" y="169210"/>
                  <a:pt x="150603" y="178991"/>
                  <a:pt x="139894" y="178991"/>
                </a:cubicBezTo>
                <a:cubicBezTo>
                  <a:pt x="129185" y="178991"/>
                  <a:pt x="120491" y="169210"/>
                  <a:pt x="120491" y="157163"/>
                </a:cubicBezTo>
                <a:close/>
                <a:moveTo>
                  <a:pt x="211005" y="173370"/>
                </a:moveTo>
                <a:cubicBezTo>
                  <a:pt x="203147" y="173370"/>
                  <a:pt x="195774" y="176371"/>
                  <a:pt x="190584" y="181555"/>
                </a:cubicBezTo>
                <a:cubicBezTo>
                  <a:pt x="185685" y="186521"/>
                  <a:pt x="181804" y="194325"/>
                  <a:pt x="181804" y="206439"/>
                </a:cubicBezTo>
                <a:cubicBezTo>
                  <a:pt x="181804" y="217954"/>
                  <a:pt x="185297" y="225539"/>
                  <a:pt x="189808" y="230505"/>
                </a:cubicBezTo>
                <a:cubicBezTo>
                  <a:pt x="205427" y="217081"/>
                  <a:pt x="216729" y="197490"/>
                  <a:pt x="220804" y="174952"/>
                </a:cubicBezTo>
                <a:cubicBezTo>
                  <a:pt x="217748" y="173916"/>
                  <a:pt x="214401" y="173315"/>
                  <a:pt x="211005" y="173315"/>
                </a:cubicBezTo>
                <a:close/>
                <a:moveTo>
                  <a:pt x="97984" y="206439"/>
                </a:moveTo>
                <a:cubicBezTo>
                  <a:pt x="97984" y="194270"/>
                  <a:pt x="94103" y="186467"/>
                  <a:pt x="89204" y="181555"/>
                </a:cubicBezTo>
                <a:cubicBezTo>
                  <a:pt x="84014" y="176317"/>
                  <a:pt x="76641" y="173370"/>
                  <a:pt x="68783" y="173370"/>
                </a:cubicBezTo>
                <a:cubicBezTo>
                  <a:pt x="65387" y="173370"/>
                  <a:pt x="62040" y="173916"/>
                  <a:pt x="58984" y="175007"/>
                </a:cubicBezTo>
                <a:cubicBezTo>
                  <a:pt x="63059" y="197545"/>
                  <a:pt x="74313" y="217135"/>
                  <a:pt x="89980" y="230560"/>
                </a:cubicBezTo>
                <a:cubicBezTo>
                  <a:pt x="94540" y="225594"/>
                  <a:pt x="97984" y="217954"/>
                  <a:pt x="97984" y="206439"/>
                </a:cubicBezTo>
                <a:close/>
                <a:moveTo>
                  <a:pt x="117969" y="84038"/>
                </a:moveTo>
                <a:cubicBezTo>
                  <a:pt x="122335" y="89604"/>
                  <a:pt x="129223" y="93970"/>
                  <a:pt x="139894" y="93970"/>
                </a:cubicBezTo>
                <a:cubicBezTo>
                  <a:pt x="150566" y="93970"/>
                  <a:pt x="157454" y="89604"/>
                  <a:pt x="161819" y="84038"/>
                </a:cubicBezTo>
                <a:cubicBezTo>
                  <a:pt x="165069" y="79891"/>
                  <a:pt x="167397" y="74488"/>
                  <a:pt x="168416" y="68540"/>
                </a:cubicBezTo>
                <a:cubicBezTo>
                  <a:pt x="159539" y="64830"/>
                  <a:pt x="149886" y="62810"/>
                  <a:pt x="139894" y="62810"/>
                </a:cubicBezTo>
                <a:cubicBezTo>
                  <a:pt x="129902" y="62810"/>
                  <a:pt x="120249" y="64830"/>
                  <a:pt x="111372" y="68540"/>
                </a:cubicBezTo>
                <a:cubicBezTo>
                  <a:pt x="112439" y="74488"/>
                  <a:pt x="114719" y="79891"/>
                  <a:pt x="117969" y="84093"/>
                </a:cubicBezTo>
                <a:close/>
              </a:path>
            </a:pathLst>
          </a:custGeom>
          <a:solidFill>
            <a:srgbClr val="F6F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1277600" y="21336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Dirty Zone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896600" y="2514600"/>
            <a:ext cx="4381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 disposal, used equipment, soiled linens. Sharps container and clinical waste bags located here.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374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REQUIREMENTS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52900"/>
          <a:ext cx="7874000" cy="2222500"/>
        </p:xfrm>
        <a:graphic>
          <a:graphicData uri="http://schemas.openxmlformats.org/drawingml/2006/table">
            <a:tbl>
              <a:tblPr/>
              <a:tblGrid>
                <a:gridCol w="2204720"/>
                <a:gridCol w="2755900"/>
                <a:gridCol w="291338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Requirement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Why It Matters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Lighting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500+ lux at treatment area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 work requires visibility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Ventilation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Fresh air, 6 air changes/hr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Odour control, infection prevention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Temperature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20–24°C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Patient comfort, vasodilation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Privacy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Lockable door, screens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Dignity, modesty, confidentiality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666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PRINCIPLE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2000" y="7073900"/>
            <a:ext cx="7874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2"/>
          <p:cNvSpPr/>
          <p:nvPr/>
        </p:nvSpPr>
        <p:spPr>
          <a:xfrm>
            <a:off x="990600" y="7150100"/>
            <a:ext cx="7429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Clean-to-dirty movement only.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 clean zone with clean hands. Exit to dirty zone with used items. Never return to clean zone with contaminated hands or equipment.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144000" y="3746500"/>
            <a:ext cx="6350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7" name="Text 24"/>
          <p:cNvSpPr/>
          <p:nvPr/>
        </p:nvSpPr>
        <p:spPr>
          <a:xfrm>
            <a:off x="9461500" y="4000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SRA Clinic Setup Checklist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461500" y="4470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9" name="Text 26"/>
          <p:cNvSpPr/>
          <p:nvPr/>
        </p:nvSpPr>
        <p:spPr>
          <a:xfrm>
            <a:off x="9461500" y="4699000"/>
            <a:ext cx="5715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opening your clinic: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Treatment table with clean linens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Equipment trolley organised (SAFE)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 hygiene station stocked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Sharps container available, not full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Waste disposal system in place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Emergency equipment accessible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Consent forms and aftercare sheets</a:t>
            </a:r>
            <a:endParaRPr lang="en-US" sz="1300" dirty="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each patient: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Fresh linens, disinfected surfaces</a:t>
            </a:r>
            <a:endParaRPr lang="en-US" sz="1300" dirty="0"/>
          </a:p>
          <a:p>
            <a:pPr algn="l">
              <a:lnSpc>
                <a:spcPct val="145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Equipment checked (SAFE Protocol)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Equipment, Instruments &amp; Supplies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Equipment Maintenance, Stock Management, and Compliance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 MAINTENANCE SCHEDULE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93900"/>
          <a:ext cx="7874000" cy="2222500"/>
        </p:xfrm>
        <a:graphic>
          <a:graphicData uri="http://schemas.openxmlformats.org/drawingml/2006/table">
            <a:tbl>
              <a:tblPr/>
              <a:tblGrid>
                <a:gridCol w="2362200"/>
                <a:gridCol w="2362200"/>
                <a:gridCol w="31496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Equipment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Frequency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Pump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Monthly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Calibration check, clean filter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Reusable cups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Before each use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Visual inspection for cracks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Autoclave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Biological indicator test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556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All equipment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Daily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Visual check, clean surfaces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457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MANAGEMENT PRINCIPLES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2000" y="4978400"/>
            <a:ext cx="3683000" cy="101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0600" y="5105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410" y="20538"/>
                </a:moveTo>
                <a:cubicBezTo>
                  <a:pt x="60898" y="14337"/>
                  <a:pt x="51947" y="14337"/>
                  <a:pt x="46434" y="20538"/>
                </a:cubicBezTo>
                <a:lnTo>
                  <a:pt x="4101" y="68163"/>
                </a:lnTo>
                <a:cubicBezTo>
                  <a:pt x="-1411" y="74364"/>
                  <a:pt x="-1411" y="84435"/>
                  <a:pt x="4101" y="90636"/>
                </a:cubicBezTo>
                <a:cubicBezTo>
                  <a:pt x="9613" y="96837"/>
                  <a:pt x="18565" y="96837"/>
                  <a:pt x="24077" y="90636"/>
                </a:cubicBezTo>
                <a:lnTo>
                  <a:pt x="42333" y="70098"/>
                </a:lnTo>
                <a:lnTo>
                  <a:pt x="42333" y="222250"/>
                </a:lnTo>
                <a:cubicBezTo>
                  <a:pt x="42333" y="231031"/>
                  <a:pt x="48639" y="238125"/>
                  <a:pt x="56444" y="238125"/>
                </a:cubicBezTo>
                <a:cubicBezTo>
                  <a:pt x="64250" y="238125"/>
                  <a:pt x="70556" y="231031"/>
                  <a:pt x="70556" y="222250"/>
                </a:cubicBezTo>
                <a:lnTo>
                  <a:pt x="70556" y="70098"/>
                </a:lnTo>
                <a:lnTo>
                  <a:pt x="88812" y="90636"/>
                </a:lnTo>
                <a:cubicBezTo>
                  <a:pt x="94324" y="96838"/>
                  <a:pt x="103276" y="96838"/>
                  <a:pt x="108788" y="90636"/>
                </a:cubicBezTo>
                <a:cubicBezTo>
                  <a:pt x="114300" y="84435"/>
                  <a:pt x="114300" y="74364"/>
                  <a:pt x="108788" y="68163"/>
                </a:cubicBezTo>
                <a:lnTo>
                  <a:pt x="66455" y="20538"/>
                </a:lnTo>
                <a:close/>
                <a:moveTo>
                  <a:pt x="141111" y="238125"/>
                </a:moveTo>
                <a:lnTo>
                  <a:pt x="155222" y="238125"/>
                </a:lnTo>
                <a:cubicBezTo>
                  <a:pt x="163027" y="238125"/>
                  <a:pt x="169333" y="231031"/>
                  <a:pt x="169333" y="222250"/>
                </a:cubicBezTo>
                <a:cubicBezTo>
                  <a:pt x="169333" y="213469"/>
                  <a:pt x="163027" y="206375"/>
                  <a:pt x="155222" y="206375"/>
                </a:cubicBezTo>
                <a:lnTo>
                  <a:pt x="141111" y="206375"/>
                </a:lnTo>
                <a:cubicBezTo>
                  <a:pt x="133306" y="206375"/>
                  <a:pt x="127000" y="213469"/>
                  <a:pt x="127000" y="222250"/>
                </a:cubicBezTo>
                <a:cubicBezTo>
                  <a:pt x="127000" y="231031"/>
                  <a:pt x="133306" y="238125"/>
                  <a:pt x="141111" y="238125"/>
                </a:cubicBezTo>
                <a:close/>
                <a:moveTo>
                  <a:pt x="141111" y="174625"/>
                </a:moveTo>
                <a:lnTo>
                  <a:pt x="183444" y="174625"/>
                </a:lnTo>
                <a:cubicBezTo>
                  <a:pt x="191250" y="174625"/>
                  <a:pt x="197556" y="167531"/>
                  <a:pt x="197556" y="158750"/>
                </a:cubicBezTo>
                <a:cubicBezTo>
                  <a:pt x="197556" y="149969"/>
                  <a:pt x="191250" y="142875"/>
                  <a:pt x="183444" y="142875"/>
                </a:cubicBezTo>
                <a:lnTo>
                  <a:pt x="141111" y="142875"/>
                </a:lnTo>
                <a:cubicBezTo>
                  <a:pt x="133306" y="142875"/>
                  <a:pt x="127000" y="149969"/>
                  <a:pt x="127000" y="158750"/>
                </a:cubicBezTo>
                <a:cubicBezTo>
                  <a:pt x="127000" y="167531"/>
                  <a:pt x="133306" y="174625"/>
                  <a:pt x="141111" y="174625"/>
                </a:cubicBezTo>
                <a:close/>
                <a:moveTo>
                  <a:pt x="141111" y="111125"/>
                </a:moveTo>
                <a:lnTo>
                  <a:pt x="211667" y="111125"/>
                </a:lnTo>
                <a:cubicBezTo>
                  <a:pt x="219472" y="111125"/>
                  <a:pt x="225778" y="104031"/>
                  <a:pt x="225778" y="95250"/>
                </a:cubicBezTo>
                <a:cubicBezTo>
                  <a:pt x="225778" y="86469"/>
                  <a:pt x="219472" y="79375"/>
                  <a:pt x="211667" y="79375"/>
                </a:cubicBezTo>
                <a:lnTo>
                  <a:pt x="141111" y="79375"/>
                </a:lnTo>
                <a:cubicBezTo>
                  <a:pt x="133306" y="79375"/>
                  <a:pt x="127000" y="86469"/>
                  <a:pt x="127000" y="95250"/>
                </a:cubicBezTo>
                <a:cubicBezTo>
                  <a:pt x="127000" y="104031"/>
                  <a:pt x="133306" y="111125"/>
                  <a:pt x="141111" y="111125"/>
                </a:cubicBezTo>
                <a:close/>
                <a:moveTo>
                  <a:pt x="141111" y="47625"/>
                </a:moveTo>
                <a:lnTo>
                  <a:pt x="239889" y="47625"/>
                </a:lnTo>
                <a:cubicBezTo>
                  <a:pt x="247694" y="47625"/>
                  <a:pt x="254000" y="40531"/>
                  <a:pt x="254000" y="31750"/>
                </a:cubicBezTo>
                <a:cubicBezTo>
                  <a:pt x="254000" y="22969"/>
                  <a:pt x="247694" y="15875"/>
                  <a:pt x="239889" y="15875"/>
                </a:cubicBezTo>
                <a:lnTo>
                  <a:pt x="141111" y="15875"/>
                </a:lnTo>
                <a:cubicBezTo>
                  <a:pt x="133306" y="15875"/>
                  <a:pt x="127000" y="22969"/>
                  <a:pt x="127000" y="31750"/>
                </a:cubicBezTo>
                <a:cubicBezTo>
                  <a:pt x="127000" y="40531"/>
                  <a:pt x="133306" y="47625"/>
                  <a:pt x="141111" y="47625"/>
                </a:cubicBezTo>
                <a:close/>
              </a:path>
            </a:pathLst>
          </a:custGeom>
          <a:solidFill>
            <a:srgbClr val="C7A25A"/>
          </a:solidFill>
          <a:ln/>
        </p:spPr>
      </p:sp>
      <p:sp>
        <p:nvSpPr>
          <p:cNvPr id="13" name="Text 10"/>
          <p:cNvSpPr/>
          <p:nvPr/>
        </p:nvSpPr>
        <p:spPr>
          <a:xfrm>
            <a:off x="1346200" y="50800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FIFO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90600" y="54102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oldest stock first to prevent expiry waste.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99000" y="4978400"/>
            <a:ext cx="3683000" cy="101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7600" y="5105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C7A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283200" y="50800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Stock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27600" y="54102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Reorder when stock falls below threshold.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2000" y="6184900"/>
            <a:ext cx="7620000" cy="9398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0600" y="6324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2571" y="0"/>
                </a:moveTo>
                <a:cubicBezTo>
                  <a:pt x="82607" y="0"/>
                  <a:pt x="90714" y="7094"/>
                  <a:pt x="90714" y="15875"/>
                </a:cubicBezTo>
                <a:lnTo>
                  <a:pt x="90714" y="31750"/>
                </a:lnTo>
                <a:lnTo>
                  <a:pt x="163286" y="31750"/>
                </a:lnTo>
                <a:lnTo>
                  <a:pt x="163286" y="15875"/>
                </a:lnTo>
                <a:cubicBezTo>
                  <a:pt x="163286" y="7094"/>
                  <a:pt x="171393" y="0"/>
                  <a:pt x="181429" y="0"/>
                </a:cubicBezTo>
                <a:cubicBezTo>
                  <a:pt x="191464" y="0"/>
                  <a:pt x="199571" y="7094"/>
                  <a:pt x="199571" y="15875"/>
                </a:cubicBezTo>
                <a:lnTo>
                  <a:pt x="199571" y="31750"/>
                </a:lnTo>
                <a:lnTo>
                  <a:pt x="217714" y="31750"/>
                </a:lnTo>
                <a:cubicBezTo>
                  <a:pt x="237728" y="31750"/>
                  <a:pt x="254000" y="45988"/>
                  <a:pt x="254000" y="63500"/>
                </a:cubicBezTo>
                <a:lnTo>
                  <a:pt x="254000" y="206375"/>
                </a:lnTo>
                <a:cubicBezTo>
                  <a:pt x="254000" y="223887"/>
                  <a:pt x="237728" y="238125"/>
                  <a:pt x="217714" y="238125"/>
                </a:cubicBezTo>
                <a:lnTo>
                  <a:pt x="36286" y="238125"/>
                </a:lnTo>
                <a:cubicBezTo>
                  <a:pt x="16272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6272" y="31750"/>
                  <a:pt x="36286" y="31750"/>
                </a:cubicBezTo>
                <a:lnTo>
                  <a:pt x="54429" y="31750"/>
                </a:lnTo>
                <a:lnTo>
                  <a:pt x="54429" y="15875"/>
                </a:lnTo>
                <a:cubicBezTo>
                  <a:pt x="54429" y="7094"/>
                  <a:pt x="62536" y="0"/>
                  <a:pt x="72571" y="0"/>
                </a:cubicBezTo>
                <a:close/>
                <a:moveTo>
                  <a:pt x="165497" y="109190"/>
                </a:moveTo>
                <a:cubicBezTo>
                  <a:pt x="160167" y="104527"/>
                  <a:pt x="151550" y="104527"/>
                  <a:pt x="146277" y="109190"/>
                </a:cubicBezTo>
                <a:lnTo>
                  <a:pt x="127057" y="126008"/>
                </a:lnTo>
                <a:lnTo>
                  <a:pt x="107837" y="109190"/>
                </a:lnTo>
                <a:cubicBezTo>
                  <a:pt x="102507" y="104527"/>
                  <a:pt x="93889" y="104527"/>
                  <a:pt x="88617" y="109190"/>
                </a:cubicBezTo>
                <a:cubicBezTo>
                  <a:pt x="83344" y="113854"/>
                  <a:pt x="83287" y="121394"/>
                  <a:pt x="88617" y="126008"/>
                </a:cubicBezTo>
                <a:lnTo>
                  <a:pt x="107837" y="142825"/>
                </a:lnTo>
                <a:lnTo>
                  <a:pt x="88617" y="159643"/>
                </a:lnTo>
                <a:cubicBezTo>
                  <a:pt x="83287" y="164306"/>
                  <a:pt x="83287" y="171847"/>
                  <a:pt x="88617" y="176461"/>
                </a:cubicBezTo>
                <a:cubicBezTo>
                  <a:pt x="93946" y="181074"/>
                  <a:pt x="102564" y="181124"/>
                  <a:pt x="107837" y="176461"/>
                </a:cubicBezTo>
                <a:lnTo>
                  <a:pt x="127057" y="159643"/>
                </a:lnTo>
                <a:lnTo>
                  <a:pt x="146277" y="176461"/>
                </a:lnTo>
                <a:cubicBezTo>
                  <a:pt x="151606" y="181124"/>
                  <a:pt x="160224" y="181124"/>
                  <a:pt x="165497" y="176461"/>
                </a:cubicBezTo>
                <a:cubicBezTo>
                  <a:pt x="170770" y="171797"/>
                  <a:pt x="170826" y="164257"/>
                  <a:pt x="165497" y="159643"/>
                </a:cubicBezTo>
                <a:lnTo>
                  <a:pt x="146277" y="142825"/>
                </a:lnTo>
                <a:lnTo>
                  <a:pt x="165497" y="126008"/>
                </a:lnTo>
                <a:cubicBezTo>
                  <a:pt x="170826" y="121345"/>
                  <a:pt x="170826" y="113804"/>
                  <a:pt x="165497" y="109190"/>
                </a:cubicBezTo>
                <a:close/>
              </a:path>
            </a:pathLst>
          </a:custGeom>
          <a:solidFill>
            <a:srgbClr val="C7A25A"/>
          </a:solidFill>
          <a:ln/>
        </p:spPr>
      </p:sp>
      <p:sp>
        <p:nvSpPr>
          <p:cNvPr id="21" name="Text 18"/>
          <p:cNvSpPr/>
          <p:nvPr/>
        </p:nvSpPr>
        <p:spPr>
          <a:xfrm>
            <a:off x="1346200" y="62992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Expiry Monitoring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90600" y="6578600"/>
            <a:ext cx="723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expiry dates weekly. Discard expired items. Never use out-of-date antiseptics, lancets, or dressings.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44000" y="1587500"/>
            <a:ext cx="6350000" cy="6477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4" name="Text 21"/>
          <p:cNvSpPr/>
          <p:nvPr/>
        </p:nvSpPr>
        <p:spPr>
          <a:xfrm>
            <a:off x="9461500" y="1841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Record-Keeping Requirements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461500" y="2311400"/>
            <a:ext cx="762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6" name="Text 23"/>
          <p:cNvSpPr/>
          <p:nvPr/>
        </p:nvSpPr>
        <p:spPr>
          <a:xfrm>
            <a:off x="9461500" y="2540000"/>
            <a:ext cx="5715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 logs: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Date, equipment, action taken, initials. Kept for minimum 3 years.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Sterilisation records: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Cycle number, date, load contents, biological indicator result, operator signature.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inventories: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count, expiry date review, reorder list.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reports: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Date, time, description, action taken, follow-up. Required for equipment failures, exposure events, near-misses.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records matter: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demonstrate due diligence in the event of an audit, complaint, or insurance claim. Poor record-keeping is a common finding in professional misconduct cases.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Equipment, Instruments &amp; Supplies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6: Summary and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Disposable Plastic Cups Are the SRA Standard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wet cupping, disposable plastic cups eliminate cross-contamination risk and meet regulatory requirements.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8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1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Lancets Must Be Sterile and Single-Use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1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reuse lancets. Use safety-type, 21G or 23G. Dispose immediately in a sharps container.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SAFE Protocol Ensures Readiness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Sterile, Available, Functioning, Enough. Apply the SAFE Protocol before every treatment without exception.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8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1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and Dirty Zones Prevent Cross-Contamination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1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move from dirty to clean. Organise your clinic with clear zones and a clean-to-dirty workflow.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2000" y="4381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38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7000" y="4356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 and Records Are Professional Obligations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97000" y="4737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 logs, sterilisation records, and stock inventories demonstrate due diligence and protect your practice.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596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COMING NEXT — MODULE 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000" y="6350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Infection Prevention &amp; Control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2000" y="68580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Universal precautions, the chain of infection, blood-borne pathogens, hand hygiene, PPE, sterilisation, and waste management.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98000" y="5969000"/>
            <a:ext cx="6096000" cy="1778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2000" y="607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52000" y="6375400"/>
            <a:ext cx="558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colleague suggests reusing plastic cups after wiping them with alcohol. What is your response using the SAFE Protocol and sterilisation hierarchy?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 in your Reflect–Learn–Apply journal.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667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"Indeed, Allah loves those who are constantly repentant and loves those who purify themselves."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530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Qur'an 2:222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78000" y="482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Reflection: How does maintaining immaculate equipment and a clean clinic environment reflect the Islamic value of purification (taharah) in your practice?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6223000"/>
            <a:ext cx="2540000" cy="12700"/>
          </a:xfrm>
          <a:prstGeom prst="rect">
            <a:avLst/>
          </a:prstGeom>
          <a:solidFill>
            <a:srgbClr val="C7A2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3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6 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6: Equipment, Instruments &amp; Supplies</dc:title>
  <dc:subject>SRA-001 | Module 6: Equipment, Instruments &amp; Supplies</dc:subject>
  <dc:creator>Kimi</dc:creator>
  <cp:lastModifiedBy>Kimi</cp:lastModifiedBy>
  <cp:revision>1</cp:revision>
  <dcterms:created xsi:type="dcterms:W3CDTF">2026-07-06T09:17:05Z</dcterms:created>
  <dcterms:modified xsi:type="dcterms:W3CDTF">2026-07-06T09:17:05Z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6: Equipment, Instruments &amp; Supplies","ContentProducer":"001191110108MACG2KBH8F10000","ProduceID":"19f34e6c-c122-81a2-8000-0000ad42f6da","ReservedCode1":"","ContentPropagator":"001191110108MACG2KBH8F20000","PropagateID":"19f34489-a1f2-82b2-8000-09219025796f","ReservedCode2":""}</vt:lpwstr>
  </property>
</Properties>
</file>