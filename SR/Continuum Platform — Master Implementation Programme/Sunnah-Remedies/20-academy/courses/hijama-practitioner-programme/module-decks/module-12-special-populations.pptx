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12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3048000" y="3683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Special Populations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Adapting Hijama for Women, Children, Elderly, and Chronic Disease Patients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508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59000" y="2184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Women and Children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59000" y="2641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Menstruation, fertility, pregnancy, menopause, and paediatric Hijama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3429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Women's health • Pregnancy • Children • Age-appropriate techniques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159000" y="434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Elderly and Chronic Disease Patients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59000" y="4800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Geriatric modifications, diabetes, hypertension, autoimmune, cultural sensitivity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5588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Elderly • Diabetes • Hypertension • Autoimmune • Cultural sensitivity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20320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228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1500" y="26416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6" name="Text 14"/>
          <p:cNvSpPr/>
          <p:nvPr/>
        </p:nvSpPr>
        <p:spPr>
          <a:xfrm>
            <a:off x="9461500" y="2857500"/>
            <a:ext cx="571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all patients are the same. This module teaches adaptation.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module, you will: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 women at all life stages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Know when NOT to treat (pregnancy)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Perform paediatric Hijama safely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Adapt for elderly patients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chronic disease patients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3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"Make things easy, do not make them difficult." — Sahih al-Bukhari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Women and Children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Adapting Hijama for Female Patients and Paediatric Practice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Populations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Hijama for Women: Life Stage Considerations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PROTOCOLS BY LIFE STAGE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3492500" cy="2476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311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Menstruation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311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abdominal and sacral points during menses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Back and shoulder points are safe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Best time: 3–5 days after period ends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May help regulate cycle when done monthly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cycle timing with each session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Heavy flow = postpone treatment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08500" y="2032000"/>
            <a:ext cx="3492500" cy="2476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4699000" y="2133600"/>
            <a:ext cx="311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Fertility Support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9000" y="2463800"/>
            <a:ext cx="311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Partner with medical fertility care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Points: Al-Kahil, BL20, BL23, BL32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Monthly sessions, avoid post-ovulation if trying to conceive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Both partners should be assessed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expectations — Hijama supports, does not guarantee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Stress reduction is key benefit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55000" y="2032000"/>
            <a:ext cx="3492500" cy="2476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45500" y="2133600"/>
            <a:ext cx="311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Menopause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45500" y="2463800"/>
            <a:ext cx="311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Hot flushes: Al-Kahil, Al-Akhda'ain, BL15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Mood support: GB20, HT7 (dry)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Bone health: BL23 (kidney), BL11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Light to medium suction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Monthly maintenance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Combine with lifestyle advice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001500" y="2032000"/>
            <a:ext cx="3492500" cy="2476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0" y="2133600"/>
            <a:ext cx="311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Gynaecological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192000" y="2463800"/>
            <a:ext cx="311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Endometriosis/PCOS: supportive care only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Back points: BL20, BL23, BL25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claim to cure — be clear on scope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Refer to gynaecologist for diagnosis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menstrual history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Emotional support is part of care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2000" y="4762500"/>
            <a:ext cx="14732000" cy="698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48514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ask female patients: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"Could you be pregnant?" "When was your last menstrual period?" "Are you trying to conceive?" These three questions prevent harm and guide your point selection.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2000" y="5842000"/>
            <a:ext cx="14732000" cy="69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5905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Building a women's health practice requires trust and discretion. Many women suffer in silence with menstrual pain, fertility struggles, and menopausal symptoms. Your clinic can be a safe space for healing.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Populations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Pregnancy: Absolute Contraindication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NO CUPPING DURING PREGNANCY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2286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673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Pregnancy is an ABSOLUTE CONTRAINDICATION for Hijama.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Suction and incisions can stimulate uterine contractions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Lumbar and sacral points are directly linked to uterine function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Risk of miscarriage, especially in first trimester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amount of suction is safe — even dry cupping is contraindicated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This applies to all trimesters and all cupping types</a:t>
            </a:r>
            <a:endParaRPr lang="en-US" sz="11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exceptions. No compromises. Protect mother and child.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55000" y="2032000"/>
            <a:ext cx="7239000" cy="2476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2133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Safe Alternatives to Offer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9000" y="2489200"/>
            <a:ext cx="6731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Massage therapy</a:t>
            </a:r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a qualified pregnancy massage therapist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Acupuncture</a:t>
            </a:r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certain points are safe in pregnancy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Gentle exercise</a:t>
            </a:r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walking, swimming, prenatal yoga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 therapy</a:t>
            </a:r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warm compresses for back pain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Postpartum Hijama</a:t>
            </a:r>
            <a:pPr algn="l">
              <a:lnSpc>
                <a:spcPct val="150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schedule for 6+ weeks after delivery</a:t>
            </a:r>
            <a:endParaRPr lang="en-US" sz="10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compassion. The pregnant patient may be disappointed. Explain clearly, offer alternatives, and schedule her postpartum session.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2000" y="4572000"/>
            <a:ext cx="14732000" cy="1270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673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POSTPARTUM HIJAMA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2500" y="4978400"/>
            <a:ext cx="143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delivery (6+ weeks postpartum, or 8+ weeks after C-section), Hijama can support recovery: Al-Kahil for general recovery and immunity, BL23 for kidney/energy support, BL20 for digestion and nourishment. Start with light suction and fewer cups. Breastfeeding mothers should stay well-hydrated and monitor for any changes in milk supply. Postpartum Hijama is traditionally highly valued in Muslim communities.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Populations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Paediatric Hijama: Gentle and Safe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AGE-APPROPRIATE GUIDELINES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032000"/>
        </p:xfrm>
        <a:graphic>
          <a:graphicData uri="http://schemas.openxmlformats.org/drawingml/2006/table">
            <a:tbl>
              <a:tblPr/>
              <a:tblGrid>
                <a:gridCol w="1933"/>
                <a:gridCol w="3222"/>
                <a:gridCol w="4511"/>
                <a:gridCol w="4511"/>
                <a:gridCol w="4511"/>
              </a:tblGrid>
              <a:tr h="56896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Cupping 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Cup Count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Under 7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recommended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N/A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N/A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Refer to specialist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7–12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Dry cupping only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Very light (-20 kPa)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3–5 minutes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3–5 cups maximum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894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13–16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Dry or wet with caution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Light to medium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5–7 minutes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5–7 cups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4254500"/>
            <a:ext cx="7112000" cy="228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43561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Practical Tips for Children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52500" y="4699000"/>
            <a:ext cx="6731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Explain everything in age-appropriate language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Let them see and touch equipment first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Parent must be present and consent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distraction: talk, stories, or devices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Start with one cup as a trial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Stop immediately if child becomes distressed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Praise and reward after session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55000" y="4254500"/>
            <a:ext cx="7239000" cy="228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4" name="Text 11"/>
          <p:cNvSpPr/>
          <p:nvPr/>
        </p:nvSpPr>
        <p:spPr>
          <a:xfrm>
            <a:off x="8509000" y="43561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INDICATIONS FOR CHILDREN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09000" y="4699000"/>
            <a:ext cx="6731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Recurrent colds and immune support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Growing pains (ensure not serious pathology)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Sports injuries in adolescents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Stress and anxiety (exam pressure)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General wellness and detox (teenagers)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Avoid: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developmental disorders, blood disorders, active infection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2000" y="6731000"/>
            <a:ext cx="14732000" cy="69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6794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Children respond remarkably well to Hijama — their bodies are responsive and they heal quickly. The key is building trust. A positive first experience creates a patient for life. A negative one creates fear.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Elderly and Chronic Disease Patients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Modifications for Safe and Effective Treatment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Populations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Geriatric Hijama: Modifications for Elderly Patients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MODIFICATIONS FOR ELDERLY PATIENTS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77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Skin Integrity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Skin is thinner, more fragile, slower to heal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lighter suction (-20 to -30 kPa)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Shorter duration (3–5 minutes)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Fewer cups (3–5 maximum)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Check for bruising and skin tears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778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Circulation and Positioning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Reduced circulation = slower blood flow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Dizziness risk — sit up slowly after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Ensure comfortable, supported position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Allow extra time between position changes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Have a chair with armrests available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77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Medications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Common: anticoagulants, blood thinners, steroids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Check all medications before treatment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Consult GP if on warfarin or similar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Steroids thin skin — extra caution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Blood pressure meds — monitor for dizziness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2000" y="4064000"/>
            <a:ext cx="14732000" cy="1143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1402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APPROACH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2500" y="4445000"/>
            <a:ext cx="1435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conservatively: 3 cups, light suction, 3 minutes. Assess response. Increase gradually over sessions if tolerated. Frequency: monthly is usually sufficient. Focus on quality of life: pain relief, better sleep, improved mobility. The goal is comfort, not maximum blood extraction. Elderly patients often become your most loyal and regular clients when treated with gentleness and respect.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Populations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Chronic Disease: Diabetes, Hypertension, Autoimmune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CONDITION-SPECIFIC PRECAUTIONS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266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Diabetes Mellitus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healing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wounds take longer to close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risk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impaired immune response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Check blood glucose before treatment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wet cupping if HbA1c &gt; 9%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lighter suction, shorter time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wounds at 48 hours and 1 week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Refer any signs of infection immediately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Dry cupping is safer alternative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2667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Hypertension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strong suction on neck (carotid area)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Cupping can cause temporary BP drop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BP before and after session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If BP &gt; 180/110 — postpone treatment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Allow patient to sit up gradually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Light to medium suction only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BP readings in patient file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advise stopping medication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266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Autoimmune Conditions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Immunosuppression = higher infection risk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Check medications (steroids, biologics)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Dry cupping preferred over wet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during disease flares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Lupus: avoid sun-exposed areas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Rheumatoid arthritis: gentle on joints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Psoriasis: do not cup active plaques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Coordinate with rheumatologist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2000" y="4762500"/>
            <a:ext cx="14732000" cy="69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826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Chronic disease patients often have the most to gain from Hijama — pain relief, stress reduction, immune support. But they also carry the highest risk. Your thoroughness in screening and caution in treatment determines their safety and your professional reputation.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Populations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Cultural Sensitivity and Gender Considerations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CONDUCT GUIDELINES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177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Gender of Practitioner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6731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Many Muslim women prefer a female practitioner — respect this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If you are male: always have a female chaperone for female patients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If you are female: offer a chaperone for male patients if requested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Explain necessity of exposing treatment area; minimise exposure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Drapes and towels are essential for modesty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55000" y="2032000"/>
            <a:ext cx="7239000" cy="1778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9000" y="2133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Communication and Trust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9000" y="2463800"/>
            <a:ext cx="6731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professional interpreter for language barriers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use family members as interpreters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Explain procedures in culturally appropriate terms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Respect religious observances (prayer times, Ramadan)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 patient with questions — they show engagement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2000" y="4064000"/>
            <a:ext cx="14732000" cy="1841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1402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MODESTY PROTOCOL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2500" y="4445000"/>
            <a:ext cx="1435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Private treatment rooms with lockable doors</a:t>
            </a:r>
            <a:endParaRPr lang="en-US" sz="900" dirty="0"/>
          </a:p>
          <a:p>
            <a:pPr algn="l">
              <a:lnSpc>
                <a:spcPct val="145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Patient gowns or drapes provided</a:t>
            </a:r>
            <a:endParaRPr lang="en-US" sz="900" dirty="0"/>
          </a:p>
          <a:p>
            <a:pPr algn="l">
              <a:lnSpc>
                <a:spcPct val="145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Only expose the treatment area — cover everything else</a:t>
            </a:r>
            <a:endParaRPr lang="en-US" sz="900" dirty="0"/>
          </a:p>
          <a:p>
            <a:pPr algn="l">
              <a:lnSpc>
                <a:spcPct val="145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Step out while patient changes; knock before re-entering</a:t>
            </a:r>
            <a:endParaRPr lang="en-US" sz="900" dirty="0"/>
          </a:p>
          <a:p>
            <a:pPr algn="l">
              <a:lnSpc>
                <a:spcPct val="145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Same-gender practitioner when requested</a:t>
            </a:r>
            <a:endParaRPr lang="en-US" sz="900" dirty="0"/>
          </a:p>
          <a:p>
            <a:pPr algn="l">
              <a:lnSpc>
                <a:spcPct val="145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These practices are not just cultural preference — they are professional standard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2000" y="5969000"/>
            <a:ext cx="14732000" cy="69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032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Cultural sensitivity is not optional — it is a clinical competency. A patient who feels respected and safe will trust you, follow your advice, and refer their entire family. A patient who feels uncomfortable will never return.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M12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Populations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12: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ESSENTIAL LESSONS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Pregnancy is absolute contraindication.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exceptions. Offer alternatives and schedule postpartum care. Always ask about pregnancy possibility.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8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308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Children need gentler approach.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Age 7+ only, very light suction, fewer cups, parent present. Build trust first — a positive experience creates a patient for life.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0132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76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076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Elderly patients need modifications.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Fragile skin, reduced circulation, multiple medications. Start conservatively, increase gradually. Comfort over extraction.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50038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5067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50673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Chronic disease requires extra caution.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Diabetes, hypertension, autoimmune — each has specific risks. Screen thoroughly, consult GPs, monitor closely.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9944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579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7000" y="60579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Cultural sensitivity is clinical competency.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Gender considerations, modesty, communication, and respect build trust and sustain your practice.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AHEAD: MODULE 13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of Hijama: Clinic Setup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2500" y="3302000"/>
            <a:ext cx="660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Module 13, you will learn: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Legal requirements and registration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Clinic space design and zoning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Equipment and supply management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Pricing and service packages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Marketing and patient acquisition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clinical knowledge from all previous modules now becomes the foundation for building a professional, ethical, and sustainable Hijama practice.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794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"Make things easy, do not make them difficult. Give glad tidings, do not drive people away."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Sahih al-Bukhari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5016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5270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patient who walks through your door is unique — in their body, their history, their beliefs, and their needs. The master practitioner does not apply one technique to all. They adapt, they respect, and they serve with excellence.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12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Special Populations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12: Special Populations</dc:title>
  <dc:subject>SRA-001 | Module 12: Special Populations</dc:subject>
  <dc:creator>Kimi</dc:creator>
  <cp:lastModifiedBy>Kimi</cp:lastModifiedBy>
  <cp:revision>1</cp:revision>
  <dcterms:created xsi:type="dcterms:W3CDTF">2026-07-06T09:17:55Z</dcterms:created>
  <dcterms:modified xsi:type="dcterms:W3CDTF">2026-07-06T09:17:55Z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12: Special Populations","ContentProducer":"001191110108MACG2KBH8F10000","ProduceID":"19f35569-8882-84f3-8000-000001469271","ReservedCode1":"","ContentPropagator":"001191110108MACG2KBH8F20000","PropagateID":"19f34489-a1f2-82b2-8000-09219025796f","ReservedCode2":""}</vt:lpwstr>
  </property>
</Properties>
</file>