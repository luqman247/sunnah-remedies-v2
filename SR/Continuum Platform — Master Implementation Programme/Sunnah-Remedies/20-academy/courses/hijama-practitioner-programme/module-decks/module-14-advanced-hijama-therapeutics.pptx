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14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2413000" y="3683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Hijama Therapeutics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Point Selection, Complex Cases, and Evidence-Based Practice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M14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Hijama Therapeutics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Contents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7112000" cy="292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90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16000" y="2476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Point Selection and Protocols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2921000"/>
            <a:ext cx="660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Advanced point selection strategies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Treatment sequencing and layering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Integration with other modalities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82000" y="1778000"/>
            <a:ext cx="7112000" cy="2921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90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636000" y="2476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Complex Cases and Outcomes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36000" y="2921000"/>
            <a:ext cx="660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Complex case management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Outcome measurement and documentation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Advanced safety considerations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Point Selection and Protocols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Micro-Systems, Sequencing, and Integrative Approaches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M14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Hijama Therapeutics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Point Selection Strategies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MICRO-SYSTEM APPROACHES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Auricular (Ear) Cupping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Small cups (2-3cm) on ear surface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Corresponds to whole body map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Excellent for addiction, stress, pain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Very light suction only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5-10 minute application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Combine with body points for synergy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905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Hand and Foot Reflexology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cups to reflex zones on palms/soles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Useful when body points are contraindicated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 points for upper body conditions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Foot points for lower body conditions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Gentle suction — sensitive areas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Patient can self-treat at home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Facial Cupping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Silicone cups with very light suction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Moving cupping technique on face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Sinus congestion, TMJ, headaches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Cosmetic: improves circulation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oil as glide medium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broken capillaries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2000" y="4127500"/>
            <a:ext cx="14732000" cy="1397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216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SELECTION FRAMEWORK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2500" y="4521200"/>
            <a:ext cx="1435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Identify primary complaint and affected meridian/zone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Select local points (around the problem area) + distal points (along the meridian)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Add Ashi points (tender points found on palpation) — these often give best results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Consider constitutional points for immune support (BL20, ST36, DU14)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M14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Hijama Therapeutics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Treatment Sequencing and Layering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SEQUENCE PROTOCOL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1968500"/>
        </p:xfrm>
        <a:graphic>
          <a:graphicData uri="http://schemas.openxmlformats.org/drawingml/2006/table">
            <a:tbl>
              <a:tblPr/>
              <a:tblGrid>
                <a:gridCol w="1611"/>
                <a:gridCol w="4511"/>
                <a:gridCol w="4511"/>
                <a:gridCol w="4028"/>
                <a:gridCol w="4028"/>
              </a:tblGrid>
              <a:tr h="5511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Technique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 Prep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Assessment + dry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Warm tissue, identify active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10-15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Light to medium 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 Treat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Moving + flash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Stimulate circulation, release tension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10-15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Medium suction, oil for glide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 Apply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Wet cupping at key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Targeted detox and healing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15-20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Primary therapeutic phase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191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LAYERING TECHNIQUES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2000" y="4597400"/>
            <a:ext cx="7112000" cy="127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4673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Progressive Intensity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52500" y="50038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dry cupping (light), progress to moving (medium), finish with wet at strongest points. This warms tissue gradually and reduces patient anxiety.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28000" y="4597400"/>
            <a:ext cx="7366000" cy="1270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5" name="Text 12"/>
          <p:cNvSpPr/>
          <p:nvPr/>
        </p:nvSpPr>
        <p:spPr>
          <a:xfrm>
            <a:off x="8318500" y="46736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Multi-Zone Approach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18500" y="50038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 multiple body zones in one session: back (primary), legs (supporting), and hands (micro-system). Maximises therapeutic effect for complex cases.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M14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Hijama Therapeutics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Integrative Approaches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 MODALITIES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 Acupuncture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Needle first, cup over needle site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Enhances Qi and blood movement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Requires dual certification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Excellent for chronic pain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Coordinate with acupuncturist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needle depth and location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905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 Massage Therapy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Massage before cupping warms tissue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Cupping after massage deepens effect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Oil from massage aids cup glide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Ideal for musculoskeletal conditions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Clear communication between therapists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48h gap if deep tissue work done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 Herbal Medicine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Internal herbs support external treatment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Blood-moving herbs post-wet cupping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Anti-inflammatory herbs for chronic pain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Refer to qualified herbal practitioner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Track herb-cupping interactions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all concurrent treatments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2000" y="4191000"/>
            <a:ext cx="14732000" cy="1270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318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Reminder: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are a Hijama practitioner. You do not diagnose, prescribe, or perform acupuncture unless separately certified. Integration means collaboration with qualified practitioners in other modalities — not practising beyond your training. Always refer to appropriate professionals and document all referrals.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Complex Cases and Outcomes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Multi-Session Protocols, Measurement, and Safety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M14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Hijama Therapeutics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Complex Case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MULTI-SESSION PROTOCOLS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222500"/>
        </p:xfrm>
        <a:graphic>
          <a:graphicData uri="http://schemas.openxmlformats.org/drawingml/2006/table">
            <a:tbl>
              <a:tblPr/>
              <a:tblGrid>
                <a:gridCol w="2578"/>
                <a:gridCol w="4189"/>
                <a:gridCol w="4189"/>
                <a:gridCol w="4511"/>
                <a:gridCol w="3222"/>
              </a:tblGrid>
              <a:tr h="6223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Condition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Session 1-2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Session 3-4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Session 5-6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Frequency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119.0972222222222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Chronic back pain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Assessment, dry cupping BL points, gentle moving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Add wet cupping at BL23, BL25, Ashi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Deepen wet cupping, add constitutional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Weekly, then fortnightly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19.0972222222222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Migraine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Dry cupping neck/shoulders, DU14, GB20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Wet cupping DU14, GB20, temporal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Maintenance: monthly wet + dry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Fortnightly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119.0972222222222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Fibromyalgia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Very gentle dry, 4-6 cups max, large body 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Add moving cupping on back, light 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Selective wet cupping at most tender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Fortnightly, slow progress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4445000"/>
            <a:ext cx="7112000" cy="1498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4546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Initial Assessment Framework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52500" y="48768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Full history including all previous treatments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Baseline outcome measures (VAS, ROM, QOL)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Identify primary, secondary, and contributing factors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Set realistic expectations: 4-6 sessions for chronic cases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128000" y="4445000"/>
            <a:ext cx="7366000" cy="1498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4" name="Text 11"/>
          <p:cNvSpPr/>
          <p:nvPr/>
        </p:nvSpPr>
        <p:spPr>
          <a:xfrm>
            <a:off x="8318500" y="45466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Session Review Protocol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18500" y="4876800"/>
            <a:ext cx="698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Review outcome measures at every session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Adjust point selection based on response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what worked and what did not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Refer if no improvement after 4 sessions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M14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Hijama Therapeutics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Outcome Measurement and Documentation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MEASUREMENT 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77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VAS Pain Scale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Visual Analogue Scale: 0 (no pain) to 10 (worst)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Record at baseline, every session, at discharge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Simple, validated, universally understood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Track trend over time graphically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Minimum clinically important difference: 2 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778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Range of Motion (ROM)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Measure with goniometer for joints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Record degrees of flexion, extension, rotation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Compare to normative values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Re-measure each session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Objective, reproducible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77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Quality of Life Scale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SF-12 or custom wellness questionnaire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Sleep quality, energy, mood, function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Administer at baseline and discharge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Captures broader treatment impact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Useful for marketing case studies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2000" y="4064000"/>
            <a:ext cx="14732000" cy="1397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1656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 STANDARDS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2500" y="4470400"/>
            <a:ext cx="1435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Subjective: patient report of symptoms and changes since last session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Objective: findings from palpation, observation, and outcome measures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Assessment: clinical reasoning, point selection rationale, treatment plan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Plan: points treated, techniques used, advice given, next appointment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M14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Hijama Therapeutics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Safety Considerations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ADVERSE EVENT MANAGEMENT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032000"/>
        </p:xfrm>
        <a:graphic>
          <a:graphicData uri="http://schemas.openxmlformats.org/drawingml/2006/table">
            <a:tbl>
              <a:tblPr/>
              <a:tblGrid>
                <a:gridCol w="2900"/>
                <a:gridCol w="5156"/>
                <a:gridCol w="5156"/>
                <a:gridCol w="5478"/>
              </a:tblGrid>
              <a:tr h="56896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Recognition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Immediate Action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Follow-Up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Excessive bleeding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Blood does not stop after 15 min pressure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Prolonged pressure, elevate site, ice pack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Refer to ED if not stopped in 30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Infection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Redness, heat, pus, fever post-treatment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 not re-treat, advise GP visit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Document, review sterilisation protocol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Skin tear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Elderly/frail skin breaks with 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Clean, dress, do not re-treat 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Photo document, lighter technique future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4254500"/>
            <a:ext cx="7112000" cy="1587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43434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Red Flags — Stop Treatment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52500" y="4673600"/>
            <a:ext cx="6731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Patient reports severe pain beyond expected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Signs of allergic reaction (hives, swelling)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Patient becomes faint or unresponsive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Uncontrolled bleeding at any point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Any sign you are out of your depth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128000" y="4254500"/>
            <a:ext cx="7366000" cy="1587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4" name="Text 11"/>
          <p:cNvSpPr/>
          <p:nvPr/>
        </p:nvSpPr>
        <p:spPr>
          <a:xfrm>
            <a:off x="8318500" y="43434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Prevention Strategies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18500" y="4673600"/>
            <a:ext cx="698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Thorough screening before every session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Conservative technique with new patients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Check skin integrity before cup application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rush — haste causes errors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Maintain emergency contact numbers visible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M14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Hijama Therapeutics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14: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ESSENTIAL LESSONS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Micro-systems expand your toolkit.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Auricular, hand, and facial cupping offer targeted approaches when body points are insufficient or contraindicated.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8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308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Sequencing maximises therapeutic effect.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Progressive intensity from dry to wet, proper timing between sessions, and layered techniques produce superior outcomes.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0132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76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076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requires collaboration.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 with qualified practitioners in acupuncture, massage, and herbal medicine — never practise beyond your certification.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50038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5067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50673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what matters.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VAS, ROM, and quality of life scales transform anecdote into evidence. Documentation elevates your practice to professional standards.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9944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579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7000" y="60579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is always advanced.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Recognising adverse events early, knowing when to stop, and having emergency protocols separate professionals from amateurs.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AHEAD: MODULE 15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and Evidence-Based Practice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2500" y="3302000"/>
            <a:ext cx="660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Module 15, you will learn: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Current state of Hijama research globally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How to read and interpret clinical studies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Conducting case series and audits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Contributing to the evidence base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Bridging traditional knowledge with modern science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15 empowers you to engage with the scientific community and advance Hijama's standing in integrative healthcare.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794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"Healing is a matter of time, but it is sometimes also a matter of opportunity."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Hippocrates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5016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5270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practice is not about complexity — it is about precision. Every point you select, every sequence you design, and every outcome you measure should serve one purpose: the healing of your patient. Let evidence guide your hands and intention guide your heart.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14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Advanced Hijama Therapeutics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14: Advanced Hijama Therapeutics</dc:title>
  <dc:subject>SRA-001 | Module 14: Advanced Hijama Therapeutics</dc:subject>
  <dc:creator>Kimi</dc:creator>
  <cp:lastModifiedBy>Kimi</cp:lastModifiedBy>
  <cp:revision>1</cp:revision>
  <dcterms:created xsi:type="dcterms:W3CDTF">2026-07-06T09:18:12Z</dcterms:created>
  <dcterms:modified xsi:type="dcterms:W3CDTF">2026-07-06T09:18:12Z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14: Advanced Hijama Therapeutics","ContentProducer":"001191110108MACG2KBH8F10000","ProduceID":"19f35b14-f522-8990-8000-00009be8048a","ReservedCode1":"","ContentPropagator":"001191110108MACG2KBH8F20000","PropagateID":"19f34489-a1f2-82b2-8000-09219025796f","ReservedCode2":""}</vt:lpwstr>
  </property>
</Properties>
</file>