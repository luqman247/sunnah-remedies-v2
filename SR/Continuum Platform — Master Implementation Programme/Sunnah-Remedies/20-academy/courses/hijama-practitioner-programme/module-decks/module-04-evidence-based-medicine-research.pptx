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6256000" cy="9144000"/>
  <p:notesSz cx="9144000" cy="16256000"/>
  <p:embeddedFontLst>
    <p:embeddedFont>
      <p:font typeface="Quattrocento Sans" charset="-122" pitchFamily="34"/>
      <p:regular r:id="rId23"/>
    </p:embeddedFont>
    <p:embeddedFont>
      <p:font typeface="Oranienbaum" charset="-122" pitchFamily="34"/>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4318000" y="2794000"/>
            <a:ext cx="7620000" cy="381000"/>
          </a:xfrm>
          <a:prstGeom prst="rect">
            <a:avLst/>
          </a:prstGeom>
          <a:noFill/>
          <a:ln/>
        </p:spPr>
        <p:txBody>
          <a:bodyPr wrap="none" lIns="0" tIns="0" rIns="0" bIns="0" rtlCol="0" anchor="ctr"/>
          <a:lstStyle/>
          <a:p>
            <a:pPr algn="ctr">
              <a:lnSpc>
                <a:spcPct val="120000"/>
              </a:lnSpc>
            </a:pPr>
            <a:r>
              <a:rPr lang="en-US" sz="1400" spc="400" kern="0" dirty="0">
                <a:solidFill>
                  <a:srgbClr val="F6F3EE"/>
                </a:solidFill>
                <a:latin typeface="Quattrocento Sans" pitchFamily="34" charset="0"/>
                <a:ea typeface="Quattrocento Sans" pitchFamily="34" charset="-122"/>
                <a:cs typeface="Quattrocento Sans" pitchFamily="34" charset="-120"/>
              </a:rPr>
              <a:t>SRA-001  |  MODULE 4</a:t>
            </a:r>
            <a:endParaRPr lang="en-US" sz="1400" dirty="0"/>
          </a:p>
        </p:txBody>
      </p:sp>
      <p:sp>
        <p:nvSpPr>
          <p:cNvPr id="3" name="Shape 1"/>
          <p:cNvSpPr/>
          <p:nvPr/>
        </p:nvSpPr>
        <p:spPr>
          <a:xfrm>
            <a:off x="6858000" y="3365500"/>
            <a:ext cx="2540000" cy="12700"/>
          </a:xfrm>
          <a:prstGeom prst="rect">
            <a:avLst/>
          </a:prstGeom>
          <a:solidFill>
            <a:srgbClr val="C7A25A"/>
          </a:solidFill>
          <a:ln/>
        </p:spPr>
      </p:sp>
      <p:sp>
        <p:nvSpPr>
          <p:cNvPr id="4" name="Text 2"/>
          <p:cNvSpPr/>
          <p:nvPr/>
        </p:nvSpPr>
        <p:spPr>
          <a:xfrm>
            <a:off x="1778000" y="3683000"/>
            <a:ext cx="12700000" cy="889000"/>
          </a:xfrm>
          <a:prstGeom prst="rect">
            <a:avLst/>
          </a:prstGeom>
          <a:noFill/>
          <a:ln/>
        </p:spPr>
        <p:txBody>
          <a:bodyPr wrap="none" lIns="0" tIns="0" rIns="0" bIns="0" rtlCol="0" anchor="ctr"/>
          <a:lstStyle/>
          <a:p>
            <a:pPr algn="ctr">
              <a:lnSpc>
                <a:spcPct val="120000"/>
              </a:lnSpc>
            </a:pPr>
            <a:r>
              <a:rPr lang="en-US" sz="4800" dirty="0">
                <a:solidFill>
                  <a:srgbClr val="F6F3EE"/>
                </a:solidFill>
                <a:latin typeface="Oranienbaum" pitchFamily="34" charset="0"/>
                <a:ea typeface="Oranienbaum" pitchFamily="34" charset="-122"/>
                <a:cs typeface="Oranienbaum" pitchFamily="34" charset="-120"/>
              </a:rPr>
              <a:t>Evidence-Based Medicine &amp; Research</a:t>
            </a:r>
            <a:endParaRPr lang="en-US" sz="4800" dirty="0"/>
          </a:p>
        </p:txBody>
      </p:sp>
      <p:sp>
        <p:nvSpPr>
          <p:cNvPr id="5" name="Text 3"/>
          <p:cNvSpPr/>
          <p:nvPr/>
        </p:nvSpPr>
        <p:spPr>
          <a:xfrm>
            <a:off x="3048000" y="4826000"/>
            <a:ext cx="10160000" cy="381000"/>
          </a:xfrm>
          <a:prstGeom prst="rect">
            <a:avLst/>
          </a:prstGeom>
          <a:noFill/>
          <a:ln/>
        </p:spPr>
        <p:txBody>
          <a:bodyPr wrap="none" lIns="0" tIns="0" rIns="0" bIns="0" rtlCol="0" anchor="ctr"/>
          <a:lstStyle/>
          <a:p>
            <a:pPr algn="ctr">
              <a:lnSpc>
                <a:spcPct val="120000"/>
              </a:lnSpc>
            </a:pPr>
            <a:r>
              <a:rPr lang="en-US" sz="1800" spc="200" kern="0" dirty="0">
                <a:solidFill>
                  <a:srgbClr val="C7A25A"/>
                </a:solidFill>
                <a:latin typeface="Quattrocento Sans" pitchFamily="34" charset="0"/>
                <a:ea typeface="Quattrocento Sans" pitchFamily="34" charset="-122"/>
                <a:cs typeface="Quattrocento Sans" pitchFamily="34" charset="-120"/>
              </a:rPr>
              <a:t>Systematic Reviews, Mechanisms, and Scientific Literacy</a:t>
            </a:r>
            <a:endParaRPr lang="en-US" sz="1800" dirty="0"/>
          </a:p>
        </p:txBody>
      </p:sp>
      <p:sp>
        <p:nvSpPr>
          <p:cNvPr id="6" name="Shape 4"/>
          <p:cNvSpPr/>
          <p:nvPr/>
        </p:nvSpPr>
        <p:spPr>
          <a:xfrm>
            <a:off x="6858000" y="5524500"/>
            <a:ext cx="2540000" cy="12700"/>
          </a:xfrm>
          <a:prstGeom prst="rect">
            <a:avLst/>
          </a:prstGeom>
          <a:solidFill>
            <a:srgbClr val="C7A25A"/>
          </a:solidFill>
          <a:ln/>
        </p:spPr>
      </p:sp>
      <p:sp>
        <p:nvSpPr>
          <p:cNvPr id="7" name="Text 5"/>
          <p:cNvSpPr/>
          <p:nvPr/>
        </p:nvSpPr>
        <p:spPr>
          <a:xfrm>
            <a:off x="4318000" y="8128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762000" y="762000"/>
            <a:ext cx="6350000" cy="571500"/>
          </a:xfrm>
          <a:prstGeom prst="rect">
            <a:avLst/>
          </a:prstGeom>
          <a:noFill/>
          <a:ln/>
        </p:spPr>
        <p:txBody>
          <a:bodyPr wrap="none" lIns="0" tIns="0" rIns="0" bIns="0" rtlCol="0" anchor="ctr"/>
          <a:lstStyle/>
          <a:p>
            <a:pPr algn="l">
              <a:lnSpc>
                <a:spcPct val="120000"/>
              </a:lnSpc>
            </a:pPr>
            <a:r>
              <a:rPr lang="en-US" sz="3200" dirty="0">
                <a:solidFill>
                  <a:srgbClr val="0E3B2E"/>
                </a:solidFill>
                <a:latin typeface="Oranienbaum" pitchFamily="34" charset="0"/>
                <a:ea typeface="Oranienbaum" pitchFamily="34" charset="-122"/>
                <a:cs typeface="Oranienbaum" pitchFamily="34" charset="-120"/>
              </a:rPr>
              <a:t>Module Overview</a:t>
            </a:r>
            <a:endParaRPr lang="en-US" sz="3200" dirty="0"/>
          </a:p>
        </p:txBody>
      </p:sp>
      <p:sp>
        <p:nvSpPr>
          <p:cNvPr id="3" name="Shape 1"/>
          <p:cNvSpPr/>
          <p:nvPr/>
        </p:nvSpPr>
        <p:spPr>
          <a:xfrm>
            <a:off x="762000" y="1460500"/>
            <a:ext cx="1016000" cy="38100"/>
          </a:xfrm>
          <a:prstGeom prst="rect">
            <a:avLst/>
          </a:prstGeom>
          <a:solidFill>
            <a:srgbClr val="C7A25A"/>
          </a:solidFill>
          <a:ln/>
        </p:spPr>
      </p:sp>
      <p:sp>
        <p:nvSpPr>
          <p:cNvPr id="4" name="Shape 2"/>
          <p:cNvSpPr/>
          <p:nvPr/>
        </p:nvSpPr>
        <p:spPr>
          <a:xfrm>
            <a:off x="762000" y="2032000"/>
            <a:ext cx="50800" cy="5334000"/>
          </a:xfrm>
          <a:prstGeom prst="rect">
            <a:avLst/>
          </a:prstGeom>
          <a:solidFill>
            <a:srgbClr val="0E3B2E"/>
          </a:solidFill>
          <a:ln/>
        </p:spPr>
      </p:sp>
      <p:sp>
        <p:nvSpPr>
          <p:cNvPr id="5" name="Text 3"/>
          <p:cNvSpPr/>
          <p:nvPr/>
        </p:nvSpPr>
        <p:spPr>
          <a:xfrm>
            <a:off x="1016000" y="2159000"/>
            <a:ext cx="1016000" cy="762000"/>
          </a:xfrm>
          <a:prstGeom prst="rect">
            <a:avLst/>
          </a:prstGeom>
          <a:noFill/>
          <a:ln/>
        </p:spPr>
        <p:txBody>
          <a:bodyPr wrap="none" lIns="0" tIns="0" rIns="0" bIns="0" rtlCol="0" anchor="t"/>
          <a:lstStyle/>
          <a:p>
            <a:pPr algn="l">
              <a:lnSpc>
                <a:spcPct val="120000"/>
              </a:lnSpc>
            </a:pPr>
            <a:r>
              <a:rPr lang="en-US" sz="4800" dirty="0">
                <a:solidFill>
                  <a:srgbClr val="C7A25A"/>
                </a:solidFill>
                <a:latin typeface="Oranienbaum" pitchFamily="34" charset="0"/>
                <a:ea typeface="Oranienbaum" pitchFamily="34" charset="-122"/>
                <a:cs typeface="Oranienbaum" pitchFamily="34" charset="-120"/>
              </a:rPr>
              <a:t>01</a:t>
            </a:r>
            <a:endParaRPr lang="en-US" sz="4800" dirty="0"/>
          </a:p>
        </p:txBody>
      </p:sp>
      <p:sp>
        <p:nvSpPr>
          <p:cNvPr id="6" name="Text 4"/>
          <p:cNvSpPr/>
          <p:nvPr/>
        </p:nvSpPr>
        <p:spPr>
          <a:xfrm>
            <a:off x="2159000" y="2184400"/>
            <a:ext cx="6350000" cy="406400"/>
          </a:xfrm>
          <a:prstGeom prst="rect">
            <a:avLst/>
          </a:prstGeom>
          <a:noFill/>
          <a:ln/>
        </p:spPr>
        <p:txBody>
          <a:bodyPr wrap="none" lIns="0" tIns="0" rIns="0" bIns="0" rtlCol="0" anchor="ctr"/>
          <a:lstStyle/>
          <a:p>
            <a:pPr algn="l">
              <a:lnSpc>
                <a:spcPct val="120000"/>
              </a:lnSpc>
            </a:pPr>
            <a:r>
              <a:rPr lang="en-US" sz="2200" dirty="0">
                <a:solidFill>
                  <a:srgbClr val="0E3B2E"/>
                </a:solidFill>
                <a:latin typeface="Oranienbaum" pitchFamily="34" charset="0"/>
                <a:ea typeface="Oranienbaum" pitchFamily="34" charset="-122"/>
                <a:cs typeface="Oranienbaum" pitchFamily="34" charset="-120"/>
              </a:rPr>
              <a:t>Research Evidence</a:t>
            </a:r>
            <a:endParaRPr lang="en-US" sz="2200" dirty="0"/>
          </a:p>
        </p:txBody>
      </p:sp>
      <p:sp>
        <p:nvSpPr>
          <p:cNvPr id="7" name="Text 5"/>
          <p:cNvSpPr/>
          <p:nvPr/>
        </p:nvSpPr>
        <p:spPr>
          <a:xfrm>
            <a:off x="2159000" y="2667000"/>
            <a:ext cx="6350000" cy="762000"/>
          </a:xfrm>
          <a:prstGeom prst="rect">
            <a:avLst/>
          </a:prstGeom>
          <a:noFill/>
          <a:ln/>
        </p:spPr>
        <p:txBody>
          <a:bodyPr wrap="square" lIns="0" tIns="0" rIns="0" bIns="0" rtlCol="0" anchor="t"/>
          <a:lstStyle/>
          <a:p>
            <a:pPr algn="l">
              <a:lnSpc>
                <a:spcPct val="140000"/>
              </a:lnSpc>
            </a:pPr>
            <a:r>
              <a:rPr lang="en-US" sz="1600" dirty="0">
                <a:solidFill>
                  <a:srgbClr val="1A1A1A"/>
                </a:solidFill>
                <a:latin typeface="Quattrocento Sans" pitchFamily="34" charset="0"/>
                <a:ea typeface="Quattrocento Sans" pitchFamily="34" charset="-122"/>
                <a:cs typeface="Quattrocento Sans" pitchFamily="34" charset="-120"/>
              </a:rPr>
              <a:t>Systematic reviews, critical appraisal, and GRADE criteria for evaluating evidence quality</a:t>
            </a:r>
            <a:endParaRPr lang="en-US" sz="1600" dirty="0"/>
          </a:p>
        </p:txBody>
      </p:sp>
      <p:sp>
        <p:nvSpPr>
          <p:cNvPr id="8" name="Text 6"/>
          <p:cNvSpPr/>
          <p:nvPr/>
        </p:nvSpPr>
        <p:spPr>
          <a:xfrm>
            <a:off x="2159000" y="3530600"/>
            <a:ext cx="6350000" cy="635000"/>
          </a:xfrm>
          <a:prstGeom prst="rect">
            <a:avLst/>
          </a:prstGeom>
          <a:noFill/>
          <a:ln/>
        </p:spPr>
        <p:txBody>
          <a:bodyPr wrap="square" lIns="0" tIns="0" rIns="0" bIns="0" rtlCol="0" anchor="t"/>
          <a:lstStyle/>
          <a:p>
            <a:pPr algn="l">
              <a:lnSpc>
                <a:spcPct val="150000"/>
              </a:lnSpc>
            </a:pPr>
            <a:r>
              <a:rPr lang="en-US" sz="1400" dirty="0">
                <a:solidFill>
                  <a:srgbClr val="6B6B6B"/>
                </a:solidFill>
                <a:latin typeface="Quattrocento Sans" pitchFamily="34" charset="0"/>
                <a:ea typeface="Quattrocento Sans" pitchFamily="34" charset="-122"/>
                <a:cs typeface="Quattrocento Sans" pitchFamily="34" charset="-120"/>
              </a:rPr>
              <a:t>The evidence landscape 2022–2026 • Evidence by condition • GRADE criteria • How to read a scientific paper</a:t>
            </a:r>
            <a:endParaRPr lang="en-US" sz="1400" dirty="0"/>
          </a:p>
        </p:txBody>
      </p:sp>
      <p:sp>
        <p:nvSpPr>
          <p:cNvPr id="9" name="Text 7"/>
          <p:cNvSpPr/>
          <p:nvPr/>
        </p:nvSpPr>
        <p:spPr>
          <a:xfrm>
            <a:off x="1016000" y="4318000"/>
            <a:ext cx="1016000" cy="762000"/>
          </a:xfrm>
          <a:prstGeom prst="rect">
            <a:avLst/>
          </a:prstGeom>
          <a:noFill/>
          <a:ln/>
        </p:spPr>
        <p:txBody>
          <a:bodyPr wrap="none" lIns="0" tIns="0" rIns="0" bIns="0" rtlCol="0" anchor="t"/>
          <a:lstStyle/>
          <a:p>
            <a:pPr algn="l">
              <a:lnSpc>
                <a:spcPct val="120000"/>
              </a:lnSpc>
            </a:pPr>
            <a:r>
              <a:rPr lang="en-US" sz="4800" dirty="0">
                <a:solidFill>
                  <a:srgbClr val="C7A25A"/>
                </a:solidFill>
                <a:latin typeface="Oranienbaum" pitchFamily="34" charset="0"/>
                <a:ea typeface="Oranienbaum" pitchFamily="34" charset="-122"/>
                <a:cs typeface="Oranienbaum" pitchFamily="34" charset="-120"/>
              </a:rPr>
              <a:t>02</a:t>
            </a:r>
            <a:endParaRPr lang="en-US" sz="4800" dirty="0"/>
          </a:p>
        </p:txBody>
      </p:sp>
      <p:sp>
        <p:nvSpPr>
          <p:cNvPr id="10" name="Text 8"/>
          <p:cNvSpPr/>
          <p:nvPr/>
        </p:nvSpPr>
        <p:spPr>
          <a:xfrm>
            <a:off x="2159000" y="4343400"/>
            <a:ext cx="6350000" cy="406400"/>
          </a:xfrm>
          <a:prstGeom prst="rect">
            <a:avLst/>
          </a:prstGeom>
          <a:noFill/>
          <a:ln/>
        </p:spPr>
        <p:txBody>
          <a:bodyPr wrap="none" lIns="0" tIns="0" rIns="0" bIns="0" rtlCol="0" anchor="ctr"/>
          <a:lstStyle/>
          <a:p>
            <a:pPr algn="l">
              <a:lnSpc>
                <a:spcPct val="120000"/>
              </a:lnSpc>
            </a:pPr>
            <a:r>
              <a:rPr lang="en-US" sz="2200" dirty="0">
                <a:solidFill>
                  <a:srgbClr val="0E3B2E"/>
                </a:solidFill>
                <a:latin typeface="Oranienbaum" pitchFamily="34" charset="0"/>
                <a:ea typeface="Oranienbaum" pitchFamily="34" charset="-122"/>
                <a:cs typeface="Oranienbaum" pitchFamily="34" charset="-120"/>
              </a:rPr>
              <a:t>Proposed Mechanisms of Action</a:t>
            </a:r>
            <a:endParaRPr lang="en-US" sz="2200" dirty="0"/>
          </a:p>
        </p:txBody>
      </p:sp>
      <p:sp>
        <p:nvSpPr>
          <p:cNvPr id="11" name="Text 9"/>
          <p:cNvSpPr/>
          <p:nvPr/>
        </p:nvSpPr>
        <p:spPr>
          <a:xfrm>
            <a:off x="2159000" y="4826000"/>
            <a:ext cx="6350000" cy="762000"/>
          </a:xfrm>
          <a:prstGeom prst="rect">
            <a:avLst/>
          </a:prstGeom>
          <a:noFill/>
          <a:ln/>
        </p:spPr>
        <p:txBody>
          <a:bodyPr wrap="square" lIns="0" tIns="0" rIns="0" bIns="0" rtlCol="0" anchor="t"/>
          <a:lstStyle/>
          <a:p>
            <a:pPr algn="l">
              <a:lnSpc>
                <a:spcPct val="140000"/>
              </a:lnSpc>
            </a:pPr>
            <a:r>
              <a:rPr lang="en-US" sz="1600" dirty="0">
                <a:solidFill>
                  <a:srgbClr val="1A1A1A"/>
                </a:solidFill>
                <a:latin typeface="Quattrocento Sans" pitchFamily="34" charset="0"/>
                <a:ea typeface="Quattrocento Sans" pitchFamily="34" charset="-122"/>
                <a:cs typeface="Quattrocento Sans" pitchFamily="34" charset="-120"/>
              </a:rPr>
              <a:t>Established, probable, and theoretical mechanisms — from NO release to the Taibah Theory</a:t>
            </a:r>
            <a:endParaRPr lang="en-US" sz="1600" dirty="0"/>
          </a:p>
        </p:txBody>
      </p:sp>
      <p:sp>
        <p:nvSpPr>
          <p:cNvPr id="12" name="Text 10"/>
          <p:cNvSpPr/>
          <p:nvPr/>
        </p:nvSpPr>
        <p:spPr>
          <a:xfrm>
            <a:off x="2159000" y="5689600"/>
            <a:ext cx="6350000" cy="635000"/>
          </a:xfrm>
          <a:prstGeom prst="rect">
            <a:avLst/>
          </a:prstGeom>
          <a:noFill/>
          <a:ln/>
        </p:spPr>
        <p:txBody>
          <a:bodyPr wrap="square" lIns="0" tIns="0" rIns="0" bIns="0" rtlCol="0" anchor="t"/>
          <a:lstStyle/>
          <a:p>
            <a:pPr algn="l">
              <a:lnSpc>
                <a:spcPct val="150000"/>
              </a:lnSpc>
            </a:pPr>
            <a:r>
              <a:rPr lang="en-US" sz="1400" dirty="0">
                <a:solidFill>
                  <a:srgbClr val="6B6B6B"/>
                </a:solidFill>
                <a:latin typeface="Quattrocento Sans" pitchFamily="34" charset="0"/>
                <a:ea typeface="Quattrocento Sans" pitchFamily="34" charset="-122"/>
                <a:cs typeface="Quattrocento Sans" pitchFamily="34" charset="-120"/>
              </a:rPr>
              <a:t>Nitric oxide release • Myofascial decompression • Immune modulation • The Mechanisms Framework</a:t>
            </a:r>
            <a:endParaRPr lang="en-US" sz="1400" dirty="0"/>
          </a:p>
        </p:txBody>
      </p:sp>
      <p:sp>
        <p:nvSpPr>
          <p:cNvPr id="13" name="Text 11"/>
          <p:cNvSpPr/>
          <p:nvPr/>
        </p:nvSpPr>
        <p:spPr>
          <a:xfrm>
            <a:off x="1016000" y="6477000"/>
            <a:ext cx="1016000" cy="762000"/>
          </a:xfrm>
          <a:prstGeom prst="rect">
            <a:avLst/>
          </a:prstGeom>
          <a:noFill/>
          <a:ln/>
        </p:spPr>
        <p:txBody>
          <a:bodyPr wrap="none" lIns="0" tIns="0" rIns="0" bIns="0" rtlCol="0" anchor="t"/>
          <a:lstStyle/>
          <a:p>
            <a:pPr algn="l">
              <a:lnSpc>
                <a:spcPct val="120000"/>
              </a:lnSpc>
            </a:pPr>
            <a:r>
              <a:rPr lang="en-US" sz="4800" dirty="0">
                <a:solidFill>
                  <a:srgbClr val="C7A25A"/>
                </a:solidFill>
                <a:latin typeface="Oranienbaum" pitchFamily="34" charset="0"/>
                <a:ea typeface="Oranienbaum" pitchFamily="34" charset="-122"/>
                <a:cs typeface="Oranienbaum" pitchFamily="34" charset="-120"/>
              </a:rPr>
              <a:t>03</a:t>
            </a:r>
            <a:endParaRPr lang="en-US" sz="4800" dirty="0"/>
          </a:p>
        </p:txBody>
      </p:sp>
      <p:sp>
        <p:nvSpPr>
          <p:cNvPr id="14" name="Text 12"/>
          <p:cNvSpPr/>
          <p:nvPr/>
        </p:nvSpPr>
        <p:spPr>
          <a:xfrm>
            <a:off x="2159000" y="6502400"/>
            <a:ext cx="6350000" cy="406400"/>
          </a:xfrm>
          <a:prstGeom prst="rect">
            <a:avLst/>
          </a:prstGeom>
          <a:noFill/>
          <a:ln/>
        </p:spPr>
        <p:txBody>
          <a:bodyPr wrap="none" lIns="0" tIns="0" rIns="0" bIns="0" rtlCol="0" anchor="ctr"/>
          <a:lstStyle/>
          <a:p>
            <a:pPr algn="l">
              <a:lnSpc>
                <a:spcPct val="120000"/>
              </a:lnSpc>
            </a:pPr>
            <a:r>
              <a:rPr lang="en-US" sz="2200" dirty="0">
                <a:solidFill>
                  <a:srgbClr val="0E3B2E"/>
                </a:solidFill>
                <a:latin typeface="Oranienbaum" pitchFamily="34" charset="0"/>
                <a:ea typeface="Oranienbaum" pitchFamily="34" charset="-122"/>
                <a:cs typeface="Oranienbaum" pitchFamily="34" charset="-120"/>
              </a:rPr>
              <a:t>Blood Analysis &amp; Scientific Literacy</a:t>
            </a:r>
            <a:endParaRPr lang="en-US" sz="2200" dirty="0"/>
          </a:p>
        </p:txBody>
      </p:sp>
      <p:sp>
        <p:nvSpPr>
          <p:cNvPr id="15" name="Text 13"/>
          <p:cNvSpPr/>
          <p:nvPr/>
        </p:nvSpPr>
        <p:spPr>
          <a:xfrm>
            <a:off x="2159000" y="6985000"/>
            <a:ext cx="6350000" cy="762000"/>
          </a:xfrm>
          <a:prstGeom prst="rect">
            <a:avLst/>
          </a:prstGeom>
          <a:noFill/>
          <a:ln/>
        </p:spPr>
        <p:txBody>
          <a:bodyPr wrap="square" lIns="0" tIns="0" rIns="0" bIns="0" rtlCol="0" anchor="t"/>
          <a:lstStyle/>
          <a:p>
            <a:pPr algn="l">
              <a:lnSpc>
                <a:spcPct val="140000"/>
              </a:lnSpc>
            </a:pPr>
            <a:r>
              <a:rPr lang="en-US" sz="1600" dirty="0">
                <a:solidFill>
                  <a:srgbClr val="1A1A1A"/>
                </a:solidFill>
                <a:latin typeface="Quattrocento Sans" pitchFamily="34" charset="0"/>
                <a:ea typeface="Quattrocento Sans" pitchFamily="34" charset="-122"/>
                <a:cs typeface="Quattrocento Sans" pitchFamily="34" charset="-120"/>
              </a:rPr>
              <a:t>Dark field microscopy, evaluating blood analysis claims, and the ethics of honest communication</a:t>
            </a:r>
            <a:endParaRPr lang="en-US" sz="1600" dirty="0"/>
          </a:p>
        </p:txBody>
      </p:sp>
      <p:sp>
        <p:nvSpPr>
          <p:cNvPr id="16" name="Text 14"/>
          <p:cNvSpPr/>
          <p:nvPr/>
        </p:nvSpPr>
        <p:spPr>
          <a:xfrm>
            <a:off x="2159000" y="7848600"/>
            <a:ext cx="6350000" cy="635000"/>
          </a:xfrm>
          <a:prstGeom prst="rect">
            <a:avLst/>
          </a:prstGeom>
          <a:noFill/>
          <a:ln/>
        </p:spPr>
        <p:txBody>
          <a:bodyPr wrap="square" lIns="0" tIns="0" rIns="0" bIns="0" rtlCol="0" anchor="t"/>
          <a:lstStyle/>
          <a:p>
            <a:pPr algn="l">
              <a:lnSpc>
                <a:spcPct val="150000"/>
              </a:lnSpc>
            </a:pPr>
            <a:r>
              <a:rPr lang="en-US" sz="1400" dirty="0">
                <a:solidFill>
                  <a:srgbClr val="6B6B6B"/>
                </a:solidFill>
                <a:latin typeface="Quattrocento Sans" pitchFamily="34" charset="0"/>
                <a:ea typeface="Quattrocento Sans" pitchFamily="34" charset="-122"/>
                <a:cs typeface="Quattrocento Sans" pitchFamily="34" charset="-120"/>
              </a:rPr>
              <a:t>Dark field microscopy principles • Blood analysis claims • Scientific literacy • Ethical communication</a:t>
            </a:r>
            <a:endParaRPr lang="en-US" sz="1400" dirty="0"/>
          </a:p>
        </p:txBody>
      </p:sp>
      <p:sp>
        <p:nvSpPr>
          <p:cNvPr id="17" name="Shape 15"/>
          <p:cNvSpPr/>
          <p:nvPr/>
        </p:nvSpPr>
        <p:spPr>
          <a:xfrm>
            <a:off x="9144000" y="2032000"/>
            <a:ext cx="6350000" cy="5334000"/>
          </a:xfrm>
          <a:prstGeom prst="rect">
            <a:avLst/>
          </a:prstGeom>
          <a:solidFill>
            <a:srgbClr val="0E3B2E"/>
          </a:solidFill>
          <a:ln/>
        </p:spPr>
      </p:sp>
      <p:sp>
        <p:nvSpPr>
          <p:cNvPr id="18" name="Text 16"/>
          <p:cNvSpPr/>
          <p:nvPr/>
        </p:nvSpPr>
        <p:spPr>
          <a:xfrm>
            <a:off x="9461500" y="2286000"/>
            <a:ext cx="2540000" cy="254000"/>
          </a:xfrm>
          <a:prstGeom prst="rect">
            <a:avLst/>
          </a:prstGeom>
          <a:noFill/>
          <a:ln/>
        </p:spPr>
        <p:txBody>
          <a:bodyPr wrap="none" lIns="0" tIns="0" rIns="0" bIns="0" rtlCol="0" anchor="ctr"/>
          <a:lstStyle/>
          <a:p>
            <a:pPr algn="l">
              <a:lnSpc>
                <a:spcPct val="120000"/>
              </a:lnSpc>
            </a:pPr>
            <a:r>
              <a:rPr lang="en-US" sz="1100" spc="300" kern="0" dirty="0">
                <a:solidFill>
                  <a:srgbClr val="C7A25A"/>
                </a:solidFill>
                <a:latin typeface="Quattrocento Sans" pitchFamily="34" charset="0"/>
                <a:ea typeface="Quattrocento Sans" pitchFamily="34" charset="-122"/>
                <a:cs typeface="Quattrocento Sans" pitchFamily="34" charset="-120"/>
              </a:rPr>
              <a:t>MODULE FOCUS</a:t>
            </a:r>
            <a:endParaRPr lang="en-US" sz="1100" dirty="0"/>
          </a:p>
        </p:txBody>
      </p:sp>
      <p:sp>
        <p:nvSpPr>
          <p:cNvPr id="19" name="Shape 17"/>
          <p:cNvSpPr/>
          <p:nvPr/>
        </p:nvSpPr>
        <p:spPr>
          <a:xfrm>
            <a:off x="9461500" y="2641600"/>
            <a:ext cx="762000" cy="25400"/>
          </a:xfrm>
          <a:prstGeom prst="rect">
            <a:avLst/>
          </a:prstGeom>
          <a:solidFill>
            <a:srgbClr val="C7A25A"/>
          </a:solidFill>
          <a:ln/>
        </p:spPr>
      </p:sp>
      <p:sp>
        <p:nvSpPr>
          <p:cNvPr id="20" name="Text 18"/>
          <p:cNvSpPr/>
          <p:nvPr/>
        </p:nvSpPr>
        <p:spPr>
          <a:xfrm>
            <a:off x="9461500" y="2857500"/>
            <a:ext cx="5715000" cy="4191000"/>
          </a:xfrm>
          <a:prstGeom prst="rect">
            <a:avLst/>
          </a:prstGeom>
          <a:noFill/>
          <a:ln/>
        </p:spPr>
        <p:txBody>
          <a:bodyPr wrap="square" lIns="0" tIns="0" rIns="0" bIns="0" rtlCol="0" anchor="t"/>
          <a:lstStyle/>
          <a:p>
            <a:pPr algn="l">
              <a:lnSpc>
                <a:spcPct val="160000"/>
              </a:lnSpc>
            </a:pPr>
            <a:r>
              <a:rPr lang="en-US" sz="1500" dirty="0">
                <a:solidFill>
                  <a:srgbClr val="F6F3EE"/>
                </a:solidFill>
                <a:latin typeface="Quattrocento Sans" pitchFamily="34" charset="0"/>
                <a:ea typeface="Quattrocento Sans" pitchFamily="34" charset="-122"/>
                <a:cs typeface="Quattrocento Sans" pitchFamily="34" charset="-120"/>
              </a:rPr>
              <a:t>This module transforms you from a passive consumer of research into an active, critical evaluator of evidence.</a:t>
            </a:r>
            <a:endParaRPr lang="en-US" sz="1500" dirty="0"/>
          </a:p>
          <a:p>
            <a:pPr algn="l">
              <a:lnSpc>
                <a:spcPct val="160000"/>
              </a:lnSpc>
              <a:spcBef>
                <a:spcPts val="1200"/>
              </a:spcBef>
            </a:pPr>
            <a:r>
              <a:rPr lang="en-US" sz="1500" b="1" dirty="0">
                <a:solidFill>
                  <a:srgbClr val="F6F3EE"/>
                </a:solidFill>
                <a:latin typeface="Quattrocento Sans" pitchFamily="34" charset="0"/>
                <a:ea typeface="Quattrocento Sans" pitchFamily="34" charset="-122"/>
                <a:cs typeface="Quattrocento Sans" pitchFamily="34" charset="-120"/>
              </a:rPr>
              <a:t>By the end of this module, you will:</a:t>
            </a:r>
            <a:endParaRPr lang="en-US" sz="1500" dirty="0"/>
          </a:p>
          <a:p>
            <a:pPr algn="l">
              <a:lnSpc>
                <a:spcPct val="160000"/>
              </a:lnSpc>
              <a:spcBef>
                <a:spcPts val="800"/>
              </a:spcBef>
            </a:pPr>
            <a:r>
              <a:rPr lang="en-US" sz="1500" dirty="0">
                <a:solidFill>
                  <a:srgbClr val="F6F3EE"/>
                </a:solidFill>
                <a:latin typeface="Quattrocento Sans" pitchFamily="34" charset="0"/>
                <a:ea typeface="Quattrocento Sans" pitchFamily="34" charset="-122"/>
                <a:cs typeface="Quattrocento Sans" pitchFamily="34" charset="-120"/>
              </a:rPr>
              <a:t>• Navigate peer-reviewed literature with confidence</a:t>
            </a:r>
            <a:endParaRPr lang="en-US" sz="1500" dirty="0"/>
          </a:p>
          <a:p>
            <a:pPr algn="l">
              <a:lnSpc>
                <a:spcPct val="160000"/>
              </a:lnSpc>
            </a:pPr>
            <a:r>
              <a:rPr lang="en-US" sz="1500" dirty="0">
                <a:solidFill>
                  <a:srgbClr val="F6F3EE"/>
                </a:solidFill>
                <a:latin typeface="Quattrocento Sans" pitchFamily="34" charset="0"/>
                <a:ea typeface="Quattrocento Sans" pitchFamily="34" charset="-122"/>
                <a:cs typeface="Quattrocento Sans" pitchFamily="34" charset="-120"/>
              </a:rPr>
              <a:t>• Evaluate evidence quality using GRADE criteria</a:t>
            </a:r>
            <a:endParaRPr lang="en-US" sz="1500" dirty="0"/>
          </a:p>
          <a:p>
            <a:pPr algn="l">
              <a:lnSpc>
                <a:spcPct val="160000"/>
              </a:lnSpc>
            </a:pPr>
            <a:r>
              <a:rPr lang="en-US" sz="1500" dirty="0">
                <a:solidFill>
                  <a:srgbClr val="F6F3EE"/>
                </a:solidFill>
                <a:latin typeface="Quattrocento Sans" pitchFamily="34" charset="0"/>
                <a:ea typeface="Quattrocento Sans" pitchFamily="34" charset="-122"/>
                <a:cs typeface="Quattrocento Sans" pitchFamily="34" charset="-120"/>
              </a:rPr>
              <a:t>• Explain proposed mechanisms to patients</a:t>
            </a:r>
            <a:endParaRPr lang="en-US" sz="1500" dirty="0"/>
          </a:p>
          <a:p>
            <a:pPr algn="l">
              <a:lnSpc>
                <a:spcPct val="160000"/>
              </a:lnSpc>
            </a:pPr>
            <a:r>
              <a:rPr lang="en-US" sz="1500" dirty="0">
                <a:solidFill>
                  <a:srgbClr val="F6F3EE"/>
                </a:solidFill>
                <a:latin typeface="Quattrocento Sans" pitchFamily="34" charset="0"/>
                <a:ea typeface="Quattrocento Sans" pitchFamily="34" charset="-122"/>
                <a:cs typeface="Quattrocento Sans" pitchFamily="34" charset="-120"/>
              </a:rPr>
              <a:t>• Communicate blood analysis findings honestly</a:t>
            </a:r>
            <a:endParaRPr lang="en-US" sz="1500" dirty="0"/>
          </a:p>
          <a:p>
            <a:pPr algn="l">
              <a:lnSpc>
                <a:spcPct val="160000"/>
              </a:lnSpc>
            </a:pPr>
            <a:r>
              <a:rPr lang="en-US" sz="1500" dirty="0">
                <a:solidFill>
                  <a:srgbClr val="F6F3EE"/>
                </a:solidFill>
                <a:latin typeface="Quattrocento Sans" pitchFamily="34" charset="0"/>
                <a:ea typeface="Quattrocento Sans" pitchFamily="34" charset="-122"/>
                <a:cs typeface="Quattrocento Sans" pitchFamily="34" charset="-120"/>
              </a:rPr>
              <a:t>• Apply scientific literacy as an ethical duty</a:t>
            </a:r>
            <a:endParaRPr lang="en-US" sz="1500" dirty="0"/>
          </a:p>
          <a:p>
            <a:pPr algn="l">
              <a:lnSpc>
                <a:spcPct val="160000"/>
              </a:lnSpc>
              <a:spcBef>
                <a:spcPts val="1200"/>
              </a:spcBef>
            </a:pPr>
            <a:r>
              <a:rPr lang="en-US" sz="1500" i="1" dirty="0">
                <a:solidFill>
                  <a:srgbClr val="F6F3EE"/>
                </a:solidFill>
                <a:latin typeface="Quattrocento Sans" pitchFamily="34" charset="0"/>
                <a:ea typeface="Quattrocento Sans" pitchFamily="34" charset="-122"/>
                <a:cs typeface="Quattrocento Sans" pitchFamily="34" charset="-120"/>
              </a:rPr>
              <a:t>"And say, 'My Lord, increase me in knowledge.'" — Qur'an 20:114</a:t>
            </a:r>
            <a:endParaRPr lang="en-US" sz="15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01</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3970000" cy="762000"/>
          </a:xfrm>
          <a:prstGeom prst="rect">
            <a:avLst/>
          </a:prstGeom>
          <a:noFill/>
          <a:ln/>
        </p:spPr>
        <p:txBody>
          <a:bodyPr wrap="none" lIns="0" tIns="0" rIns="0" bIns="0" rtlCol="0" anchor="ctr"/>
          <a:lstStyle/>
          <a:p>
            <a:pPr algn="l">
              <a:lnSpc>
                <a:spcPct val="115000"/>
              </a:lnSpc>
            </a:pPr>
            <a:r>
              <a:rPr lang="en-US" sz="4200" dirty="0">
                <a:solidFill>
                  <a:srgbClr val="F6F3EE"/>
                </a:solidFill>
                <a:latin typeface="Oranienbaum" pitchFamily="34" charset="0"/>
                <a:ea typeface="Oranienbaum" pitchFamily="34" charset="-122"/>
                <a:cs typeface="Oranienbaum" pitchFamily="34" charset="-120"/>
              </a:rPr>
              <a:t>Research Evidence: Systematic Reviews and Critical Appraisal</a:t>
            </a:r>
            <a:endParaRPr lang="en-US" sz="42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Building Evidence Literacy for Honest Clinical Communication</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143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The Evidence Landscape: Systematic Reviews 2022–2026</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498600"/>
            <a:ext cx="14732000" cy="787400"/>
          </a:xfrm>
          <a:prstGeom prst="rect">
            <a:avLst/>
          </a:prstGeom>
          <a:noFill/>
          <a:ln/>
        </p:spPr>
        <p:txBody>
          <a:bodyPr wrap="square" lIns="0" tIns="0" rIns="0" bIns="0" rtlCol="0" anchor="t"/>
          <a:lstStyle/>
          <a:p>
            <a:pPr algn="l">
              <a:lnSpc>
                <a:spcPct val="150000"/>
              </a:lnSpc>
            </a:pPr>
            <a:r>
              <a:rPr lang="en-US" sz="1600" dirty="0">
                <a:solidFill>
                  <a:srgbClr val="1A1A1A"/>
                </a:solidFill>
                <a:latin typeface="Quattrocento Sans" pitchFamily="34" charset="0"/>
                <a:ea typeface="Quattrocento Sans" pitchFamily="34" charset="-122"/>
                <a:cs typeface="Quattrocento Sans" pitchFamily="34" charset="-120"/>
              </a:rPr>
              <a:t>The evidence base for cupping therapy has grown substantially. The landmark </a:t>
            </a:r>
            <a:pPr algn="l">
              <a:lnSpc>
                <a:spcPct val="150000"/>
              </a:lnSpc>
            </a:pPr>
            <a:r>
              <a:rPr lang="en-US" sz="1600" b="1" dirty="0">
                <a:solidFill>
                  <a:srgbClr val="1A1A1A"/>
                </a:solidFill>
                <a:latin typeface="Quattrocento Sans" pitchFamily="34" charset="0"/>
                <a:ea typeface="Quattrocento Sans" pitchFamily="34" charset="-122"/>
                <a:cs typeface="Quattrocento Sans" pitchFamily="34" charset="-120"/>
              </a:rPr>
              <a:t>Cramer et al. (2022)</a:t>
            </a:r>
            <a:pPr algn="l">
              <a:lnSpc>
                <a:spcPct val="150000"/>
              </a:lnSpc>
            </a:pPr>
            <a:r>
              <a:rPr lang="en-US" sz="1600" dirty="0">
                <a:solidFill>
                  <a:srgbClr val="1A1A1A"/>
                </a:solidFill>
                <a:latin typeface="Quattrocento Sans" pitchFamily="34" charset="0"/>
                <a:ea typeface="Quattrocento Sans" pitchFamily="34" charset="-122"/>
                <a:cs typeface="Quattrocento Sans" pitchFamily="34" charset="-120"/>
              </a:rPr>
              <a:t> systematic review analysed </a:t>
            </a:r>
            <a:pPr algn="l">
              <a:lnSpc>
                <a:spcPct val="150000"/>
              </a:lnSpc>
            </a:pPr>
            <a:r>
              <a:rPr lang="en-US" sz="1600" b="1" dirty="0">
                <a:solidFill>
                  <a:srgbClr val="1A1A1A"/>
                </a:solidFill>
                <a:latin typeface="Quattrocento Sans" pitchFamily="34" charset="0"/>
                <a:ea typeface="Quattrocento Sans" pitchFamily="34" charset="-122"/>
                <a:cs typeface="Quattrocento Sans" pitchFamily="34" charset="-120"/>
              </a:rPr>
              <a:t>177 RCTs</a:t>
            </a:r>
            <a:pPr algn="l">
              <a:lnSpc>
                <a:spcPct val="150000"/>
              </a:lnSpc>
            </a:pPr>
            <a:r>
              <a:rPr lang="en-US" sz="1600" dirty="0">
                <a:solidFill>
                  <a:srgbClr val="1A1A1A"/>
                </a:solidFill>
                <a:latin typeface="Quattrocento Sans" pitchFamily="34" charset="0"/>
                <a:ea typeface="Quattrocento Sans" pitchFamily="34" charset="-122"/>
                <a:cs typeface="Quattrocento Sans" pitchFamily="34" charset="-120"/>
              </a:rPr>
              <a:t> — the most comprehensive analysis to date.</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2387600"/>
          <a:ext cx="14732000" cy="2921000"/>
        </p:xfrm>
        <a:graphic>
          <a:graphicData uri="http://schemas.openxmlformats.org/drawingml/2006/table">
            <a:tbl>
              <a:tblPr/>
              <a:tblGrid>
                <a:gridCol w="4124960"/>
                <a:gridCol w="2504440"/>
                <a:gridCol w="2946400"/>
                <a:gridCol w="5156200"/>
              </a:tblGrid>
              <a:tr h="46736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Review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Year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RCTs Included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Key Finding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61341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Cramer et 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2022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177</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 evidence for pain; low for other conditions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61341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Kim et 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2023</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89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Significant effect on chronic lower back pain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61341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Al-Bedah et 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2024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45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Emerging evidence for metabolic conditions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61341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Liu et al.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2025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62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Strong evidence for myofascial pain syndromes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bl>
          </a:graphicData>
        </a:graphic>
      </p:graphicFrame>
      <p:sp>
        <p:nvSpPr>
          <p:cNvPr id="10" name="Text 7"/>
          <p:cNvSpPr/>
          <p:nvPr/>
        </p:nvSpPr>
        <p:spPr>
          <a:xfrm>
            <a:off x="762000" y="5524500"/>
            <a:ext cx="4445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THE TRAJECTORY</a:t>
            </a:r>
            <a:endParaRPr lang="en-US" sz="1200" dirty="0"/>
          </a:p>
        </p:txBody>
      </p:sp>
      <p:sp>
        <p:nvSpPr>
          <p:cNvPr id="11" name="Text 8"/>
          <p:cNvSpPr/>
          <p:nvPr/>
        </p:nvSpPr>
        <p:spPr>
          <a:xfrm>
            <a:off x="762000" y="5905500"/>
            <a:ext cx="7112000" cy="1016000"/>
          </a:xfrm>
          <a:prstGeom prst="rect">
            <a:avLst/>
          </a:prstGeom>
          <a:noFill/>
          <a:ln/>
        </p:spPr>
        <p:txBody>
          <a:bodyPr wrap="square" lIns="0" tIns="0" rIns="0" bIns="0" rtlCol="0" anchor="t"/>
          <a:lstStyle/>
          <a:p>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Evidence is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growing and strengthening</a:t>
            </a:r>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From 16 RCTs in 2010 to 177 in 2022. Research quality is improving: larger samples, better blinding, sham-controlled designs.</a:t>
            </a:r>
            <a:endParaRPr lang="en-US" sz="1500" dirty="0"/>
          </a:p>
        </p:txBody>
      </p:sp>
      <p:sp>
        <p:nvSpPr>
          <p:cNvPr id="12" name="Text 9"/>
          <p:cNvSpPr/>
          <p:nvPr/>
        </p:nvSpPr>
        <p:spPr>
          <a:xfrm>
            <a:off x="8382000" y="5524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HOW TO READ A SCIENTIFIC PAPER</a:t>
            </a:r>
            <a:endParaRPr lang="en-US" sz="1200" dirty="0"/>
          </a:p>
        </p:txBody>
      </p:sp>
      <p:sp>
        <p:nvSpPr>
          <p:cNvPr id="13" name="Shape 10"/>
          <p:cNvSpPr/>
          <p:nvPr/>
        </p:nvSpPr>
        <p:spPr>
          <a:xfrm>
            <a:off x="8382000" y="5969000"/>
            <a:ext cx="304800" cy="304800"/>
          </a:xfrm>
          <a:prstGeom prst="ellipse">
            <a:avLst/>
          </a:prstGeom>
          <a:solidFill>
            <a:srgbClr val="C7A25A"/>
          </a:solidFill>
          <a:ln/>
        </p:spPr>
      </p:sp>
      <p:sp>
        <p:nvSpPr>
          <p:cNvPr id="14" name="Text 11"/>
          <p:cNvSpPr/>
          <p:nvPr/>
        </p:nvSpPr>
        <p:spPr>
          <a:xfrm>
            <a:off x="8813800" y="5943600"/>
            <a:ext cx="6350000" cy="355600"/>
          </a:xfrm>
          <a:prstGeom prst="rect">
            <a:avLst/>
          </a:prstGeom>
          <a:noFill/>
          <a:ln/>
        </p:spPr>
        <p:txBody>
          <a:bodyPr wrap="square" lIns="0" tIns="0" rIns="0" bIns="0" rtlCol="0" anchor="ctr"/>
          <a:lstStyle/>
          <a:p>
            <a:pPr algn="l">
              <a:lnSpc>
                <a:spcPct val="120000"/>
              </a:lnSpc>
            </a:pPr>
            <a:r>
              <a:rPr lang="en-US" sz="1400" b="1" dirty="0">
                <a:solidFill>
                  <a:srgbClr val="1A1A1A"/>
                </a:solidFill>
                <a:latin typeface="Quattrocento Sans" pitchFamily="34" charset="0"/>
                <a:ea typeface="Quattrocento Sans" pitchFamily="34" charset="-122"/>
                <a:cs typeface="Quattrocento Sans" pitchFamily="34" charset="-120"/>
              </a:rPr>
              <a:t>Abstract</a:t>
            </a:r>
            <a:pPr algn="l">
              <a:lnSpc>
                <a:spcPct val="120000"/>
              </a:lnSpc>
            </a:pPr>
            <a:r>
              <a:rPr lang="en-US" sz="1400" dirty="0">
                <a:solidFill>
                  <a:srgbClr val="1A1A1A"/>
                </a:solidFill>
                <a:latin typeface="Quattrocento Sans" pitchFamily="34" charset="0"/>
                <a:ea typeface="Quattrocento Sans" pitchFamily="34" charset="-122"/>
                <a:cs typeface="Quattrocento Sans" pitchFamily="34" charset="-120"/>
              </a:rPr>
              <a:t> — Read last. It summarises everything.</a:t>
            </a:r>
            <a:endParaRPr lang="en-US" sz="1400" dirty="0"/>
          </a:p>
        </p:txBody>
      </p:sp>
      <p:sp>
        <p:nvSpPr>
          <p:cNvPr id="15" name="Shape 12"/>
          <p:cNvSpPr/>
          <p:nvPr/>
        </p:nvSpPr>
        <p:spPr>
          <a:xfrm>
            <a:off x="8382000" y="6375400"/>
            <a:ext cx="304800" cy="304800"/>
          </a:xfrm>
          <a:prstGeom prst="ellipse">
            <a:avLst/>
          </a:prstGeom>
          <a:solidFill>
            <a:srgbClr val="C7A25A"/>
          </a:solidFill>
          <a:ln/>
        </p:spPr>
      </p:sp>
      <p:sp>
        <p:nvSpPr>
          <p:cNvPr id="16" name="Text 13"/>
          <p:cNvSpPr/>
          <p:nvPr/>
        </p:nvSpPr>
        <p:spPr>
          <a:xfrm>
            <a:off x="8813800" y="6350000"/>
            <a:ext cx="6350000" cy="355600"/>
          </a:xfrm>
          <a:prstGeom prst="rect">
            <a:avLst/>
          </a:prstGeom>
          <a:noFill/>
          <a:ln/>
        </p:spPr>
        <p:txBody>
          <a:bodyPr wrap="square" lIns="0" tIns="0" rIns="0" bIns="0" rtlCol="0" anchor="ctr"/>
          <a:lstStyle/>
          <a:p>
            <a:pPr algn="l">
              <a:lnSpc>
                <a:spcPct val="120000"/>
              </a:lnSpc>
            </a:pPr>
            <a:r>
              <a:rPr lang="en-US" sz="1400" b="1" dirty="0">
                <a:solidFill>
                  <a:srgbClr val="1A1A1A"/>
                </a:solidFill>
                <a:latin typeface="Quattrocento Sans" pitchFamily="34" charset="0"/>
                <a:ea typeface="Quattrocento Sans" pitchFamily="34" charset="-122"/>
                <a:cs typeface="Quattrocento Sans" pitchFamily="34" charset="-120"/>
              </a:rPr>
              <a:t>Methods</a:t>
            </a:r>
            <a:pPr algn="l">
              <a:lnSpc>
                <a:spcPct val="120000"/>
              </a:lnSpc>
            </a:pPr>
            <a:r>
              <a:rPr lang="en-US" sz="1400" dirty="0">
                <a:solidFill>
                  <a:srgbClr val="1A1A1A"/>
                </a:solidFill>
                <a:latin typeface="Quattrocento Sans" pitchFamily="34" charset="0"/>
                <a:ea typeface="Quattrocento Sans" pitchFamily="34" charset="-122"/>
                <a:cs typeface="Quattrocento Sans" pitchFamily="34" charset="-120"/>
              </a:rPr>
              <a:t> — How was the study done? Is it rigorous?</a:t>
            </a:r>
            <a:endParaRPr lang="en-US" sz="1400" dirty="0"/>
          </a:p>
        </p:txBody>
      </p:sp>
      <p:sp>
        <p:nvSpPr>
          <p:cNvPr id="17" name="Shape 14"/>
          <p:cNvSpPr/>
          <p:nvPr/>
        </p:nvSpPr>
        <p:spPr>
          <a:xfrm>
            <a:off x="8382000" y="6781800"/>
            <a:ext cx="304800" cy="304800"/>
          </a:xfrm>
          <a:prstGeom prst="ellipse">
            <a:avLst/>
          </a:prstGeom>
          <a:solidFill>
            <a:srgbClr val="C7A25A"/>
          </a:solidFill>
          <a:ln/>
        </p:spPr>
      </p:sp>
      <p:sp>
        <p:nvSpPr>
          <p:cNvPr id="18" name="Text 15"/>
          <p:cNvSpPr/>
          <p:nvPr/>
        </p:nvSpPr>
        <p:spPr>
          <a:xfrm>
            <a:off x="8813800" y="6756400"/>
            <a:ext cx="6350000" cy="355600"/>
          </a:xfrm>
          <a:prstGeom prst="rect">
            <a:avLst/>
          </a:prstGeom>
          <a:noFill/>
          <a:ln/>
        </p:spPr>
        <p:txBody>
          <a:bodyPr wrap="square" lIns="0" tIns="0" rIns="0" bIns="0" rtlCol="0" anchor="ctr"/>
          <a:lstStyle/>
          <a:p>
            <a:pPr algn="l">
              <a:lnSpc>
                <a:spcPct val="120000"/>
              </a:lnSpc>
            </a:pPr>
            <a:r>
              <a:rPr lang="en-US" sz="1400" b="1" dirty="0">
                <a:solidFill>
                  <a:srgbClr val="1A1A1A"/>
                </a:solidFill>
                <a:latin typeface="Quattrocento Sans" pitchFamily="34" charset="0"/>
                <a:ea typeface="Quattrocento Sans" pitchFamily="34" charset="-122"/>
                <a:cs typeface="Quattrocento Sans" pitchFamily="34" charset="-120"/>
              </a:rPr>
              <a:t>Results</a:t>
            </a:r>
            <a:pPr algn="l">
              <a:lnSpc>
                <a:spcPct val="120000"/>
              </a:lnSpc>
            </a:pPr>
            <a:r>
              <a:rPr lang="en-US" sz="1400" dirty="0">
                <a:solidFill>
                  <a:srgbClr val="1A1A1A"/>
                </a:solidFill>
                <a:latin typeface="Quattrocento Sans" pitchFamily="34" charset="0"/>
                <a:ea typeface="Quattrocento Sans" pitchFamily="34" charset="-122"/>
                <a:cs typeface="Quattrocento Sans" pitchFamily="34" charset="-120"/>
              </a:rPr>
              <a:t> — What did they find? Check statistics.</a:t>
            </a:r>
            <a:endParaRPr lang="en-US" sz="1400" dirty="0"/>
          </a:p>
        </p:txBody>
      </p:sp>
      <p:sp>
        <p:nvSpPr>
          <p:cNvPr id="19" name="Shape 16"/>
          <p:cNvSpPr/>
          <p:nvPr/>
        </p:nvSpPr>
        <p:spPr>
          <a:xfrm>
            <a:off x="8382000" y="7188200"/>
            <a:ext cx="304800" cy="304800"/>
          </a:xfrm>
          <a:prstGeom prst="ellipse">
            <a:avLst/>
          </a:prstGeom>
          <a:solidFill>
            <a:srgbClr val="C7A25A"/>
          </a:solidFill>
          <a:ln/>
        </p:spPr>
      </p:sp>
      <p:sp>
        <p:nvSpPr>
          <p:cNvPr id="20" name="Text 17"/>
          <p:cNvSpPr/>
          <p:nvPr/>
        </p:nvSpPr>
        <p:spPr>
          <a:xfrm>
            <a:off x="8813800" y="7162800"/>
            <a:ext cx="6350000" cy="355600"/>
          </a:xfrm>
          <a:prstGeom prst="rect">
            <a:avLst/>
          </a:prstGeom>
          <a:noFill/>
          <a:ln/>
        </p:spPr>
        <p:txBody>
          <a:bodyPr wrap="square" lIns="0" tIns="0" rIns="0" bIns="0" rtlCol="0" anchor="ctr"/>
          <a:lstStyle/>
          <a:p>
            <a:pPr algn="l">
              <a:lnSpc>
                <a:spcPct val="120000"/>
              </a:lnSpc>
            </a:pPr>
            <a:r>
              <a:rPr lang="en-US" sz="1400" b="1" dirty="0">
                <a:solidFill>
                  <a:srgbClr val="1A1A1A"/>
                </a:solidFill>
                <a:latin typeface="Quattrocento Sans" pitchFamily="34" charset="0"/>
                <a:ea typeface="Quattrocento Sans" pitchFamily="34" charset="-122"/>
                <a:cs typeface="Quattrocento Sans" pitchFamily="34" charset="-120"/>
              </a:rPr>
              <a:t>Discussion</a:t>
            </a:r>
            <a:pPr algn="l">
              <a:lnSpc>
                <a:spcPct val="120000"/>
              </a:lnSpc>
            </a:pPr>
            <a:r>
              <a:rPr lang="en-US" sz="1400" dirty="0">
                <a:solidFill>
                  <a:srgbClr val="1A1A1A"/>
                </a:solidFill>
                <a:latin typeface="Quattrocento Sans" pitchFamily="34" charset="0"/>
                <a:ea typeface="Quattrocento Sans" pitchFamily="34" charset="-122"/>
                <a:cs typeface="Quattrocento Sans" pitchFamily="34" charset="-120"/>
              </a:rPr>
              <a:t> — Do the authors' claims match their data?</a:t>
            </a:r>
            <a:endParaRPr lang="en-US" sz="1400" dirty="0"/>
          </a:p>
        </p:txBody>
      </p:sp>
      <p:sp>
        <p:nvSpPr>
          <p:cNvPr id="21" name="Shape 18"/>
          <p:cNvSpPr/>
          <p:nvPr/>
        </p:nvSpPr>
        <p:spPr>
          <a:xfrm>
            <a:off x="762000" y="7747000"/>
            <a:ext cx="14732000" cy="635000"/>
          </a:xfrm>
          <a:prstGeom prst="rect">
            <a:avLst/>
          </a:prstGeom>
          <a:solidFill>
            <a:srgbClr val="0E3B2E"/>
          </a:solidFill>
          <a:ln/>
        </p:spPr>
      </p:sp>
      <p:sp>
        <p:nvSpPr>
          <p:cNvPr id="22" name="Text 19"/>
          <p:cNvSpPr/>
          <p:nvPr/>
        </p:nvSpPr>
        <p:spPr>
          <a:xfrm>
            <a:off x="1016000" y="7848600"/>
            <a:ext cx="14224000" cy="431800"/>
          </a:xfrm>
          <a:prstGeom prst="rect">
            <a:avLst/>
          </a:prstGeom>
          <a:noFill/>
          <a:ln/>
        </p:spPr>
        <p:txBody>
          <a:bodyPr wrap="square" lIns="0" tIns="0" rIns="0" bIns="0" rtlCol="0" anchor="ctr"/>
          <a:lstStyle/>
          <a:p>
            <a:pPr algn="l">
              <a:lnSpc>
                <a:spcPct val="140000"/>
              </a:lnSpc>
            </a:pPr>
            <a:r>
              <a:rPr lang="en-US" sz="14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400" dirty="0">
                <a:solidFill>
                  <a:srgbClr val="F6F3EE"/>
                </a:solidFill>
                <a:latin typeface="Quattrocento Sans" pitchFamily="34" charset="0"/>
                <a:ea typeface="Quattrocento Sans" pitchFamily="34" charset="-122"/>
                <a:cs typeface="Quattrocento Sans" pitchFamily="34" charset="-120"/>
              </a:rPr>
              <a:t> Never cite a paper you haven't read. Always check if the authors' conclusions are supported by their data. This is your amanah.</a:t>
            </a:r>
            <a:endParaRPr lang="en-US" sz="1400" dirty="0"/>
          </a:p>
        </p:txBody>
      </p:sp>
      <p:sp>
        <p:nvSpPr>
          <p:cNvPr id="23" name="Text 20"/>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04</a:t>
            </a:r>
            <a:endParaRPr lang="en-US" sz="11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Evidence by Condition: What the Research Shows</a:t>
            </a:r>
            <a:endParaRPr lang="en-US" sz="2800" dirty="0"/>
          </a:p>
        </p:txBody>
      </p:sp>
      <p:sp>
        <p:nvSpPr>
          <p:cNvPr id="7" name="Shape 5"/>
          <p:cNvSpPr/>
          <p:nvPr/>
        </p:nvSpPr>
        <p:spPr>
          <a:xfrm>
            <a:off x="762000" y="1333500"/>
            <a:ext cx="1016000" cy="38100"/>
          </a:xfrm>
          <a:prstGeom prst="rect">
            <a:avLst/>
          </a:prstGeom>
          <a:solidFill>
            <a:srgbClr val="C7A25A"/>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2000" y="1587500"/>
          <a:ext cx="14732000" cy="4318000"/>
        </p:xfrm>
        <a:graphic>
          <a:graphicData uri="http://schemas.openxmlformats.org/drawingml/2006/table">
            <a:tbl>
              <a:tblPr/>
              <a:tblGrid>
                <a:gridCol w="2651760"/>
                <a:gridCol w="1767840"/>
                <a:gridCol w="1767840"/>
                <a:gridCol w="2209800"/>
                <a:gridCol w="6334760"/>
              </a:tblGrid>
              <a:tr h="43180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Condition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RCTs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GRADE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Evidence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Key Study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Lower back pain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42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Strong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Kim et al. 2023 — significant pain reduction vs. sham</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Neck pain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28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Strong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Lauche et al. 2022 — clinically meaningful improvement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Migraine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Low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Zhang et al. 2024 — reduced frequency and intensity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Hypertension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Low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Al-Bedah et al. 2024 — modest BP reduction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Diabetes (T2)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Very Low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Preliminary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Small pilot studies — needs larger trials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Infertility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Very Low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Exploratory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Insufficient data — case reports only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Anxiety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Low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Wang et al. 2025 — HADS score improvement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485775">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Sports recovery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18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Low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Liu et al. 2025 — reduced DOMS, improved perf.</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bl>
          </a:graphicData>
        </a:graphic>
      </p:graphicFrame>
      <p:sp>
        <p:nvSpPr>
          <p:cNvPr id="9" name="Text 6"/>
          <p:cNvSpPr/>
          <p:nvPr/>
        </p:nvSpPr>
        <p:spPr>
          <a:xfrm>
            <a:off x="762000" y="6159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COMMUNICATING UNCERTAINTY</a:t>
            </a:r>
            <a:endParaRPr lang="en-US" sz="1200" dirty="0"/>
          </a:p>
        </p:txBody>
      </p:sp>
      <p:sp>
        <p:nvSpPr>
          <p:cNvPr id="10" name="Shape 7"/>
          <p:cNvSpPr/>
          <p:nvPr/>
        </p:nvSpPr>
        <p:spPr>
          <a:xfrm>
            <a:off x="762000" y="6565900"/>
            <a:ext cx="14732000" cy="1270000"/>
          </a:xfrm>
          <a:prstGeom prst="rect">
            <a:avLst/>
          </a:prstGeom>
          <a:solidFill>
            <a:srgbClr val="F0EDE7"/>
          </a:solidFill>
          <a:ln w="12700">
            <a:solidFill>
              <a:srgbClr val="E0DCD6"/>
            </a:solidFill>
            <a:prstDash val="solid"/>
          </a:ln>
        </p:spPr>
      </p:sp>
      <p:sp>
        <p:nvSpPr>
          <p:cNvPr id="11" name="Shape 8"/>
          <p:cNvSpPr/>
          <p:nvPr/>
        </p:nvSpPr>
        <p:spPr>
          <a:xfrm>
            <a:off x="762000" y="6565900"/>
            <a:ext cx="50800" cy="1270000"/>
          </a:xfrm>
          <a:prstGeom prst="rect">
            <a:avLst/>
          </a:prstGeom>
          <a:solidFill>
            <a:srgbClr val="C7A25A"/>
          </a:solidFill>
          <a:ln/>
        </p:spPr>
      </p:sp>
      <p:sp>
        <p:nvSpPr>
          <p:cNvPr id="12" name="Text 9"/>
          <p:cNvSpPr/>
          <p:nvPr/>
        </p:nvSpPr>
        <p:spPr>
          <a:xfrm>
            <a:off x="1016000" y="6667500"/>
            <a:ext cx="14224000" cy="1066800"/>
          </a:xfrm>
          <a:prstGeom prst="rect">
            <a:avLst/>
          </a:prstGeom>
          <a:noFill/>
          <a:ln/>
        </p:spPr>
        <p:txBody>
          <a:bodyPr wrap="square" lIns="0" tIns="0" rIns="0" bIns="0" rtlCol="0" anchor="t"/>
          <a:lstStyle/>
          <a:p>
            <a:pPr algn="l">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"The evidence suggests"</a:t>
            </a:r>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Use for Moderate and Low GRADE ratings. The research is promising but not conclusive.</a:t>
            </a:r>
            <a:endParaRPr lang="en-US" sz="1400" dirty="0"/>
          </a:p>
          <a:p>
            <a:pPr algn="l">
              <a:lnSpc>
                <a:spcPct val="150000"/>
              </a:lnSpc>
              <a:spcBef>
                <a:spcPts val="400"/>
              </a:spcBef>
            </a:pPr>
            <a:r>
              <a:rPr lang="en-US" sz="1400" b="1" dirty="0">
                <a:solidFill>
                  <a:srgbClr val="1A1A1A"/>
                </a:solidFill>
                <a:latin typeface="Quattrocento Sans" pitchFamily="34" charset="0"/>
                <a:ea typeface="Quattrocento Sans" pitchFamily="34" charset="-122"/>
                <a:cs typeface="Quattrocento Sans" pitchFamily="34" charset="-120"/>
              </a:rPr>
              <a:t>"The evidence proves"</a:t>
            </a:r>
            <a:pPr algn="l">
              <a:lnSpc>
                <a:spcPct val="150000"/>
              </a:lnSpc>
              <a:spcBef>
                <a:spcPts val="400"/>
              </a:spcBef>
            </a:pPr>
            <a:r>
              <a:rPr lang="en-US" sz="1400" dirty="0">
                <a:solidFill>
                  <a:srgbClr val="1A1A1A"/>
                </a:solidFill>
                <a:latin typeface="Quattrocento Sans" pitchFamily="34" charset="0"/>
                <a:ea typeface="Quattrocento Sans" pitchFamily="34" charset="-122"/>
                <a:cs typeface="Quattrocento Sans" pitchFamily="34" charset="-120"/>
              </a:rPr>
              <a:t> — Use only for High GRADE ratings with consistent replication. Rare in cupping research.</a:t>
            </a:r>
            <a:endParaRPr lang="en-US" sz="1400" dirty="0"/>
          </a:p>
          <a:p>
            <a:pPr algn="l">
              <a:lnSpc>
                <a:spcPct val="150000"/>
              </a:lnSpc>
              <a:spcBef>
                <a:spcPts val="400"/>
              </a:spcBef>
            </a:pPr>
            <a:r>
              <a:rPr lang="en-US" sz="1400" b="1" dirty="0">
                <a:solidFill>
                  <a:srgbClr val="1A1A1A"/>
                </a:solidFill>
                <a:latin typeface="Quattrocento Sans" pitchFamily="34" charset="0"/>
                <a:ea typeface="Quattrocento Sans" pitchFamily="34" charset="-122"/>
                <a:cs typeface="Quattrocento Sans" pitchFamily="34" charset="-120"/>
              </a:rPr>
              <a:t>"The evidence is preliminary"</a:t>
            </a:r>
            <a:pPr algn="l">
              <a:lnSpc>
                <a:spcPct val="150000"/>
              </a:lnSpc>
              <a:spcBef>
                <a:spcPts val="400"/>
              </a:spcBef>
            </a:pPr>
            <a:r>
              <a:rPr lang="en-US" sz="1400" dirty="0">
                <a:solidFill>
                  <a:srgbClr val="1A1A1A"/>
                </a:solidFill>
                <a:latin typeface="Quattrocento Sans" pitchFamily="34" charset="0"/>
                <a:ea typeface="Quattrocento Sans" pitchFamily="34" charset="-122"/>
                <a:cs typeface="Quattrocento Sans" pitchFamily="34" charset="-120"/>
              </a:rPr>
              <a:t> — Use for Very Low GRADE. Be honest about uncertainty. This is your amanah.</a:t>
            </a:r>
            <a:endParaRPr lang="en-US" sz="1400" dirty="0"/>
          </a:p>
        </p:txBody>
      </p:sp>
      <p:sp>
        <p:nvSpPr>
          <p:cNvPr id="13" name="Text 10"/>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05</a:t>
            </a:r>
            <a:endParaRPr lang="en-US" sz="11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889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GRADE Criteria: Evaluating Evidence Quality</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8B1A1A"/>
                </a:solidFill>
                <a:latin typeface="Quattrocento Sans" pitchFamily="34" charset="0"/>
                <a:ea typeface="Quattrocento Sans" pitchFamily="34" charset="-122"/>
                <a:cs typeface="Quattrocento Sans" pitchFamily="34" charset="-120"/>
              </a:rPr>
              <a:t>FACTORS THAT REDUCE QUALITY</a:t>
            </a:r>
            <a:endParaRPr lang="en-US" sz="1200" dirty="0"/>
          </a:p>
        </p:txBody>
      </p:sp>
      <p:sp>
        <p:nvSpPr>
          <p:cNvPr id="9" name="Shape 7"/>
          <p:cNvSpPr/>
          <p:nvPr/>
        </p:nvSpPr>
        <p:spPr>
          <a:xfrm>
            <a:off x="762000" y="1993900"/>
            <a:ext cx="7175500" cy="635000"/>
          </a:xfrm>
          <a:prstGeom prst="rect">
            <a:avLst/>
          </a:prstGeom>
          <a:solidFill>
            <a:srgbClr val="F0EDE7"/>
          </a:solidFill>
          <a:ln w="12700">
            <a:solidFill>
              <a:srgbClr val="E0DCD6"/>
            </a:solidFill>
            <a:prstDash val="solid"/>
          </a:ln>
        </p:spPr>
      </p:sp>
      <p:sp>
        <p:nvSpPr>
          <p:cNvPr id="10" name="Shape 8"/>
          <p:cNvSpPr/>
          <p:nvPr/>
        </p:nvSpPr>
        <p:spPr>
          <a:xfrm>
            <a:off x="762000" y="1993900"/>
            <a:ext cx="50800" cy="635000"/>
          </a:xfrm>
          <a:prstGeom prst="rect">
            <a:avLst/>
          </a:prstGeom>
          <a:solidFill>
            <a:srgbClr val="8B1A1A"/>
          </a:solidFill>
          <a:ln/>
        </p:spPr>
      </p:sp>
      <p:sp>
        <p:nvSpPr>
          <p:cNvPr id="11" name="Text 9"/>
          <p:cNvSpPr/>
          <p:nvPr/>
        </p:nvSpPr>
        <p:spPr>
          <a:xfrm>
            <a:off x="990600" y="20574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Risk of bias</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Poor randomisation, no blinding, selective reporting</a:t>
            </a:r>
            <a:endParaRPr lang="en-US" sz="1400" dirty="0"/>
          </a:p>
        </p:txBody>
      </p:sp>
      <p:sp>
        <p:nvSpPr>
          <p:cNvPr id="12" name="Shape 10"/>
          <p:cNvSpPr/>
          <p:nvPr/>
        </p:nvSpPr>
        <p:spPr>
          <a:xfrm>
            <a:off x="762000" y="2730500"/>
            <a:ext cx="7175500" cy="635000"/>
          </a:xfrm>
          <a:prstGeom prst="rect">
            <a:avLst/>
          </a:prstGeom>
          <a:solidFill>
            <a:srgbClr val="F0EDE7"/>
          </a:solidFill>
          <a:ln w="12700">
            <a:solidFill>
              <a:srgbClr val="E0DCD6"/>
            </a:solidFill>
            <a:prstDash val="solid"/>
          </a:ln>
        </p:spPr>
      </p:sp>
      <p:sp>
        <p:nvSpPr>
          <p:cNvPr id="13" name="Shape 11"/>
          <p:cNvSpPr/>
          <p:nvPr/>
        </p:nvSpPr>
        <p:spPr>
          <a:xfrm>
            <a:off x="762000" y="2730500"/>
            <a:ext cx="50800" cy="635000"/>
          </a:xfrm>
          <a:prstGeom prst="rect">
            <a:avLst/>
          </a:prstGeom>
          <a:solidFill>
            <a:srgbClr val="8B1A1A"/>
          </a:solidFill>
          <a:ln/>
        </p:spPr>
      </p:sp>
      <p:sp>
        <p:nvSpPr>
          <p:cNvPr id="14" name="Text 12"/>
          <p:cNvSpPr/>
          <p:nvPr/>
        </p:nvSpPr>
        <p:spPr>
          <a:xfrm>
            <a:off x="990600" y="27940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Inconsistency</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Conflicting results across studies, high heterogeneity</a:t>
            </a:r>
            <a:endParaRPr lang="en-US" sz="1400" dirty="0"/>
          </a:p>
        </p:txBody>
      </p:sp>
      <p:sp>
        <p:nvSpPr>
          <p:cNvPr id="15" name="Shape 13"/>
          <p:cNvSpPr/>
          <p:nvPr/>
        </p:nvSpPr>
        <p:spPr>
          <a:xfrm>
            <a:off x="762000" y="3467100"/>
            <a:ext cx="7175500" cy="635000"/>
          </a:xfrm>
          <a:prstGeom prst="rect">
            <a:avLst/>
          </a:prstGeom>
          <a:solidFill>
            <a:srgbClr val="F0EDE7"/>
          </a:solidFill>
          <a:ln w="12700">
            <a:solidFill>
              <a:srgbClr val="E0DCD6"/>
            </a:solidFill>
            <a:prstDash val="solid"/>
          </a:ln>
        </p:spPr>
      </p:sp>
      <p:sp>
        <p:nvSpPr>
          <p:cNvPr id="16" name="Shape 14"/>
          <p:cNvSpPr/>
          <p:nvPr/>
        </p:nvSpPr>
        <p:spPr>
          <a:xfrm>
            <a:off x="762000" y="3467100"/>
            <a:ext cx="50800" cy="635000"/>
          </a:xfrm>
          <a:prstGeom prst="rect">
            <a:avLst/>
          </a:prstGeom>
          <a:solidFill>
            <a:srgbClr val="8B1A1A"/>
          </a:solidFill>
          <a:ln/>
        </p:spPr>
      </p:sp>
      <p:sp>
        <p:nvSpPr>
          <p:cNvPr id="17" name="Text 15"/>
          <p:cNvSpPr/>
          <p:nvPr/>
        </p:nvSpPr>
        <p:spPr>
          <a:xfrm>
            <a:off x="990600" y="35306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Indirectness</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Different population, intervention, or outcome measured</a:t>
            </a:r>
            <a:endParaRPr lang="en-US" sz="1400" dirty="0"/>
          </a:p>
        </p:txBody>
      </p:sp>
      <p:sp>
        <p:nvSpPr>
          <p:cNvPr id="18" name="Shape 16"/>
          <p:cNvSpPr/>
          <p:nvPr/>
        </p:nvSpPr>
        <p:spPr>
          <a:xfrm>
            <a:off x="762000" y="4203700"/>
            <a:ext cx="7175500" cy="635000"/>
          </a:xfrm>
          <a:prstGeom prst="rect">
            <a:avLst/>
          </a:prstGeom>
          <a:solidFill>
            <a:srgbClr val="F0EDE7"/>
          </a:solidFill>
          <a:ln w="12700">
            <a:solidFill>
              <a:srgbClr val="E0DCD6"/>
            </a:solidFill>
            <a:prstDash val="solid"/>
          </a:ln>
        </p:spPr>
      </p:sp>
      <p:sp>
        <p:nvSpPr>
          <p:cNvPr id="19" name="Shape 17"/>
          <p:cNvSpPr/>
          <p:nvPr/>
        </p:nvSpPr>
        <p:spPr>
          <a:xfrm>
            <a:off x="762000" y="4203700"/>
            <a:ext cx="50800" cy="635000"/>
          </a:xfrm>
          <a:prstGeom prst="rect">
            <a:avLst/>
          </a:prstGeom>
          <a:solidFill>
            <a:srgbClr val="8B1A1A"/>
          </a:solidFill>
          <a:ln/>
        </p:spPr>
      </p:sp>
      <p:sp>
        <p:nvSpPr>
          <p:cNvPr id="20" name="Text 18"/>
          <p:cNvSpPr/>
          <p:nvPr/>
        </p:nvSpPr>
        <p:spPr>
          <a:xfrm>
            <a:off x="990600" y="42672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Imprecision</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Wide confidence intervals, small sample sizes</a:t>
            </a:r>
            <a:endParaRPr lang="en-US" sz="1400" dirty="0"/>
          </a:p>
        </p:txBody>
      </p:sp>
      <p:sp>
        <p:nvSpPr>
          <p:cNvPr id="21" name="Shape 19"/>
          <p:cNvSpPr/>
          <p:nvPr/>
        </p:nvSpPr>
        <p:spPr>
          <a:xfrm>
            <a:off x="762000" y="4940300"/>
            <a:ext cx="7175500" cy="635000"/>
          </a:xfrm>
          <a:prstGeom prst="rect">
            <a:avLst/>
          </a:prstGeom>
          <a:solidFill>
            <a:srgbClr val="F0EDE7"/>
          </a:solidFill>
          <a:ln w="12700">
            <a:solidFill>
              <a:srgbClr val="E0DCD6"/>
            </a:solidFill>
            <a:prstDash val="solid"/>
          </a:ln>
        </p:spPr>
      </p:sp>
      <p:sp>
        <p:nvSpPr>
          <p:cNvPr id="22" name="Shape 20"/>
          <p:cNvSpPr/>
          <p:nvPr/>
        </p:nvSpPr>
        <p:spPr>
          <a:xfrm>
            <a:off x="762000" y="4940300"/>
            <a:ext cx="50800" cy="635000"/>
          </a:xfrm>
          <a:prstGeom prst="rect">
            <a:avLst/>
          </a:prstGeom>
          <a:solidFill>
            <a:srgbClr val="8B1A1A"/>
          </a:solidFill>
          <a:ln/>
        </p:spPr>
      </p:sp>
      <p:sp>
        <p:nvSpPr>
          <p:cNvPr id="23" name="Text 21"/>
          <p:cNvSpPr/>
          <p:nvPr/>
        </p:nvSpPr>
        <p:spPr>
          <a:xfrm>
            <a:off x="990600" y="50038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Publication bias</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Positive results more likely to be published</a:t>
            </a:r>
            <a:endParaRPr lang="en-US" sz="1400" dirty="0"/>
          </a:p>
        </p:txBody>
      </p:sp>
      <p:sp>
        <p:nvSpPr>
          <p:cNvPr id="24" name="Text 22"/>
          <p:cNvSpPr/>
          <p:nvPr/>
        </p:nvSpPr>
        <p:spPr>
          <a:xfrm>
            <a:off x="8318500" y="15875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FACTORS THAT INCREASE QUALITY</a:t>
            </a:r>
            <a:endParaRPr lang="en-US" sz="1200" dirty="0"/>
          </a:p>
        </p:txBody>
      </p:sp>
      <p:sp>
        <p:nvSpPr>
          <p:cNvPr id="25" name="Shape 23"/>
          <p:cNvSpPr/>
          <p:nvPr/>
        </p:nvSpPr>
        <p:spPr>
          <a:xfrm>
            <a:off x="8318500" y="1993900"/>
            <a:ext cx="7175500" cy="635000"/>
          </a:xfrm>
          <a:prstGeom prst="rect">
            <a:avLst/>
          </a:prstGeom>
          <a:solidFill>
            <a:srgbClr val="F0EDE7"/>
          </a:solidFill>
          <a:ln w="12700">
            <a:solidFill>
              <a:srgbClr val="E0DCD6"/>
            </a:solidFill>
            <a:prstDash val="solid"/>
          </a:ln>
        </p:spPr>
      </p:sp>
      <p:sp>
        <p:nvSpPr>
          <p:cNvPr id="26" name="Shape 24"/>
          <p:cNvSpPr/>
          <p:nvPr/>
        </p:nvSpPr>
        <p:spPr>
          <a:xfrm>
            <a:off x="8318500" y="1993900"/>
            <a:ext cx="50800" cy="635000"/>
          </a:xfrm>
          <a:prstGeom prst="rect">
            <a:avLst/>
          </a:prstGeom>
          <a:solidFill>
            <a:srgbClr val="0E3B2E"/>
          </a:solidFill>
          <a:ln/>
        </p:spPr>
      </p:sp>
      <p:sp>
        <p:nvSpPr>
          <p:cNvPr id="27" name="Text 25"/>
          <p:cNvSpPr/>
          <p:nvPr/>
        </p:nvSpPr>
        <p:spPr>
          <a:xfrm>
            <a:off x="8547100" y="20574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Large magnitude of effect</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Very large, clinically meaningful results</a:t>
            </a:r>
            <a:endParaRPr lang="en-US" sz="1400" dirty="0"/>
          </a:p>
        </p:txBody>
      </p:sp>
      <p:sp>
        <p:nvSpPr>
          <p:cNvPr id="28" name="Shape 26"/>
          <p:cNvSpPr/>
          <p:nvPr/>
        </p:nvSpPr>
        <p:spPr>
          <a:xfrm>
            <a:off x="8318500" y="2730500"/>
            <a:ext cx="7175500" cy="635000"/>
          </a:xfrm>
          <a:prstGeom prst="rect">
            <a:avLst/>
          </a:prstGeom>
          <a:solidFill>
            <a:srgbClr val="F0EDE7"/>
          </a:solidFill>
          <a:ln w="12700">
            <a:solidFill>
              <a:srgbClr val="E0DCD6"/>
            </a:solidFill>
            <a:prstDash val="solid"/>
          </a:ln>
        </p:spPr>
      </p:sp>
      <p:sp>
        <p:nvSpPr>
          <p:cNvPr id="29" name="Shape 27"/>
          <p:cNvSpPr/>
          <p:nvPr/>
        </p:nvSpPr>
        <p:spPr>
          <a:xfrm>
            <a:off x="8318500" y="2730500"/>
            <a:ext cx="50800" cy="635000"/>
          </a:xfrm>
          <a:prstGeom prst="rect">
            <a:avLst/>
          </a:prstGeom>
          <a:solidFill>
            <a:srgbClr val="0E3B2E"/>
          </a:solidFill>
          <a:ln/>
        </p:spPr>
      </p:sp>
      <p:sp>
        <p:nvSpPr>
          <p:cNvPr id="30" name="Text 28"/>
          <p:cNvSpPr/>
          <p:nvPr/>
        </p:nvSpPr>
        <p:spPr>
          <a:xfrm>
            <a:off x="8547100" y="27940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Dose-response gradient</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More treatment = more effect</a:t>
            </a:r>
            <a:endParaRPr lang="en-US" sz="1400" dirty="0"/>
          </a:p>
        </p:txBody>
      </p:sp>
      <p:sp>
        <p:nvSpPr>
          <p:cNvPr id="31" name="Shape 29"/>
          <p:cNvSpPr/>
          <p:nvPr/>
        </p:nvSpPr>
        <p:spPr>
          <a:xfrm>
            <a:off x="8318500" y="3467100"/>
            <a:ext cx="7175500" cy="635000"/>
          </a:xfrm>
          <a:prstGeom prst="rect">
            <a:avLst/>
          </a:prstGeom>
          <a:solidFill>
            <a:srgbClr val="F0EDE7"/>
          </a:solidFill>
          <a:ln w="12700">
            <a:solidFill>
              <a:srgbClr val="E0DCD6"/>
            </a:solidFill>
            <a:prstDash val="solid"/>
          </a:ln>
        </p:spPr>
      </p:sp>
      <p:sp>
        <p:nvSpPr>
          <p:cNvPr id="32" name="Shape 30"/>
          <p:cNvSpPr/>
          <p:nvPr/>
        </p:nvSpPr>
        <p:spPr>
          <a:xfrm>
            <a:off x="8318500" y="3467100"/>
            <a:ext cx="50800" cy="635000"/>
          </a:xfrm>
          <a:prstGeom prst="rect">
            <a:avLst/>
          </a:prstGeom>
          <a:solidFill>
            <a:srgbClr val="0E3B2E"/>
          </a:solidFill>
          <a:ln/>
        </p:spPr>
      </p:sp>
      <p:sp>
        <p:nvSpPr>
          <p:cNvPr id="33" name="Text 31"/>
          <p:cNvSpPr/>
          <p:nvPr/>
        </p:nvSpPr>
        <p:spPr>
          <a:xfrm>
            <a:off x="8547100" y="3530600"/>
            <a:ext cx="6731000" cy="508000"/>
          </a:xfrm>
          <a:prstGeom prst="rect">
            <a:avLst/>
          </a:prstGeom>
          <a:noFill/>
          <a:ln/>
        </p:spPr>
        <p:txBody>
          <a:bodyPr wrap="square" lIns="0" tIns="0" rIns="0" bIns="0" rtlCol="0" anchor="t"/>
          <a:lstStyle/>
          <a:p>
            <a:pPr algn="l">
              <a:lnSpc>
                <a:spcPct val="140000"/>
              </a:lnSpc>
            </a:pPr>
            <a:r>
              <a:rPr lang="en-US" sz="1400" b="1" dirty="0">
                <a:solidFill>
                  <a:srgbClr val="1A1A1A"/>
                </a:solidFill>
                <a:latin typeface="Quattrocento Sans" pitchFamily="34" charset="0"/>
                <a:ea typeface="Quattrocento Sans" pitchFamily="34" charset="-122"/>
                <a:cs typeface="Quattrocento Sans" pitchFamily="34" charset="-120"/>
              </a:rPr>
              <a:t>Plausible confounders</a:t>
            </a:r>
            <a:pPr algn="l">
              <a:lnSpc>
                <a:spcPct val="140000"/>
              </a:lnSpc>
            </a:pPr>
            <a:r>
              <a:rPr lang="en-US" sz="1400" dirty="0">
                <a:solidFill>
                  <a:srgbClr val="1A1A1A"/>
                </a:solidFill>
                <a:latin typeface="Quattrocento Sans" pitchFamily="34" charset="0"/>
                <a:ea typeface="Quattrocento Sans" pitchFamily="34" charset="-122"/>
                <a:cs typeface="Quattrocento Sans" pitchFamily="34" charset="-120"/>
              </a:rPr>
              <a:t> — All alternative explanations ruled out</a:t>
            </a:r>
            <a:endParaRPr lang="en-US" sz="1400" dirty="0"/>
          </a:p>
        </p:txBody>
      </p:sp>
      <p:sp>
        <p:nvSpPr>
          <p:cNvPr id="34" name="Text 32"/>
          <p:cNvSpPr/>
          <p:nvPr/>
        </p:nvSpPr>
        <p:spPr>
          <a:xfrm>
            <a:off x="762000" y="5905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GRADE RATING SYSTEM</a:t>
            </a:r>
            <a:endParaRPr lang="en-US" sz="1200" dirty="0"/>
          </a:p>
        </p:txBody>
      </p:sp>
      <p:sp>
        <p:nvSpPr>
          <p:cNvPr id="35" name="Shape 33"/>
          <p:cNvSpPr/>
          <p:nvPr/>
        </p:nvSpPr>
        <p:spPr>
          <a:xfrm>
            <a:off x="762000" y="6311900"/>
            <a:ext cx="3429000" cy="635000"/>
          </a:xfrm>
          <a:prstGeom prst="rect">
            <a:avLst/>
          </a:prstGeom>
          <a:solidFill>
            <a:srgbClr val="0E3B2E"/>
          </a:solidFill>
          <a:ln/>
        </p:spPr>
      </p:sp>
      <p:sp>
        <p:nvSpPr>
          <p:cNvPr id="36" name="Text 34"/>
          <p:cNvSpPr/>
          <p:nvPr/>
        </p:nvSpPr>
        <p:spPr>
          <a:xfrm>
            <a:off x="762000" y="6311900"/>
            <a:ext cx="3429000" cy="635000"/>
          </a:xfrm>
          <a:prstGeom prst="rect">
            <a:avLst/>
          </a:prstGeom>
          <a:noFill/>
          <a:ln/>
        </p:spPr>
        <p:txBody>
          <a:bodyPr wrap="none" lIns="0" tIns="0" rIns="0" bIns="0" rtlCol="0" anchor="ctr"/>
          <a:lstStyle/>
          <a:p>
            <a:pPr algn="ctr">
              <a:lnSpc>
                <a:spcPct val="120000"/>
              </a:lnSpc>
            </a:pPr>
            <a:r>
              <a:rPr lang="en-US" sz="1600" b="1" dirty="0">
                <a:solidFill>
                  <a:srgbClr val="F6F3EE"/>
                </a:solidFill>
                <a:latin typeface="Quattrocento Sans" pitchFamily="34" charset="0"/>
                <a:ea typeface="Quattrocento Sans" pitchFamily="34" charset="-122"/>
                <a:cs typeface="Quattrocento Sans" pitchFamily="34" charset="-120"/>
              </a:rPr>
              <a:t>High</a:t>
            </a:r>
            <a:pPr algn="ctr">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 — Very confident</a:t>
            </a:r>
            <a:endParaRPr lang="en-US" sz="1600" dirty="0"/>
          </a:p>
        </p:txBody>
      </p:sp>
      <p:sp>
        <p:nvSpPr>
          <p:cNvPr id="37" name="Shape 35"/>
          <p:cNvSpPr/>
          <p:nvPr/>
        </p:nvSpPr>
        <p:spPr>
          <a:xfrm>
            <a:off x="4381500" y="6311900"/>
            <a:ext cx="3429000" cy="635000"/>
          </a:xfrm>
          <a:prstGeom prst="rect">
            <a:avLst/>
          </a:prstGeom>
          <a:solidFill>
            <a:srgbClr val="F0EDE7"/>
          </a:solidFill>
          <a:ln w="12700">
            <a:solidFill>
              <a:srgbClr val="E0DCD6"/>
            </a:solidFill>
            <a:prstDash val="solid"/>
          </a:ln>
        </p:spPr>
      </p:sp>
      <p:sp>
        <p:nvSpPr>
          <p:cNvPr id="38" name="Text 36"/>
          <p:cNvSpPr/>
          <p:nvPr/>
        </p:nvSpPr>
        <p:spPr>
          <a:xfrm>
            <a:off x="4381500" y="6311900"/>
            <a:ext cx="3429000" cy="635000"/>
          </a:xfrm>
          <a:prstGeom prst="rect">
            <a:avLst/>
          </a:prstGeom>
          <a:noFill/>
          <a:ln/>
        </p:spPr>
        <p:txBody>
          <a:bodyPr wrap="none" lIns="0" tIns="0" rIns="0" bIns="0" rtlCol="0" anchor="ctr"/>
          <a:lstStyle/>
          <a:p>
            <a:pPr algn="ctr">
              <a:lnSpc>
                <a:spcPct val="120000"/>
              </a:lnSpc>
            </a:pPr>
            <a:r>
              <a:rPr lang="en-US" sz="1600" b="1" dirty="0">
                <a:solidFill>
                  <a:srgbClr val="1A1A1A"/>
                </a:solidFill>
                <a:latin typeface="Quattrocento Sans" pitchFamily="34" charset="0"/>
                <a:ea typeface="Quattrocento Sans" pitchFamily="34" charset="-122"/>
                <a:cs typeface="Quattrocento Sans" pitchFamily="34" charset="-120"/>
              </a:rPr>
              <a:t>Moderate</a:t>
            </a:r>
            <a:pPr algn="ctr">
              <a:lnSpc>
                <a:spcPct val="120000"/>
              </a:lnSpc>
            </a:pPr>
            <a:r>
              <a:rPr lang="en-US" sz="1600" dirty="0">
                <a:solidFill>
                  <a:srgbClr val="1A1A1A"/>
                </a:solidFill>
                <a:latin typeface="Quattrocento Sans" pitchFamily="34" charset="0"/>
                <a:ea typeface="Quattrocento Sans" pitchFamily="34" charset="-122"/>
                <a:cs typeface="Quattrocento Sans" pitchFamily="34" charset="-120"/>
              </a:rPr>
              <a:t> — Moderately confident</a:t>
            </a:r>
            <a:endParaRPr lang="en-US" sz="1600" dirty="0"/>
          </a:p>
        </p:txBody>
      </p:sp>
      <p:sp>
        <p:nvSpPr>
          <p:cNvPr id="39" name="Shape 37"/>
          <p:cNvSpPr/>
          <p:nvPr/>
        </p:nvSpPr>
        <p:spPr>
          <a:xfrm>
            <a:off x="8001000" y="6311900"/>
            <a:ext cx="3429000" cy="635000"/>
          </a:xfrm>
          <a:prstGeom prst="rect">
            <a:avLst/>
          </a:prstGeom>
          <a:solidFill>
            <a:srgbClr val="F0EDE7"/>
          </a:solidFill>
          <a:ln w="12700">
            <a:solidFill>
              <a:srgbClr val="E0DCD6"/>
            </a:solidFill>
            <a:prstDash val="solid"/>
          </a:ln>
        </p:spPr>
      </p:sp>
      <p:sp>
        <p:nvSpPr>
          <p:cNvPr id="40" name="Text 38"/>
          <p:cNvSpPr/>
          <p:nvPr/>
        </p:nvSpPr>
        <p:spPr>
          <a:xfrm>
            <a:off x="8001000" y="6311900"/>
            <a:ext cx="3429000" cy="635000"/>
          </a:xfrm>
          <a:prstGeom prst="rect">
            <a:avLst/>
          </a:prstGeom>
          <a:noFill/>
          <a:ln/>
        </p:spPr>
        <p:txBody>
          <a:bodyPr wrap="none" lIns="0" tIns="0" rIns="0" bIns="0" rtlCol="0" anchor="ctr"/>
          <a:lstStyle/>
          <a:p>
            <a:pPr algn="ctr">
              <a:lnSpc>
                <a:spcPct val="120000"/>
              </a:lnSpc>
            </a:pPr>
            <a:r>
              <a:rPr lang="en-US" sz="1600" b="1" dirty="0">
                <a:solidFill>
                  <a:srgbClr val="1A1A1A"/>
                </a:solidFill>
                <a:latin typeface="Quattrocento Sans" pitchFamily="34" charset="0"/>
                <a:ea typeface="Quattrocento Sans" pitchFamily="34" charset="-122"/>
                <a:cs typeface="Quattrocento Sans" pitchFamily="34" charset="-120"/>
              </a:rPr>
              <a:t>Low</a:t>
            </a:r>
            <a:pPr algn="ctr">
              <a:lnSpc>
                <a:spcPct val="120000"/>
              </a:lnSpc>
            </a:pPr>
            <a:r>
              <a:rPr lang="en-US" sz="1600" dirty="0">
                <a:solidFill>
                  <a:srgbClr val="1A1A1A"/>
                </a:solidFill>
                <a:latin typeface="Quattrocento Sans" pitchFamily="34" charset="0"/>
                <a:ea typeface="Quattrocento Sans" pitchFamily="34" charset="-122"/>
                <a:cs typeface="Quattrocento Sans" pitchFamily="34" charset="-120"/>
              </a:rPr>
              <a:t> — Limited confidence</a:t>
            </a:r>
            <a:endParaRPr lang="en-US" sz="1600" dirty="0"/>
          </a:p>
        </p:txBody>
      </p:sp>
      <p:sp>
        <p:nvSpPr>
          <p:cNvPr id="41" name="Shape 39"/>
          <p:cNvSpPr/>
          <p:nvPr/>
        </p:nvSpPr>
        <p:spPr>
          <a:xfrm>
            <a:off x="11620500" y="6311900"/>
            <a:ext cx="3873500" cy="635000"/>
          </a:xfrm>
          <a:prstGeom prst="rect">
            <a:avLst/>
          </a:prstGeom>
          <a:solidFill>
            <a:srgbClr val="F0EDE7"/>
          </a:solidFill>
          <a:ln w="12700">
            <a:solidFill>
              <a:srgbClr val="E0DCD6"/>
            </a:solidFill>
            <a:prstDash val="solid"/>
          </a:ln>
        </p:spPr>
      </p:sp>
      <p:sp>
        <p:nvSpPr>
          <p:cNvPr id="42" name="Text 40"/>
          <p:cNvSpPr/>
          <p:nvPr/>
        </p:nvSpPr>
        <p:spPr>
          <a:xfrm>
            <a:off x="11620500" y="6311900"/>
            <a:ext cx="3873500" cy="635000"/>
          </a:xfrm>
          <a:prstGeom prst="rect">
            <a:avLst/>
          </a:prstGeom>
          <a:noFill/>
          <a:ln/>
        </p:spPr>
        <p:txBody>
          <a:bodyPr wrap="none" lIns="0" tIns="0" rIns="0" bIns="0" rtlCol="0" anchor="ctr"/>
          <a:lstStyle/>
          <a:p>
            <a:pPr algn="ctr">
              <a:lnSpc>
                <a:spcPct val="120000"/>
              </a:lnSpc>
            </a:pPr>
            <a:r>
              <a:rPr lang="en-US" sz="1600" b="1" dirty="0">
                <a:solidFill>
                  <a:srgbClr val="1A1A1A"/>
                </a:solidFill>
                <a:latin typeface="Quattrocento Sans" pitchFamily="34" charset="0"/>
                <a:ea typeface="Quattrocento Sans" pitchFamily="34" charset="-122"/>
                <a:cs typeface="Quattrocento Sans" pitchFamily="34" charset="-120"/>
              </a:rPr>
              <a:t>Very Low</a:t>
            </a:r>
            <a:pPr algn="ctr">
              <a:lnSpc>
                <a:spcPct val="120000"/>
              </a:lnSpc>
            </a:pPr>
            <a:r>
              <a:rPr lang="en-US" sz="1600" dirty="0">
                <a:solidFill>
                  <a:srgbClr val="1A1A1A"/>
                </a:solidFill>
                <a:latin typeface="Quattrocento Sans" pitchFamily="34" charset="0"/>
                <a:ea typeface="Quattrocento Sans" pitchFamily="34" charset="-122"/>
                <a:cs typeface="Quattrocento Sans" pitchFamily="34" charset="-120"/>
              </a:rPr>
              <a:t> — Very uncertain</a:t>
            </a:r>
            <a:endParaRPr lang="en-US" sz="1600" dirty="0"/>
          </a:p>
        </p:txBody>
      </p:sp>
      <p:sp>
        <p:nvSpPr>
          <p:cNvPr id="43" name="Shape 41"/>
          <p:cNvSpPr/>
          <p:nvPr/>
        </p:nvSpPr>
        <p:spPr>
          <a:xfrm>
            <a:off x="762000" y="7302500"/>
            <a:ext cx="14732000" cy="762000"/>
          </a:xfrm>
          <a:prstGeom prst="rect">
            <a:avLst/>
          </a:prstGeom>
          <a:solidFill>
            <a:srgbClr val="0E3B2E"/>
          </a:solidFill>
          <a:ln/>
        </p:spPr>
      </p:sp>
      <p:sp>
        <p:nvSpPr>
          <p:cNvPr id="44" name="Text 42"/>
          <p:cNvSpPr/>
          <p:nvPr/>
        </p:nvSpPr>
        <p:spPr>
          <a:xfrm>
            <a:off x="1016000" y="7404100"/>
            <a:ext cx="14224000" cy="558800"/>
          </a:xfrm>
          <a:prstGeom prst="rect">
            <a:avLst/>
          </a:prstGeom>
          <a:noFill/>
          <a:ln/>
        </p:spPr>
        <p:txBody>
          <a:bodyPr wrap="square" lIns="0" tIns="0" rIns="0" bIns="0" rtlCol="0" anchor="ctr"/>
          <a:lstStyle/>
          <a:p>
            <a:pPr algn="l">
              <a:lnSpc>
                <a:spcPct val="140000"/>
              </a:lnSpc>
            </a:pPr>
            <a:r>
              <a:rPr lang="en-US" sz="14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400" dirty="0">
                <a:solidFill>
                  <a:srgbClr val="F6F3EE"/>
                </a:solidFill>
                <a:latin typeface="Quattrocento Sans" pitchFamily="34" charset="0"/>
                <a:ea typeface="Quattrocento Sans" pitchFamily="34" charset="-122"/>
                <a:cs typeface="Quattrocento Sans" pitchFamily="34" charset="-120"/>
              </a:rPr>
              <a:t> Most cupping research is Low or Very Low GRADE. This doesn't mean it doesn't work — it means we need better research. Communicate this honestly.</a:t>
            </a:r>
            <a:endParaRPr lang="en-US" sz="1400" dirty="0"/>
          </a:p>
        </p:txBody>
      </p:sp>
      <p:sp>
        <p:nvSpPr>
          <p:cNvPr id="45" name="Text 43"/>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06</a:t>
            </a:r>
            <a:endParaRPr lang="en-US" sz="11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02</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0160000" cy="762000"/>
          </a:xfrm>
          <a:prstGeom prst="rect">
            <a:avLst/>
          </a:prstGeom>
          <a:noFill/>
          <a:ln/>
        </p:spPr>
        <p:txBody>
          <a:bodyPr wrap="none" lIns="0" tIns="0" rIns="0" bIns="0" rtlCol="0" anchor="ctr"/>
          <a:lstStyle/>
          <a:p>
            <a:pPr algn="l">
              <a:lnSpc>
                <a:spcPct val="115000"/>
              </a:lnSpc>
            </a:pPr>
            <a:r>
              <a:rPr lang="en-US" sz="4200" dirty="0">
                <a:solidFill>
                  <a:srgbClr val="F6F3EE"/>
                </a:solidFill>
                <a:latin typeface="Oranienbaum" pitchFamily="34" charset="0"/>
                <a:ea typeface="Oranienbaum" pitchFamily="34" charset="-122"/>
                <a:cs typeface="Oranienbaum" pitchFamily="34" charset="-120"/>
              </a:rPr>
              <a:t>Proposed Mechanisms of Action</a:t>
            </a:r>
            <a:endParaRPr lang="en-US" sz="42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From Observation to Understanding — How Cupping May Work</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143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Established Mechanisms: NO Release and MFD</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C7A25A"/>
                </a:solidFill>
                <a:latin typeface="Quattrocento Sans" pitchFamily="34" charset="0"/>
                <a:ea typeface="Quattrocento Sans" pitchFamily="34" charset="-122"/>
                <a:cs typeface="Quattrocento Sans" pitchFamily="34" charset="-120"/>
              </a:rPr>
              <a:t>NITRIC OXIDE RELEASE — STRONGEST EVIDENCE</a:t>
            </a:r>
            <a:endParaRPr lang="en-US" sz="1200" dirty="0"/>
          </a:p>
        </p:txBody>
      </p:sp>
      <p:sp>
        <p:nvSpPr>
          <p:cNvPr id="9" name="Text 7"/>
          <p:cNvSpPr/>
          <p:nvPr/>
        </p:nvSpPr>
        <p:spPr>
          <a:xfrm>
            <a:off x="762000" y="1968500"/>
            <a:ext cx="7366000" cy="1905000"/>
          </a:xfrm>
          <a:prstGeom prst="rect">
            <a:avLst/>
          </a:prstGeom>
          <a:noFill/>
          <a:ln/>
        </p:spPr>
        <p:txBody>
          <a:bodyPr wrap="square" lIns="0" tIns="0" rIns="0" bIns="0" rtlCol="0" anchor="t"/>
          <a:lstStyle/>
          <a:p>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Cupping creates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negative pressure</a:t>
            </a:r>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triggering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nitric oxide (NO) release</a:t>
            </a:r>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from vascular endothelial cells. NO is a potent vasodilator.</a:t>
            </a:r>
            <a:endParaRPr lang="en-US" sz="1500" dirty="0"/>
          </a:p>
          <a:p>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This causes </a:t>
            </a:r>
            <a:pPr algn="l">
              <a:lnSpc>
                <a:spcPct val="150000"/>
              </a:lnSpc>
              <a:spcBef>
                <a:spcPts val="600"/>
              </a:spcBef>
            </a:pPr>
            <a:r>
              <a:rPr lang="en-US" sz="1500" b="1" dirty="0">
                <a:solidFill>
                  <a:srgbClr val="1A1A1A"/>
                </a:solidFill>
                <a:latin typeface="Quattrocento Sans" pitchFamily="34" charset="0"/>
                <a:ea typeface="Quattrocento Sans" pitchFamily="34" charset="-122"/>
                <a:cs typeface="Quattrocento Sans" pitchFamily="34" charset="-120"/>
              </a:rPr>
              <a:t>reactive hyperemia</a:t>
            </a:r>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 — increased blood flow — measured by laser Doppler studies (Liu et al., 2023).</a:t>
            </a:r>
            <a:endParaRPr lang="en-US" sz="1500" dirty="0"/>
          </a:p>
          <a:p>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Result: </a:t>
            </a:r>
            <a:pPr algn="l">
              <a:lnSpc>
                <a:spcPct val="150000"/>
              </a:lnSpc>
              <a:spcBef>
                <a:spcPts val="600"/>
              </a:spcBef>
            </a:pPr>
            <a:r>
              <a:rPr lang="en-US" sz="1500" b="1" dirty="0">
                <a:solidFill>
                  <a:srgbClr val="1A1A1A"/>
                </a:solidFill>
                <a:latin typeface="Quattrocento Sans" pitchFamily="34" charset="0"/>
                <a:ea typeface="Quattrocento Sans" pitchFamily="34" charset="-122"/>
                <a:cs typeface="Quattrocento Sans" pitchFamily="34" charset="-120"/>
              </a:rPr>
              <a:t>immediate pain relief</a:t>
            </a:r>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 through improved microcirculation.</a:t>
            </a:r>
            <a:endParaRPr lang="en-US" sz="1500" dirty="0"/>
          </a:p>
        </p:txBody>
      </p:sp>
      <p:sp>
        <p:nvSpPr>
          <p:cNvPr id="10" name="Shape 8"/>
          <p:cNvSpPr/>
          <p:nvPr/>
        </p:nvSpPr>
        <p:spPr>
          <a:xfrm>
            <a:off x="762000" y="4000500"/>
            <a:ext cx="7366000" cy="508000"/>
          </a:xfrm>
          <a:prstGeom prst="rect">
            <a:avLst/>
          </a:prstGeom>
          <a:solidFill>
            <a:srgbClr val="0E3B2E"/>
          </a:solidFill>
          <a:ln/>
        </p:spPr>
      </p:sp>
      <p:sp>
        <p:nvSpPr>
          <p:cNvPr id="11" name="Text 9"/>
          <p:cNvSpPr/>
          <p:nvPr/>
        </p:nvSpPr>
        <p:spPr>
          <a:xfrm>
            <a:off x="952500" y="4000500"/>
            <a:ext cx="6985000" cy="508000"/>
          </a:xfrm>
          <a:prstGeom prst="rect">
            <a:avLst/>
          </a:prstGeom>
          <a:noFill/>
          <a:ln/>
        </p:spPr>
        <p:txBody>
          <a:bodyPr wrap="square" lIns="0" tIns="0" rIns="0" bIns="0" rtlCol="0" anchor="ctr"/>
          <a:lstStyle/>
          <a:p>
            <a:pPr algn="l">
              <a:lnSpc>
                <a:spcPct val="120000"/>
              </a:lnSpc>
            </a:pPr>
            <a:r>
              <a:rPr lang="en-US" sz="1400" b="1" dirty="0">
                <a:solidFill>
                  <a:srgbClr val="F6F3EE"/>
                </a:solidFill>
                <a:latin typeface="Quattrocento Sans" pitchFamily="34" charset="0"/>
                <a:ea typeface="Quattrocento Sans" pitchFamily="34" charset="-122"/>
                <a:cs typeface="Quattrocento Sans" pitchFamily="34" charset="-120"/>
              </a:rPr>
              <a:t>Evidence level:</a:t>
            </a:r>
            <a:pPr algn="l">
              <a:lnSpc>
                <a:spcPct val="120000"/>
              </a:lnSpc>
            </a:pPr>
            <a:r>
              <a:rPr lang="en-US" sz="1400" dirty="0">
                <a:solidFill>
                  <a:srgbClr val="F6F3EE"/>
                </a:solidFill>
                <a:latin typeface="Quattrocento Sans" pitchFamily="34" charset="0"/>
                <a:ea typeface="Quattrocento Sans" pitchFamily="34" charset="-122"/>
                <a:cs typeface="Quattrocento Sans" pitchFamily="34" charset="-120"/>
              </a:rPr>
              <a:t> Strong — confirmed by multiple RCTs with objective measurement</a:t>
            </a:r>
            <a:endParaRPr lang="en-US" sz="1400" dirty="0"/>
          </a:p>
        </p:txBody>
      </p:sp>
      <p:sp>
        <p:nvSpPr>
          <p:cNvPr id="12" name="Text 10"/>
          <p:cNvSpPr/>
          <p:nvPr/>
        </p:nvSpPr>
        <p:spPr>
          <a:xfrm>
            <a:off x="762000" y="4762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C7A25A"/>
                </a:solidFill>
                <a:latin typeface="Quattrocento Sans" pitchFamily="34" charset="0"/>
                <a:ea typeface="Quattrocento Sans" pitchFamily="34" charset="-122"/>
                <a:cs typeface="Quattrocento Sans" pitchFamily="34" charset="-120"/>
              </a:rPr>
              <a:t>MYOFASCIAL DECOMPRESSION (MFD)</a:t>
            </a:r>
            <a:endParaRPr lang="en-US" sz="1200" dirty="0"/>
          </a:p>
        </p:txBody>
      </p:sp>
      <p:sp>
        <p:nvSpPr>
          <p:cNvPr id="13" name="Text 11"/>
          <p:cNvSpPr/>
          <p:nvPr/>
        </p:nvSpPr>
        <p:spPr>
          <a:xfrm>
            <a:off x="762000" y="5143500"/>
            <a:ext cx="7366000" cy="1905000"/>
          </a:xfrm>
          <a:prstGeom prst="rect">
            <a:avLst/>
          </a:prstGeom>
          <a:noFill/>
          <a:ln/>
        </p:spPr>
        <p:txBody>
          <a:bodyPr wrap="square" lIns="0" tIns="0" rIns="0" bIns="0" rtlCol="0" anchor="t"/>
          <a:lstStyle/>
          <a:p>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MFD is the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Western physiotherapy model</a:t>
            </a:r>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of cupping. The negative pressure creates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fascial layer separation</a:t>
            </a:r>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 lifting tissue between skin and muscle.</a:t>
            </a:r>
            <a:endParaRPr lang="en-US" sz="1500" dirty="0"/>
          </a:p>
          <a:p>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This decompresses tight fascia, improves </a:t>
            </a:r>
            <a:pPr algn="l">
              <a:lnSpc>
                <a:spcPct val="150000"/>
              </a:lnSpc>
              <a:spcBef>
                <a:spcPts val="600"/>
              </a:spcBef>
            </a:pPr>
            <a:r>
              <a:rPr lang="en-US" sz="1500" b="1" dirty="0">
                <a:solidFill>
                  <a:srgbClr val="1A1A1A"/>
                </a:solidFill>
                <a:latin typeface="Quattrocento Sans" pitchFamily="34" charset="0"/>
                <a:ea typeface="Quattrocento Sans" pitchFamily="34" charset="-122"/>
                <a:cs typeface="Quattrocento Sans" pitchFamily="34" charset="-120"/>
              </a:rPr>
              <a:t>glide between tissue layers</a:t>
            </a:r>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 and reduces mechanoreceptor hypersensitivity (Dunning et al., 2024).</a:t>
            </a:r>
            <a:endParaRPr lang="en-US" sz="1500" dirty="0"/>
          </a:p>
          <a:p>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MFD explains why cupping works for </a:t>
            </a:r>
            <a:pPr algn="l">
              <a:lnSpc>
                <a:spcPct val="150000"/>
              </a:lnSpc>
              <a:spcBef>
                <a:spcPts val="600"/>
              </a:spcBef>
            </a:pPr>
            <a:r>
              <a:rPr lang="en-US" sz="1500" b="1" dirty="0">
                <a:solidFill>
                  <a:srgbClr val="1A1A1A"/>
                </a:solidFill>
                <a:latin typeface="Quattrocento Sans" pitchFamily="34" charset="0"/>
                <a:ea typeface="Quattrocento Sans" pitchFamily="34" charset="-122"/>
                <a:cs typeface="Quattrocento Sans" pitchFamily="34" charset="-120"/>
              </a:rPr>
              <a:t>myofascial pain</a:t>
            </a:r>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 and </a:t>
            </a:r>
            <a:pPr algn="l">
              <a:lnSpc>
                <a:spcPct val="150000"/>
              </a:lnSpc>
              <a:spcBef>
                <a:spcPts val="600"/>
              </a:spcBef>
            </a:pPr>
            <a:r>
              <a:rPr lang="en-US" sz="1500" b="1" dirty="0">
                <a:solidFill>
                  <a:srgbClr val="1A1A1A"/>
                </a:solidFill>
                <a:latin typeface="Quattrocento Sans" pitchFamily="34" charset="0"/>
                <a:ea typeface="Quattrocento Sans" pitchFamily="34" charset="-122"/>
                <a:cs typeface="Quattrocento Sans" pitchFamily="34" charset="-120"/>
              </a:rPr>
              <a:t>movement restriction</a:t>
            </a:r>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a:t>
            </a:r>
            <a:endParaRPr lang="en-US" sz="1500" dirty="0"/>
          </a:p>
        </p:txBody>
      </p:sp>
      <p:sp>
        <p:nvSpPr>
          <p:cNvPr id="14" name="Shape 12"/>
          <p:cNvSpPr/>
          <p:nvPr/>
        </p:nvSpPr>
        <p:spPr>
          <a:xfrm>
            <a:off x="762000" y="7175500"/>
            <a:ext cx="7366000" cy="508000"/>
          </a:xfrm>
          <a:prstGeom prst="rect">
            <a:avLst/>
          </a:prstGeom>
          <a:solidFill>
            <a:srgbClr val="F0EDE7"/>
          </a:solidFill>
          <a:ln w="12700">
            <a:solidFill>
              <a:srgbClr val="E0DCD6"/>
            </a:solidFill>
            <a:prstDash val="solid"/>
          </a:ln>
        </p:spPr>
      </p:sp>
      <p:sp>
        <p:nvSpPr>
          <p:cNvPr id="15" name="Text 13"/>
          <p:cNvSpPr/>
          <p:nvPr/>
        </p:nvSpPr>
        <p:spPr>
          <a:xfrm>
            <a:off x="952500" y="7175500"/>
            <a:ext cx="6985000" cy="508000"/>
          </a:xfrm>
          <a:prstGeom prst="rect">
            <a:avLst/>
          </a:prstGeom>
          <a:noFill/>
          <a:ln/>
        </p:spPr>
        <p:txBody>
          <a:bodyPr wrap="square" lIns="0" tIns="0" rIns="0" bIns="0" rtlCol="0" anchor="ctr"/>
          <a:lstStyle/>
          <a:p>
            <a:pPr algn="l">
              <a:lnSpc>
                <a:spcPct val="120000"/>
              </a:lnSpc>
            </a:pPr>
            <a:r>
              <a:rPr lang="en-US" sz="1400" b="1" dirty="0">
                <a:solidFill>
                  <a:srgbClr val="1A1A1A"/>
                </a:solidFill>
                <a:latin typeface="Quattrocento Sans" pitchFamily="34" charset="0"/>
                <a:ea typeface="Quattrocento Sans" pitchFamily="34" charset="-122"/>
                <a:cs typeface="Quattrocento Sans" pitchFamily="34" charset="-120"/>
              </a:rPr>
              <a:t>Evidence level:</a:t>
            </a:r>
            <a:pPr algn="l">
              <a:lnSpc>
                <a:spcPct val="120000"/>
              </a:lnSpc>
            </a:pPr>
            <a:r>
              <a:rPr lang="en-US" sz="1400" dirty="0">
                <a:solidFill>
                  <a:srgbClr val="1A1A1A"/>
                </a:solidFill>
                <a:latin typeface="Quattrocento Sans" pitchFamily="34" charset="0"/>
                <a:ea typeface="Quattrocento Sans" pitchFamily="34" charset="-122"/>
                <a:cs typeface="Quattrocento Sans" pitchFamily="34" charset="-120"/>
              </a:rPr>
              <a:t> Moderate — ultrasound imaging confirms fascial separation</a:t>
            </a:r>
            <a:endParaRPr lang="en-US" sz="1400" dirty="0"/>
          </a:p>
        </p:txBody>
      </p:sp>
      <p:sp>
        <p:nvSpPr>
          <p:cNvPr id="16" name="Shape 14"/>
          <p:cNvSpPr/>
          <p:nvPr/>
        </p:nvSpPr>
        <p:spPr>
          <a:xfrm>
            <a:off x="8636000" y="1587500"/>
            <a:ext cx="6858000" cy="6477000"/>
          </a:xfrm>
          <a:prstGeom prst="rect">
            <a:avLst/>
          </a:prstGeom>
          <a:solidFill>
            <a:srgbClr val="0E3B2E"/>
          </a:solidFill>
          <a:ln/>
        </p:spPr>
      </p:sp>
      <p:sp>
        <p:nvSpPr>
          <p:cNvPr id="17" name="Text 15"/>
          <p:cNvSpPr/>
          <p:nvPr/>
        </p:nvSpPr>
        <p:spPr>
          <a:xfrm>
            <a:off x="8953500" y="1841500"/>
            <a:ext cx="6223000" cy="381000"/>
          </a:xfrm>
          <a:prstGeom prst="rect">
            <a:avLst/>
          </a:prstGeom>
          <a:noFill/>
          <a:ln/>
        </p:spPr>
        <p:txBody>
          <a:bodyPr wrap="none" lIns="0" tIns="0" rIns="0" bIns="0" rtlCol="0" anchor="ctr"/>
          <a:lstStyle/>
          <a:p>
            <a:pPr algn="l">
              <a:lnSpc>
                <a:spcPct val="120000"/>
              </a:lnSpc>
            </a:pPr>
            <a:r>
              <a:rPr lang="en-US" sz="1800" dirty="0">
                <a:solidFill>
                  <a:srgbClr val="C7A25A"/>
                </a:solidFill>
                <a:latin typeface="Oranienbaum" pitchFamily="34" charset="0"/>
                <a:ea typeface="Oranienbaum" pitchFamily="34" charset="-122"/>
                <a:cs typeface="Oranienbaum" pitchFamily="34" charset="-120"/>
              </a:rPr>
              <a:t>Clinical Implications</a:t>
            </a:r>
            <a:endParaRPr lang="en-US" sz="1800" dirty="0"/>
          </a:p>
        </p:txBody>
      </p:sp>
      <p:sp>
        <p:nvSpPr>
          <p:cNvPr id="18" name="Shape 16"/>
          <p:cNvSpPr/>
          <p:nvPr/>
        </p:nvSpPr>
        <p:spPr>
          <a:xfrm>
            <a:off x="8953500" y="2311400"/>
            <a:ext cx="762000" cy="25400"/>
          </a:xfrm>
          <a:prstGeom prst="rect">
            <a:avLst/>
          </a:prstGeom>
          <a:solidFill>
            <a:srgbClr val="C7A25A"/>
          </a:solidFill>
          <a:ln/>
        </p:spPr>
      </p:sp>
      <p:sp>
        <p:nvSpPr>
          <p:cNvPr id="19" name="Text 17"/>
          <p:cNvSpPr/>
          <p:nvPr/>
        </p:nvSpPr>
        <p:spPr>
          <a:xfrm>
            <a:off x="8953500" y="2540000"/>
            <a:ext cx="6223000" cy="5207000"/>
          </a:xfrm>
          <a:prstGeom prst="rect">
            <a:avLst/>
          </a:prstGeom>
          <a:noFill/>
          <a:ln/>
        </p:spPr>
        <p:txBody>
          <a:bodyPr wrap="square" lIns="0" tIns="0" rIns="0" bIns="0" rtlCol="0" anchor="t"/>
          <a:lstStyle/>
          <a:p>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Understanding mechanisms transforms practice from </a:t>
            </a:r>
            <a:pPr algn="l">
              <a:lnSpc>
                <a:spcPct val="150000"/>
              </a:lnSpc>
            </a:pPr>
            <a:r>
              <a:rPr lang="en-US" sz="1400" b="1" dirty="0">
                <a:solidFill>
                  <a:srgbClr val="F6F3EE"/>
                </a:solidFill>
                <a:latin typeface="Quattrocento Sans" pitchFamily="34" charset="0"/>
                <a:ea typeface="Quattrocento Sans" pitchFamily="34" charset="-122"/>
                <a:cs typeface="Quattrocento Sans" pitchFamily="34" charset="-120"/>
              </a:rPr>
              <a:t>protocol-driven</a:t>
            </a:r>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 to </a:t>
            </a:r>
            <a:pPr algn="l">
              <a:lnSpc>
                <a:spcPct val="150000"/>
              </a:lnSpc>
            </a:pPr>
            <a:r>
              <a:rPr lang="en-US" sz="1400" b="1" dirty="0">
                <a:solidFill>
                  <a:srgbClr val="F6F3EE"/>
                </a:solidFill>
                <a:latin typeface="Quattrocento Sans" pitchFamily="34" charset="0"/>
                <a:ea typeface="Quattrocento Sans" pitchFamily="34" charset="-122"/>
                <a:cs typeface="Quattrocento Sans" pitchFamily="34" charset="-120"/>
              </a:rPr>
              <a:t>reasoning-driven</a:t>
            </a:r>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a:t>
            </a:r>
            <a:endParaRPr lang="en-US" sz="1400" dirty="0"/>
          </a:p>
          <a:p>
            <a:pPr algn="l">
              <a:lnSpc>
                <a:spcPct val="150000"/>
              </a:lnSpc>
              <a:spcBef>
                <a:spcPts val="800"/>
              </a:spcBef>
            </a:pPr>
            <a:r>
              <a:rPr lang="en-US" sz="1400" b="1" dirty="0">
                <a:solidFill>
                  <a:srgbClr val="F6F3EE"/>
                </a:solidFill>
                <a:latin typeface="Quattrocento Sans" pitchFamily="34" charset="0"/>
                <a:ea typeface="Quattrocento Sans" pitchFamily="34" charset="-122"/>
                <a:cs typeface="Quattrocento Sans" pitchFamily="34" charset="-120"/>
              </a:rPr>
              <a:t>For pain relief:</a:t>
            </a:r>
            <a:endParaRPr lang="en-US" sz="1400" dirty="0"/>
          </a:p>
          <a:p>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NO release provides immediate analgesia. Expect relief within minutes.</a:t>
            </a:r>
            <a:endParaRPr lang="en-US" sz="1400" dirty="0"/>
          </a:p>
          <a:p>
            <a:pPr algn="l">
              <a:lnSpc>
                <a:spcPct val="150000"/>
              </a:lnSpc>
              <a:spcBef>
                <a:spcPts val="800"/>
              </a:spcBef>
            </a:pPr>
            <a:r>
              <a:rPr lang="en-US" sz="1400" b="1" dirty="0">
                <a:solidFill>
                  <a:srgbClr val="F6F3EE"/>
                </a:solidFill>
                <a:latin typeface="Quattrocento Sans" pitchFamily="34" charset="0"/>
                <a:ea typeface="Quattrocento Sans" pitchFamily="34" charset="-122"/>
                <a:cs typeface="Quattrocento Sans" pitchFamily="34" charset="-120"/>
              </a:rPr>
              <a:t>For movement restriction:</a:t>
            </a:r>
            <a:endParaRPr lang="en-US" sz="1400" dirty="0"/>
          </a:p>
          <a:p>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MFD decompresses fascia. Combine with active release for best results.</a:t>
            </a:r>
            <a:endParaRPr lang="en-US" sz="1400" dirty="0"/>
          </a:p>
          <a:p>
            <a:pPr algn="l">
              <a:lnSpc>
                <a:spcPct val="150000"/>
              </a:lnSpc>
              <a:spcBef>
                <a:spcPts val="800"/>
              </a:spcBef>
            </a:pPr>
            <a:r>
              <a:rPr lang="en-US" sz="1400" b="1" dirty="0">
                <a:solidFill>
                  <a:srgbClr val="F6F3EE"/>
                </a:solidFill>
                <a:latin typeface="Quattrocento Sans" pitchFamily="34" charset="0"/>
                <a:ea typeface="Quattrocento Sans" pitchFamily="34" charset="-122"/>
                <a:cs typeface="Quattrocento Sans" pitchFamily="34" charset="-120"/>
              </a:rPr>
              <a:t>For chronic conditions:</a:t>
            </a:r>
            <a:endParaRPr lang="en-US" sz="1400" dirty="0"/>
          </a:p>
          <a:p>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NO release is temporary. Repeated sessions build cumulative effects.</a:t>
            </a:r>
            <a:endParaRPr lang="en-US" sz="1400" dirty="0"/>
          </a:p>
          <a:p>
            <a:pPr algn="l">
              <a:lnSpc>
                <a:spcPct val="150000"/>
              </a:lnSpc>
              <a:spcBef>
                <a:spcPts val="800"/>
              </a:spcBef>
            </a:pPr>
            <a:r>
              <a:rPr lang="en-US" sz="1400" b="1" dirty="0">
                <a:solidFill>
                  <a:srgbClr val="F6F3EE"/>
                </a:solidFill>
                <a:latin typeface="Quattrocento Sans" pitchFamily="34" charset="0"/>
                <a:ea typeface="Quattrocento Sans" pitchFamily="34" charset="-122"/>
                <a:cs typeface="Quattrocento Sans" pitchFamily="34" charset="-120"/>
              </a:rPr>
              <a:t>What to tell patients:</a:t>
            </a:r>
            <a:endParaRPr lang="en-US" sz="1400" dirty="0"/>
          </a:p>
          <a:p>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"Research shows cupping increases blood flow and releases tight tissue. The Prophet recommended it, and science is confirming its benefits."</a:t>
            </a:r>
            <a:endParaRPr lang="en-US" sz="1400" dirty="0"/>
          </a:p>
        </p:txBody>
      </p:sp>
      <p:sp>
        <p:nvSpPr>
          <p:cNvPr id="20" name="Text 18"/>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08</a:t>
            </a:r>
            <a:endParaRPr lang="en-US" sz="11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143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Probable and Theoretical Mechanisms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381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PROBABLE MECHANISMS</a:t>
            </a:r>
            <a:endParaRPr lang="en-US" sz="1200" dirty="0"/>
          </a:p>
        </p:txBody>
      </p:sp>
      <p:sp>
        <p:nvSpPr>
          <p:cNvPr id="9" name="Shape 7"/>
          <p:cNvSpPr/>
          <p:nvPr/>
        </p:nvSpPr>
        <p:spPr>
          <a:xfrm>
            <a:off x="762000" y="1993900"/>
            <a:ext cx="7175500" cy="1270000"/>
          </a:xfrm>
          <a:prstGeom prst="rect">
            <a:avLst/>
          </a:prstGeom>
          <a:solidFill>
            <a:srgbClr val="F0EDE7"/>
          </a:solidFill>
          <a:ln w="12700">
            <a:solidFill>
              <a:srgbClr val="E0DCD6"/>
            </a:solidFill>
            <a:prstDash val="solid"/>
          </a:ln>
        </p:spPr>
      </p:sp>
      <p:sp>
        <p:nvSpPr>
          <p:cNvPr id="10" name="Shape 8"/>
          <p:cNvSpPr/>
          <p:nvPr/>
        </p:nvSpPr>
        <p:spPr>
          <a:xfrm>
            <a:off x="762000" y="1993900"/>
            <a:ext cx="50800" cy="1270000"/>
          </a:xfrm>
          <a:prstGeom prst="rect">
            <a:avLst/>
          </a:prstGeom>
          <a:solidFill>
            <a:srgbClr val="0E3B2E"/>
          </a:solidFill>
          <a:ln/>
        </p:spPr>
      </p:sp>
      <p:sp>
        <p:nvSpPr>
          <p:cNvPr id="11" name="Text 9"/>
          <p:cNvSpPr/>
          <p:nvPr/>
        </p:nvSpPr>
        <p:spPr>
          <a:xfrm>
            <a:off x="990600" y="2057400"/>
            <a:ext cx="6731000" cy="304800"/>
          </a:xfrm>
          <a:prstGeom prst="rect">
            <a:avLst/>
          </a:prstGeom>
          <a:noFill/>
          <a:ln/>
        </p:spPr>
        <p:txBody>
          <a:bodyPr wrap="none" lIns="0" tIns="0" rIns="0" bIns="0" rtlCol="0" anchor="ctr"/>
          <a:lstStyle/>
          <a:p>
            <a:pPr algn="l">
              <a:lnSpc>
                <a:spcPct val="120000"/>
              </a:lnSpc>
            </a:pPr>
            <a:r>
              <a:rPr lang="en-US" sz="1500" b="1" dirty="0">
                <a:solidFill>
                  <a:srgbClr val="0E3B2E"/>
                </a:solidFill>
                <a:latin typeface="Quattrocento Sans" pitchFamily="34" charset="0"/>
                <a:ea typeface="Quattrocento Sans" pitchFamily="34" charset="-122"/>
                <a:cs typeface="Quattrocento Sans" pitchFamily="34" charset="-120"/>
              </a:rPr>
              <a:t>Immune Modulation</a:t>
            </a:r>
            <a:endParaRPr lang="en-US" sz="1500" dirty="0"/>
          </a:p>
        </p:txBody>
      </p:sp>
      <p:sp>
        <p:nvSpPr>
          <p:cNvPr id="12" name="Text 10"/>
          <p:cNvSpPr/>
          <p:nvPr/>
        </p:nvSpPr>
        <p:spPr>
          <a:xfrm>
            <a:off x="990600" y="2413000"/>
            <a:ext cx="6731000" cy="762000"/>
          </a:xfrm>
          <a:prstGeom prst="rect">
            <a:avLst/>
          </a:prstGeom>
          <a:noFill/>
          <a:ln/>
        </p:spPr>
        <p:txBody>
          <a:bodyPr wrap="square" lIns="0" tIns="0" rIns="0" bIns="0" rtlCol="0" anchor="t"/>
          <a:lstStyle/>
          <a:p>
            <a:pPr algn="l">
              <a:lnSpc>
                <a:spcPct val="145000"/>
              </a:lnSpc>
            </a:pPr>
            <a:r>
              <a:rPr lang="en-US" sz="1300" dirty="0">
                <a:solidFill>
                  <a:srgbClr val="1A1A1A"/>
                </a:solidFill>
                <a:latin typeface="Quattrocento Sans" pitchFamily="34" charset="0"/>
                <a:ea typeface="Quattrocento Sans" pitchFamily="34" charset="-122"/>
                <a:cs typeface="Quattrocento Sans" pitchFamily="34" charset="-120"/>
              </a:rPr>
              <a:t>Wet cupping may stimulate the reticuloendothelial system. Studies show changes in inflammatory markers post-treatment. Evidence: preliminary.</a:t>
            </a:r>
            <a:endParaRPr lang="en-US" sz="1300" dirty="0"/>
          </a:p>
        </p:txBody>
      </p:sp>
      <p:sp>
        <p:nvSpPr>
          <p:cNvPr id="13" name="Shape 11"/>
          <p:cNvSpPr/>
          <p:nvPr/>
        </p:nvSpPr>
        <p:spPr>
          <a:xfrm>
            <a:off x="762000" y="3390900"/>
            <a:ext cx="7175500" cy="1270000"/>
          </a:xfrm>
          <a:prstGeom prst="rect">
            <a:avLst/>
          </a:prstGeom>
          <a:solidFill>
            <a:srgbClr val="F0EDE7"/>
          </a:solidFill>
          <a:ln w="12700">
            <a:solidFill>
              <a:srgbClr val="E0DCD6"/>
            </a:solidFill>
            <a:prstDash val="solid"/>
          </a:ln>
        </p:spPr>
      </p:sp>
      <p:sp>
        <p:nvSpPr>
          <p:cNvPr id="14" name="Shape 12"/>
          <p:cNvSpPr/>
          <p:nvPr/>
        </p:nvSpPr>
        <p:spPr>
          <a:xfrm>
            <a:off x="762000" y="3390900"/>
            <a:ext cx="50800" cy="1270000"/>
          </a:xfrm>
          <a:prstGeom prst="rect">
            <a:avLst/>
          </a:prstGeom>
          <a:solidFill>
            <a:srgbClr val="0E3B2E"/>
          </a:solidFill>
          <a:ln/>
        </p:spPr>
      </p:sp>
      <p:sp>
        <p:nvSpPr>
          <p:cNvPr id="15" name="Text 13"/>
          <p:cNvSpPr/>
          <p:nvPr/>
        </p:nvSpPr>
        <p:spPr>
          <a:xfrm>
            <a:off x="990600" y="3454400"/>
            <a:ext cx="6731000" cy="304800"/>
          </a:xfrm>
          <a:prstGeom prst="rect">
            <a:avLst/>
          </a:prstGeom>
          <a:noFill/>
          <a:ln/>
        </p:spPr>
        <p:txBody>
          <a:bodyPr wrap="none" lIns="0" tIns="0" rIns="0" bIns="0" rtlCol="0" anchor="ctr"/>
          <a:lstStyle/>
          <a:p>
            <a:pPr algn="l">
              <a:lnSpc>
                <a:spcPct val="120000"/>
              </a:lnSpc>
            </a:pPr>
            <a:r>
              <a:rPr lang="en-US" sz="1500" b="1" dirty="0">
                <a:solidFill>
                  <a:srgbClr val="0E3B2E"/>
                </a:solidFill>
                <a:latin typeface="Quattrocento Sans" pitchFamily="34" charset="0"/>
                <a:ea typeface="Quattrocento Sans" pitchFamily="34" charset="-122"/>
                <a:cs typeface="Quattrocento Sans" pitchFamily="34" charset="-120"/>
              </a:rPr>
              <a:t>Lymphatic Stimulation</a:t>
            </a:r>
            <a:endParaRPr lang="en-US" sz="1500" dirty="0"/>
          </a:p>
        </p:txBody>
      </p:sp>
      <p:sp>
        <p:nvSpPr>
          <p:cNvPr id="16" name="Text 14"/>
          <p:cNvSpPr/>
          <p:nvPr/>
        </p:nvSpPr>
        <p:spPr>
          <a:xfrm>
            <a:off x="990600" y="3810000"/>
            <a:ext cx="6731000" cy="762000"/>
          </a:xfrm>
          <a:prstGeom prst="rect">
            <a:avLst/>
          </a:prstGeom>
          <a:noFill/>
          <a:ln/>
        </p:spPr>
        <p:txBody>
          <a:bodyPr wrap="square" lIns="0" tIns="0" rIns="0" bIns="0" rtlCol="0" anchor="t"/>
          <a:lstStyle/>
          <a:p>
            <a:pPr algn="l">
              <a:lnSpc>
                <a:spcPct val="145000"/>
              </a:lnSpc>
            </a:pPr>
            <a:r>
              <a:rPr lang="en-US" sz="1300" dirty="0">
                <a:solidFill>
                  <a:srgbClr val="1A1A1A"/>
                </a:solidFill>
                <a:latin typeface="Quattrocento Sans" pitchFamily="34" charset="0"/>
                <a:ea typeface="Quattrocento Sans" pitchFamily="34" charset="-122"/>
                <a:cs typeface="Quattrocento Sans" pitchFamily="34" charset="-120"/>
              </a:rPr>
              <a:t>Negative pressure enhances lymphatic drainage. Moving cupping (sliding) is particularly effective. Evidence: moderate from imaging studies showing lymphatic flow changes.</a:t>
            </a:r>
            <a:endParaRPr lang="en-US" sz="1300" dirty="0"/>
          </a:p>
        </p:txBody>
      </p:sp>
      <p:sp>
        <p:nvSpPr>
          <p:cNvPr id="17" name="Text 15"/>
          <p:cNvSpPr/>
          <p:nvPr/>
        </p:nvSpPr>
        <p:spPr>
          <a:xfrm>
            <a:off x="8318500" y="1587500"/>
            <a:ext cx="3810000" cy="304800"/>
          </a:xfrm>
          <a:prstGeom prst="rect">
            <a:avLst/>
          </a:prstGeom>
          <a:noFill/>
          <a:ln/>
        </p:spPr>
        <p:txBody>
          <a:bodyPr wrap="none" lIns="0" tIns="0" rIns="0" bIns="0" rtlCol="0" anchor="ctr"/>
          <a:lstStyle/>
          <a:p>
            <a:pPr algn="l">
              <a:lnSpc>
                <a:spcPct val="120000"/>
              </a:lnSpc>
            </a:pPr>
            <a:r>
              <a:rPr lang="en-US" sz="1200" spc="200" kern="0" dirty="0">
                <a:solidFill>
                  <a:srgbClr val="C7A25A"/>
                </a:solidFill>
                <a:latin typeface="Quattrocento Sans" pitchFamily="34" charset="0"/>
                <a:ea typeface="Quattrocento Sans" pitchFamily="34" charset="-122"/>
                <a:cs typeface="Quattrocento Sans" pitchFamily="34" charset="-120"/>
              </a:rPr>
              <a:t>THEORETICAL &amp; EMERGING</a:t>
            </a:r>
            <a:endParaRPr lang="en-US" sz="1200" dirty="0"/>
          </a:p>
        </p:txBody>
      </p:sp>
      <p:sp>
        <p:nvSpPr>
          <p:cNvPr id="18" name="Shape 16"/>
          <p:cNvSpPr/>
          <p:nvPr/>
        </p:nvSpPr>
        <p:spPr>
          <a:xfrm>
            <a:off x="8318500" y="1993900"/>
            <a:ext cx="7175500" cy="1270000"/>
          </a:xfrm>
          <a:prstGeom prst="rect">
            <a:avLst/>
          </a:prstGeom>
          <a:solidFill>
            <a:srgbClr val="F0EDE7"/>
          </a:solidFill>
          <a:ln w="12700">
            <a:solidFill>
              <a:srgbClr val="E0DCD6"/>
            </a:solidFill>
            <a:prstDash val="solid"/>
          </a:ln>
        </p:spPr>
      </p:sp>
      <p:sp>
        <p:nvSpPr>
          <p:cNvPr id="19" name="Shape 17"/>
          <p:cNvSpPr/>
          <p:nvPr/>
        </p:nvSpPr>
        <p:spPr>
          <a:xfrm>
            <a:off x="8318500" y="1993900"/>
            <a:ext cx="50800" cy="1270000"/>
          </a:xfrm>
          <a:prstGeom prst="rect">
            <a:avLst/>
          </a:prstGeom>
          <a:solidFill>
            <a:srgbClr val="C7A25A"/>
          </a:solidFill>
          <a:ln/>
        </p:spPr>
      </p:sp>
      <p:sp>
        <p:nvSpPr>
          <p:cNvPr id="20" name="Text 18"/>
          <p:cNvSpPr/>
          <p:nvPr/>
        </p:nvSpPr>
        <p:spPr>
          <a:xfrm>
            <a:off x="8547100" y="2057400"/>
            <a:ext cx="6731000" cy="304800"/>
          </a:xfrm>
          <a:prstGeom prst="rect">
            <a:avLst/>
          </a:prstGeom>
          <a:noFill/>
          <a:ln/>
        </p:spPr>
        <p:txBody>
          <a:bodyPr wrap="none" lIns="0" tIns="0" rIns="0" bIns="0" rtlCol="0" anchor="ctr"/>
          <a:lstStyle/>
          <a:p>
            <a:pPr algn="l">
              <a:lnSpc>
                <a:spcPct val="120000"/>
              </a:lnSpc>
            </a:pPr>
            <a:r>
              <a:rPr lang="en-US" sz="1500" b="1" dirty="0">
                <a:solidFill>
                  <a:srgbClr val="C7A25A"/>
                </a:solidFill>
                <a:latin typeface="Quattrocento Sans" pitchFamily="34" charset="0"/>
                <a:ea typeface="Quattrocento Sans" pitchFamily="34" charset="-122"/>
                <a:cs typeface="Quattrocento Sans" pitchFamily="34" charset="-120"/>
              </a:rPr>
              <a:t>Taibah Theory (CPS Filtration)</a:t>
            </a:r>
            <a:endParaRPr lang="en-US" sz="1500" dirty="0"/>
          </a:p>
        </p:txBody>
      </p:sp>
      <p:sp>
        <p:nvSpPr>
          <p:cNvPr id="21" name="Text 19"/>
          <p:cNvSpPr/>
          <p:nvPr/>
        </p:nvSpPr>
        <p:spPr>
          <a:xfrm>
            <a:off x="8547100" y="2413000"/>
            <a:ext cx="6731000" cy="762000"/>
          </a:xfrm>
          <a:prstGeom prst="rect">
            <a:avLst/>
          </a:prstGeom>
          <a:noFill/>
          <a:ln/>
        </p:spPr>
        <p:txBody>
          <a:bodyPr wrap="square" lIns="0" tIns="0" rIns="0" bIns="0" rtlCol="0" anchor="t"/>
          <a:lstStyle/>
          <a:p>
            <a:pPr algn="l">
              <a:lnSpc>
                <a:spcPct val="145000"/>
              </a:lnSpc>
            </a:pPr>
            <a:r>
              <a:rPr lang="en-US" sz="1300" dirty="0">
                <a:solidFill>
                  <a:srgbClr val="1A1A1A"/>
                </a:solidFill>
                <a:latin typeface="Quattrocento Sans" pitchFamily="34" charset="0"/>
                <a:ea typeface="Quattrocento Sans" pitchFamily="34" charset="-122"/>
                <a:cs typeface="Quattrocento Sans" pitchFamily="34" charset="-120"/>
              </a:rPr>
              <a:t>Proposed by Dr. Ahmad El-Kott: wet cupping filters Causative Pathological Substances from the blood. Theoretical — lacks independent replication. SRA classifies as Exploratory.</a:t>
            </a:r>
            <a:endParaRPr lang="en-US" sz="1300" dirty="0"/>
          </a:p>
        </p:txBody>
      </p:sp>
      <p:sp>
        <p:nvSpPr>
          <p:cNvPr id="22" name="Shape 20"/>
          <p:cNvSpPr/>
          <p:nvPr/>
        </p:nvSpPr>
        <p:spPr>
          <a:xfrm>
            <a:off x="8318500" y="3390900"/>
            <a:ext cx="7175500" cy="1270000"/>
          </a:xfrm>
          <a:prstGeom prst="rect">
            <a:avLst/>
          </a:prstGeom>
          <a:solidFill>
            <a:srgbClr val="F0EDE7"/>
          </a:solidFill>
          <a:ln w="12700">
            <a:solidFill>
              <a:srgbClr val="E0DCD6"/>
            </a:solidFill>
            <a:prstDash val="solid"/>
          </a:ln>
        </p:spPr>
      </p:sp>
      <p:sp>
        <p:nvSpPr>
          <p:cNvPr id="23" name="Shape 21"/>
          <p:cNvSpPr/>
          <p:nvPr/>
        </p:nvSpPr>
        <p:spPr>
          <a:xfrm>
            <a:off x="8318500" y="3390900"/>
            <a:ext cx="50800" cy="1270000"/>
          </a:xfrm>
          <a:prstGeom prst="rect">
            <a:avLst/>
          </a:prstGeom>
          <a:solidFill>
            <a:srgbClr val="C7A25A"/>
          </a:solidFill>
          <a:ln/>
        </p:spPr>
      </p:sp>
      <p:sp>
        <p:nvSpPr>
          <p:cNvPr id="24" name="Text 22"/>
          <p:cNvSpPr/>
          <p:nvPr/>
        </p:nvSpPr>
        <p:spPr>
          <a:xfrm>
            <a:off x="8547100" y="3454400"/>
            <a:ext cx="6731000" cy="304800"/>
          </a:xfrm>
          <a:prstGeom prst="rect">
            <a:avLst/>
          </a:prstGeom>
          <a:noFill/>
          <a:ln/>
        </p:spPr>
        <p:txBody>
          <a:bodyPr wrap="none" lIns="0" tIns="0" rIns="0" bIns="0" rtlCol="0" anchor="ctr"/>
          <a:lstStyle/>
          <a:p>
            <a:pPr algn="l">
              <a:lnSpc>
                <a:spcPct val="120000"/>
              </a:lnSpc>
            </a:pPr>
            <a:r>
              <a:rPr lang="en-US" sz="1500" b="1" dirty="0">
                <a:solidFill>
                  <a:srgbClr val="C7A25A"/>
                </a:solidFill>
                <a:latin typeface="Quattrocento Sans" pitchFamily="34" charset="0"/>
                <a:ea typeface="Quattrocento Sans" pitchFamily="34" charset="-122"/>
                <a:cs typeface="Quattrocento Sans" pitchFamily="34" charset="-120"/>
              </a:rPr>
              <a:t>Gate Control Theory</a:t>
            </a:r>
            <a:endParaRPr lang="en-US" sz="1500" dirty="0"/>
          </a:p>
        </p:txBody>
      </p:sp>
      <p:sp>
        <p:nvSpPr>
          <p:cNvPr id="25" name="Text 23"/>
          <p:cNvSpPr/>
          <p:nvPr/>
        </p:nvSpPr>
        <p:spPr>
          <a:xfrm>
            <a:off x="8547100" y="3810000"/>
            <a:ext cx="6731000" cy="762000"/>
          </a:xfrm>
          <a:prstGeom prst="rect">
            <a:avLst/>
          </a:prstGeom>
          <a:noFill/>
          <a:ln/>
        </p:spPr>
        <p:txBody>
          <a:bodyPr wrap="square" lIns="0" tIns="0" rIns="0" bIns="0" rtlCol="0" anchor="t"/>
          <a:lstStyle/>
          <a:p>
            <a:pPr algn="l">
              <a:lnSpc>
                <a:spcPct val="145000"/>
              </a:lnSpc>
            </a:pPr>
            <a:r>
              <a:rPr lang="en-US" sz="1300" dirty="0">
                <a:solidFill>
                  <a:srgbClr val="1A1A1A"/>
                </a:solidFill>
                <a:latin typeface="Quattrocento Sans" pitchFamily="34" charset="0"/>
                <a:ea typeface="Quattrocento Sans" pitchFamily="34" charset="-122"/>
                <a:cs typeface="Quattrocento Sans" pitchFamily="34" charset="-120"/>
              </a:rPr>
              <a:t>Skin stimulation activates A-beta fibres, closing the "gate" to pain signals. Well-established in pain science; cupping-specific: moderate evidence.</a:t>
            </a:r>
            <a:endParaRPr lang="en-US" sz="1300" dirty="0"/>
          </a:p>
        </p:txBody>
      </p:sp>
      <p:sp>
        <p:nvSpPr>
          <p:cNvPr id="26" name="Text 24"/>
          <p:cNvSpPr/>
          <p:nvPr/>
        </p:nvSpPr>
        <p:spPr>
          <a:xfrm>
            <a:off x="762000" y="5016500"/>
            <a:ext cx="381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PLACEBO CONSIDERATIONS</a:t>
            </a:r>
            <a:endParaRPr lang="en-US" sz="1200" dirty="0"/>
          </a:p>
        </p:txBody>
      </p:sp>
      <p:sp>
        <p:nvSpPr>
          <p:cNvPr id="27" name="Shape 25"/>
          <p:cNvSpPr/>
          <p:nvPr/>
        </p:nvSpPr>
        <p:spPr>
          <a:xfrm>
            <a:off x="762000" y="5422900"/>
            <a:ext cx="14732000" cy="1460500"/>
          </a:xfrm>
          <a:prstGeom prst="rect">
            <a:avLst/>
          </a:prstGeom>
          <a:solidFill>
            <a:srgbClr val="F0EDE7"/>
          </a:solidFill>
          <a:ln w="12700">
            <a:solidFill>
              <a:srgbClr val="E0DCD6"/>
            </a:solidFill>
            <a:prstDash val="solid"/>
          </a:ln>
        </p:spPr>
      </p:sp>
      <p:sp>
        <p:nvSpPr>
          <p:cNvPr id="28" name="Shape 26"/>
          <p:cNvSpPr/>
          <p:nvPr/>
        </p:nvSpPr>
        <p:spPr>
          <a:xfrm>
            <a:off x="762000" y="5422900"/>
            <a:ext cx="50800" cy="1460500"/>
          </a:xfrm>
          <a:prstGeom prst="rect">
            <a:avLst/>
          </a:prstGeom>
          <a:solidFill>
            <a:srgbClr val="0E3B2E"/>
          </a:solidFill>
          <a:ln/>
        </p:spPr>
      </p:sp>
      <p:sp>
        <p:nvSpPr>
          <p:cNvPr id="29" name="Text 27"/>
          <p:cNvSpPr/>
          <p:nvPr/>
        </p:nvSpPr>
        <p:spPr>
          <a:xfrm>
            <a:off x="1016000" y="5524500"/>
            <a:ext cx="14224000" cy="1346200"/>
          </a:xfrm>
          <a:prstGeom prst="rect">
            <a:avLst/>
          </a:prstGeom>
          <a:noFill/>
          <a:ln/>
        </p:spPr>
        <p:txBody>
          <a:bodyPr wrap="square" lIns="0" tIns="0" rIns="0" bIns="0" rtlCol="0" anchor="t"/>
          <a:lstStyle/>
          <a:p>
            <a:pPr algn="l">
              <a:lnSpc>
                <a:spcPct val="145000"/>
              </a:lnSpc>
            </a:pPr>
            <a:r>
              <a:rPr lang="en-US" sz="1400" b="1" dirty="0">
                <a:solidFill>
                  <a:srgbClr val="1A1A1A"/>
                </a:solidFill>
                <a:latin typeface="Quattrocento Sans" pitchFamily="34" charset="0"/>
                <a:ea typeface="Quattrocento Sans" pitchFamily="34" charset="-122"/>
                <a:cs typeface="Quattrocento Sans" pitchFamily="34" charset="-120"/>
              </a:rPr>
              <a:t>Placebo effects are real and clinically meaningful.</a:t>
            </a:r>
            <a:pPr algn="l">
              <a:lnSpc>
                <a:spcPct val="145000"/>
              </a:lnSpc>
            </a:pPr>
            <a:r>
              <a:rPr lang="en-US" sz="1400" dirty="0">
                <a:solidFill>
                  <a:srgbClr val="1A1A1A"/>
                </a:solidFill>
                <a:latin typeface="Quattrocento Sans" pitchFamily="34" charset="0"/>
                <a:ea typeface="Quattrocento Sans" pitchFamily="34" charset="-122"/>
                <a:cs typeface="Quattrocento Sans" pitchFamily="34" charset="-120"/>
              </a:rPr>
              <a:t> Sham-controlled trials show cupping outperforms placebo for pain, but placebo responses are substantial. This is not a weakness — it is how healing works.</a:t>
            </a:r>
            <a:endParaRPr lang="en-US" sz="1400" dirty="0"/>
          </a:p>
          <a:p>
            <a:pPr algn="l">
              <a:lnSpc>
                <a:spcPct val="145000"/>
              </a:lnSpc>
              <a:spcBef>
                <a:spcPts val="400"/>
              </a:spcBef>
            </a:pPr>
            <a:r>
              <a:rPr lang="en-US" sz="1400" dirty="0">
                <a:solidFill>
                  <a:srgbClr val="1A1A1A"/>
                </a:solidFill>
                <a:latin typeface="Quattrocento Sans" pitchFamily="34" charset="0"/>
                <a:ea typeface="Quattrocento Sans" pitchFamily="34" charset="-122"/>
                <a:cs typeface="Quattrocento Sans" pitchFamily="34" charset="-120"/>
              </a:rPr>
              <a:t>The </a:t>
            </a:r>
            <a:pPr algn="l">
              <a:lnSpc>
                <a:spcPct val="145000"/>
              </a:lnSpc>
              <a:spcBef>
                <a:spcPts val="400"/>
              </a:spcBef>
            </a:pPr>
            <a:r>
              <a:rPr lang="en-US" sz="1400" b="1" dirty="0">
                <a:solidFill>
                  <a:srgbClr val="1A1A1A"/>
                </a:solidFill>
                <a:latin typeface="Quattrocento Sans" pitchFamily="34" charset="0"/>
                <a:ea typeface="Quattrocento Sans" pitchFamily="34" charset="-122"/>
                <a:cs typeface="Quattrocento Sans" pitchFamily="34" charset="-120"/>
              </a:rPr>
              <a:t>therapeutic ritual</a:t>
            </a:r>
            <a:pPr algn="l">
              <a:lnSpc>
                <a:spcPct val="145000"/>
              </a:lnSpc>
              <a:spcBef>
                <a:spcPts val="400"/>
              </a:spcBef>
            </a:pPr>
            <a:r>
              <a:rPr lang="en-US" sz="1400" dirty="0">
                <a:solidFill>
                  <a:srgbClr val="1A1A1A"/>
                </a:solidFill>
                <a:latin typeface="Quattrocento Sans" pitchFamily="34" charset="0"/>
                <a:ea typeface="Quattrocento Sans" pitchFamily="34" charset="-122"/>
                <a:cs typeface="Quattrocento Sans" pitchFamily="34" charset="-120"/>
              </a:rPr>
              <a:t> contributes to outcomes. The </a:t>
            </a:r>
            <a:pPr algn="l">
              <a:lnSpc>
                <a:spcPct val="145000"/>
              </a:lnSpc>
              <a:spcBef>
                <a:spcPts val="400"/>
              </a:spcBef>
            </a:pPr>
            <a:r>
              <a:rPr lang="en-US" sz="1400" b="1" dirty="0">
                <a:solidFill>
                  <a:srgbClr val="1A1A1A"/>
                </a:solidFill>
                <a:latin typeface="Quattrocento Sans" pitchFamily="34" charset="0"/>
                <a:ea typeface="Quattrocento Sans" pitchFamily="34" charset="-122"/>
                <a:cs typeface="Quattrocento Sans" pitchFamily="34" charset="-120"/>
              </a:rPr>
              <a:t>SRA position</a:t>
            </a:r>
            <a:pPr algn="l">
              <a:lnSpc>
                <a:spcPct val="145000"/>
              </a:lnSpc>
              <a:spcBef>
                <a:spcPts val="400"/>
              </a:spcBef>
            </a:pPr>
            <a:r>
              <a:rPr lang="en-US" sz="1400" dirty="0">
                <a:solidFill>
                  <a:srgbClr val="1A1A1A"/>
                </a:solidFill>
                <a:latin typeface="Quattrocento Sans" pitchFamily="34" charset="0"/>
                <a:ea typeface="Quattrocento Sans" pitchFamily="34" charset="-122"/>
                <a:cs typeface="Quattrocento Sans" pitchFamily="34" charset="-120"/>
              </a:rPr>
              <a:t>: harness placebo ethically through compassion and relationship — while being honest that mechanisms are still being studied.</a:t>
            </a:r>
            <a:endParaRPr lang="en-US" sz="1400" dirty="0"/>
          </a:p>
        </p:txBody>
      </p:sp>
      <p:sp>
        <p:nvSpPr>
          <p:cNvPr id="30" name="Shape 28"/>
          <p:cNvSpPr/>
          <p:nvPr/>
        </p:nvSpPr>
        <p:spPr>
          <a:xfrm>
            <a:off x="762000" y="7048500"/>
            <a:ext cx="14732000" cy="1016000"/>
          </a:xfrm>
          <a:prstGeom prst="rect">
            <a:avLst/>
          </a:prstGeom>
          <a:solidFill>
            <a:srgbClr val="0E3B2E"/>
          </a:solidFill>
          <a:ln/>
        </p:spPr>
      </p:sp>
      <p:sp>
        <p:nvSpPr>
          <p:cNvPr id="31" name="Text 29"/>
          <p:cNvSpPr/>
          <p:nvPr/>
        </p:nvSpPr>
        <p:spPr>
          <a:xfrm>
            <a:off x="1016000" y="7175500"/>
            <a:ext cx="14224000" cy="762000"/>
          </a:xfrm>
          <a:prstGeom prst="rect">
            <a:avLst/>
          </a:prstGeom>
          <a:noFill/>
          <a:ln/>
        </p:spPr>
        <p:txBody>
          <a:bodyPr wrap="square" lIns="0" tIns="0" rIns="0" bIns="0" rtlCol="0" anchor="ctr"/>
          <a:lstStyle/>
          <a:p>
            <a:pPr algn="l">
              <a:lnSpc>
                <a:spcPct val="150000"/>
              </a:lnSpc>
            </a:pPr>
            <a:r>
              <a:rPr lang="en-US" sz="14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50000"/>
              </a:lnSpc>
            </a:pPr>
            <a:r>
              <a:rPr lang="en-US" sz="1400" dirty="0">
                <a:solidFill>
                  <a:srgbClr val="F6F3EE"/>
                </a:solidFill>
                <a:latin typeface="Quattrocento Sans" pitchFamily="34" charset="0"/>
                <a:ea typeface="Quattrocento Sans" pitchFamily="34" charset="-122"/>
                <a:cs typeface="Quattrocento Sans" pitchFamily="34" charset="-120"/>
              </a:rPr>
              <a:t> Distinguish between mechanisms when talking to patients. "We know cupping increases blood flow (strong evidence). We think it may also affect your immune system (early research). We don't fully understand everything — and that's okay."</a:t>
            </a:r>
            <a:endParaRPr lang="en-US" sz="1400" dirty="0"/>
          </a:p>
        </p:txBody>
      </p:sp>
      <p:sp>
        <p:nvSpPr>
          <p:cNvPr id="32" name="Text 30"/>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09</a:t>
            </a:r>
            <a:endParaRPr lang="en-US" sz="11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143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The Mechanisms Framework: Matching to Presentation</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498600"/>
            <a:ext cx="14732000" cy="355600"/>
          </a:xfrm>
          <a:prstGeom prst="rect">
            <a:avLst/>
          </a:prstGeom>
          <a:noFill/>
          <a:ln/>
        </p:spPr>
        <p:txBody>
          <a:bodyPr wrap="none" lIns="0" tIns="0" rIns="0" bIns="0" rtlCol="0" anchor="ctr"/>
          <a:lstStyle/>
          <a:p>
            <a:pPr algn="l">
              <a:lnSpc>
                <a:spcPct val="120000"/>
              </a:lnSpc>
            </a:pPr>
            <a:r>
              <a:rPr lang="en-US" sz="1500" dirty="0">
                <a:solidFill>
                  <a:srgbClr val="6B6B6B"/>
                </a:solidFill>
                <a:latin typeface="Quattrocento Sans" pitchFamily="34" charset="0"/>
                <a:ea typeface="Quattrocento Sans" pitchFamily="34" charset="-122"/>
                <a:cs typeface="Quattrocento Sans" pitchFamily="34" charset="-120"/>
              </a:rPr>
              <a:t>The proprietary SRA framework for mechanism-based treatment planning — match presentation to mechanism to technique</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2000" y="2006600"/>
          <a:ext cx="14732000" cy="3556000"/>
        </p:xfrm>
        <a:graphic>
          <a:graphicData uri="http://schemas.openxmlformats.org/drawingml/2006/table">
            <a:tbl>
              <a:tblPr/>
              <a:tblGrid>
                <a:gridCol w="3241040"/>
                <a:gridCol w="4124960"/>
                <a:gridCol w="3683000"/>
                <a:gridCol w="3683000"/>
              </a:tblGrid>
              <a:tr h="49784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Presentation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Likely Mechanism</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Technique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Evidence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7645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Pain + muscle tension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MFD / NO release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Dry or wet on trigger points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Strong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7645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Inflammation + immune dysregulation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Immune modulation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Wet on Sunnah points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Preliminary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7645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Lymphatic congestion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Lymphatic stimulation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Moving (sliding) cupping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7645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Chronic pain + stress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Gate control + placebo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Dry with extended session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Moderate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bl>
          </a:graphicData>
        </a:graphic>
      </p:graphicFrame>
      <p:sp>
        <p:nvSpPr>
          <p:cNvPr id="10" name="Text 7"/>
          <p:cNvSpPr/>
          <p:nvPr/>
        </p:nvSpPr>
        <p:spPr>
          <a:xfrm>
            <a:off x="762000" y="58420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WHY MECHANISM-BASED PLANNING MATTERS</a:t>
            </a:r>
            <a:endParaRPr lang="en-US" sz="1200" dirty="0"/>
          </a:p>
        </p:txBody>
      </p:sp>
      <p:sp>
        <p:nvSpPr>
          <p:cNvPr id="11" name="Shape 8"/>
          <p:cNvSpPr/>
          <p:nvPr/>
        </p:nvSpPr>
        <p:spPr>
          <a:xfrm>
            <a:off x="762000" y="6248400"/>
            <a:ext cx="4699000" cy="1397000"/>
          </a:xfrm>
          <a:prstGeom prst="rect">
            <a:avLst/>
          </a:prstGeom>
          <a:solidFill>
            <a:srgbClr val="F0EDE7"/>
          </a:solidFill>
          <a:ln w="12700">
            <a:solidFill>
              <a:srgbClr val="E0DCD6"/>
            </a:solidFill>
            <a:prstDash val="solid"/>
          </a:ln>
        </p:spPr>
      </p:sp>
      <p:sp>
        <p:nvSpPr>
          <p:cNvPr id="12" name="Shape 9"/>
          <p:cNvSpPr/>
          <p:nvPr/>
        </p:nvSpPr>
        <p:spPr>
          <a:xfrm>
            <a:off x="990600" y="6375400"/>
            <a:ext cx="279400" cy="279400"/>
          </a:xfrm>
          <a:custGeom>
            <a:avLst/>
            <a:gdLst/>
            <a:ahLst/>
            <a:cxnLst/>
            <a:rect l="l" t="t" r="r" b="b"/>
            <a:pathLst>
              <a:path w="279400" h="279400">
                <a:moveTo>
                  <a:pt x="244475" y="139700"/>
                </a:moveTo>
                <a:cubicBezTo>
                  <a:pt x="244475" y="81873"/>
                  <a:pt x="197527" y="34925"/>
                  <a:pt x="139700" y="34925"/>
                </a:cubicBezTo>
                <a:cubicBezTo>
                  <a:pt x="81873" y="34925"/>
                  <a:pt x="34925" y="81873"/>
                  <a:pt x="34925" y="139700"/>
                </a:cubicBezTo>
                <a:cubicBezTo>
                  <a:pt x="34925" y="197527"/>
                  <a:pt x="81873" y="244475"/>
                  <a:pt x="139700" y="244475"/>
                </a:cubicBezTo>
                <a:cubicBezTo>
                  <a:pt x="197527" y="244475"/>
                  <a:pt x="244475" y="197527"/>
                  <a:pt x="244475" y="139700"/>
                </a:cubicBezTo>
                <a:close/>
                <a:moveTo>
                  <a:pt x="0" y="139700"/>
                </a:moveTo>
                <a:cubicBezTo>
                  <a:pt x="0" y="62597"/>
                  <a:pt x="62597" y="0"/>
                  <a:pt x="139700" y="0"/>
                </a:cubicBezTo>
                <a:cubicBezTo>
                  <a:pt x="216803" y="0"/>
                  <a:pt x="279400" y="62597"/>
                  <a:pt x="279400" y="139700"/>
                </a:cubicBezTo>
                <a:cubicBezTo>
                  <a:pt x="279400" y="216803"/>
                  <a:pt x="216803" y="279400"/>
                  <a:pt x="139700" y="279400"/>
                </a:cubicBezTo>
                <a:cubicBezTo>
                  <a:pt x="62597" y="279400"/>
                  <a:pt x="0" y="216803"/>
                  <a:pt x="0" y="139700"/>
                </a:cubicBezTo>
                <a:close/>
                <a:moveTo>
                  <a:pt x="139700" y="183356"/>
                </a:moveTo>
                <a:cubicBezTo>
                  <a:pt x="163795" y="183356"/>
                  <a:pt x="183356" y="163795"/>
                  <a:pt x="183356" y="139700"/>
                </a:cubicBezTo>
                <a:cubicBezTo>
                  <a:pt x="183356" y="115605"/>
                  <a:pt x="163795" y="96044"/>
                  <a:pt x="139700" y="96044"/>
                </a:cubicBezTo>
                <a:cubicBezTo>
                  <a:pt x="115605" y="96044"/>
                  <a:pt x="96044" y="115605"/>
                  <a:pt x="96044" y="139700"/>
                </a:cubicBezTo>
                <a:cubicBezTo>
                  <a:pt x="96044" y="163795"/>
                  <a:pt x="115605" y="183356"/>
                  <a:pt x="139700" y="183356"/>
                </a:cubicBezTo>
                <a:close/>
                <a:moveTo>
                  <a:pt x="139700" y="61119"/>
                </a:moveTo>
                <a:cubicBezTo>
                  <a:pt x="183070" y="61119"/>
                  <a:pt x="218281" y="96330"/>
                  <a:pt x="218281" y="139700"/>
                </a:cubicBezTo>
                <a:cubicBezTo>
                  <a:pt x="218281" y="183070"/>
                  <a:pt x="183070" y="218281"/>
                  <a:pt x="139700" y="218281"/>
                </a:cubicBezTo>
                <a:cubicBezTo>
                  <a:pt x="96330" y="218281"/>
                  <a:pt x="61119" y="183070"/>
                  <a:pt x="61119" y="139700"/>
                </a:cubicBezTo>
                <a:cubicBezTo>
                  <a:pt x="61119" y="96330"/>
                  <a:pt x="96330" y="61119"/>
                  <a:pt x="139700" y="61119"/>
                </a:cubicBezTo>
                <a:close/>
                <a:moveTo>
                  <a:pt x="122238" y="139700"/>
                </a:moveTo>
                <a:cubicBezTo>
                  <a:pt x="122238" y="130062"/>
                  <a:pt x="130062" y="122238"/>
                  <a:pt x="139700" y="122238"/>
                </a:cubicBezTo>
                <a:cubicBezTo>
                  <a:pt x="149338" y="122238"/>
                  <a:pt x="157163" y="130062"/>
                  <a:pt x="157163" y="139700"/>
                </a:cubicBezTo>
                <a:cubicBezTo>
                  <a:pt x="157163" y="149338"/>
                  <a:pt x="149338" y="157163"/>
                  <a:pt x="139700" y="157163"/>
                </a:cubicBezTo>
                <a:cubicBezTo>
                  <a:pt x="130062" y="157163"/>
                  <a:pt x="122238" y="149338"/>
                  <a:pt x="122238" y="139700"/>
                </a:cubicBezTo>
                <a:close/>
              </a:path>
            </a:pathLst>
          </a:custGeom>
          <a:solidFill>
            <a:srgbClr val="C7A25A"/>
          </a:solidFill>
          <a:ln/>
        </p:spPr>
      </p:sp>
      <p:sp>
        <p:nvSpPr>
          <p:cNvPr id="13" name="Text 10"/>
          <p:cNvSpPr/>
          <p:nvPr/>
        </p:nvSpPr>
        <p:spPr>
          <a:xfrm>
            <a:off x="1371600" y="6350000"/>
            <a:ext cx="3810000" cy="304800"/>
          </a:xfrm>
          <a:prstGeom prst="rect">
            <a:avLst/>
          </a:prstGeom>
          <a:noFill/>
          <a:ln/>
        </p:spPr>
        <p:txBody>
          <a:bodyPr wrap="none" lIns="0" tIns="0" rIns="0" bIns="0" rtlCol="0" anchor="ctr"/>
          <a:lstStyle/>
          <a:p>
            <a:pPr algn="l">
              <a:lnSpc>
                <a:spcPct val="120000"/>
              </a:lnSpc>
            </a:pPr>
            <a:r>
              <a:rPr lang="en-US" sz="1500" b="1" dirty="0">
                <a:solidFill>
                  <a:srgbClr val="0E3B2E"/>
                </a:solidFill>
                <a:latin typeface="Quattrocento Sans" pitchFamily="34" charset="0"/>
                <a:ea typeface="Quattrocento Sans" pitchFamily="34" charset="-122"/>
                <a:cs typeface="Quattrocento Sans" pitchFamily="34" charset="-120"/>
              </a:rPr>
              <a:t>Precision</a:t>
            </a:r>
            <a:endParaRPr lang="en-US" sz="1500" dirty="0"/>
          </a:p>
        </p:txBody>
      </p:sp>
      <p:sp>
        <p:nvSpPr>
          <p:cNvPr id="14" name="Text 11"/>
          <p:cNvSpPr/>
          <p:nvPr/>
        </p:nvSpPr>
        <p:spPr>
          <a:xfrm>
            <a:off x="990600" y="6731000"/>
            <a:ext cx="4254500" cy="762000"/>
          </a:xfrm>
          <a:prstGeom prst="rect">
            <a:avLst/>
          </a:prstGeom>
          <a:noFill/>
          <a:ln/>
        </p:spPr>
        <p:txBody>
          <a:bodyPr wrap="square" lIns="0" tIns="0" rIns="0" bIns="0" rtlCol="0" anchor="t"/>
          <a:lstStyle/>
          <a:p>
            <a:pPr algn="l">
              <a:lnSpc>
                <a:spcPct val="145000"/>
              </a:lnSpc>
            </a:pPr>
            <a:r>
              <a:rPr lang="en-US" sz="1300" dirty="0">
                <a:solidFill>
                  <a:srgbClr val="1A1A1A"/>
                </a:solidFill>
                <a:latin typeface="Quattrocento Sans" pitchFamily="34" charset="0"/>
                <a:ea typeface="Quattrocento Sans" pitchFamily="34" charset="-122"/>
                <a:cs typeface="Quattrocento Sans" pitchFamily="34" charset="-120"/>
              </a:rPr>
              <a:t>Select the right technique for the specific presentation rather than using a one-size-fits-all protocol</a:t>
            </a:r>
            <a:endParaRPr lang="en-US" sz="1300" dirty="0"/>
          </a:p>
        </p:txBody>
      </p:sp>
      <p:sp>
        <p:nvSpPr>
          <p:cNvPr id="15" name="Shape 12"/>
          <p:cNvSpPr/>
          <p:nvPr/>
        </p:nvSpPr>
        <p:spPr>
          <a:xfrm>
            <a:off x="5715000" y="6248400"/>
            <a:ext cx="4699000" cy="1397000"/>
          </a:xfrm>
          <a:prstGeom prst="rect">
            <a:avLst/>
          </a:prstGeom>
          <a:solidFill>
            <a:srgbClr val="F0EDE7"/>
          </a:solidFill>
          <a:ln w="12700">
            <a:solidFill>
              <a:srgbClr val="E0DCD6"/>
            </a:solidFill>
            <a:prstDash val="solid"/>
          </a:ln>
        </p:spPr>
      </p:sp>
      <p:sp>
        <p:nvSpPr>
          <p:cNvPr id="16" name="Shape 13"/>
          <p:cNvSpPr/>
          <p:nvPr/>
        </p:nvSpPr>
        <p:spPr>
          <a:xfrm>
            <a:off x="5943600" y="6375400"/>
            <a:ext cx="279400" cy="279400"/>
          </a:xfrm>
          <a:custGeom>
            <a:avLst/>
            <a:gdLst/>
            <a:ahLst/>
            <a:cxnLst/>
            <a:rect l="l" t="t" r="r" b="b"/>
            <a:pathLst>
              <a:path w="279400" h="279400">
                <a:moveTo>
                  <a:pt x="186267" y="78581"/>
                </a:moveTo>
                <a:cubicBezTo>
                  <a:pt x="186267" y="131624"/>
                  <a:pt x="144551" y="174625"/>
                  <a:pt x="93133" y="174625"/>
                </a:cubicBezTo>
                <a:cubicBezTo>
                  <a:pt x="80182" y="174625"/>
                  <a:pt x="67861" y="171896"/>
                  <a:pt x="56656" y="166985"/>
                </a:cubicBezTo>
                <a:lnTo>
                  <a:pt x="17074" y="190560"/>
                </a:lnTo>
                <a:cubicBezTo>
                  <a:pt x="12563" y="193233"/>
                  <a:pt x="7034" y="192306"/>
                  <a:pt x="3395" y="188268"/>
                </a:cubicBezTo>
                <a:cubicBezTo>
                  <a:pt x="-243" y="184229"/>
                  <a:pt x="-1067" y="177954"/>
                  <a:pt x="1358" y="172879"/>
                </a:cubicBezTo>
                <a:lnTo>
                  <a:pt x="18627" y="136208"/>
                </a:lnTo>
                <a:cubicBezTo>
                  <a:pt x="6936" y="120164"/>
                  <a:pt x="0" y="100191"/>
                  <a:pt x="0" y="78581"/>
                </a:cubicBezTo>
                <a:cubicBezTo>
                  <a:pt x="0" y="25539"/>
                  <a:pt x="41716" y="-17462"/>
                  <a:pt x="93133" y="-17462"/>
                </a:cubicBezTo>
                <a:cubicBezTo>
                  <a:pt x="144551" y="-17462"/>
                  <a:pt x="186267" y="25539"/>
                  <a:pt x="186267" y="78581"/>
                </a:cubicBezTo>
                <a:close/>
                <a:moveTo>
                  <a:pt x="186267" y="279400"/>
                </a:moveTo>
                <a:cubicBezTo>
                  <a:pt x="140622" y="279400"/>
                  <a:pt x="102641" y="245512"/>
                  <a:pt x="94686" y="200819"/>
                </a:cubicBezTo>
                <a:cubicBezTo>
                  <a:pt x="152894" y="200000"/>
                  <a:pt x="203487" y="153397"/>
                  <a:pt x="209065" y="90205"/>
                </a:cubicBezTo>
                <a:cubicBezTo>
                  <a:pt x="249471" y="100682"/>
                  <a:pt x="279400" y="138390"/>
                  <a:pt x="279400" y="183356"/>
                </a:cubicBezTo>
                <a:cubicBezTo>
                  <a:pt x="279400" y="204966"/>
                  <a:pt x="272464" y="224939"/>
                  <a:pt x="260773" y="240983"/>
                </a:cubicBezTo>
                <a:lnTo>
                  <a:pt x="278042" y="277654"/>
                </a:lnTo>
                <a:cubicBezTo>
                  <a:pt x="280419" y="282729"/>
                  <a:pt x="279594" y="288950"/>
                  <a:pt x="276005" y="293043"/>
                </a:cubicBezTo>
                <a:cubicBezTo>
                  <a:pt x="272415" y="297135"/>
                  <a:pt x="266837" y="298063"/>
                  <a:pt x="262326" y="295335"/>
                </a:cubicBezTo>
                <a:lnTo>
                  <a:pt x="222744" y="271760"/>
                </a:lnTo>
                <a:cubicBezTo>
                  <a:pt x="211539" y="276671"/>
                  <a:pt x="199218" y="279400"/>
                  <a:pt x="186267" y="279400"/>
                </a:cubicBezTo>
                <a:close/>
              </a:path>
            </a:pathLst>
          </a:custGeom>
          <a:solidFill>
            <a:srgbClr val="C7A25A"/>
          </a:solidFill>
          <a:ln/>
        </p:spPr>
      </p:sp>
      <p:sp>
        <p:nvSpPr>
          <p:cNvPr id="17" name="Text 14"/>
          <p:cNvSpPr/>
          <p:nvPr/>
        </p:nvSpPr>
        <p:spPr>
          <a:xfrm>
            <a:off x="6324600" y="6350000"/>
            <a:ext cx="3810000" cy="304800"/>
          </a:xfrm>
          <a:prstGeom prst="rect">
            <a:avLst/>
          </a:prstGeom>
          <a:noFill/>
          <a:ln/>
        </p:spPr>
        <p:txBody>
          <a:bodyPr wrap="none" lIns="0" tIns="0" rIns="0" bIns="0" rtlCol="0" anchor="ctr"/>
          <a:lstStyle/>
          <a:p>
            <a:pPr algn="l">
              <a:lnSpc>
                <a:spcPct val="120000"/>
              </a:lnSpc>
            </a:pPr>
            <a:r>
              <a:rPr lang="en-US" sz="1500" b="1" dirty="0">
                <a:solidFill>
                  <a:srgbClr val="0E3B2E"/>
                </a:solidFill>
                <a:latin typeface="Quattrocento Sans" pitchFamily="34" charset="0"/>
                <a:ea typeface="Quattrocento Sans" pitchFamily="34" charset="-122"/>
                <a:cs typeface="Quattrocento Sans" pitchFamily="34" charset="-120"/>
              </a:rPr>
              <a:t>Communication</a:t>
            </a:r>
            <a:endParaRPr lang="en-US" sz="1500" dirty="0"/>
          </a:p>
        </p:txBody>
      </p:sp>
      <p:sp>
        <p:nvSpPr>
          <p:cNvPr id="18" name="Text 15"/>
          <p:cNvSpPr/>
          <p:nvPr/>
        </p:nvSpPr>
        <p:spPr>
          <a:xfrm>
            <a:off x="5943600" y="6731000"/>
            <a:ext cx="4254500" cy="762000"/>
          </a:xfrm>
          <a:prstGeom prst="rect">
            <a:avLst/>
          </a:prstGeom>
          <a:noFill/>
          <a:ln/>
        </p:spPr>
        <p:txBody>
          <a:bodyPr wrap="square" lIns="0" tIns="0" rIns="0" bIns="0" rtlCol="0" anchor="t"/>
          <a:lstStyle/>
          <a:p>
            <a:pPr algn="l">
              <a:lnSpc>
                <a:spcPct val="145000"/>
              </a:lnSpc>
            </a:pPr>
            <a:r>
              <a:rPr lang="en-US" sz="1300" dirty="0">
                <a:solidFill>
                  <a:srgbClr val="1A1A1A"/>
                </a:solidFill>
                <a:latin typeface="Quattrocento Sans" pitchFamily="34" charset="0"/>
                <a:ea typeface="Quattrocento Sans" pitchFamily="34" charset="-122"/>
                <a:cs typeface="Quattrocento Sans" pitchFamily="34" charset="-120"/>
              </a:rPr>
              <a:t>Explain WHY you selected a particular approach. This builds trust and demonstrates clinical reasoning</a:t>
            </a:r>
            <a:endParaRPr lang="en-US" sz="1300" dirty="0"/>
          </a:p>
        </p:txBody>
      </p:sp>
      <p:sp>
        <p:nvSpPr>
          <p:cNvPr id="19" name="Shape 16"/>
          <p:cNvSpPr/>
          <p:nvPr/>
        </p:nvSpPr>
        <p:spPr>
          <a:xfrm>
            <a:off x="10668000" y="6248400"/>
            <a:ext cx="4826000" cy="1524000"/>
          </a:xfrm>
          <a:prstGeom prst="rect">
            <a:avLst/>
          </a:prstGeom>
          <a:solidFill>
            <a:srgbClr val="F0EDE7"/>
          </a:solidFill>
          <a:ln w="12700">
            <a:solidFill>
              <a:srgbClr val="E0DCD6"/>
            </a:solidFill>
            <a:prstDash val="solid"/>
          </a:ln>
        </p:spPr>
      </p:sp>
      <p:sp>
        <p:nvSpPr>
          <p:cNvPr id="20" name="Shape 17"/>
          <p:cNvSpPr/>
          <p:nvPr/>
        </p:nvSpPr>
        <p:spPr>
          <a:xfrm>
            <a:off x="10896600" y="6375400"/>
            <a:ext cx="279400" cy="279400"/>
          </a:xfrm>
          <a:custGeom>
            <a:avLst/>
            <a:gdLst/>
            <a:ahLst/>
            <a:cxnLst/>
            <a:rect l="l" t="t" r="r" b="b"/>
            <a:pathLst>
              <a:path w="279400" h="279400">
                <a:moveTo>
                  <a:pt x="167640" y="17463"/>
                </a:moveTo>
                <a:lnTo>
                  <a:pt x="223520" y="17463"/>
                </a:lnTo>
                <a:cubicBezTo>
                  <a:pt x="231247" y="17463"/>
                  <a:pt x="237490" y="25266"/>
                  <a:pt x="237490" y="34925"/>
                </a:cubicBezTo>
                <a:cubicBezTo>
                  <a:pt x="237490" y="44584"/>
                  <a:pt x="231247" y="52388"/>
                  <a:pt x="223520" y="52388"/>
                </a:cubicBezTo>
                <a:lnTo>
                  <a:pt x="173927" y="52388"/>
                </a:lnTo>
                <a:cubicBezTo>
                  <a:pt x="171656" y="66467"/>
                  <a:pt x="163929" y="78090"/>
                  <a:pt x="153670" y="83656"/>
                </a:cubicBezTo>
                <a:lnTo>
                  <a:pt x="153670" y="244475"/>
                </a:lnTo>
                <a:lnTo>
                  <a:pt x="223520" y="244475"/>
                </a:lnTo>
                <a:cubicBezTo>
                  <a:pt x="231247" y="244475"/>
                  <a:pt x="237490" y="252279"/>
                  <a:pt x="237490" y="261938"/>
                </a:cubicBezTo>
                <a:cubicBezTo>
                  <a:pt x="237490" y="271596"/>
                  <a:pt x="231247" y="279400"/>
                  <a:pt x="223520" y="279400"/>
                </a:cubicBezTo>
                <a:lnTo>
                  <a:pt x="55880" y="279400"/>
                </a:lnTo>
                <a:cubicBezTo>
                  <a:pt x="48153" y="279400"/>
                  <a:pt x="41910" y="271596"/>
                  <a:pt x="41910" y="261938"/>
                </a:cubicBezTo>
                <a:cubicBezTo>
                  <a:pt x="41910" y="252279"/>
                  <a:pt x="48153" y="244475"/>
                  <a:pt x="55880" y="244475"/>
                </a:cubicBezTo>
                <a:lnTo>
                  <a:pt x="125730" y="244475"/>
                </a:lnTo>
                <a:lnTo>
                  <a:pt x="125730" y="83656"/>
                </a:lnTo>
                <a:cubicBezTo>
                  <a:pt x="115471" y="78036"/>
                  <a:pt x="107744" y="66412"/>
                  <a:pt x="105474" y="52388"/>
                </a:cubicBezTo>
                <a:lnTo>
                  <a:pt x="55880" y="52388"/>
                </a:lnTo>
                <a:cubicBezTo>
                  <a:pt x="48153" y="52388"/>
                  <a:pt x="41910" y="44584"/>
                  <a:pt x="41910" y="34925"/>
                </a:cubicBezTo>
                <a:cubicBezTo>
                  <a:pt x="41910" y="25266"/>
                  <a:pt x="48153" y="17463"/>
                  <a:pt x="55880" y="17463"/>
                </a:cubicBezTo>
                <a:lnTo>
                  <a:pt x="111760" y="17463"/>
                </a:lnTo>
                <a:cubicBezTo>
                  <a:pt x="118134" y="6876"/>
                  <a:pt x="128262" y="0"/>
                  <a:pt x="139700" y="0"/>
                </a:cubicBezTo>
                <a:cubicBezTo>
                  <a:pt x="151138" y="0"/>
                  <a:pt x="161266" y="6876"/>
                  <a:pt x="167640" y="17463"/>
                </a:cubicBezTo>
                <a:close/>
                <a:moveTo>
                  <a:pt x="191913" y="174625"/>
                </a:moveTo>
                <a:lnTo>
                  <a:pt x="255127" y="174625"/>
                </a:lnTo>
                <a:lnTo>
                  <a:pt x="223520" y="106849"/>
                </a:lnTo>
                <a:lnTo>
                  <a:pt x="191913" y="174625"/>
                </a:lnTo>
                <a:close/>
                <a:moveTo>
                  <a:pt x="223520" y="227013"/>
                </a:moveTo>
                <a:cubicBezTo>
                  <a:pt x="196060" y="227013"/>
                  <a:pt x="173228" y="208459"/>
                  <a:pt x="168513" y="183957"/>
                </a:cubicBezTo>
                <a:cubicBezTo>
                  <a:pt x="167378" y="177954"/>
                  <a:pt x="168950" y="171787"/>
                  <a:pt x="171438" y="166439"/>
                </a:cubicBezTo>
                <a:lnTo>
                  <a:pt x="212999" y="77381"/>
                </a:lnTo>
                <a:cubicBezTo>
                  <a:pt x="215182" y="72688"/>
                  <a:pt x="219198" y="69850"/>
                  <a:pt x="223520" y="69850"/>
                </a:cubicBezTo>
                <a:cubicBezTo>
                  <a:pt x="227842" y="69850"/>
                  <a:pt x="231858" y="72742"/>
                  <a:pt x="234041" y="77381"/>
                </a:cubicBezTo>
                <a:lnTo>
                  <a:pt x="275602" y="166439"/>
                </a:lnTo>
                <a:cubicBezTo>
                  <a:pt x="278090" y="171787"/>
                  <a:pt x="279662" y="177954"/>
                  <a:pt x="278527" y="183957"/>
                </a:cubicBezTo>
                <a:cubicBezTo>
                  <a:pt x="273812" y="208404"/>
                  <a:pt x="250980" y="227013"/>
                  <a:pt x="223520" y="227013"/>
                </a:cubicBezTo>
                <a:close/>
                <a:moveTo>
                  <a:pt x="55356" y="106849"/>
                </a:moveTo>
                <a:lnTo>
                  <a:pt x="23749" y="174625"/>
                </a:lnTo>
                <a:lnTo>
                  <a:pt x="87007" y="174625"/>
                </a:lnTo>
                <a:lnTo>
                  <a:pt x="55356" y="106849"/>
                </a:lnTo>
                <a:close/>
                <a:moveTo>
                  <a:pt x="393" y="183957"/>
                </a:moveTo>
                <a:cubicBezTo>
                  <a:pt x="-742" y="177954"/>
                  <a:pt x="829" y="171787"/>
                  <a:pt x="3318" y="166439"/>
                </a:cubicBezTo>
                <a:lnTo>
                  <a:pt x="44879" y="77381"/>
                </a:lnTo>
                <a:cubicBezTo>
                  <a:pt x="47061" y="72688"/>
                  <a:pt x="51078" y="69850"/>
                  <a:pt x="55400" y="69850"/>
                </a:cubicBezTo>
                <a:cubicBezTo>
                  <a:pt x="59722" y="69850"/>
                  <a:pt x="63738" y="72742"/>
                  <a:pt x="65921" y="77381"/>
                </a:cubicBezTo>
                <a:lnTo>
                  <a:pt x="107482" y="166439"/>
                </a:lnTo>
                <a:cubicBezTo>
                  <a:pt x="109970" y="171787"/>
                  <a:pt x="111542" y="177954"/>
                  <a:pt x="110407" y="183957"/>
                </a:cubicBezTo>
                <a:cubicBezTo>
                  <a:pt x="105692" y="208404"/>
                  <a:pt x="82860" y="227013"/>
                  <a:pt x="55400" y="227013"/>
                </a:cubicBezTo>
                <a:cubicBezTo>
                  <a:pt x="27940" y="227013"/>
                  <a:pt x="5108" y="208459"/>
                  <a:pt x="393" y="183957"/>
                </a:cubicBezTo>
                <a:close/>
              </a:path>
            </a:pathLst>
          </a:custGeom>
          <a:solidFill>
            <a:srgbClr val="C7A25A"/>
          </a:solidFill>
          <a:ln/>
        </p:spPr>
      </p:sp>
      <p:sp>
        <p:nvSpPr>
          <p:cNvPr id="21" name="Text 18"/>
          <p:cNvSpPr/>
          <p:nvPr/>
        </p:nvSpPr>
        <p:spPr>
          <a:xfrm>
            <a:off x="11277600" y="6350000"/>
            <a:ext cx="3937000" cy="304800"/>
          </a:xfrm>
          <a:prstGeom prst="rect">
            <a:avLst/>
          </a:prstGeom>
          <a:noFill/>
          <a:ln/>
        </p:spPr>
        <p:txBody>
          <a:bodyPr wrap="none" lIns="0" tIns="0" rIns="0" bIns="0" rtlCol="0" anchor="ctr"/>
          <a:lstStyle/>
          <a:p>
            <a:pPr algn="l">
              <a:lnSpc>
                <a:spcPct val="120000"/>
              </a:lnSpc>
            </a:pPr>
            <a:r>
              <a:rPr lang="en-US" sz="1500" b="1" dirty="0">
                <a:solidFill>
                  <a:srgbClr val="0E3B2E"/>
                </a:solidFill>
                <a:latin typeface="Quattrocento Sans" pitchFamily="34" charset="0"/>
                <a:ea typeface="Quattrocento Sans" pitchFamily="34" charset="-122"/>
                <a:cs typeface="Quattrocento Sans" pitchFamily="34" charset="-120"/>
              </a:rPr>
              <a:t>Honesty</a:t>
            </a:r>
            <a:endParaRPr lang="en-US" sz="1500" dirty="0"/>
          </a:p>
        </p:txBody>
      </p:sp>
      <p:sp>
        <p:nvSpPr>
          <p:cNvPr id="22" name="Text 19"/>
          <p:cNvSpPr/>
          <p:nvPr/>
        </p:nvSpPr>
        <p:spPr>
          <a:xfrm>
            <a:off x="10896600" y="6731000"/>
            <a:ext cx="4381500" cy="914400"/>
          </a:xfrm>
          <a:prstGeom prst="rect">
            <a:avLst/>
          </a:prstGeom>
          <a:noFill/>
          <a:ln/>
        </p:spPr>
        <p:txBody>
          <a:bodyPr wrap="square" lIns="0" tIns="0" rIns="0" bIns="0" rtlCol="0" anchor="t"/>
          <a:lstStyle/>
          <a:p>
            <a:pPr algn="l">
              <a:lnSpc>
                <a:spcPct val="145000"/>
              </a:lnSpc>
            </a:pPr>
            <a:r>
              <a:rPr lang="en-US" sz="1300" dirty="0">
                <a:solidFill>
                  <a:srgbClr val="1A1A1A"/>
                </a:solidFill>
                <a:latin typeface="Quattrocento Sans" pitchFamily="34" charset="0"/>
                <a:ea typeface="Quattrocento Sans" pitchFamily="34" charset="-122"/>
                <a:cs typeface="Quattrocento Sans" pitchFamily="34" charset="-120"/>
              </a:rPr>
              <a:t>Know the mechanism, know the limits. You won't overpromise because you understand what each technique achieves</a:t>
            </a:r>
            <a:endParaRPr lang="en-US" sz="1300" dirty="0"/>
          </a:p>
        </p:txBody>
      </p:sp>
      <p:sp>
        <p:nvSpPr>
          <p:cNvPr id="23" name="Shape 20"/>
          <p:cNvSpPr/>
          <p:nvPr/>
        </p:nvSpPr>
        <p:spPr>
          <a:xfrm>
            <a:off x="762000" y="7937500"/>
            <a:ext cx="14732000" cy="635000"/>
          </a:xfrm>
          <a:prstGeom prst="rect">
            <a:avLst/>
          </a:prstGeom>
          <a:solidFill>
            <a:srgbClr val="0E3B2E"/>
          </a:solidFill>
          <a:ln/>
        </p:spPr>
      </p:sp>
      <p:sp>
        <p:nvSpPr>
          <p:cNvPr id="24" name="Text 21"/>
          <p:cNvSpPr/>
          <p:nvPr/>
        </p:nvSpPr>
        <p:spPr>
          <a:xfrm>
            <a:off x="1016000" y="8039100"/>
            <a:ext cx="14224000" cy="431800"/>
          </a:xfrm>
          <a:prstGeom prst="rect">
            <a:avLst/>
          </a:prstGeom>
          <a:noFill/>
          <a:ln/>
        </p:spPr>
        <p:txBody>
          <a:bodyPr wrap="square" lIns="0" tIns="0" rIns="0" bIns="0" rtlCol="0" anchor="ctr"/>
          <a:lstStyle/>
          <a:p>
            <a:pPr algn="l">
              <a:lnSpc>
                <a:spcPct val="140000"/>
              </a:lnSpc>
            </a:pPr>
            <a:r>
              <a:rPr lang="en-US" sz="14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400" dirty="0">
                <a:solidFill>
                  <a:srgbClr val="F6F3EE"/>
                </a:solidFill>
                <a:latin typeface="Quattrocento Sans" pitchFamily="34" charset="0"/>
                <a:ea typeface="Quattrocento Sans" pitchFamily="34" charset="-122"/>
                <a:cs typeface="Quattrocento Sans" pitchFamily="34" charset="-120"/>
              </a:rPr>
              <a:t> Most experienced practitioners use this framework intuitively. The SRA makes it explicit so you can teach it, document it, and refine it.</a:t>
            </a:r>
            <a:endParaRPr lang="en-US" sz="1400" dirty="0"/>
          </a:p>
        </p:txBody>
      </p:sp>
      <p:sp>
        <p:nvSpPr>
          <p:cNvPr id="25" name="Text 22"/>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10</a:t>
            </a:r>
            <a:endParaRPr lang="en-US" sz="11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3B2E"/>
        </a:solidFill>
      </p:bgPr>
    </p:bg>
    <p:spTree>
      <p:nvGrpSpPr>
        <p:cNvPr id="1" name=""/>
        <p:cNvGrpSpPr/>
        <p:nvPr/>
      </p:nvGrpSpPr>
      <p:grpSpPr>
        <a:xfrm>
          <a:off x="0" y="0"/>
          <a:ext cx="0" cy="0"/>
          <a:chOff x="0" y="0"/>
          <a:chExt cx="0" cy="0"/>
        </a:xfrm>
      </p:grpSpPr>
      <p:sp>
        <p:nvSpPr>
          <p:cNvPr id="2" name="Text 0"/>
          <p:cNvSpPr/>
          <p:nvPr/>
        </p:nvSpPr>
        <p:spPr>
          <a:xfrm>
            <a:off x="1016000" y="1524000"/>
            <a:ext cx="3810000" cy="1270000"/>
          </a:xfrm>
          <a:prstGeom prst="rect">
            <a:avLst/>
          </a:prstGeom>
          <a:noFill/>
          <a:ln/>
        </p:spPr>
        <p:txBody>
          <a:bodyPr wrap="none" lIns="0" tIns="0" rIns="0" bIns="0" rtlCol="0" anchor="ctr"/>
          <a:lstStyle/>
          <a:p>
            <a:pPr algn="l">
              <a:lnSpc>
                <a:spcPct val="100000"/>
              </a:lnSpc>
            </a:pPr>
            <a:r>
              <a:rPr lang="en-US" sz="12000" dirty="0">
                <a:solidFill>
                  <a:srgbClr val="C7A25A"/>
                </a:solidFill>
                <a:latin typeface="Oranienbaum" pitchFamily="34" charset="0"/>
                <a:ea typeface="Oranienbaum" pitchFamily="34" charset="-122"/>
                <a:cs typeface="Oranienbaum" pitchFamily="34" charset="-120"/>
              </a:rPr>
              <a:t>03</a:t>
            </a:r>
            <a:endParaRPr lang="en-US" sz="12000" dirty="0"/>
          </a:p>
        </p:txBody>
      </p:sp>
      <p:sp>
        <p:nvSpPr>
          <p:cNvPr id="3" name="Text 1"/>
          <p:cNvSpPr/>
          <p:nvPr/>
        </p:nvSpPr>
        <p:spPr>
          <a:xfrm>
            <a:off x="1016000" y="3048000"/>
            <a:ext cx="1524000" cy="635000"/>
          </a:xfrm>
          <a:prstGeom prst="rect">
            <a:avLst/>
          </a:prstGeom>
          <a:noFill/>
          <a:ln/>
        </p:spPr>
        <p:txBody>
          <a:bodyPr wrap="none" lIns="0" tIns="0" rIns="0" bIns="0" rtlCol="0" anchor="ctr"/>
          <a:lstStyle/>
          <a:p>
            <a:pPr algn="l">
              <a:lnSpc>
                <a:spcPct val="120000"/>
              </a:lnSpc>
            </a:pPr>
            <a:r>
              <a:rPr lang="en-US" sz="1800" spc="300" kern="0" dirty="0">
                <a:solidFill>
                  <a:srgbClr val="C7A25A"/>
                </a:solidFill>
                <a:latin typeface="Quattrocento Sans" pitchFamily="34" charset="0"/>
                <a:ea typeface="Quattrocento Sans" pitchFamily="34" charset="-122"/>
                <a:cs typeface="Quattrocento Sans" pitchFamily="34" charset="-120"/>
              </a:rPr>
              <a:t>CHAPTER</a:t>
            </a:r>
            <a:endParaRPr lang="en-US" sz="1800" dirty="0"/>
          </a:p>
        </p:txBody>
      </p:sp>
      <p:sp>
        <p:nvSpPr>
          <p:cNvPr id="4" name="Shape 2"/>
          <p:cNvSpPr/>
          <p:nvPr/>
        </p:nvSpPr>
        <p:spPr>
          <a:xfrm>
            <a:off x="1016000" y="3937000"/>
            <a:ext cx="1524000" cy="25400"/>
          </a:xfrm>
          <a:prstGeom prst="rect">
            <a:avLst/>
          </a:prstGeom>
          <a:solidFill>
            <a:srgbClr val="C7A25A"/>
          </a:solidFill>
          <a:ln/>
        </p:spPr>
      </p:sp>
      <p:sp>
        <p:nvSpPr>
          <p:cNvPr id="5" name="Text 3"/>
          <p:cNvSpPr/>
          <p:nvPr/>
        </p:nvSpPr>
        <p:spPr>
          <a:xfrm>
            <a:off x="1016000" y="4191000"/>
            <a:ext cx="13970000" cy="762000"/>
          </a:xfrm>
          <a:prstGeom prst="rect">
            <a:avLst/>
          </a:prstGeom>
          <a:noFill/>
          <a:ln/>
        </p:spPr>
        <p:txBody>
          <a:bodyPr wrap="none" lIns="0" tIns="0" rIns="0" bIns="0" rtlCol="0" anchor="ctr"/>
          <a:lstStyle/>
          <a:p>
            <a:pPr algn="l">
              <a:lnSpc>
                <a:spcPct val="115000"/>
              </a:lnSpc>
            </a:pPr>
            <a:r>
              <a:rPr lang="en-US" sz="4200" dirty="0">
                <a:solidFill>
                  <a:srgbClr val="F6F3EE"/>
                </a:solidFill>
                <a:latin typeface="Oranienbaum" pitchFamily="34" charset="0"/>
                <a:ea typeface="Oranienbaum" pitchFamily="34" charset="-122"/>
                <a:cs typeface="Oranienbaum" pitchFamily="34" charset="-120"/>
              </a:rPr>
              <a:t>Blood Analysis, Dark Field Microscopy, and Scientific Literacy</a:t>
            </a:r>
            <a:endParaRPr lang="en-US" sz="4200" dirty="0"/>
          </a:p>
        </p:txBody>
      </p:sp>
      <p:sp>
        <p:nvSpPr>
          <p:cNvPr id="6" name="Text 4"/>
          <p:cNvSpPr/>
          <p:nvPr/>
        </p:nvSpPr>
        <p:spPr>
          <a:xfrm>
            <a:off x="1016000" y="5080000"/>
            <a:ext cx="8890000" cy="381000"/>
          </a:xfrm>
          <a:prstGeom prst="rect">
            <a:avLst/>
          </a:prstGeom>
          <a:noFill/>
          <a:ln/>
        </p:spPr>
        <p:txBody>
          <a:bodyPr wrap="none" lIns="0" tIns="0" rIns="0" bIns="0" rtlCol="0" anchor="ctr"/>
          <a:lstStyle/>
          <a:p>
            <a:pPr algn="l">
              <a:lnSpc>
                <a:spcPct val="120000"/>
              </a:lnSpc>
            </a:pPr>
            <a:r>
              <a:rPr lang="en-US" sz="1600" dirty="0">
                <a:solidFill>
                  <a:srgbClr val="F6F3EE"/>
                </a:solidFill>
                <a:latin typeface="Quattrocento Sans" pitchFamily="34" charset="0"/>
                <a:ea typeface="Quattrocento Sans" pitchFamily="34" charset="-122"/>
                <a:cs typeface="Quattrocento Sans" pitchFamily="34" charset="-120"/>
              </a:rPr>
              <a:t>Evaluating Claims, Honest Communication, and the Ethics of Evidence</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Dark Field Microscopy: Principles and Limitations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WHAT IS DARK FIELD MICROSCOPY?</a:t>
            </a:r>
            <a:endParaRPr lang="en-US" sz="1200" dirty="0"/>
          </a:p>
        </p:txBody>
      </p:sp>
      <p:sp>
        <p:nvSpPr>
          <p:cNvPr id="9" name="Text 7"/>
          <p:cNvSpPr/>
          <p:nvPr/>
        </p:nvSpPr>
        <p:spPr>
          <a:xfrm>
            <a:off x="762000" y="1968500"/>
            <a:ext cx="7874000" cy="1651000"/>
          </a:xfrm>
          <a:prstGeom prst="rect">
            <a:avLst/>
          </a:prstGeom>
          <a:noFill/>
          <a:ln/>
        </p:spPr>
        <p:txBody>
          <a:bodyPr wrap="square" lIns="0" tIns="0" rIns="0" bIns="0" rtlCol="0" anchor="t"/>
          <a:lstStyle/>
          <a:p>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Dark field microscopy illuminates blood from the side, making cells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visible as bright objects against a dark background</a:t>
            </a:r>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It is observational — not analytical.</a:t>
            </a:r>
            <a:endParaRPr lang="en-US" sz="1500" dirty="0"/>
          </a:p>
          <a:p>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It shows </a:t>
            </a:r>
            <a:pPr algn="l">
              <a:lnSpc>
                <a:spcPct val="150000"/>
              </a:lnSpc>
              <a:spcBef>
                <a:spcPts val="600"/>
              </a:spcBef>
            </a:pPr>
            <a:r>
              <a:rPr lang="en-US" sz="1500" b="1" dirty="0">
                <a:solidFill>
                  <a:srgbClr val="1A1A1A"/>
                </a:solidFill>
                <a:latin typeface="Quattrocento Sans" pitchFamily="34" charset="0"/>
                <a:ea typeface="Quattrocento Sans" pitchFamily="34" charset="-122"/>
                <a:cs typeface="Quattrocento Sans" pitchFamily="34" charset="-120"/>
              </a:rPr>
              <a:t>what blood cells look like</a:t>
            </a:r>
            <a:pPr algn="l">
              <a:lnSpc>
                <a:spcPct val="150000"/>
              </a:lnSpc>
              <a:spcBef>
                <a:spcPts val="600"/>
              </a:spcBef>
            </a:pPr>
            <a:r>
              <a:rPr lang="en-US" sz="1500" dirty="0">
                <a:solidFill>
                  <a:srgbClr val="1A1A1A"/>
                </a:solidFill>
                <a:latin typeface="Quattrocento Sans" pitchFamily="34" charset="0"/>
                <a:ea typeface="Quattrocento Sans" pitchFamily="34" charset="-122"/>
                <a:cs typeface="Quattrocento Sans" pitchFamily="34" charset="-120"/>
              </a:rPr>
              <a:t> in real time. It does NOT tell you what they mean clinically, what caused changes, or what treatment is needed.</a:t>
            </a:r>
            <a:endParaRPr lang="en-US" sz="1500" dirty="0"/>
          </a:p>
        </p:txBody>
      </p:sp>
      <p:sp>
        <p:nvSpPr>
          <p:cNvPr id="10" name="Text 8"/>
          <p:cNvSpPr/>
          <p:nvPr/>
        </p:nvSpPr>
        <p:spPr>
          <a:xfrm>
            <a:off x="762000" y="3873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LIVE BLOOD ANALYSIS (LBA)</a:t>
            </a:r>
            <a:endParaRPr lang="en-US" sz="1200" dirty="0"/>
          </a:p>
        </p:txBody>
      </p:sp>
      <p:sp>
        <p:nvSpPr>
          <p:cNvPr id="11" name="Text 9"/>
          <p:cNvSpPr/>
          <p:nvPr/>
        </p:nvSpPr>
        <p:spPr>
          <a:xfrm>
            <a:off x="762000" y="4254500"/>
            <a:ext cx="7874000" cy="1016000"/>
          </a:xfrm>
          <a:prstGeom prst="rect">
            <a:avLst/>
          </a:prstGeom>
          <a:noFill/>
          <a:ln/>
        </p:spPr>
        <p:txBody>
          <a:bodyPr wrap="square" lIns="0" tIns="0" rIns="0" bIns="0" rtlCol="0" anchor="t"/>
          <a:lstStyle/>
          <a:p>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A drop of capillary blood is placed on a slide and observed in real time. Practitioners may describe cell shape, aggregation patterns, and the presence of particulate matter.</a:t>
            </a:r>
            <a:endParaRPr lang="en-US" sz="1500" dirty="0"/>
          </a:p>
        </p:txBody>
      </p:sp>
      <p:sp>
        <p:nvSpPr>
          <p:cNvPr id="12" name="Text 10"/>
          <p:cNvSpPr/>
          <p:nvPr/>
        </p:nvSpPr>
        <p:spPr>
          <a:xfrm>
            <a:off x="762000" y="5524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DRIED BLOOD ANALYSIS (DBA)</a:t>
            </a:r>
            <a:endParaRPr lang="en-US" sz="1200" dirty="0"/>
          </a:p>
        </p:txBody>
      </p:sp>
      <p:sp>
        <p:nvSpPr>
          <p:cNvPr id="13" name="Text 11"/>
          <p:cNvSpPr/>
          <p:nvPr/>
        </p:nvSpPr>
        <p:spPr>
          <a:xfrm>
            <a:off x="762000" y="5905500"/>
            <a:ext cx="7874000" cy="1016000"/>
          </a:xfrm>
          <a:prstGeom prst="rect">
            <a:avLst/>
          </a:prstGeom>
          <a:noFill/>
          <a:ln/>
        </p:spPr>
        <p:txBody>
          <a:bodyPr wrap="square" lIns="0" tIns="0" rIns="0" bIns="0" rtlCol="0" anchor="t"/>
          <a:lstStyle/>
          <a:p>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Blood is allowed to dry on a slide, creating patterns that some practitioners interpret as indicators of organ function, toxicity, or nutritional status.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No validated interpretation standards exist.</a:t>
            </a:r>
            <a:endParaRPr lang="en-US" sz="1500" dirty="0"/>
          </a:p>
        </p:txBody>
      </p:sp>
      <p:sp>
        <p:nvSpPr>
          <p:cNvPr id="14" name="Shape 12"/>
          <p:cNvSpPr/>
          <p:nvPr/>
        </p:nvSpPr>
        <p:spPr>
          <a:xfrm>
            <a:off x="9144000" y="1587500"/>
            <a:ext cx="6350000" cy="6477000"/>
          </a:xfrm>
          <a:prstGeom prst="rect">
            <a:avLst/>
          </a:prstGeom>
          <a:solidFill>
            <a:srgbClr val="0E3B2E"/>
          </a:solidFill>
          <a:ln/>
        </p:spPr>
      </p:sp>
      <p:sp>
        <p:nvSpPr>
          <p:cNvPr id="15" name="Text 13"/>
          <p:cNvSpPr/>
          <p:nvPr/>
        </p:nvSpPr>
        <p:spPr>
          <a:xfrm>
            <a:off x="9461500" y="1841500"/>
            <a:ext cx="5715000" cy="381000"/>
          </a:xfrm>
          <a:prstGeom prst="rect">
            <a:avLst/>
          </a:prstGeom>
          <a:noFill/>
          <a:ln/>
        </p:spPr>
        <p:txBody>
          <a:bodyPr wrap="none" lIns="0" tIns="0" rIns="0" bIns="0" rtlCol="0" anchor="ctr"/>
          <a:lstStyle/>
          <a:p>
            <a:pPr algn="l">
              <a:lnSpc>
                <a:spcPct val="120000"/>
              </a:lnSpc>
            </a:pPr>
            <a:r>
              <a:rPr lang="en-US" sz="1800" dirty="0">
                <a:solidFill>
                  <a:srgbClr val="C7A25A"/>
                </a:solidFill>
                <a:latin typeface="Oranienbaum" pitchFamily="34" charset="0"/>
                <a:ea typeface="Oranienbaum" pitchFamily="34" charset="-122"/>
                <a:cs typeface="Oranienbaum" pitchFamily="34" charset="-120"/>
              </a:rPr>
              <a:t>What It Shows vs. What It Doesn't</a:t>
            </a:r>
            <a:endParaRPr lang="en-US" sz="1800" dirty="0"/>
          </a:p>
        </p:txBody>
      </p:sp>
      <p:sp>
        <p:nvSpPr>
          <p:cNvPr id="16" name="Shape 14"/>
          <p:cNvSpPr/>
          <p:nvPr/>
        </p:nvSpPr>
        <p:spPr>
          <a:xfrm>
            <a:off x="9461500" y="2311400"/>
            <a:ext cx="762000" cy="25400"/>
          </a:xfrm>
          <a:prstGeom prst="rect">
            <a:avLst/>
          </a:prstGeom>
          <a:solidFill>
            <a:srgbClr val="C7A25A"/>
          </a:solidFill>
          <a:ln/>
        </p:spPr>
      </p:sp>
      <p:sp>
        <p:nvSpPr>
          <p:cNvPr id="17" name="Text 15"/>
          <p:cNvSpPr/>
          <p:nvPr/>
        </p:nvSpPr>
        <p:spPr>
          <a:xfrm>
            <a:off x="9461500" y="2540000"/>
            <a:ext cx="5715000" cy="5207000"/>
          </a:xfrm>
          <a:prstGeom prst="rect">
            <a:avLst/>
          </a:prstGeom>
          <a:noFill/>
          <a:ln/>
        </p:spPr>
        <p:txBody>
          <a:bodyPr wrap="square" lIns="0" tIns="0" rIns="0" bIns="0" rtlCol="0" anchor="t"/>
          <a:lstStyle/>
          <a:p>
            <a:pPr algn="l">
              <a:lnSpc>
                <a:spcPct val="160000"/>
              </a:lnSpc>
            </a:pPr>
            <a:r>
              <a:rPr lang="en-US" sz="1400" b="1" dirty="0">
                <a:solidFill>
                  <a:srgbClr val="F6F3EE"/>
                </a:solidFill>
                <a:latin typeface="Quattrocento Sans" pitchFamily="34" charset="0"/>
                <a:ea typeface="Quattrocento Sans" pitchFamily="34" charset="-122"/>
                <a:cs typeface="Quattrocento Sans" pitchFamily="34" charset="-120"/>
              </a:rPr>
              <a:t>What dark field microscopy CAN show:</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Red blood cell morphology (shape, size)</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Cell aggregation patterns (rouleaux)</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Presence of particulate matter</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General cell activity in real time</a:t>
            </a:r>
            <a:endParaRPr lang="en-US" sz="1400" dirty="0"/>
          </a:p>
          <a:p>
            <a:pPr algn="l">
              <a:lnSpc>
                <a:spcPct val="160000"/>
              </a:lnSpc>
              <a:spcBef>
                <a:spcPts val="1000"/>
              </a:spcBef>
            </a:pPr>
            <a:r>
              <a:rPr lang="en-US" sz="1400" b="1" dirty="0">
                <a:solidFill>
                  <a:srgbClr val="F6F3EE"/>
                </a:solidFill>
                <a:latin typeface="Quattrocento Sans" pitchFamily="34" charset="0"/>
                <a:ea typeface="Quattrocento Sans" pitchFamily="34" charset="-122"/>
                <a:cs typeface="Quattrocento Sans" pitchFamily="34" charset="-120"/>
              </a:rPr>
              <a:t>What it CANNOT show:</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Specific diagnoses</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Organ function status</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Vitamin or mineral levels</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"Toxicity" or "parasites"</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 Clinical significance of observations</a:t>
            </a:r>
            <a:endParaRPr lang="en-US" sz="1400" dirty="0"/>
          </a:p>
          <a:p>
            <a:pPr algn="l">
              <a:lnSpc>
                <a:spcPct val="160000"/>
              </a:lnSpc>
              <a:spcBef>
                <a:spcPts val="1000"/>
              </a:spcBef>
            </a:pPr>
            <a:r>
              <a:rPr lang="en-US" sz="1400" b="1" dirty="0">
                <a:solidFill>
                  <a:srgbClr val="F6F3EE"/>
                </a:solidFill>
                <a:latin typeface="Quattrocento Sans" pitchFamily="34" charset="0"/>
                <a:ea typeface="Quattrocento Sans" pitchFamily="34" charset="-122"/>
                <a:cs typeface="Quattrocento Sans" pitchFamily="34" charset="-120"/>
              </a:rPr>
              <a:t>The key gap:</a:t>
            </a:r>
            <a:endParaRPr lang="en-US" sz="1400" dirty="0"/>
          </a:p>
          <a:p>
            <a:pPr algn="l">
              <a:lnSpc>
                <a:spcPct val="160000"/>
              </a:lnSpc>
            </a:pPr>
            <a:r>
              <a:rPr lang="en-US" sz="1400" dirty="0">
                <a:solidFill>
                  <a:srgbClr val="F6F3EE"/>
                </a:solidFill>
                <a:latin typeface="Quattrocento Sans" pitchFamily="34" charset="0"/>
                <a:ea typeface="Quattrocento Sans" pitchFamily="34" charset="-122"/>
                <a:cs typeface="Quattrocento Sans" pitchFamily="34" charset="-120"/>
              </a:rPr>
              <a:t>Observation is not interpretation. Seeing something under a microscope does not tell you what it means for the patient's health.</a:t>
            </a:r>
            <a:endParaRPr lang="en-US" sz="1400" dirty="0"/>
          </a:p>
        </p:txBody>
      </p:sp>
      <p:sp>
        <p:nvSpPr>
          <p:cNvPr id="18" name="Text 16"/>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12</a:t>
            </a:r>
            <a:endParaRPr lang="en-US" sz="11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016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Blood Analysis Claims: The Scientific Context</a:t>
            </a:r>
            <a:endParaRPr lang="en-US" sz="2800" dirty="0"/>
          </a:p>
        </p:txBody>
      </p:sp>
      <p:sp>
        <p:nvSpPr>
          <p:cNvPr id="7" name="Shape 5"/>
          <p:cNvSpPr/>
          <p:nvPr/>
        </p:nvSpPr>
        <p:spPr>
          <a:xfrm>
            <a:off x="762000" y="1333500"/>
            <a:ext cx="1016000" cy="38100"/>
          </a:xfrm>
          <a:prstGeom prst="rect">
            <a:avLst/>
          </a:prstGeom>
          <a:solidFill>
            <a:srgbClr val="C7A25A"/>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62000" y="1587500"/>
          <a:ext cx="14732000" cy="3937000"/>
        </p:xfrm>
        <a:graphic>
          <a:graphicData uri="http://schemas.openxmlformats.org/drawingml/2006/table">
            <a:tbl>
              <a:tblPr/>
              <a:tblGrid>
                <a:gridCol w="2946400"/>
                <a:gridCol w="4124960"/>
                <a:gridCol w="3977640"/>
                <a:gridCol w="3683000"/>
              </a:tblGrid>
              <a:tr h="472440">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Claim</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What the Science Says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The Problem</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c>
                  <a:txBody>
                    <a:bodyPr/>
                    <a:lstStyle/>
                    <a:p>
                      <a:pPr algn="ctr"/>
                      <a:r>
                        <a:rPr lang="en-US" sz="1400" b="1" dirty="0">
                          <a:solidFill>
                            <a:srgbClr val="F6F3EE"/>
                          </a:solidFill>
                          <a:latin typeface="Quattrocento Sans" pitchFamily="34" charset="0"/>
                          <a:ea typeface="Quattrocento Sans" pitchFamily="34" charset="-122"/>
                          <a:cs typeface="Quattrocento Sans" pitchFamily="34" charset="-120"/>
                        </a:rPr>
                        <a:t>SRA Position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0E3B2E"/>
                    </a:solidFill>
                  </a:tcPr>
                </a:tc>
              </a:tr>
              <a:tr h="8661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Rouleaux formation indicates disease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Rouleaux is a normal phenomenon. Exaggerated stacking can occur in inflammation, but is non-specific.</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Non-diagnostic; many normal conditions cause stacking (dehydration, sample handling)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Educational observation only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8661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Fibrin indicates internal bleeding</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Fibrin is a normal blood protein involved in clotting. Its presence is expected.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Confuses normal physiology with pathology; no validated standards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Do not interpret as diagnostic</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r h="8661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Dark spots = toxic metals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No analytical validity. Dark spots in dried blood are artefacts of drying, not metal deposits.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No mass spectrometry confirmation; no peer-reviewed validation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Reject this claim entirely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6F3EE"/>
                    </a:solidFill>
                  </a:tcPr>
                </a:tc>
              </a:tr>
              <a:tr h="866140">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Blood analysis can diagnose conditions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Not validated for diagnosis. Laboratory blood tests use entirely different methodology.</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FDA, MHRA, TGA have issued warnings against diagnostic claims from LBA</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c>
                  <a:txBody>
                    <a:bodyPr/>
                    <a:lstStyle/>
                    <a:p>
                      <a:pPr algn="ctr"/>
                      <a:r>
                        <a:rPr lang="en-US" sz="1400" dirty="0">
                          <a:solidFill>
                            <a:srgbClr val="1A1A1A"/>
                          </a:solidFill>
                          <a:latin typeface="Quattrocento Sans" pitchFamily="34" charset="0"/>
                          <a:ea typeface="Quattrocento Sans" pitchFamily="34" charset="-122"/>
                          <a:cs typeface="Quattrocento Sans" pitchFamily="34" charset="-120"/>
                        </a:rPr>
                        <a:t>Never use as a diagnostic tool</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0DCD6"/>
                      </a:solidFill>
                      <a:prstDash val="solid"/>
                      <a:round/>
                      <a:headEnd type="none" w="med" len="med"/>
                      <a:tailEnd type="none" w="med" len="med"/>
                    </a:lnL>
                    <a:lnR w="12700" cap="flat" cmpd="sng" algn="ctr">
                      <a:solidFill>
                        <a:srgbClr val="E0DCD6"/>
                      </a:solidFill>
                      <a:prstDash val="solid"/>
                      <a:round/>
                      <a:headEnd type="none" w="med" len="med"/>
                      <a:tailEnd type="none" w="med" len="med"/>
                    </a:lnR>
                    <a:lnT w="12700" cap="flat" cmpd="sng" algn="ctr">
                      <a:solidFill>
                        <a:srgbClr val="E0DCD6"/>
                      </a:solidFill>
                      <a:prstDash val="solid"/>
                      <a:round/>
                      <a:headEnd type="none" w="med" len="med"/>
                      <a:tailEnd type="none" w="med" len="med"/>
                    </a:lnT>
                    <a:lnB w="12700" cap="flat" cmpd="sng" algn="ctr">
                      <a:solidFill>
                        <a:srgbClr val="E0DCD6"/>
                      </a:solidFill>
                      <a:prstDash val="solid"/>
                      <a:round/>
                      <a:headEnd type="none" w="med" len="med"/>
                      <a:tailEnd type="none" w="med" len="med"/>
                    </a:lnB>
                    <a:solidFill>
                      <a:srgbClr val="F0EDE7"/>
                    </a:solidFill>
                  </a:tcPr>
                </a:tc>
              </a:tr>
            </a:tbl>
          </a:graphicData>
        </a:graphic>
      </p:graphicFrame>
      <p:sp>
        <p:nvSpPr>
          <p:cNvPr id="9" name="Text 6"/>
          <p:cNvSpPr/>
          <p:nvPr/>
        </p:nvSpPr>
        <p:spPr>
          <a:xfrm>
            <a:off x="762000" y="58420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8B1A1A"/>
                </a:solidFill>
                <a:latin typeface="Quattrocento Sans" pitchFamily="34" charset="0"/>
                <a:ea typeface="Quattrocento Sans" pitchFamily="34" charset="-122"/>
                <a:cs typeface="Quattrocento Sans" pitchFamily="34" charset="-120"/>
              </a:rPr>
              <a:t>REGULATORY WARNINGS</a:t>
            </a:r>
            <a:endParaRPr lang="en-US" sz="1200" dirty="0"/>
          </a:p>
        </p:txBody>
      </p:sp>
      <p:sp>
        <p:nvSpPr>
          <p:cNvPr id="10" name="Shape 7"/>
          <p:cNvSpPr/>
          <p:nvPr/>
        </p:nvSpPr>
        <p:spPr>
          <a:xfrm>
            <a:off x="762000" y="6248400"/>
            <a:ext cx="14732000" cy="1016000"/>
          </a:xfrm>
          <a:prstGeom prst="rect">
            <a:avLst/>
          </a:prstGeom>
          <a:solidFill>
            <a:srgbClr val="F0EDE7"/>
          </a:solidFill>
          <a:ln w="12700">
            <a:solidFill>
              <a:srgbClr val="E0DCD6"/>
            </a:solidFill>
            <a:prstDash val="solid"/>
          </a:ln>
        </p:spPr>
      </p:sp>
      <p:sp>
        <p:nvSpPr>
          <p:cNvPr id="11" name="Shape 8"/>
          <p:cNvSpPr/>
          <p:nvPr/>
        </p:nvSpPr>
        <p:spPr>
          <a:xfrm>
            <a:off x="762000" y="6248400"/>
            <a:ext cx="50800" cy="1016000"/>
          </a:xfrm>
          <a:prstGeom prst="rect">
            <a:avLst/>
          </a:prstGeom>
          <a:solidFill>
            <a:srgbClr val="8B1A1A"/>
          </a:solidFill>
          <a:ln/>
        </p:spPr>
      </p:sp>
      <p:sp>
        <p:nvSpPr>
          <p:cNvPr id="12" name="Text 9"/>
          <p:cNvSpPr/>
          <p:nvPr/>
        </p:nvSpPr>
        <p:spPr>
          <a:xfrm>
            <a:off x="1016000" y="6350000"/>
            <a:ext cx="14224000" cy="812800"/>
          </a:xfrm>
          <a:prstGeom prst="rect">
            <a:avLst/>
          </a:prstGeom>
          <a:noFill/>
          <a:ln/>
        </p:spPr>
        <p:txBody>
          <a:bodyPr wrap="square" lIns="0" tIns="0" rIns="0" bIns="0" rtlCol="0" anchor="t"/>
          <a:lstStyle/>
          <a:p>
            <a:pPr algn="l">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FDA (USA):</a:t>
            </a:r>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"Live blood analysis has not been validated as a diagnostic tool." | </a:t>
            </a:r>
            <a:pPr algn="l">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MHRA (UK):</a:t>
            </a:r>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"Practitioners making diagnostic claims from live blood analysis may be prosecuted." | </a:t>
            </a:r>
            <a:pPr algn="l">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TGA (Australia):</a:t>
            </a:r>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"Live blood analysis devices are not included in the ARTG for diagnostic purposes."</a:t>
            </a:r>
            <a:endParaRPr lang="en-US" sz="1400" dirty="0"/>
          </a:p>
        </p:txBody>
      </p:sp>
      <p:sp>
        <p:nvSpPr>
          <p:cNvPr id="13" name="Text 10"/>
          <p:cNvSpPr/>
          <p:nvPr/>
        </p:nvSpPr>
        <p:spPr>
          <a:xfrm>
            <a:off x="762000" y="7556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THE KEY PRINCIPLE</a:t>
            </a:r>
            <a:endParaRPr lang="en-US" sz="1200" dirty="0"/>
          </a:p>
        </p:txBody>
      </p:sp>
      <p:sp>
        <p:nvSpPr>
          <p:cNvPr id="14" name="Shape 11"/>
          <p:cNvSpPr/>
          <p:nvPr/>
        </p:nvSpPr>
        <p:spPr>
          <a:xfrm>
            <a:off x="762000" y="7937500"/>
            <a:ext cx="14732000" cy="635000"/>
          </a:xfrm>
          <a:prstGeom prst="rect">
            <a:avLst/>
          </a:prstGeom>
          <a:solidFill>
            <a:srgbClr val="0E3B2E"/>
          </a:solidFill>
          <a:ln/>
        </p:spPr>
      </p:sp>
      <p:sp>
        <p:nvSpPr>
          <p:cNvPr id="15" name="Text 12"/>
          <p:cNvSpPr/>
          <p:nvPr/>
        </p:nvSpPr>
        <p:spPr>
          <a:xfrm>
            <a:off x="1016000" y="8039100"/>
            <a:ext cx="14224000" cy="431800"/>
          </a:xfrm>
          <a:prstGeom prst="rect">
            <a:avLst/>
          </a:prstGeom>
          <a:noFill/>
          <a:ln/>
        </p:spPr>
        <p:txBody>
          <a:bodyPr wrap="square" lIns="0" tIns="0" rIns="0" bIns="0" rtlCol="0" anchor="ctr"/>
          <a:lstStyle/>
          <a:p>
            <a:pPr algn="l">
              <a:lnSpc>
                <a:spcPct val="140000"/>
              </a:lnSpc>
            </a:pPr>
            <a:r>
              <a:rPr lang="en-US" sz="1400" b="1" dirty="0">
                <a:solidFill>
                  <a:srgbClr val="F6F3EE"/>
                </a:solidFill>
                <a:latin typeface="Quattrocento Sans" pitchFamily="34" charset="0"/>
                <a:ea typeface="Quattrocento Sans" pitchFamily="34" charset="-122"/>
                <a:cs typeface="Quattrocento Sans" pitchFamily="34" charset="-120"/>
              </a:rPr>
              <a:t>Observation is not diagnosis.</a:t>
            </a:r>
            <a:pPr algn="l">
              <a:lnSpc>
                <a:spcPct val="140000"/>
              </a:lnSpc>
            </a:pPr>
            <a:r>
              <a:rPr lang="en-US" sz="1400" dirty="0">
                <a:solidFill>
                  <a:srgbClr val="F6F3EE"/>
                </a:solidFill>
                <a:latin typeface="Quattrocento Sans" pitchFamily="34" charset="0"/>
                <a:ea typeface="Quattrocento Sans" pitchFamily="34" charset="-122"/>
                <a:cs typeface="Quattrocento Sans" pitchFamily="34" charset="-120"/>
              </a:rPr>
              <a:t> Dark field microscopy is an educational tool for showing patients their blood — nothing more. Any diagnostic claim is unscientific and potentially illegal.</a:t>
            </a:r>
            <a:endParaRPr lang="en-US" sz="1400" dirty="0"/>
          </a:p>
        </p:txBody>
      </p:sp>
      <p:sp>
        <p:nvSpPr>
          <p:cNvPr id="16" name="Text 13"/>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13</a:t>
            </a:r>
            <a:endParaRPr lang="en-US" sz="11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1143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Scientific Literacy: The Ethics of Honest Communication</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Text 6"/>
          <p:cNvSpPr/>
          <p:nvPr/>
        </p:nvSpPr>
        <p:spPr>
          <a:xfrm>
            <a:off x="762000" y="1587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WHAT YOU CAN SAY</a:t>
            </a:r>
            <a:endParaRPr lang="en-US" sz="1200" dirty="0"/>
          </a:p>
        </p:txBody>
      </p:sp>
      <p:sp>
        <p:nvSpPr>
          <p:cNvPr id="9" name="Shape 7"/>
          <p:cNvSpPr/>
          <p:nvPr/>
        </p:nvSpPr>
        <p:spPr>
          <a:xfrm>
            <a:off x="762000" y="1993900"/>
            <a:ext cx="7175500" cy="1524000"/>
          </a:xfrm>
          <a:prstGeom prst="rect">
            <a:avLst/>
          </a:prstGeom>
          <a:solidFill>
            <a:srgbClr val="F0EDE7"/>
          </a:solidFill>
          <a:ln w="12700">
            <a:solidFill>
              <a:srgbClr val="E0DCD6"/>
            </a:solidFill>
            <a:prstDash val="solid"/>
          </a:ln>
        </p:spPr>
      </p:sp>
      <p:sp>
        <p:nvSpPr>
          <p:cNvPr id="10" name="Shape 8"/>
          <p:cNvSpPr/>
          <p:nvPr/>
        </p:nvSpPr>
        <p:spPr>
          <a:xfrm>
            <a:off x="762000" y="1993900"/>
            <a:ext cx="50800" cy="1524000"/>
          </a:xfrm>
          <a:prstGeom prst="rect">
            <a:avLst/>
          </a:prstGeom>
          <a:solidFill>
            <a:srgbClr val="0E3B2E"/>
          </a:solidFill>
          <a:ln/>
        </p:spPr>
      </p:sp>
      <p:sp>
        <p:nvSpPr>
          <p:cNvPr id="11" name="Text 9"/>
          <p:cNvSpPr/>
          <p:nvPr/>
        </p:nvSpPr>
        <p:spPr>
          <a:xfrm>
            <a:off x="990600" y="2095500"/>
            <a:ext cx="6731000" cy="1333500"/>
          </a:xfrm>
          <a:prstGeom prst="rect">
            <a:avLst/>
          </a:prstGeom>
          <a:noFill/>
          <a:ln/>
        </p:spPr>
        <p:txBody>
          <a:bodyPr wrap="square" lIns="0" tIns="0" rIns="0" bIns="0" rtlCol="0" anchor="t"/>
          <a:lstStyle/>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"I observe that your red blood cells are aggregating."</a:t>
            </a:r>
            <a:endParaRPr lang="en-US" sz="1400" dirty="0"/>
          </a:p>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"This is what your blood looks like under magnification."</a:t>
            </a:r>
            <a:endParaRPr lang="en-US" sz="1400" dirty="0"/>
          </a:p>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"Some practitioners find this interesting as a general wellness indicator."</a:t>
            </a:r>
            <a:endParaRPr lang="en-US" sz="1400" dirty="0"/>
          </a:p>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"This is for educational purposes — not a medical diagnosis."</a:t>
            </a:r>
            <a:endParaRPr lang="en-US" sz="1400" dirty="0"/>
          </a:p>
        </p:txBody>
      </p:sp>
      <p:sp>
        <p:nvSpPr>
          <p:cNvPr id="12" name="Text 10"/>
          <p:cNvSpPr/>
          <p:nvPr/>
        </p:nvSpPr>
        <p:spPr>
          <a:xfrm>
            <a:off x="8318500" y="15875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8B1A1A"/>
                </a:solidFill>
                <a:latin typeface="Quattrocento Sans" pitchFamily="34" charset="0"/>
                <a:ea typeface="Quattrocento Sans" pitchFamily="34" charset="-122"/>
                <a:cs typeface="Quattrocento Sans" pitchFamily="34" charset="-120"/>
              </a:rPr>
              <a:t>WHAT YOU CANNOT SAY</a:t>
            </a:r>
            <a:endParaRPr lang="en-US" sz="1200" dirty="0"/>
          </a:p>
        </p:txBody>
      </p:sp>
      <p:sp>
        <p:nvSpPr>
          <p:cNvPr id="13" name="Shape 11"/>
          <p:cNvSpPr/>
          <p:nvPr/>
        </p:nvSpPr>
        <p:spPr>
          <a:xfrm>
            <a:off x="8318500" y="1993900"/>
            <a:ext cx="7175500" cy="1524000"/>
          </a:xfrm>
          <a:prstGeom prst="rect">
            <a:avLst/>
          </a:prstGeom>
          <a:solidFill>
            <a:srgbClr val="F0EDE7"/>
          </a:solidFill>
          <a:ln w="12700">
            <a:solidFill>
              <a:srgbClr val="E0DCD6"/>
            </a:solidFill>
            <a:prstDash val="solid"/>
          </a:ln>
        </p:spPr>
      </p:sp>
      <p:sp>
        <p:nvSpPr>
          <p:cNvPr id="14" name="Shape 12"/>
          <p:cNvSpPr/>
          <p:nvPr/>
        </p:nvSpPr>
        <p:spPr>
          <a:xfrm>
            <a:off x="8318500" y="1993900"/>
            <a:ext cx="50800" cy="1524000"/>
          </a:xfrm>
          <a:prstGeom prst="rect">
            <a:avLst/>
          </a:prstGeom>
          <a:solidFill>
            <a:srgbClr val="8B1A1A"/>
          </a:solidFill>
          <a:ln/>
        </p:spPr>
      </p:sp>
      <p:sp>
        <p:nvSpPr>
          <p:cNvPr id="15" name="Text 13"/>
          <p:cNvSpPr/>
          <p:nvPr/>
        </p:nvSpPr>
        <p:spPr>
          <a:xfrm>
            <a:off x="8547100" y="2095500"/>
            <a:ext cx="6731000" cy="1333500"/>
          </a:xfrm>
          <a:prstGeom prst="rect">
            <a:avLst/>
          </a:prstGeom>
          <a:noFill/>
          <a:ln/>
        </p:spPr>
        <p:txBody>
          <a:bodyPr wrap="square" lIns="0" tIns="0" rIns="0" bIns="0" rtlCol="0" anchor="t"/>
          <a:lstStyle/>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"Your blood shows you have parasites."</a:t>
            </a:r>
            <a:endParaRPr lang="en-US" sz="1400" dirty="0"/>
          </a:p>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"These dark spots mean you have toxic metals."</a:t>
            </a:r>
            <a:endParaRPr lang="en-US" sz="1400" dirty="0"/>
          </a:p>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"Your liver is not functioning properly."</a:t>
            </a:r>
            <a:endParaRPr lang="en-US" sz="1400" dirty="0"/>
          </a:p>
          <a:p>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"You need supplements based on this analysis."</a:t>
            </a:r>
            <a:endParaRPr lang="en-US" sz="1400" dirty="0"/>
          </a:p>
        </p:txBody>
      </p:sp>
      <p:sp>
        <p:nvSpPr>
          <p:cNvPr id="16" name="Text 14"/>
          <p:cNvSpPr/>
          <p:nvPr/>
        </p:nvSpPr>
        <p:spPr>
          <a:xfrm>
            <a:off x="762000" y="3835400"/>
            <a:ext cx="7620000" cy="304800"/>
          </a:xfrm>
          <a:prstGeom prst="rect">
            <a:avLst/>
          </a:prstGeom>
          <a:noFill/>
          <a:ln/>
        </p:spPr>
        <p:txBody>
          <a:bodyPr wrap="none" lIns="0" tIns="0" rIns="0" bIns="0" rtlCol="0" anchor="ctr"/>
          <a:lstStyle/>
          <a:p>
            <a:pPr algn="l">
              <a:lnSpc>
                <a:spcPct val="120000"/>
              </a:lnSpc>
            </a:pPr>
            <a:r>
              <a:rPr lang="en-US" sz="1200" spc="200" kern="0" dirty="0">
                <a:solidFill>
                  <a:srgbClr val="0E3B2E"/>
                </a:solidFill>
                <a:latin typeface="Quattrocento Sans" pitchFamily="34" charset="0"/>
                <a:ea typeface="Quattrocento Sans" pitchFamily="34" charset="-122"/>
                <a:cs typeface="Quattrocento Sans" pitchFamily="34" charset="-120"/>
              </a:rPr>
              <a:t>EVIDENCE &amp; SUNNAH MATRIX: BLOOD ANALYSIS</a:t>
            </a:r>
            <a:endParaRPr lang="en-US" sz="1200" dirty="0"/>
          </a:p>
        </p:txBody>
      </p:sp>
      <p:sp>
        <p:nvSpPr>
          <p:cNvPr id="17" name="Shape 15"/>
          <p:cNvSpPr/>
          <p:nvPr/>
        </p:nvSpPr>
        <p:spPr>
          <a:xfrm>
            <a:off x="762000" y="4241800"/>
            <a:ext cx="14732000" cy="1016000"/>
          </a:xfrm>
          <a:prstGeom prst="rect">
            <a:avLst/>
          </a:prstGeom>
          <a:solidFill>
            <a:srgbClr val="F0EDE7"/>
          </a:solidFill>
          <a:ln w="12700">
            <a:solidFill>
              <a:srgbClr val="E0DCD6"/>
            </a:solidFill>
            <a:prstDash val="solid"/>
          </a:ln>
        </p:spPr>
      </p:sp>
      <p:sp>
        <p:nvSpPr>
          <p:cNvPr id="18" name="Shape 16"/>
          <p:cNvSpPr/>
          <p:nvPr/>
        </p:nvSpPr>
        <p:spPr>
          <a:xfrm>
            <a:off x="762000" y="4241800"/>
            <a:ext cx="50800" cy="1016000"/>
          </a:xfrm>
          <a:prstGeom prst="rect">
            <a:avLst/>
          </a:prstGeom>
          <a:solidFill>
            <a:srgbClr val="C7A25A"/>
          </a:solidFill>
          <a:ln/>
        </p:spPr>
      </p:sp>
      <p:sp>
        <p:nvSpPr>
          <p:cNvPr id="19" name="Text 17"/>
          <p:cNvSpPr/>
          <p:nvPr/>
        </p:nvSpPr>
        <p:spPr>
          <a:xfrm>
            <a:off x="1016000" y="4343400"/>
            <a:ext cx="14224000" cy="812800"/>
          </a:xfrm>
          <a:prstGeom prst="rect">
            <a:avLst/>
          </a:prstGeom>
          <a:noFill/>
          <a:ln/>
        </p:spPr>
        <p:txBody>
          <a:bodyPr wrap="square" lIns="0" tIns="0" rIns="0" bIns="0" rtlCol="0" anchor="t"/>
          <a:lstStyle/>
          <a:p>
            <a:pPr algn="l">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Classification: Exploratory</a:t>
            </a:r>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 Limited research evidence + no specific Hadith basis. Blood analysis as an educational observation falls here. It is not harmful when used correctly, but diagnostic claims move it into </a:t>
            </a:r>
            <a:pPr algn="l">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Anecdotal/Dangerous</a:t>
            </a:r>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territory.</a:t>
            </a:r>
            <a:endParaRPr lang="en-US" sz="1400" dirty="0"/>
          </a:p>
        </p:txBody>
      </p:sp>
      <p:sp>
        <p:nvSpPr>
          <p:cNvPr id="20" name="Text 18"/>
          <p:cNvSpPr/>
          <p:nvPr/>
        </p:nvSpPr>
        <p:spPr>
          <a:xfrm>
            <a:off x="762000" y="5549900"/>
            <a:ext cx="6350000" cy="304800"/>
          </a:xfrm>
          <a:prstGeom prst="rect">
            <a:avLst/>
          </a:prstGeom>
          <a:noFill/>
          <a:ln/>
        </p:spPr>
        <p:txBody>
          <a:bodyPr wrap="none" lIns="0" tIns="0" rIns="0" bIns="0" rtlCol="0" anchor="ctr"/>
          <a:lstStyle/>
          <a:p>
            <a:pPr algn="l">
              <a:lnSpc>
                <a:spcPct val="120000"/>
              </a:lnSpc>
            </a:pPr>
            <a:r>
              <a:rPr lang="en-US" sz="1200" spc="200" kern="0" dirty="0">
                <a:solidFill>
                  <a:srgbClr val="C7A25A"/>
                </a:solidFill>
                <a:latin typeface="Quattrocento Sans" pitchFamily="34" charset="0"/>
                <a:ea typeface="Quattrocento Sans" pitchFamily="34" charset="-122"/>
                <a:cs typeface="Quattrocento Sans" pitchFamily="34" charset="-120"/>
              </a:rPr>
              <a:t>SCIENTIFIC LITERACY AS ISLAMIC DUTY</a:t>
            </a:r>
            <a:endParaRPr lang="en-US" sz="1200" dirty="0"/>
          </a:p>
        </p:txBody>
      </p:sp>
      <p:sp>
        <p:nvSpPr>
          <p:cNvPr id="21" name="Text 19"/>
          <p:cNvSpPr/>
          <p:nvPr/>
        </p:nvSpPr>
        <p:spPr>
          <a:xfrm>
            <a:off x="762000" y="5956300"/>
            <a:ext cx="14732000" cy="381000"/>
          </a:xfrm>
          <a:prstGeom prst="rect">
            <a:avLst/>
          </a:prstGeom>
          <a:noFill/>
          <a:ln/>
        </p:spPr>
        <p:txBody>
          <a:bodyPr wrap="square" lIns="0" tIns="0" rIns="0" bIns="0" rtlCol="0" anchor="ctr"/>
          <a:lstStyle/>
          <a:p>
            <a:pPr algn="l">
              <a:lnSpc>
                <a:spcPct val="130000"/>
              </a:lnSpc>
            </a:pPr>
            <a:r>
              <a:rPr lang="en-US" sz="1600" i="1" dirty="0">
                <a:solidFill>
                  <a:srgbClr val="C7A25A"/>
                </a:solidFill>
                <a:latin typeface="Oranienbaum" pitchFamily="34" charset="0"/>
                <a:ea typeface="Oranienbaum" pitchFamily="34" charset="-122"/>
                <a:cs typeface="Oranienbaum" pitchFamily="34" charset="-120"/>
              </a:rPr>
              <a:t>"O you who have believed, if there comes to you a disobedient one with information, investigate, lest you harm a people out of ignorance." — Qur'an 49:6</a:t>
            </a:r>
            <a:endParaRPr lang="en-US" sz="1600" dirty="0"/>
          </a:p>
        </p:txBody>
      </p:sp>
      <p:sp>
        <p:nvSpPr>
          <p:cNvPr id="22" name="Text 20"/>
          <p:cNvSpPr/>
          <p:nvPr/>
        </p:nvSpPr>
        <p:spPr>
          <a:xfrm>
            <a:off x="762000" y="6438900"/>
            <a:ext cx="14732000" cy="889000"/>
          </a:xfrm>
          <a:prstGeom prst="rect">
            <a:avLst/>
          </a:prstGeom>
          <a:noFill/>
          <a:ln/>
        </p:spPr>
        <p:txBody>
          <a:bodyPr wrap="square" lIns="0" tIns="0" rIns="0" bIns="0" rtlCol="0" anchor="t"/>
          <a:lstStyle/>
          <a:p>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Verifying information before acting on it is a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Qur'anic command</a:t>
            </a:r>
            <a:pPr algn="l">
              <a:lnSpc>
                <a:spcPct val="150000"/>
              </a:lnSpc>
            </a:pPr>
            <a:r>
              <a:rPr lang="en-US" sz="1500" dirty="0">
                <a:solidFill>
                  <a:srgbClr val="1A1A1A"/>
                </a:solidFill>
                <a:latin typeface="Quattrocento Sans" pitchFamily="34" charset="0"/>
                <a:ea typeface="Quattrocento Sans" pitchFamily="34" charset="-122"/>
                <a:cs typeface="Quattrocento Sans" pitchFamily="34" charset="-120"/>
              </a:rPr>
              <a:t>. For the SRA practitioner, this means: verify research claims before citing them, verify blood analysis claims before repeating them, and verify your own understanding before teaching others. </a:t>
            </a:r>
            <a:pPr algn="l">
              <a:lnSpc>
                <a:spcPct val="150000"/>
              </a:lnSpc>
            </a:pPr>
            <a:r>
              <a:rPr lang="en-US" sz="1500" b="1" dirty="0">
                <a:solidFill>
                  <a:srgbClr val="1A1A1A"/>
                </a:solidFill>
                <a:latin typeface="Quattrocento Sans" pitchFamily="34" charset="0"/>
                <a:ea typeface="Quattrocento Sans" pitchFamily="34" charset="-122"/>
                <a:cs typeface="Quattrocento Sans" pitchFamily="34" charset="-120"/>
              </a:rPr>
              <a:t>Scientific literacy is not optional — it is an act of obedience.</a:t>
            </a:r>
            <a:endParaRPr lang="en-US" sz="1500" dirty="0"/>
          </a:p>
        </p:txBody>
      </p:sp>
      <p:sp>
        <p:nvSpPr>
          <p:cNvPr id="23" name="Shape 21"/>
          <p:cNvSpPr/>
          <p:nvPr/>
        </p:nvSpPr>
        <p:spPr>
          <a:xfrm>
            <a:off x="762000" y="7620000"/>
            <a:ext cx="14732000" cy="762000"/>
          </a:xfrm>
          <a:prstGeom prst="rect">
            <a:avLst/>
          </a:prstGeom>
          <a:solidFill>
            <a:srgbClr val="0E3B2E"/>
          </a:solidFill>
          <a:ln/>
        </p:spPr>
      </p:sp>
      <p:sp>
        <p:nvSpPr>
          <p:cNvPr id="24" name="Text 22"/>
          <p:cNvSpPr/>
          <p:nvPr/>
        </p:nvSpPr>
        <p:spPr>
          <a:xfrm>
            <a:off x="1016000" y="7721600"/>
            <a:ext cx="14224000" cy="558800"/>
          </a:xfrm>
          <a:prstGeom prst="rect">
            <a:avLst/>
          </a:prstGeom>
          <a:noFill/>
          <a:ln/>
        </p:spPr>
        <p:txBody>
          <a:bodyPr wrap="square" lIns="0" tIns="0" rIns="0" bIns="0" rtlCol="0" anchor="ctr"/>
          <a:lstStyle/>
          <a:p>
            <a:pPr algn="l">
              <a:lnSpc>
                <a:spcPct val="140000"/>
              </a:lnSpc>
            </a:pPr>
            <a:r>
              <a:rPr lang="en-US" sz="1400" b="1" dirty="0">
                <a:solidFill>
                  <a:srgbClr val="F6F3EE"/>
                </a:solidFill>
                <a:latin typeface="Quattrocento Sans" pitchFamily="34" charset="0"/>
                <a:ea typeface="Quattrocento Sans" pitchFamily="34" charset="-122"/>
                <a:cs typeface="Quattrocento Sans" pitchFamily="34" charset="-120"/>
              </a:rPr>
              <a:t>SRA Clinical Pearl:</a:t>
            </a:r>
            <a:pPr algn="l">
              <a:lnSpc>
                <a:spcPct val="140000"/>
              </a:lnSpc>
            </a:pPr>
            <a:r>
              <a:rPr lang="en-US" sz="1400" dirty="0">
                <a:solidFill>
                  <a:srgbClr val="F6F3EE"/>
                </a:solidFill>
                <a:latin typeface="Quattrocento Sans" pitchFamily="34" charset="0"/>
                <a:ea typeface="Quattrocento Sans" pitchFamily="34" charset="-122"/>
                <a:cs typeface="Quattrocento Sans" pitchFamily="34" charset="-120"/>
              </a:rPr>
              <a:t> The most ethical practitioner is not the one who knows the most — it is the one who knows the limits of their knowledge and communicates those limits honestly.</a:t>
            </a:r>
            <a:endParaRPr lang="en-US" sz="1400" dirty="0"/>
          </a:p>
        </p:txBody>
      </p:sp>
      <p:sp>
        <p:nvSpPr>
          <p:cNvPr id="25" name="Text 23"/>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14</a:t>
            </a:r>
            <a:endParaRPr lang="en-US" sz="11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E"/>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0E3B2E"/>
          </a:solidFill>
          <a:ln/>
        </p:spPr>
      </p:sp>
      <p:sp>
        <p:nvSpPr>
          <p:cNvPr id="3" name="Text 1"/>
          <p:cNvSpPr/>
          <p:nvPr/>
        </p:nvSpPr>
        <p:spPr>
          <a:xfrm>
            <a:off x="254000" y="0"/>
            <a:ext cx="2540000" cy="508000"/>
          </a:xfrm>
          <a:prstGeom prst="rect">
            <a:avLst/>
          </a:prstGeom>
          <a:noFill/>
          <a:ln/>
        </p:spPr>
        <p:txBody>
          <a:bodyPr wrap="none" lIns="0" tIns="0" rIns="0" bIns="0" rtlCol="0" anchor="ctr"/>
          <a:lstStyle/>
          <a:p>
            <a:pPr algn="l">
              <a:lnSpc>
                <a:spcPct val="120000"/>
              </a:lnSpc>
            </a:pPr>
            <a:r>
              <a:rPr lang="en-US" sz="1300" b="1" dirty="0">
                <a:solidFill>
                  <a:srgbClr val="F6F3EE"/>
                </a:solidFill>
                <a:latin typeface="Quattrocento Sans" pitchFamily="34" charset="0"/>
                <a:ea typeface="Quattrocento Sans" pitchFamily="34" charset="-122"/>
                <a:cs typeface="Quattrocento Sans" pitchFamily="34" charset="-120"/>
              </a:rPr>
              <a:t>M4</a:t>
            </a:r>
            <a:pPr algn="l">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  |  SRA-001</a:t>
            </a:r>
            <a:endParaRPr lang="en-US" sz="1300" dirty="0"/>
          </a:p>
        </p:txBody>
      </p:sp>
      <p:sp>
        <p:nvSpPr>
          <p:cNvPr id="4" name="Text 2"/>
          <p:cNvSpPr/>
          <p:nvPr/>
        </p:nvSpPr>
        <p:spPr>
          <a:xfrm>
            <a:off x="3810000" y="0"/>
            <a:ext cx="8636000" cy="508000"/>
          </a:xfrm>
          <a:prstGeom prst="rect">
            <a:avLst/>
          </a:prstGeom>
          <a:noFill/>
          <a:ln/>
        </p:spPr>
        <p:txBody>
          <a:bodyPr wrap="none" lIns="0" tIns="0" rIns="0" bIns="0" rtlCol="0" anchor="ctr"/>
          <a:lstStyle/>
          <a:p>
            <a:pPr algn="ctr">
              <a:lnSpc>
                <a:spcPct val="120000"/>
              </a:lnSpc>
            </a:pPr>
            <a:r>
              <a:rPr lang="en-US" sz="1300" dirty="0">
                <a:solidFill>
                  <a:srgbClr val="F6F3EE"/>
                </a:solidFill>
                <a:latin typeface="Quattrocento Sans" pitchFamily="34" charset="0"/>
                <a:ea typeface="Quattrocento Sans" pitchFamily="34" charset="-122"/>
                <a:cs typeface="Quattrocento Sans" pitchFamily="34" charset="-120"/>
              </a:rPr>
              <a:t>Evidence-Based Medicine &amp; Research</a:t>
            </a:r>
            <a:endParaRPr lang="en-US" sz="1300" dirty="0"/>
          </a:p>
        </p:txBody>
      </p:sp>
      <p:sp>
        <p:nvSpPr>
          <p:cNvPr id="5" name="Text 3"/>
          <p:cNvSpPr/>
          <p:nvPr/>
        </p:nvSpPr>
        <p:spPr>
          <a:xfrm>
            <a:off x="13716000" y="0"/>
            <a:ext cx="2286000" cy="508000"/>
          </a:xfrm>
          <a:prstGeom prst="rect">
            <a:avLst/>
          </a:prstGeom>
          <a:noFill/>
          <a:ln/>
        </p:spPr>
        <p:txBody>
          <a:bodyPr wrap="none" lIns="0" tIns="0" rIns="0" bIns="0" rtlCol="0" anchor="ctr"/>
          <a:lstStyle/>
          <a:p>
            <a:pPr algn="r">
              <a:lnSpc>
                <a:spcPct val="120000"/>
              </a:lnSpc>
            </a:pPr>
            <a:r>
              <a:rPr lang="en-US" sz="1100" spc="200" kern="0" dirty="0">
                <a:solidFill>
                  <a:srgbClr val="F6F3EE"/>
                </a:solidFill>
                <a:latin typeface="Quattrocento Sans" pitchFamily="34" charset="0"/>
                <a:ea typeface="Quattrocento Sans" pitchFamily="34" charset="-122"/>
                <a:cs typeface="Quattrocento Sans" pitchFamily="34" charset="-120"/>
              </a:rPr>
              <a:t>SUNNAH REMEDIES</a:t>
            </a:r>
            <a:endParaRPr lang="en-US" sz="1100" dirty="0"/>
          </a:p>
        </p:txBody>
      </p:sp>
      <p:sp>
        <p:nvSpPr>
          <p:cNvPr id="6" name="Text 4"/>
          <p:cNvSpPr/>
          <p:nvPr/>
        </p:nvSpPr>
        <p:spPr>
          <a:xfrm>
            <a:off x="762000" y="762000"/>
            <a:ext cx="8890000" cy="508000"/>
          </a:xfrm>
          <a:prstGeom prst="rect">
            <a:avLst/>
          </a:prstGeom>
          <a:noFill/>
          <a:ln/>
        </p:spPr>
        <p:txBody>
          <a:bodyPr wrap="none" lIns="0" tIns="0" rIns="0" bIns="0" rtlCol="0" anchor="ctr"/>
          <a:lstStyle/>
          <a:p>
            <a:pPr algn="l">
              <a:lnSpc>
                <a:spcPct val="120000"/>
              </a:lnSpc>
            </a:pPr>
            <a:r>
              <a:rPr lang="en-US" sz="2800" dirty="0">
                <a:solidFill>
                  <a:srgbClr val="0E3B2E"/>
                </a:solidFill>
                <a:latin typeface="Oranienbaum" pitchFamily="34" charset="0"/>
                <a:ea typeface="Oranienbaum" pitchFamily="34" charset="-122"/>
                <a:cs typeface="Oranienbaum" pitchFamily="34" charset="-120"/>
              </a:rPr>
              <a:t>Module 4: Summary and Key Takeaways</a:t>
            </a:r>
            <a:endParaRPr lang="en-US" sz="2800" dirty="0"/>
          </a:p>
        </p:txBody>
      </p:sp>
      <p:sp>
        <p:nvSpPr>
          <p:cNvPr id="7" name="Shape 5"/>
          <p:cNvSpPr/>
          <p:nvPr/>
        </p:nvSpPr>
        <p:spPr>
          <a:xfrm>
            <a:off x="762000" y="1333500"/>
            <a:ext cx="1016000" cy="38100"/>
          </a:xfrm>
          <a:prstGeom prst="rect">
            <a:avLst/>
          </a:prstGeom>
          <a:solidFill>
            <a:srgbClr val="C7A25A"/>
          </a:solidFill>
          <a:ln/>
        </p:spPr>
      </p:sp>
      <p:sp>
        <p:nvSpPr>
          <p:cNvPr id="8" name="Shape 6"/>
          <p:cNvSpPr/>
          <p:nvPr/>
        </p:nvSpPr>
        <p:spPr>
          <a:xfrm>
            <a:off x="762000" y="1714500"/>
            <a:ext cx="457200" cy="457200"/>
          </a:xfrm>
          <a:prstGeom prst="ellipse">
            <a:avLst/>
          </a:prstGeom>
          <a:solidFill>
            <a:srgbClr val="C7A25A"/>
          </a:solidFill>
          <a:ln/>
        </p:spPr>
      </p:sp>
      <p:sp>
        <p:nvSpPr>
          <p:cNvPr id="9" name="Text 7"/>
          <p:cNvSpPr/>
          <p:nvPr/>
        </p:nvSpPr>
        <p:spPr>
          <a:xfrm>
            <a:off x="762000" y="1714500"/>
            <a:ext cx="457200" cy="457200"/>
          </a:xfrm>
          <a:prstGeom prst="rect">
            <a:avLst/>
          </a:prstGeom>
          <a:noFill/>
          <a:ln/>
        </p:spPr>
        <p:txBody>
          <a:bodyPr wrap="none" lIns="0" tIns="0" rIns="0" bIns="0" rtlCol="0" anchor="ctr"/>
          <a:lstStyle/>
          <a:p>
            <a:pPr algn="ctr">
              <a:lnSpc>
                <a:spcPct val="120000"/>
              </a:lnSpc>
            </a:pPr>
            <a:r>
              <a:rPr lang="en-US" sz="1800" dirty="0">
                <a:solidFill>
                  <a:srgbClr val="F6F3EE"/>
                </a:solidFill>
                <a:latin typeface="Oranienbaum" pitchFamily="34" charset="0"/>
                <a:ea typeface="Oranienbaum" pitchFamily="34" charset="-122"/>
                <a:cs typeface="Oranienbaum" pitchFamily="34" charset="-120"/>
              </a:rPr>
              <a:t>1</a:t>
            </a:r>
            <a:endParaRPr lang="en-US" sz="1800" dirty="0"/>
          </a:p>
        </p:txBody>
      </p:sp>
      <p:sp>
        <p:nvSpPr>
          <p:cNvPr id="10" name="Text 8"/>
          <p:cNvSpPr/>
          <p:nvPr/>
        </p:nvSpPr>
        <p:spPr>
          <a:xfrm>
            <a:off x="1397000" y="1689100"/>
            <a:ext cx="6350000" cy="355600"/>
          </a:xfrm>
          <a:prstGeom prst="rect">
            <a:avLst/>
          </a:prstGeom>
          <a:noFill/>
          <a:ln/>
        </p:spPr>
        <p:txBody>
          <a:bodyPr wrap="none" lIns="0" tIns="0" rIns="0" bIns="0" rtlCol="0" anchor="ctr"/>
          <a:lstStyle/>
          <a:p>
            <a:pPr algn="l">
              <a:lnSpc>
                <a:spcPct val="120000"/>
              </a:lnSpc>
            </a:pPr>
            <a:r>
              <a:rPr lang="en-US" sz="1800" b="1" dirty="0">
                <a:solidFill>
                  <a:srgbClr val="0E3B2E"/>
                </a:solidFill>
                <a:latin typeface="Quattrocento Sans" pitchFamily="34" charset="0"/>
                <a:ea typeface="Quattrocento Sans" pitchFamily="34" charset="-122"/>
                <a:cs typeface="Quattrocento Sans" pitchFamily="34" charset="-120"/>
              </a:rPr>
              <a:t>Systematic Reviews Show Growing Evidence</a:t>
            </a:r>
            <a:endParaRPr lang="en-US" sz="1800" dirty="0"/>
          </a:p>
        </p:txBody>
      </p:sp>
      <p:sp>
        <p:nvSpPr>
          <p:cNvPr id="11" name="Text 9"/>
          <p:cNvSpPr/>
          <p:nvPr/>
        </p:nvSpPr>
        <p:spPr>
          <a:xfrm>
            <a:off x="1397000" y="2070100"/>
            <a:ext cx="6350000" cy="635000"/>
          </a:xfrm>
          <a:prstGeom prst="rect">
            <a:avLst/>
          </a:prstGeom>
          <a:noFill/>
          <a:ln/>
        </p:spPr>
        <p:txBody>
          <a:bodyPr wrap="square" lIns="0" tIns="0" rIns="0" bIns="0" rtlCol="0" anchor="t"/>
          <a:lstStyle/>
          <a:p>
            <a:pPr algn="l">
              <a:lnSpc>
                <a:spcPct val="140000"/>
              </a:lnSpc>
            </a:pPr>
            <a:r>
              <a:rPr lang="en-US" sz="1500" dirty="0">
                <a:solidFill>
                  <a:srgbClr val="1A1A1A"/>
                </a:solidFill>
                <a:latin typeface="Quattrocento Sans" pitchFamily="34" charset="0"/>
                <a:ea typeface="Quattrocento Sans" pitchFamily="34" charset="-122"/>
                <a:cs typeface="Quattrocento Sans" pitchFamily="34" charset="-120"/>
              </a:rPr>
              <a:t>177 RCTs analysed in Cramer et al. (2022). Pain conditions show the strongest evidence base. Research quality is improving.</a:t>
            </a:r>
            <a:endParaRPr lang="en-US" sz="1500" dirty="0"/>
          </a:p>
        </p:txBody>
      </p:sp>
      <p:sp>
        <p:nvSpPr>
          <p:cNvPr id="12" name="Shape 10"/>
          <p:cNvSpPr/>
          <p:nvPr/>
        </p:nvSpPr>
        <p:spPr>
          <a:xfrm>
            <a:off x="8382000" y="1714500"/>
            <a:ext cx="457200" cy="457200"/>
          </a:xfrm>
          <a:prstGeom prst="ellipse">
            <a:avLst/>
          </a:prstGeom>
          <a:solidFill>
            <a:srgbClr val="C7A25A"/>
          </a:solidFill>
          <a:ln/>
        </p:spPr>
      </p:sp>
      <p:sp>
        <p:nvSpPr>
          <p:cNvPr id="13" name="Text 11"/>
          <p:cNvSpPr/>
          <p:nvPr/>
        </p:nvSpPr>
        <p:spPr>
          <a:xfrm>
            <a:off x="8382000" y="1714500"/>
            <a:ext cx="457200" cy="457200"/>
          </a:xfrm>
          <a:prstGeom prst="rect">
            <a:avLst/>
          </a:prstGeom>
          <a:noFill/>
          <a:ln/>
        </p:spPr>
        <p:txBody>
          <a:bodyPr wrap="none" lIns="0" tIns="0" rIns="0" bIns="0" rtlCol="0" anchor="ctr"/>
          <a:lstStyle/>
          <a:p>
            <a:pPr algn="ctr">
              <a:lnSpc>
                <a:spcPct val="120000"/>
              </a:lnSpc>
            </a:pPr>
            <a:r>
              <a:rPr lang="en-US" sz="1800" dirty="0">
                <a:solidFill>
                  <a:srgbClr val="F6F3EE"/>
                </a:solidFill>
                <a:latin typeface="Oranienbaum" pitchFamily="34" charset="0"/>
                <a:ea typeface="Oranienbaum" pitchFamily="34" charset="-122"/>
                <a:cs typeface="Oranienbaum" pitchFamily="34" charset="-120"/>
              </a:rPr>
              <a:t>2</a:t>
            </a:r>
            <a:endParaRPr lang="en-US" sz="1800" dirty="0"/>
          </a:p>
        </p:txBody>
      </p:sp>
      <p:sp>
        <p:nvSpPr>
          <p:cNvPr id="14" name="Text 12"/>
          <p:cNvSpPr/>
          <p:nvPr/>
        </p:nvSpPr>
        <p:spPr>
          <a:xfrm>
            <a:off x="9017000" y="1689100"/>
            <a:ext cx="6350000" cy="355600"/>
          </a:xfrm>
          <a:prstGeom prst="rect">
            <a:avLst/>
          </a:prstGeom>
          <a:noFill/>
          <a:ln/>
        </p:spPr>
        <p:txBody>
          <a:bodyPr wrap="none" lIns="0" tIns="0" rIns="0" bIns="0" rtlCol="0" anchor="ctr"/>
          <a:lstStyle/>
          <a:p>
            <a:pPr algn="l">
              <a:lnSpc>
                <a:spcPct val="120000"/>
              </a:lnSpc>
            </a:pPr>
            <a:r>
              <a:rPr lang="en-US" sz="1800" b="1" dirty="0">
                <a:solidFill>
                  <a:srgbClr val="0E3B2E"/>
                </a:solidFill>
                <a:latin typeface="Quattrocento Sans" pitchFamily="34" charset="0"/>
                <a:ea typeface="Quattrocento Sans" pitchFamily="34" charset="-122"/>
                <a:cs typeface="Quattrocento Sans" pitchFamily="34" charset="-120"/>
              </a:rPr>
              <a:t>GRADE Enables Honest Evidence Evaluation</a:t>
            </a:r>
            <a:endParaRPr lang="en-US" sz="1800" dirty="0"/>
          </a:p>
        </p:txBody>
      </p:sp>
      <p:sp>
        <p:nvSpPr>
          <p:cNvPr id="15" name="Text 13"/>
          <p:cNvSpPr/>
          <p:nvPr/>
        </p:nvSpPr>
        <p:spPr>
          <a:xfrm>
            <a:off x="9017000" y="2070100"/>
            <a:ext cx="6350000" cy="635000"/>
          </a:xfrm>
          <a:prstGeom prst="rect">
            <a:avLst/>
          </a:prstGeom>
          <a:noFill/>
          <a:ln/>
        </p:spPr>
        <p:txBody>
          <a:bodyPr wrap="square" lIns="0" tIns="0" rIns="0" bIns="0" rtlCol="0" anchor="t"/>
          <a:lstStyle/>
          <a:p>
            <a:pPr algn="l">
              <a:lnSpc>
                <a:spcPct val="140000"/>
              </a:lnSpc>
            </a:pPr>
            <a:r>
              <a:rPr lang="en-US" sz="1500" dirty="0">
                <a:solidFill>
                  <a:srgbClr val="1A1A1A"/>
                </a:solidFill>
                <a:latin typeface="Quattrocento Sans" pitchFamily="34" charset="0"/>
                <a:ea typeface="Quattrocento Sans" pitchFamily="34" charset="-122"/>
                <a:cs typeface="Quattrocento Sans" pitchFamily="34" charset="-120"/>
              </a:rPr>
              <a:t>Five factors reduce quality; three factors increase it. Most cupping research is Low or Very Low GRADE. Communicate this honestly.</a:t>
            </a:r>
            <a:endParaRPr lang="en-US" sz="1500" dirty="0"/>
          </a:p>
        </p:txBody>
      </p:sp>
      <p:sp>
        <p:nvSpPr>
          <p:cNvPr id="16" name="Shape 14"/>
          <p:cNvSpPr/>
          <p:nvPr/>
        </p:nvSpPr>
        <p:spPr>
          <a:xfrm>
            <a:off x="762000" y="3048000"/>
            <a:ext cx="457200" cy="457200"/>
          </a:xfrm>
          <a:prstGeom prst="ellipse">
            <a:avLst/>
          </a:prstGeom>
          <a:solidFill>
            <a:srgbClr val="C7A25A"/>
          </a:solidFill>
          <a:ln/>
        </p:spPr>
      </p:sp>
      <p:sp>
        <p:nvSpPr>
          <p:cNvPr id="17" name="Text 15"/>
          <p:cNvSpPr/>
          <p:nvPr/>
        </p:nvSpPr>
        <p:spPr>
          <a:xfrm>
            <a:off x="762000" y="3048000"/>
            <a:ext cx="457200" cy="457200"/>
          </a:xfrm>
          <a:prstGeom prst="rect">
            <a:avLst/>
          </a:prstGeom>
          <a:noFill/>
          <a:ln/>
        </p:spPr>
        <p:txBody>
          <a:bodyPr wrap="none" lIns="0" tIns="0" rIns="0" bIns="0" rtlCol="0" anchor="ctr"/>
          <a:lstStyle/>
          <a:p>
            <a:pPr algn="ctr">
              <a:lnSpc>
                <a:spcPct val="120000"/>
              </a:lnSpc>
            </a:pPr>
            <a:r>
              <a:rPr lang="en-US" sz="1800" dirty="0">
                <a:solidFill>
                  <a:srgbClr val="F6F3EE"/>
                </a:solidFill>
                <a:latin typeface="Oranienbaum" pitchFamily="34" charset="0"/>
                <a:ea typeface="Oranienbaum" pitchFamily="34" charset="-122"/>
                <a:cs typeface="Oranienbaum" pitchFamily="34" charset="-120"/>
              </a:rPr>
              <a:t>3</a:t>
            </a:r>
            <a:endParaRPr lang="en-US" sz="1800" dirty="0"/>
          </a:p>
        </p:txBody>
      </p:sp>
      <p:sp>
        <p:nvSpPr>
          <p:cNvPr id="18" name="Text 16"/>
          <p:cNvSpPr/>
          <p:nvPr/>
        </p:nvSpPr>
        <p:spPr>
          <a:xfrm>
            <a:off x="1397000" y="3022600"/>
            <a:ext cx="6350000" cy="355600"/>
          </a:xfrm>
          <a:prstGeom prst="rect">
            <a:avLst/>
          </a:prstGeom>
          <a:noFill/>
          <a:ln/>
        </p:spPr>
        <p:txBody>
          <a:bodyPr wrap="none" lIns="0" tIns="0" rIns="0" bIns="0" rtlCol="0" anchor="ctr"/>
          <a:lstStyle/>
          <a:p>
            <a:pPr algn="l">
              <a:lnSpc>
                <a:spcPct val="120000"/>
              </a:lnSpc>
            </a:pPr>
            <a:r>
              <a:rPr lang="en-US" sz="1800" b="1" dirty="0">
                <a:solidFill>
                  <a:srgbClr val="0E3B2E"/>
                </a:solidFill>
                <a:latin typeface="Quattrocento Sans" pitchFamily="34" charset="0"/>
                <a:ea typeface="Quattrocento Sans" pitchFamily="34" charset="-122"/>
                <a:cs typeface="Quattrocento Sans" pitchFamily="34" charset="-120"/>
              </a:rPr>
              <a:t>NO Release and MFD Are Best-Established</a:t>
            </a:r>
            <a:endParaRPr lang="en-US" sz="1800" dirty="0"/>
          </a:p>
        </p:txBody>
      </p:sp>
      <p:sp>
        <p:nvSpPr>
          <p:cNvPr id="19" name="Text 17"/>
          <p:cNvSpPr/>
          <p:nvPr/>
        </p:nvSpPr>
        <p:spPr>
          <a:xfrm>
            <a:off x="1397000" y="3403600"/>
            <a:ext cx="6350000" cy="635000"/>
          </a:xfrm>
          <a:prstGeom prst="rect">
            <a:avLst/>
          </a:prstGeom>
          <a:noFill/>
          <a:ln/>
        </p:spPr>
        <p:txBody>
          <a:bodyPr wrap="square" lIns="0" tIns="0" rIns="0" bIns="0" rtlCol="0" anchor="t"/>
          <a:lstStyle/>
          <a:p>
            <a:pPr algn="l">
              <a:lnSpc>
                <a:spcPct val="140000"/>
              </a:lnSpc>
            </a:pPr>
            <a:r>
              <a:rPr lang="en-US" sz="1500" dirty="0">
                <a:solidFill>
                  <a:srgbClr val="1A1A1A"/>
                </a:solidFill>
                <a:latin typeface="Quattrocento Sans" pitchFamily="34" charset="0"/>
                <a:ea typeface="Quattrocento Sans" pitchFamily="34" charset="-122"/>
                <a:cs typeface="Quattrocento Sans" pitchFamily="34" charset="-120"/>
              </a:rPr>
              <a:t>Nitric oxide release has strong evidence. Myofascial decompression has moderate evidence. These explain immediate pain relief.</a:t>
            </a:r>
            <a:endParaRPr lang="en-US" sz="1500" dirty="0"/>
          </a:p>
        </p:txBody>
      </p:sp>
      <p:sp>
        <p:nvSpPr>
          <p:cNvPr id="20" name="Shape 18"/>
          <p:cNvSpPr/>
          <p:nvPr/>
        </p:nvSpPr>
        <p:spPr>
          <a:xfrm>
            <a:off x="8382000" y="3048000"/>
            <a:ext cx="457200" cy="457200"/>
          </a:xfrm>
          <a:prstGeom prst="ellipse">
            <a:avLst/>
          </a:prstGeom>
          <a:solidFill>
            <a:srgbClr val="C7A25A"/>
          </a:solidFill>
          <a:ln/>
        </p:spPr>
      </p:sp>
      <p:sp>
        <p:nvSpPr>
          <p:cNvPr id="21" name="Text 19"/>
          <p:cNvSpPr/>
          <p:nvPr/>
        </p:nvSpPr>
        <p:spPr>
          <a:xfrm>
            <a:off x="8382000" y="3048000"/>
            <a:ext cx="457200" cy="457200"/>
          </a:xfrm>
          <a:prstGeom prst="rect">
            <a:avLst/>
          </a:prstGeom>
          <a:noFill/>
          <a:ln/>
        </p:spPr>
        <p:txBody>
          <a:bodyPr wrap="none" lIns="0" tIns="0" rIns="0" bIns="0" rtlCol="0" anchor="ctr"/>
          <a:lstStyle/>
          <a:p>
            <a:pPr algn="ctr">
              <a:lnSpc>
                <a:spcPct val="120000"/>
              </a:lnSpc>
            </a:pPr>
            <a:r>
              <a:rPr lang="en-US" sz="1800" dirty="0">
                <a:solidFill>
                  <a:srgbClr val="F6F3EE"/>
                </a:solidFill>
                <a:latin typeface="Oranienbaum" pitchFamily="34" charset="0"/>
                <a:ea typeface="Oranienbaum" pitchFamily="34" charset="-122"/>
                <a:cs typeface="Oranienbaum" pitchFamily="34" charset="-120"/>
              </a:rPr>
              <a:t>4</a:t>
            </a:r>
            <a:endParaRPr lang="en-US" sz="1800" dirty="0"/>
          </a:p>
        </p:txBody>
      </p:sp>
      <p:sp>
        <p:nvSpPr>
          <p:cNvPr id="22" name="Text 20"/>
          <p:cNvSpPr/>
          <p:nvPr/>
        </p:nvSpPr>
        <p:spPr>
          <a:xfrm>
            <a:off x="9017000" y="3022600"/>
            <a:ext cx="6350000" cy="355600"/>
          </a:xfrm>
          <a:prstGeom prst="rect">
            <a:avLst/>
          </a:prstGeom>
          <a:noFill/>
          <a:ln/>
        </p:spPr>
        <p:txBody>
          <a:bodyPr wrap="none" lIns="0" tIns="0" rIns="0" bIns="0" rtlCol="0" anchor="ctr"/>
          <a:lstStyle/>
          <a:p>
            <a:pPr algn="l">
              <a:lnSpc>
                <a:spcPct val="120000"/>
              </a:lnSpc>
            </a:pPr>
            <a:r>
              <a:rPr lang="en-US" sz="1800" b="1" dirty="0">
                <a:solidFill>
                  <a:srgbClr val="0E3B2E"/>
                </a:solidFill>
                <a:latin typeface="Quattrocento Sans" pitchFamily="34" charset="0"/>
                <a:ea typeface="Quattrocento Sans" pitchFamily="34" charset="-122"/>
                <a:cs typeface="Quattrocento Sans" pitchFamily="34" charset="-120"/>
              </a:rPr>
              <a:t>The Mechanisms Framework Enables Precision</a:t>
            </a:r>
            <a:endParaRPr lang="en-US" sz="1800" dirty="0"/>
          </a:p>
        </p:txBody>
      </p:sp>
      <p:sp>
        <p:nvSpPr>
          <p:cNvPr id="23" name="Text 21"/>
          <p:cNvSpPr/>
          <p:nvPr/>
        </p:nvSpPr>
        <p:spPr>
          <a:xfrm>
            <a:off x="9017000" y="3403600"/>
            <a:ext cx="6350000" cy="635000"/>
          </a:xfrm>
          <a:prstGeom prst="rect">
            <a:avLst/>
          </a:prstGeom>
          <a:noFill/>
          <a:ln/>
        </p:spPr>
        <p:txBody>
          <a:bodyPr wrap="square" lIns="0" tIns="0" rIns="0" bIns="0" rtlCol="0" anchor="t"/>
          <a:lstStyle/>
          <a:p>
            <a:pPr algn="l">
              <a:lnSpc>
                <a:spcPct val="140000"/>
              </a:lnSpc>
            </a:pPr>
            <a:r>
              <a:rPr lang="en-US" sz="1500" dirty="0">
                <a:solidFill>
                  <a:srgbClr val="1A1A1A"/>
                </a:solidFill>
                <a:latin typeface="Quattrocento Sans" pitchFamily="34" charset="0"/>
                <a:ea typeface="Quattrocento Sans" pitchFamily="34" charset="-122"/>
                <a:cs typeface="Quattrocento Sans" pitchFamily="34" charset="-120"/>
              </a:rPr>
              <a:t>Match presentation to mechanism to technique. This transforms protocol-driven care into reasoning-driven precision practice.</a:t>
            </a:r>
            <a:endParaRPr lang="en-US" sz="1500" dirty="0"/>
          </a:p>
        </p:txBody>
      </p:sp>
      <p:sp>
        <p:nvSpPr>
          <p:cNvPr id="24" name="Shape 22"/>
          <p:cNvSpPr/>
          <p:nvPr/>
        </p:nvSpPr>
        <p:spPr>
          <a:xfrm>
            <a:off x="762000" y="4381500"/>
            <a:ext cx="457200" cy="457200"/>
          </a:xfrm>
          <a:prstGeom prst="ellipse">
            <a:avLst/>
          </a:prstGeom>
          <a:solidFill>
            <a:srgbClr val="C7A25A"/>
          </a:solidFill>
          <a:ln/>
        </p:spPr>
      </p:sp>
      <p:sp>
        <p:nvSpPr>
          <p:cNvPr id="25" name="Text 23"/>
          <p:cNvSpPr/>
          <p:nvPr/>
        </p:nvSpPr>
        <p:spPr>
          <a:xfrm>
            <a:off x="762000" y="4381500"/>
            <a:ext cx="457200" cy="457200"/>
          </a:xfrm>
          <a:prstGeom prst="rect">
            <a:avLst/>
          </a:prstGeom>
          <a:noFill/>
          <a:ln/>
        </p:spPr>
        <p:txBody>
          <a:bodyPr wrap="none" lIns="0" tIns="0" rIns="0" bIns="0" rtlCol="0" anchor="ctr"/>
          <a:lstStyle/>
          <a:p>
            <a:pPr algn="ctr">
              <a:lnSpc>
                <a:spcPct val="120000"/>
              </a:lnSpc>
            </a:pPr>
            <a:r>
              <a:rPr lang="en-US" sz="1800" dirty="0">
                <a:solidFill>
                  <a:srgbClr val="F6F3EE"/>
                </a:solidFill>
                <a:latin typeface="Oranienbaum" pitchFamily="34" charset="0"/>
                <a:ea typeface="Oranienbaum" pitchFamily="34" charset="-122"/>
                <a:cs typeface="Oranienbaum" pitchFamily="34" charset="-120"/>
              </a:rPr>
              <a:t>5</a:t>
            </a:r>
            <a:endParaRPr lang="en-US" sz="1800" dirty="0"/>
          </a:p>
        </p:txBody>
      </p:sp>
      <p:sp>
        <p:nvSpPr>
          <p:cNvPr id="26" name="Text 24"/>
          <p:cNvSpPr/>
          <p:nvPr/>
        </p:nvSpPr>
        <p:spPr>
          <a:xfrm>
            <a:off x="1397000" y="4356100"/>
            <a:ext cx="6350000" cy="355600"/>
          </a:xfrm>
          <a:prstGeom prst="rect">
            <a:avLst/>
          </a:prstGeom>
          <a:noFill/>
          <a:ln/>
        </p:spPr>
        <p:txBody>
          <a:bodyPr wrap="none" lIns="0" tIns="0" rIns="0" bIns="0" rtlCol="0" anchor="ctr"/>
          <a:lstStyle/>
          <a:p>
            <a:pPr algn="l">
              <a:lnSpc>
                <a:spcPct val="120000"/>
              </a:lnSpc>
            </a:pPr>
            <a:r>
              <a:rPr lang="en-US" sz="1800" b="1" dirty="0">
                <a:solidFill>
                  <a:srgbClr val="0E3B2E"/>
                </a:solidFill>
                <a:latin typeface="Quattrocento Sans" pitchFamily="34" charset="0"/>
                <a:ea typeface="Quattrocento Sans" pitchFamily="34" charset="-122"/>
                <a:cs typeface="Quattrocento Sans" pitchFamily="34" charset="-120"/>
              </a:rPr>
              <a:t>Scientific Literacy Is an Ethical Obligation</a:t>
            </a:r>
            <a:endParaRPr lang="en-US" sz="1800" dirty="0"/>
          </a:p>
        </p:txBody>
      </p:sp>
      <p:sp>
        <p:nvSpPr>
          <p:cNvPr id="27" name="Text 25"/>
          <p:cNvSpPr/>
          <p:nvPr/>
        </p:nvSpPr>
        <p:spPr>
          <a:xfrm>
            <a:off x="1397000" y="4737100"/>
            <a:ext cx="6350000" cy="635000"/>
          </a:xfrm>
          <a:prstGeom prst="rect">
            <a:avLst/>
          </a:prstGeom>
          <a:noFill/>
          <a:ln/>
        </p:spPr>
        <p:txBody>
          <a:bodyPr wrap="square" lIns="0" tIns="0" rIns="0" bIns="0" rtlCol="0" anchor="t"/>
          <a:lstStyle/>
          <a:p>
            <a:pPr algn="l">
              <a:lnSpc>
                <a:spcPct val="140000"/>
              </a:lnSpc>
            </a:pPr>
            <a:r>
              <a:rPr lang="en-US" sz="1500" dirty="0">
                <a:solidFill>
                  <a:srgbClr val="1A1A1A"/>
                </a:solidFill>
                <a:latin typeface="Quattrocento Sans" pitchFamily="34" charset="0"/>
                <a:ea typeface="Quattrocento Sans" pitchFamily="34" charset="-122"/>
                <a:cs typeface="Quattrocento Sans" pitchFamily="34" charset="-120"/>
              </a:rPr>
              <a:t>Qur'an 49:6 commands verification. Honest communication about blood analysis, evidence strength, and uncertainty is your amanah.</a:t>
            </a:r>
            <a:endParaRPr lang="en-US" sz="1500" dirty="0"/>
          </a:p>
        </p:txBody>
      </p:sp>
      <p:sp>
        <p:nvSpPr>
          <p:cNvPr id="28" name="Shape 26"/>
          <p:cNvSpPr/>
          <p:nvPr/>
        </p:nvSpPr>
        <p:spPr>
          <a:xfrm>
            <a:off x="762000" y="5715000"/>
            <a:ext cx="14732000" cy="12700"/>
          </a:xfrm>
          <a:prstGeom prst="rect">
            <a:avLst/>
          </a:prstGeom>
          <a:solidFill>
            <a:srgbClr val="E0DCD6"/>
          </a:solidFill>
          <a:ln/>
        </p:spPr>
      </p:sp>
      <p:sp>
        <p:nvSpPr>
          <p:cNvPr id="29" name="Text 27"/>
          <p:cNvSpPr/>
          <p:nvPr/>
        </p:nvSpPr>
        <p:spPr>
          <a:xfrm>
            <a:off x="762000" y="5969000"/>
            <a:ext cx="5080000" cy="304800"/>
          </a:xfrm>
          <a:prstGeom prst="rect">
            <a:avLst/>
          </a:prstGeom>
          <a:noFill/>
          <a:ln/>
        </p:spPr>
        <p:txBody>
          <a:bodyPr wrap="none" lIns="0" tIns="0" rIns="0" bIns="0" rtlCol="0" anchor="ctr"/>
          <a:lstStyle/>
          <a:p>
            <a:pPr algn="l">
              <a:lnSpc>
                <a:spcPct val="120000"/>
              </a:lnSpc>
            </a:pPr>
            <a:r>
              <a:rPr lang="en-US" sz="1200" spc="200" kern="0" dirty="0">
                <a:solidFill>
                  <a:srgbClr val="C7A25A"/>
                </a:solidFill>
                <a:latin typeface="Quattrocento Sans" pitchFamily="34" charset="0"/>
                <a:ea typeface="Quattrocento Sans" pitchFamily="34" charset="-122"/>
                <a:cs typeface="Quattrocento Sans" pitchFamily="34" charset="-120"/>
              </a:rPr>
              <a:t>COMING NEXT — MODULE 5</a:t>
            </a:r>
            <a:endParaRPr lang="en-US" sz="1200" dirty="0"/>
          </a:p>
        </p:txBody>
      </p:sp>
      <p:sp>
        <p:nvSpPr>
          <p:cNvPr id="30" name="Text 28"/>
          <p:cNvSpPr/>
          <p:nvPr/>
        </p:nvSpPr>
        <p:spPr>
          <a:xfrm>
            <a:off x="762000" y="6350000"/>
            <a:ext cx="7620000" cy="457200"/>
          </a:xfrm>
          <a:prstGeom prst="rect">
            <a:avLst/>
          </a:prstGeom>
          <a:noFill/>
          <a:ln/>
        </p:spPr>
        <p:txBody>
          <a:bodyPr wrap="none" lIns="0" tIns="0" rIns="0" bIns="0" rtlCol="0" anchor="ctr"/>
          <a:lstStyle/>
          <a:p>
            <a:pPr algn="l">
              <a:lnSpc>
                <a:spcPct val="120000"/>
              </a:lnSpc>
            </a:pPr>
            <a:r>
              <a:rPr lang="en-US" sz="2200" dirty="0">
                <a:solidFill>
                  <a:srgbClr val="0E3B2E"/>
                </a:solidFill>
                <a:latin typeface="Oranienbaum" pitchFamily="34" charset="0"/>
                <a:ea typeface="Oranienbaum" pitchFamily="34" charset="-122"/>
                <a:cs typeface="Oranienbaum" pitchFamily="34" charset="-120"/>
              </a:rPr>
              <a:t>Human Anatomy for Practitioners</a:t>
            </a:r>
            <a:endParaRPr lang="en-US" sz="2200" dirty="0"/>
          </a:p>
        </p:txBody>
      </p:sp>
      <p:sp>
        <p:nvSpPr>
          <p:cNvPr id="31" name="Text 29"/>
          <p:cNvSpPr/>
          <p:nvPr/>
        </p:nvSpPr>
        <p:spPr>
          <a:xfrm>
            <a:off x="762000" y="6858000"/>
            <a:ext cx="8255000" cy="762000"/>
          </a:xfrm>
          <a:prstGeom prst="rect">
            <a:avLst/>
          </a:prstGeom>
          <a:noFill/>
          <a:ln/>
        </p:spPr>
        <p:txBody>
          <a:bodyPr wrap="square" lIns="0" tIns="0" rIns="0" bIns="0" rtlCol="0" anchor="t"/>
          <a:lstStyle/>
          <a:p>
            <a:pPr algn="l">
              <a:lnSpc>
                <a:spcPct val="150000"/>
              </a:lnSpc>
            </a:pPr>
            <a:r>
              <a:rPr lang="en-US" sz="1600" dirty="0">
                <a:solidFill>
                  <a:srgbClr val="6B6B6B"/>
                </a:solidFill>
                <a:latin typeface="Quattrocento Sans" pitchFamily="34" charset="0"/>
                <a:ea typeface="Quattrocento Sans" pitchFamily="34" charset="-122"/>
                <a:cs typeface="Quattrocento Sans" pitchFamily="34" charset="-120"/>
              </a:rPr>
              <a:t>Skin anatomy, the circulatory system, musculoskeletal structures, and the nervous system — the anatomical foundation for safe, precise Hijama practice.</a:t>
            </a:r>
            <a:endParaRPr lang="en-US" sz="1600" dirty="0"/>
          </a:p>
        </p:txBody>
      </p:sp>
      <p:sp>
        <p:nvSpPr>
          <p:cNvPr id="32" name="Shape 30"/>
          <p:cNvSpPr/>
          <p:nvPr/>
        </p:nvSpPr>
        <p:spPr>
          <a:xfrm>
            <a:off x="9398000" y="5969000"/>
            <a:ext cx="6096000" cy="1778000"/>
          </a:xfrm>
          <a:prstGeom prst="rect">
            <a:avLst/>
          </a:prstGeom>
          <a:solidFill>
            <a:srgbClr val="F0EDE7"/>
          </a:solidFill>
          <a:ln w="12700">
            <a:solidFill>
              <a:srgbClr val="E0DCD6"/>
            </a:solidFill>
            <a:prstDash val="solid"/>
          </a:ln>
        </p:spPr>
      </p:sp>
      <p:sp>
        <p:nvSpPr>
          <p:cNvPr id="33" name="Text 31"/>
          <p:cNvSpPr/>
          <p:nvPr/>
        </p:nvSpPr>
        <p:spPr>
          <a:xfrm>
            <a:off x="9652000" y="6070600"/>
            <a:ext cx="2540000" cy="254000"/>
          </a:xfrm>
          <a:prstGeom prst="rect">
            <a:avLst/>
          </a:prstGeom>
          <a:noFill/>
          <a:ln/>
        </p:spPr>
        <p:txBody>
          <a:bodyPr wrap="none" lIns="0" tIns="0" rIns="0" bIns="0" rtlCol="0" anchor="ctr"/>
          <a:lstStyle/>
          <a:p>
            <a:pPr algn="l">
              <a:lnSpc>
                <a:spcPct val="120000"/>
              </a:lnSpc>
            </a:pPr>
            <a:r>
              <a:rPr lang="en-US" sz="1100" spc="200" kern="0" dirty="0">
                <a:solidFill>
                  <a:srgbClr val="0E3B2E"/>
                </a:solidFill>
                <a:latin typeface="Quattrocento Sans" pitchFamily="34" charset="0"/>
                <a:ea typeface="Quattrocento Sans" pitchFamily="34" charset="-122"/>
                <a:cs typeface="Quattrocento Sans" pitchFamily="34" charset="-120"/>
              </a:rPr>
              <a:t>KNOWLEDGE CHECK</a:t>
            </a:r>
            <a:endParaRPr lang="en-US" sz="1100" dirty="0"/>
          </a:p>
        </p:txBody>
      </p:sp>
      <p:sp>
        <p:nvSpPr>
          <p:cNvPr id="34" name="Text 32"/>
          <p:cNvSpPr/>
          <p:nvPr/>
        </p:nvSpPr>
        <p:spPr>
          <a:xfrm>
            <a:off x="9652000" y="6375400"/>
            <a:ext cx="5588000" cy="1371600"/>
          </a:xfrm>
          <a:prstGeom prst="rect">
            <a:avLst/>
          </a:prstGeom>
          <a:noFill/>
          <a:ln/>
        </p:spPr>
        <p:txBody>
          <a:bodyPr wrap="square" lIns="0" tIns="0" rIns="0" bIns="0" rtlCol="0" anchor="t"/>
          <a:lstStyle/>
          <a:p>
            <a:pPr algn="l">
              <a:lnSpc>
                <a:spcPct val="150000"/>
              </a:lnSpc>
            </a:pPr>
            <a:r>
              <a:rPr lang="en-US" sz="1400" b="1" dirty="0">
                <a:solidFill>
                  <a:srgbClr val="1A1A1A"/>
                </a:solidFill>
                <a:latin typeface="Quattrocento Sans" pitchFamily="34" charset="0"/>
                <a:ea typeface="Quattrocento Sans" pitchFamily="34" charset="-122"/>
                <a:cs typeface="Quattrocento Sans" pitchFamily="34" charset="-120"/>
              </a:rPr>
              <a:t>Question:</a:t>
            </a:r>
            <a:pPr algn="l">
              <a:lnSpc>
                <a:spcPct val="150000"/>
              </a:lnSpc>
            </a:pPr>
            <a:r>
              <a:rPr lang="en-US" sz="1400" dirty="0">
                <a:solidFill>
                  <a:srgbClr val="1A1A1A"/>
                </a:solidFill>
                <a:latin typeface="Quattrocento Sans" pitchFamily="34" charset="0"/>
                <a:ea typeface="Quattrocento Sans" pitchFamily="34" charset="-122"/>
                <a:cs typeface="Quattrocento Sans" pitchFamily="34" charset="-120"/>
              </a:rPr>
              <a:t> A patient asks why you don't use blood analysis to diagnose. How do you respond using the Evidence &amp; Sunnah Matrix?</a:t>
            </a:r>
            <a:endParaRPr lang="en-US" sz="1400" dirty="0"/>
          </a:p>
          <a:p>
            <a:pPr algn="l">
              <a:lnSpc>
                <a:spcPct val="150000"/>
              </a:lnSpc>
              <a:spcBef>
                <a:spcPts val="600"/>
              </a:spcBef>
            </a:pPr>
            <a:r>
              <a:rPr lang="en-US" sz="1400" i="1" dirty="0">
                <a:solidFill>
                  <a:srgbClr val="1A1A1A"/>
                </a:solidFill>
                <a:latin typeface="Quattrocento Sans" pitchFamily="34" charset="0"/>
                <a:ea typeface="Quattrocento Sans" pitchFamily="34" charset="-122"/>
                <a:cs typeface="Quattrocento Sans" pitchFamily="34" charset="-120"/>
              </a:rPr>
              <a:t>Discuss in your Reflect–Learn–Apply journal.</a:t>
            </a:r>
            <a:endParaRPr lang="en-US" sz="1400" dirty="0"/>
          </a:p>
        </p:txBody>
      </p:sp>
      <p:sp>
        <p:nvSpPr>
          <p:cNvPr id="35" name="Text 33"/>
          <p:cNvSpPr/>
          <p:nvPr/>
        </p:nvSpPr>
        <p:spPr>
          <a:xfrm>
            <a:off x="15240000" y="8763000"/>
            <a:ext cx="762000" cy="254000"/>
          </a:xfrm>
          <a:prstGeom prst="rect">
            <a:avLst/>
          </a:prstGeom>
          <a:noFill/>
          <a:ln/>
        </p:spPr>
        <p:txBody>
          <a:bodyPr wrap="none" lIns="0" tIns="0" rIns="0" bIns="0" rtlCol="0" anchor="ctr"/>
          <a:lstStyle/>
          <a:p>
            <a:pPr algn="r">
              <a:lnSpc>
                <a:spcPct val="120000"/>
              </a:lnSpc>
            </a:pPr>
            <a:r>
              <a:rPr lang="en-US" sz="1100" dirty="0">
                <a:solidFill>
                  <a:srgbClr val="6B6B6B"/>
                </a:solidFill>
                <a:latin typeface="Quattrocento Sans" pitchFamily="34" charset="0"/>
                <a:ea typeface="Quattrocento Sans" pitchFamily="34" charset="-122"/>
                <a:cs typeface="Quattrocento Sans" pitchFamily="34" charset="-120"/>
              </a:rPr>
              <a:t>15</a:t>
            </a:r>
            <a:endParaRPr lang="en-US" sz="11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3B2E"/>
        </a:solidFill>
      </p:bgPr>
    </p:bg>
    <p:spTree>
      <p:nvGrpSpPr>
        <p:cNvPr id="1" name=""/>
        <p:cNvGrpSpPr/>
        <p:nvPr/>
      </p:nvGrpSpPr>
      <p:grpSpPr>
        <a:xfrm>
          <a:off x="0" y="0"/>
          <a:ext cx="0" cy="0"/>
          <a:chOff x="0" y="0"/>
          <a:chExt cx="0" cy="0"/>
        </a:xfrm>
      </p:grpSpPr>
      <p:sp>
        <p:nvSpPr>
          <p:cNvPr id="2" name="Shape 0"/>
          <p:cNvSpPr/>
          <p:nvPr/>
        </p:nvSpPr>
        <p:spPr>
          <a:xfrm>
            <a:off x="6858000" y="2286000"/>
            <a:ext cx="2540000" cy="25400"/>
          </a:xfrm>
          <a:prstGeom prst="rect">
            <a:avLst/>
          </a:prstGeom>
          <a:solidFill>
            <a:srgbClr val="C7A25A"/>
          </a:solidFill>
          <a:ln/>
        </p:spPr>
      </p:sp>
      <p:sp>
        <p:nvSpPr>
          <p:cNvPr id="3" name="Text 1"/>
          <p:cNvSpPr/>
          <p:nvPr/>
        </p:nvSpPr>
        <p:spPr>
          <a:xfrm>
            <a:off x="2413000" y="2667000"/>
            <a:ext cx="11430000" cy="1016000"/>
          </a:xfrm>
          <a:prstGeom prst="rect">
            <a:avLst/>
          </a:prstGeom>
          <a:noFill/>
          <a:ln/>
        </p:spPr>
        <p:txBody>
          <a:bodyPr wrap="square" lIns="0" tIns="0" rIns="0" bIns="0" rtlCol="0" anchor="ctr"/>
          <a:lstStyle/>
          <a:p>
            <a:pPr algn="ctr">
              <a:lnSpc>
                <a:spcPct val="140000"/>
              </a:lnSpc>
            </a:pPr>
            <a:r>
              <a:rPr lang="en-US" sz="2200" i="1" dirty="0">
                <a:solidFill>
                  <a:srgbClr val="C7A25A"/>
                </a:solidFill>
                <a:latin typeface="Oranienbaum" pitchFamily="34" charset="0"/>
                <a:ea typeface="Oranienbaum" pitchFamily="34" charset="-122"/>
                <a:cs typeface="Oranienbaum" pitchFamily="34" charset="-120"/>
              </a:rPr>
              <a:t>"And say, 'My Lord, increase me in knowledge.'"</a:t>
            </a:r>
            <a:endParaRPr lang="en-US" sz="2200" dirty="0"/>
          </a:p>
        </p:txBody>
      </p:sp>
      <p:sp>
        <p:nvSpPr>
          <p:cNvPr id="4" name="Text 2"/>
          <p:cNvSpPr/>
          <p:nvPr/>
        </p:nvSpPr>
        <p:spPr>
          <a:xfrm>
            <a:off x="4953000" y="3810000"/>
            <a:ext cx="6350000" cy="381000"/>
          </a:xfrm>
          <a:prstGeom prst="rect">
            <a:avLst/>
          </a:prstGeom>
          <a:noFill/>
          <a:ln/>
        </p:spPr>
        <p:txBody>
          <a:bodyPr wrap="none" lIns="0" tIns="0" rIns="0" bIns="0" rtlCol="0" anchor="ctr"/>
          <a:lstStyle/>
          <a:p>
            <a:pPr algn="ctr">
              <a:lnSpc>
                <a:spcPct val="120000"/>
              </a:lnSpc>
            </a:pPr>
            <a:r>
              <a:rPr lang="en-US" sz="1400" dirty="0">
                <a:solidFill>
                  <a:srgbClr val="F6F3EE"/>
                </a:solidFill>
                <a:latin typeface="Quattrocento Sans" pitchFamily="34" charset="0"/>
                <a:ea typeface="Quattrocento Sans" pitchFamily="34" charset="-122"/>
                <a:cs typeface="Quattrocento Sans" pitchFamily="34" charset="-120"/>
              </a:rPr>
              <a:t>— Qur'an 20:114</a:t>
            </a:r>
            <a:endParaRPr lang="en-US" sz="1400" dirty="0"/>
          </a:p>
        </p:txBody>
      </p:sp>
      <p:sp>
        <p:nvSpPr>
          <p:cNvPr id="5" name="Text 3"/>
          <p:cNvSpPr/>
          <p:nvPr/>
        </p:nvSpPr>
        <p:spPr>
          <a:xfrm>
            <a:off x="2413000" y="4826000"/>
            <a:ext cx="11430000" cy="1016000"/>
          </a:xfrm>
          <a:prstGeom prst="rect">
            <a:avLst/>
          </a:prstGeom>
          <a:noFill/>
          <a:ln/>
        </p:spPr>
        <p:txBody>
          <a:bodyPr wrap="square" lIns="0" tIns="0" rIns="0" bIns="0" rtlCol="0" anchor="ctr"/>
          <a:lstStyle/>
          <a:p>
            <a:pPr algn="ctr">
              <a:lnSpc>
                <a:spcPct val="160000"/>
              </a:lnSpc>
            </a:pPr>
            <a:r>
              <a:rPr lang="en-US" sz="1800" dirty="0">
                <a:solidFill>
                  <a:srgbClr val="F6F3EE"/>
                </a:solidFill>
                <a:latin typeface="Quattrocento Sans" pitchFamily="34" charset="0"/>
                <a:ea typeface="Quattrocento Sans" pitchFamily="34" charset="-122"/>
                <a:cs typeface="Quattrocento Sans" pitchFamily="34" charset="-120"/>
              </a:rPr>
              <a:t>Reflection: How does evidence literacy transform your confidence and humility as a practitioner?</a:t>
            </a:r>
            <a:endParaRPr lang="en-US" sz="1800" dirty="0"/>
          </a:p>
        </p:txBody>
      </p:sp>
      <p:sp>
        <p:nvSpPr>
          <p:cNvPr id="6" name="Shape 4"/>
          <p:cNvSpPr/>
          <p:nvPr/>
        </p:nvSpPr>
        <p:spPr>
          <a:xfrm>
            <a:off x="6858000" y="6223000"/>
            <a:ext cx="2540000" cy="12700"/>
          </a:xfrm>
          <a:prstGeom prst="rect">
            <a:avLst/>
          </a:prstGeom>
          <a:solidFill>
            <a:srgbClr val="C7A25A">
              <a:alpha val="50000"/>
            </a:srgbClr>
          </a:solidFill>
          <a:ln/>
        </p:spPr>
      </p:sp>
      <p:sp>
        <p:nvSpPr>
          <p:cNvPr id="7" name="Text 5"/>
          <p:cNvSpPr/>
          <p:nvPr/>
        </p:nvSpPr>
        <p:spPr>
          <a:xfrm>
            <a:off x="4318000" y="6604000"/>
            <a:ext cx="7620000" cy="381000"/>
          </a:xfrm>
          <a:prstGeom prst="rect">
            <a:avLst/>
          </a:prstGeom>
          <a:noFill/>
          <a:ln/>
        </p:spPr>
        <p:txBody>
          <a:bodyPr wrap="none" lIns="0" tIns="0" rIns="0" bIns="0" rtlCol="0" anchor="ctr"/>
          <a:lstStyle/>
          <a:p>
            <a:pPr algn="ctr">
              <a:lnSpc>
                <a:spcPct val="120000"/>
              </a:lnSpc>
            </a:pPr>
            <a:r>
              <a:rPr lang="en-US" sz="1400" spc="300" kern="0" dirty="0">
                <a:solidFill>
                  <a:srgbClr val="F6F3EE"/>
                </a:solidFill>
                <a:latin typeface="Quattrocento Sans" pitchFamily="34" charset="0"/>
                <a:ea typeface="Quattrocento Sans" pitchFamily="34" charset="-122"/>
                <a:cs typeface="Quattrocento Sans" pitchFamily="34" charset="-120"/>
              </a:rPr>
              <a:t>MODULE 4 COMPLETE</a:t>
            </a:r>
            <a:endParaRPr lang="en-US" sz="1400" dirty="0"/>
          </a:p>
        </p:txBody>
      </p:sp>
      <p:sp>
        <p:nvSpPr>
          <p:cNvPr id="8" name="Text 6"/>
          <p:cNvSpPr/>
          <p:nvPr/>
        </p:nvSpPr>
        <p:spPr>
          <a:xfrm>
            <a:off x="4318000" y="7874000"/>
            <a:ext cx="7620000" cy="304800"/>
          </a:xfrm>
          <a:prstGeom prst="rect">
            <a:avLst/>
          </a:prstGeom>
          <a:noFill/>
          <a:ln/>
        </p:spPr>
        <p:txBody>
          <a:bodyPr wrap="none" lIns="0" tIns="0" rIns="0" bIns="0" rtlCol="0" anchor="ctr"/>
          <a:lstStyle/>
          <a:p>
            <a:pPr algn="ctr">
              <a:lnSpc>
                <a:spcPct val="120000"/>
              </a:lnSpc>
            </a:pPr>
            <a:r>
              <a:rPr lang="en-US" sz="1200" spc="400" kern="0" dirty="0">
                <a:solidFill>
                  <a:srgbClr val="F6F3EE"/>
                </a:solidFill>
                <a:latin typeface="Quattrocento Sans" pitchFamily="34" charset="0"/>
                <a:ea typeface="Quattrocento Sans" pitchFamily="34" charset="-122"/>
                <a:cs typeface="Quattrocento Sans" pitchFamily="34" charset="-120"/>
              </a:rPr>
              <a:t>SUNNAH REMEDIES  ·  INSTITUTE OF PROPHETIC MEDICINE</a:t>
            </a:r>
            <a:endParaRPr lang="en-US" sz="120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SRA-001 | Module 4: Evidence-Based Medicine &amp; Research</dc:title>
  <dc:subject>SRA-001 | Module 4: Evidence-Based Medicine &amp; Research</dc:subject>
  <dc:creator>Kimi</dc:creator>
  <cp:lastModifiedBy>Kimi</cp:lastModifiedBy>
  <cp:revision>1</cp:revision>
  <dcterms:created xsi:type="dcterms:W3CDTF">2026-07-06T09:16:10Z</dcterms:created>
  <dcterms:modified xsi:type="dcterms:W3CDTF">2026-07-06T09:16:10Z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{"Label":"SRA-001 | Module 4: Evidence-Based Medicine &amp; Research","ContentProducer":"001191110108MACG2KBH8F10000","ProduceID":"19f34bbd-4782-84d8-8000-00007aae6d7b","ReservedCode1":"","ContentPropagator":"001191110108MACG2KBH8F20000","PropagateID":"19f34489-a1f2-82b2-8000-09219025796f","ReservedCode2":""}</vt:lpwstr>
  </property>
</Properties>
</file>