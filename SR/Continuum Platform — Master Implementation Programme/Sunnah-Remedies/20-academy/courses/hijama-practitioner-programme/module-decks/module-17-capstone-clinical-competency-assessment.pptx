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6256000" cy="9144000"/>
  <p:notesSz cx="9144000" cy="16256000"/>
  <p:embeddedFontLst>
    <p:embeddedFont>
      <p:font typeface="Quattrocento Sans" charset="-122" pitchFamily="34"/>
      <p:regular r:id="rId19"/>
    </p:embeddedFont>
    <p:embeddedFont>
      <p:font typeface="Oranienbaum"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4318000" y="2794000"/>
            <a:ext cx="7620000" cy="381000"/>
          </a:xfrm>
          <a:prstGeom prst="rect">
            <a:avLst/>
          </a:prstGeom>
          <a:noFill/>
          <a:ln/>
        </p:spPr>
        <p:txBody>
          <a:bodyPr wrap="none" lIns="0" tIns="0" rIns="0" bIns="0" rtlCol="0" anchor="ctr"/>
          <a:lstStyle/>
          <a:p>
            <a:pPr algn="ctr">
              <a:lnSpc>
                <a:spcPct val="120000"/>
              </a:lnSpc>
            </a:pPr>
            <a:r>
              <a:rPr lang="en-US" sz="1400" spc="400" kern="0" dirty="0">
                <a:solidFill>
                  <a:srgbClr val="F6F3EE"/>
                </a:solidFill>
                <a:latin typeface="Quattrocento Sans" pitchFamily="34" charset="0"/>
                <a:ea typeface="Quattrocento Sans" pitchFamily="34" charset="-122"/>
                <a:cs typeface="Quattrocento Sans" pitchFamily="34" charset="-120"/>
              </a:rPr>
              <a:t>SRA-001  |  MODULE 17</a:t>
            </a:r>
            <a:endParaRPr lang="en-US" sz="1400" dirty="0"/>
          </a:p>
        </p:txBody>
      </p:sp>
      <p:sp>
        <p:nvSpPr>
          <p:cNvPr id="3" name="Shape 1"/>
          <p:cNvSpPr/>
          <p:nvPr/>
        </p:nvSpPr>
        <p:spPr>
          <a:xfrm>
            <a:off x="6858000" y="3365500"/>
            <a:ext cx="2540000" cy="12700"/>
          </a:xfrm>
          <a:prstGeom prst="rect">
            <a:avLst/>
          </a:prstGeom>
          <a:solidFill>
            <a:srgbClr val="C7A25A"/>
          </a:solidFill>
          <a:ln/>
        </p:spPr>
      </p:sp>
      <p:sp>
        <p:nvSpPr>
          <p:cNvPr id="4" name="Text 2"/>
          <p:cNvSpPr/>
          <p:nvPr/>
        </p:nvSpPr>
        <p:spPr>
          <a:xfrm>
            <a:off x="1778000" y="3683000"/>
            <a:ext cx="12700000" cy="889000"/>
          </a:xfrm>
          <a:prstGeom prst="rect">
            <a:avLst/>
          </a:prstGeom>
          <a:noFill/>
          <a:ln/>
        </p:spPr>
        <p:txBody>
          <a:bodyPr wrap="none" lIns="0" tIns="0" rIns="0" bIns="0" rtlCol="0" anchor="ctr"/>
          <a:lstStyle/>
          <a:p>
            <a:pPr algn="ctr">
              <a:lnSpc>
                <a:spcPct val="120000"/>
              </a:lnSpc>
            </a:pPr>
            <a:r>
              <a:rPr lang="en-US" sz="4800" dirty="0">
                <a:solidFill>
                  <a:srgbClr val="F6F3EE"/>
                </a:solidFill>
                <a:latin typeface="Oranienbaum" pitchFamily="34" charset="0"/>
                <a:ea typeface="Oranienbaum" pitchFamily="34" charset="-122"/>
                <a:cs typeface="Oranienbaum" pitchFamily="34" charset="-120"/>
              </a:rPr>
              <a:t>Capstone: Clinical Competency</a:t>
            </a:r>
            <a:endParaRPr lang="en-US" sz="4800" dirty="0"/>
          </a:p>
        </p:txBody>
      </p:sp>
      <p:sp>
        <p:nvSpPr>
          <p:cNvPr id="5" name="Text 3"/>
          <p:cNvSpPr/>
          <p:nvPr/>
        </p:nvSpPr>
        <p:spPr>
          <a:xfrm>
            <a:off x="3048000" y="4826000"/>
            <a:ext cx="10160000" cy="381000"/>
          </a:xfrm>
          <a:prstGeom prst="rect">
            <a:avLst/>
          </a:prstGeom>
          <a:noFill/>
          <a:ln/>
        </p:spPr>
        <p:txBody>
          <a:bodyPr wrap="none" lIns="0" tIns="0" rIns="0" bIns="0" rtlCol="0" anchor="ctr"/>
          <a:lstStyle/>
          <a:p>
            <a:pPr algn="ctr">
              <a:lnSpc>
                <a:spcPct val="120000"/>
              </a:lnSpc>
            </a:pPr>
            <a:r>
              <a:rPr lang="en-US" sz="1800" spc="200" kern="0" dirty="0">
                <a:solidFill>
                  <a:srgbClr val="C7A25A"/>
                </a:solidFill>
                <a:latin typeface="Quattrocento Sans" pitchFamily="34" charset="0"/>
                <a:ea typeface="Quattrocento Sans" pitchFamily="34" charset="-122"/>
                <a:cs typeface="Quattrocento Sans" pitchFamily="34" charset="-120"/>
              </a:rPr>
              <a:t>Assessment, Certification, and the Beginning of Your Journey</a:t>
            </a:r>
            <a:endParaRPr lang="en-US" sz="1800" dirty="0"/>
          </a:p>
        </p:txBody>
      </p:sp>
      <p:sp>
        <p:nvSpPr>
          <p:cNvPr id="6" name="Shape 4"/>
          <p:cNvSpPr/>
          <p:nvPr/>
        </p:nvSpPr>
        <p:spPr>
          <a:xfrm>
            <a:off x="6858000" y="5524500"/>
            <a:ext cx="2540000" cy="12700"/>
          </a:xfrm>
          <a:prstGeom prst="rect">
            <a:avLst/>
          </a:prstGeom>
          <a:solidFill>
            <a:srgbClr val="C7A25A"/>
          </a:solidFill>
          <a:ln/>
        </p:spPr>
      </p:sp>
      <p:sp>
        <p:nvSpPr>
          <p:cNvPr id="7" name="Text 5"/>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635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Module Contents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Shape 6"/>
          <p:cNvSpPr/>
          <p:nvPr/>
        </p:nvSpPr>
        <p:spPr>
          <a:xfrm>
            <a:off x="762000" y="1778000"/>
            <a:ext cx="7112000" cy="2921000"/>
          </a:xfrm>
          <a:prstGeom prst="rect">
            <a:avLst/>
          </a:prstGeom>
          <a:solidFill>
            <a:srgbClr val="0E3B2E"/>
          </a:solidFill>
          <a:ln/>
        </p:spPr>
      </p:sp>
      <p:sp>
        <p:nvSpPr>
          <p:cNvPr id="9" name="Text 7"/>
          <p:cNvSpPr/>
          <p:nvPr/>
        </p:nvSpPr>
        <p:spPr>
          <a:xfrm>
            <a:off x="1016000" y="1905000"/>
            <a:ext cx="762000" cy="508000"/>
          </a:xfrm>
          <a:prstGeom prst="rect">
            <a:avLst/>
          </a:prstGeom>
          <a:noFill/>
          <a:ln/>
        </p:spPr>
        <p:txBody>
          <a:bodyPr wrap="none" lIns="0" tIns="0" rIns="0" bIns="0" rtlCol="0" anchor="ctr"/>
          <a:lstStyle/>
          <a:p>
            <a:pPr algn="l">
              <a:lnSpc>
                <a:spcPct val="120000"/>
              </a:lnSpc>
            </a:pPr>
            <a:r>
              <a:rPr lang="en-US" sz="3200" dirty="0">
                <a:solidFill>
                  <a:srgbClr val="C7A25A"/>
                </a:solidFill>
                <a:latin typeface="Oranienbaum" pitchFamily="34" charset="0"/>
                <a:ea typeface="Oranienbaum" pitchFamily="34" charset="-122"/>
                <a:cs typeface="Oranienbaum" pitchFamily="34" charset="-120"/>
              </a:rPr>
              <a:t>01</a:t>
            </a:r>
            <a:endParaRPr lang="en-US" sz="3200" dirty="0"/>
          </a:p>
        </p:txBody>
      </p:sp>
      <p:sp>
        <p:nvSpPr>
          <p:cNvPr id="10" name="Text 8"/>
          <p:cNvSpPr/>
          <p:nvPr/>
        </p:nvSpPr>
        <p:spPr>
          <a:xfrm>
            <a:off x="1016000" y="2476500"/>
            <a:ext cx="6604000" cy="381000"/>
          </a:xfrm>
          <a:prstGeom prst="rect">
            <a:avLst/>
          </a:prstGeom>
          <a:noFill/>
          <a:ln/>
        </p:spPr>
        <p:txBody>
          <a:bodyPr wrap="none" lIns="0" tIns="0" rIns="0" bIns="0" rtlCol="0" anchor="ctr"/>
          <a:lstStyle/>
          <a:p>
            <a:pPr algn="l">
              <a:lnSpc>
                <a:spcPct val="120000"/>
              </a:lnSpc>
            </a:pPr>
            <a:r>
              <a:rPr lang="en-US" sz="1800" dirty="0">
                <a:solidFill>
                  <a:srgbClr val="F6F3EE"/>
                </a:solidFill>
                <a:latin typeface="Oranienbaum" pitchFamily="34" charset="0"/>
                <a:ea typeface="Oranienbaum" pitchFamily="34" charset="-122"/>
                <a:cs typeface="Oranienbaum" pitchFamily="34" charset="-120"/>
              </a:rPr>
              <a:t>Assessment Overview and Preparation</a:t>
            </a:r>
            <a:endParaRPr lang="en-US" sz="1800" dirty="0"/>
          </a:p>
        </p:txBody>
      </p:sp>
      <p:sp>
        <p:nvSpPr>
          <p:cNvPr id="11" name="Text 9"/>
          <p:cNvSpPr/>
          <p:nvPr/>
        </p:nvSpPr>
        <p:spPr>
          <a:xfrm>
            <a:off x="1016000" y="2921000"/>
            <a:ext cx="6604000" cy="1587500"/>
          </a:xfrm>
          <a:prstGeom prst="rect">
            <a:avLst/>
          </a:prstGeom>
          <a:noFill/>
          <a:ln/>
        </p:spPr>
        <p:txBody>
          <a:bodyPr wrap="square" lIns="0" tIns="0" rIns="0" bIns="0" rtlCol="0" anchor="t"/>
          <a:lstStyle/>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 Written examination format and content</a:t>
            </a:r>
            <a:endParaRPr lang="en-US" sz="1200" dirty="0"/>
          </a:p>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 Dry cupping practical demonstration</a:t>
            </a:r>
            <a:endParaRPr lang="en-US" sz="1200" dirty="0"/>
          </a:p>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 Wet cupping practical demonstration</a:t>
            </a:r>
            <a:endParaRPr lang="en-US" sz="1200" dirty="0"/>
          </a:p>
        </p:txBody>
      </p:sp>
      <p:sp>
        <p:nvSpPr>
          <p:cNvPr id="12" name="Shape 10"/>
          <p:cNvSpPr/>
          <p:nvPr/>
        </p:nvSpPr>
        <p:spPr>
          <a:xfrm>
            <a:off x="8382000" y="1778000"/>
            <a:ext cx="7112000" cy="2921000"/>
          </a:xfrm>
          <a:prstGeom prst="rect">
            <a:avLst/>
          </a:prstGeom>
          <a:solidFill>
            <a:srgbClr val="F0EDE7"/>
          </a:solidFill>
          <a:ln/>
        </p:spPr>
      </p:sp>
      <p:sp>
        <p:nvSpPr>
          <p:cNvPr id="13" name="Text 11"/>
          <p:cNvSpPr/>
          <p:nvPr/>
        </p:nvSpPr>
        <p:spPr>
          <a:xfrm>
            <a:off x="8636000" y="1905000"/>
            <a:ext cx="762000" cy="508000"/>
          </a:xfrm>
          <a:prstGeom prst="rect">
            <a:avLst/>
          </a:prstGeom>
          <a:noFill/>
          <a:ln/>
        </p:spPr>
        <p:txBody>
          <a:bodyPr wrap="none" lIns="0" tIns="0" rIns="0" bIns="0" rtlCol="0" anchor="ctr"/>
          <a:lstStyle/>
          <a:p>
            <a:pPr algn="l">
              <a:lnSpc>
                <a:spcPct val="120000"/>
              </a:lnSpc>
            </a:pPr>
            <a:r>
              <a:rPr lang="en-US" sz="3200" dirty="0">
                <a:solidFill>
                  <a:srgbClr val="0E3B2E"/>
                </a:solidFill>
                <a:latin typeface="Oranienbaum" pitchFamily="34" charset="0"/>
                <a:ea typeface="Oranienbaum" pitchFamily="34" charset="-122"/>
                <a:cs typeface="Oranienbaum" pitchFamily="34" charset="-120"/>
              </a:rPr>
              <a:t>02</a:t>
            </a:r>
            <a:endParaRPr lang="en-US" sz="3200" dirty="0"/>
          </a:p>
        </p:txBody>
      </p:sp>
      <p:sp>
        <p:nvSpPr>
          <p:cNvPr id="14" name="Text 12"/>
          <p:cNvSpPr/>
          <p:nvPr/>
        </p:nvSpPr>
        <p:spPr>
          <a:xfrm>
            <a:off x="8636000" y="2476500"/>
            <a:ext cx="6604000" cy="381000"/>
          </a:xfrm>
          <a:prstGeom prst="rect">
            <a:avLst/>
          </a:prstGeom>
          <a:noFill/>
          <a:ln/>
        </p:spPr>
        <p:txBody>
          <a:bodyPr wrap="none" lIns="0" tIns="0" rIns="0" bIns="0" rtlCol="0" anchor="ctr"/>
          <a:lstStyle/>
          <a:p>
            <a:pPr algn="l">
              <a:lnSpc>
                <a:spcPct val="120000"/>
              </a:lnSpc>
            </a:pPr>
            <a:r>
              <a:rPr lang="en-US" sz="1800" dirty="0">
                <a:solidFill>
                  <a:srgbClr val="0E3B2E"/>
                </a:solidFill>
                <a:latin typeface="Oranienbaum" pitchFamily="34" charset="0"/>
                <a:ea typeface="Oranienbaum" pitchFamily="34" charset="-122"/>
                <a:cs typeface="Oranienbaum" pitchFamily="34" charset="-120"/>
              </a:rPr>
              <a:t>Clinical Simulation and Certification</a:t>
            </a:r>
            <a:endParaRPr lang="en-US" sz="1800" dirty="0"/>
          </a:p>
        </p:txBody>
      </p:sp>
      <p:sp>
        <p:nvSpPr>
          <p:cNvPr id="15" name="Text 13"/>
          <p:cNvSpPr/>
          <p:nvPr/>
        </p:nvSpPr>
        <p:spPr>
          <a:xfrm>
            <a:off x="8636000" y="2921000"/>
            <a:ext cx="6604000" cy="1587500"/>
          </a:xfrm>
          <a:prstGeom prst="rect">
            <a:avLst/>
          </a:prstGeom>
          <a:noFill/>
          <a:ln/>
        </p:spPr>
        <p:txBody>
          <a:bodyPr wrap="square" lIns="0" tIns="0" rIns="0" bIns="0" rtlCol="0" anchor="t"/>
          <a:lstStyle/>
          <a:p>
            <a:pPr algn="l">
              <a:lnSpc>
                <a:spcPct val="160000"/>
              </a:lnSpc>
            </a:pPr>
            <a:r>
              <a:rPr lang="en-US" sz="1200" dirty="0">
                <a:solidFill>
                  <a:srgbClr val="1A1A1A"/>
                </a:solidFill>
                <a:latin typeface="Quattrocento Sans" pitchFamily="34" charset="0"/>
                <a:ea typeface="Quattrocento Sans" pitchFamily="34" charset="-122"/>
                <a:cs typeface="Quattrocento Sans" pitchFamily="34" charset="-120"/>
              </a:rPr>
              <a:t>• Simulated patient consultation</a:t>
            </a:r>
            <a:endParaRPr lang="en-US" sz="1200" dirty="0"/>
          </a:p>
          <a:p>
            <a:pPr algn="l">
              <a:lnSpc>
                <a:spcPct val="160000"/>
              </a:lnSpc>
            </a:pPr>
            <a:r>
              <a:rPr lang="en-US" sz="1200" dirty="0">
                <a:solidFill>
                  <a:srgbClr val="1A1A1A"/>
                </a:solidFill>
                <a:latin typeface="Quattrocento Sans" pitchFamily="34" charset="0"/>
                <a:ea typeface="Quattrocento Sans" pitchFamily="34" charset="-122"/>
                <a:cs typeface="Quattrocento Sans" pitchFamily="34" charset="-120"/>
              </a:rPr>
              <a:t>• Safety and emergency protocols</a:t>
            </a:r>
            <a:endParaRPr lang="en-US" sz="1200" dirty="0"/>
          </a:p>
          <a:p>
            <a:pPr algn="l">
              <a:lnSpc>
                <a:spcPct val="160000"/>
              </a:lnSpc>
            </a:pPr>
            <a:r>
              <a:rPr lang="en-US" sz="1200" dirty="0">
                <a:solidFill>
                  <a:srgbClr val="1A1A1A"/>
                </a:solidFill>
                <a:latin typeface="Quattrocento Sans" pitchFamily="34" charset="0"/>
                <a:ea typeface="Quattrocento Sans" pitchFamily="34" charset="-122"/>
                <a:cs typeface="Quattrocento Sans" pitchFamily="34" charset="-120"/>
              </a:rPr>
              <a:t>• Certification and next steps</a:t>
            </a:r>
            <a:endParaRPr lang="en-US" sz="1200" dirty="0"/>
          </a:p>
        </p:txBody>
      </p:sp>
      <p:sp>
        <p:nvSpPr>
          <p:cNvPr id="16" name="Text 14"/>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02</a:t>
            </a:r>
            <a:endParaRPr lang="en-US" sz="11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01</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1430000" cy="762000"/>
          </a:xfrm>
          <a:prstGeom prst="rect">
            <a:avLst/>
          </a:prstGeom>
          <a:noFill/>
          <a:ln/>
        </p:spPr>
        <p:txBody>
          <a:bodyPr wrap="none" lIns="0" tIns="0" rIns="0" bIns="0" rtlCol="0" anchor="ctr"/>
          <a:lstStyle/>
          <a:p>
            <a:pPr algn="l">
              <a:lnSpc>
                <a:spcPct val="115000"/>
              </a:lnSpc>
            </a:pPr>
            <a:r>
              <a:rPr lang="en-US" sz="3600" dirty="0">
                <a:solidFill>
                  <a:srgbClr val="F6F3EE"/>
                </a:solidFill>
                <a:latin typeface="Oranienbaum" pitchFamily="34" charset="0"/>
                <a:ea typeface="Oranienbaum" pitchFamily="34" charset="-122"/>
                <a:cs typeface="Oranienbaum" pitchFamily="34" charset="-120"/>
              </a:rPr>
              <a:t>Assessment Overview and Preparation</a:t>
            </a:r>
            <a:endParaRPr lang="en-US" sz="36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Written and Practical Examinations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Written Examination</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EXAMINATION FORMAT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1651000"/>
        </p:xfrm>
        <a:graphic>
          <a:graphicData uri="http://schemas.openxmlformats.org/drawingml/2006/table">
            <a:tbl>
              <a:tblPr/>
              <a:tblGrid>
                <a:gridCol w="4833"/>
                <a:gridCol w="4189"/>
                <a:gridCol w="4833"/>
                <a:gridCol w="4833"/>
              </a:tblGrid>
              <a:tr h="46228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Component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Details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Pass Mark</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Time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84201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Written exam</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100 multiple-choice questions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70% (70/100)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 hours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84201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Retake policy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One free retake within 6 months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70% required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Book via SRA portal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bl>
          </a:graphicData>
        </a:graphic>
      </p:graphicFrame>
      <p:sp>
        <p:nvSpPr>
          <p:cNvPr id="10" name="Text 7"/>
          <p:cNvSpPr/>
          <p:nvPr/>
        </p:nvSpPr>
        <p:spPr>
          <a:xfrm>
            <a:off x="762000" y="3873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CONTENT AREA BREAKDOWN</a:t>
            </a:r>
            <a:endParaRPr lang="en-US" sz="1200" dirty="0"/>
          </a:p>
        </p:txBody>
      </p:sp>
      <p:sp>
        <p:nvSpPr>
          <p:cNvPr id="11" name="Shape 8"/>
          <p:cNvSpPr/>
          <p:nvPr/>
        </p:nvSpPr>
        <p:spPr>
          <a:xfrm>
            <a:off x="762000" y="4292600"/>
            <a:ext cx="3492500" cy="1270000"/>
          </a:xfrm>
          <a:prstGeom prst="rect">
            <a:avLst/>
          </a:prstGeom>
          <a:solidFill>
            <a:srgbClr val="0E3B2E"/>
          </a:solidFill>
          <a:ln/>
        </p:spPr>
      </p:sp>
      <p:sp>
        <p:nvSpPr>
          <p:cNvPr id="12" name="Text 9"/>
          <p:cNvSpPr/>
          <p:nvPr/>
        </p:nvSpPr>
        <p:spPr>
          <a:xfrm>
            <a:off x="914400" y="4381500"/>
            <a:ext cx="3175000" cy="10922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Theory (25%)</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History, Islamic basis, meridian theory, physiology of cupping</a:t>
            </a:r>
            <a:endParaRPr lang="en-US" sz="1000" dirty="0"/>
          </a:p>
        </p:txBody>
      </p:sp>
      <p:sp>
        <p:nvSpPr>
          <p:cNvPr id="13" name="Shape 10"/>
          <p:cNvSpPr/>
          <p:nvPr/>
        </p:nvSpPr>
        <p:spPr>
          <a:xfrm>
            <a:off x="4508500" y="4292600"/>
            <a:ext cx="3492500" cy="1270000"/>
          </a:xfrm>
          <a:prstGeom prst="rect">
            <a:avLst/>
          </a:prstGeom>
          <a:solidFill>
            <a:srgbClr val="F0EDE7"/>
          </a:solidFill>
          <a:ln/>
        </p:spPr>
      </p:sp>
      <p:sp>
        <p:nvSpPr>
          <p:cNvPr id="14" name="Text 11"/>
          <p:cNvSpPr/>
          <p:nvPr/>
        </p:nvSpPr>
        <p:spPr>
          <a:xfrm>
            <a:off x="4660900" y="4381500"/>
            <a:ext cx="3175000" cy="10922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Technique (30%)</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Dry, wet, moving, flash cupping, point selection, sequencing</a:t>
            </a:r>
            <a:endParaRPr lang="en-US" sz="1000" dirty="0"/>
          </a:p>
        </p:txBody>
      </p:sp>
      <p:sp>
        <p:nvSpPr>
          <p:cNvPr id="15" name="Shape 12"/>
          <p:cNvSpPr/>
          <p:nvPr/>
        </p:nvSpPr>
        <p:spPr>
          <a:xfrm>
            <a:off x="8255000" y="4292600"/>
            <a:ext cx="3492500" cy="1270000"/>
          </a:xfrm>
          <a:prstGeom prst="rect">
            <a:avLst/>
          </a:prstGeom>
          <a:solidFill>
            <a:srgbClr val="0E3B2E"/>
          </a:solidFill>
          <a:ln/>
        </p:spPr>
      </p:sp>
      <p:sp>
        <p:nvSpPr>
          <p:cNvPr id="16" name="Text 13"/>
          <p:cNvSpPr/>
          <p:nvPr/>
        </p:nvSpPr>
        <p:spPr>
          <a:xfrm>
            <a:off x="8407400" y="4381500"/>
            <a:ext cx="3175000" cy="10922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Safety (25%)</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Infection control, contraindications, adverse events, emergency</a:t>
            </a:r>
            <a:endParaRPr lang="en-US" sz="1000" dirty="0"/>
          </a:p>
        </p:txBody>
      </p:sp>
      <p:sp>
        <p:nvSpPr>
          <p:cNvPr id="17" name="Shape 14"/>
          <p:cNvSpPr/>
          <p:nvPr/>
        </p:nvSpPr>
        <p:spPr>
          <a:xfrm>
            <a:off x="12001500" y="4292600"/>
            <a:ext cx="3492500" cy="1270000"/>
          </a:xfrm>
          <a:prstGeom prst="rect">
            <a:avLst/>
          </a:prstGeom>
          <a:solidFill>
            <a:srgbClr val="F0EDE7"/>
          </a:solidFill>
          <a:ln/>
        </p:spPr>
      </p:sp>
      <p:sp>
        <p:nvSpPr>
          <p:cNvPr id="18" name="Text 15"/>
          <p:cNvSpPr/>
          <p:nvPr/>
        </p:nvSpPr>
        <p:spPr>
          <a:xfrm>
            <a:off x="12153900" y="4381500"/>
            <a:ext cx="3175000" cy="10922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Professional (20%)</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Ethics, consent, scope, business, legal, research literacy</a:t>
            </a:r>
            <a:endParaRPr lang="en-US" sz="1000" dirty="0"/>
          </a:p>
        </p:txBody>
      </p:sp>
      <p:sp>
        <p:nvSpPr>
          <p:cNvPr id="19" name="Text 16"/>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04</a:t>
            </a:r>
            <a:endParaRPr lang="en-US" sz="11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Practical: Dry Cupping Assessment</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ASSESSMENT CRITERIA</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2222500"/>
        </p:xfrm>
        <a:graphic>
          <a:graphicData uri="http://schemas.openxmlformats.org/drawingml/2006/table">
            <a:tbl>
              <a:tblPr/>
              <a:tblGrid>
                <a:gridCol w="4511"/>
                <a:gridCol w="7089"/>
                <a:gridCol w="3544"/>
                <a:gridCol w="3544"/>
              </a:tblGrid>
              <a:tr h="62230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Criterion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What Examiners Look For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Points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Pass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Preparation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Hand hygiene, patient positioning, equipment check, consent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7/10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Technique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Correct cup placement, appropriate suction, monitoring, removal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14/20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Communication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Explains procedure, checks comfort, aftercare advice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7/10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0" name="Shape 7"/>
          <p:cNvSpPr/>
          <p:nvPr/>
        </p:nvSpPr>
        <p:spPr>
          <a:xfrm>
            <a:off x="762000" y="4445000"/>
            <a:ext cx="14732000" cy="1270000"/>
          </a:xfrm>
          <a:prstGeom prst="rect">
            <a:avLst/>
          </a:prstGeom>
          <a:solidFill>
            <a:srgbClr val="F0EDE7"/>
          </a:solidFill>
          <a:ln/>
        </p:spPr>
      </p:sp>
      <p:sp>
        <p:nvSpPr>
          <p:cNvPr id="11" name="Text 8"/>
          <p:cNvSpPr/>
          <p:nvPr/>
        </p:nvSpPr>
        <p:spPr>
          <a:xfrm>
            <a:off x="952500" y="45466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0E3B2E"/>
                </a:solidFill>
                <a:latin typeface="Quattrocento Sans" pitchFamily="34" charset="0"/>
                <a:ea typeface="Quattrocento Sans" pitchFamily="34" charset="-122"/>
                <a:cs typeface="Quattrocento Sans" pitchFamily="34" charset="-120"/>
              </a:rPr>
              <a:t>EXAMINER TIPS</a:t>
            </a:r>
            <a:endParaRPr lang="en-US" sz="1100" dirty="0"/>
          </a:p>
        </p:txBody>
      </p:sp>
      <p:sp>
        <p:nvSpPr>
          <p:cNvPr id="12" name="Text 9"/>
          <p:cNvSpPr/>
          <p:nvPr/>
        </p:nvSpPr>
        <p:spPr>
          <a:xfrm>
            <a:off x="952500" y="4851400"/>
            <a:ext cx="14351000" cy="762000"/>
          </a:xfrm>
          <a:prstGeom prst="rect">
            <a:avLst/>
          </a:prstGeom>
          <a:noFill/>
          <a:ln/>
        </p:spPr>
        <p:txBody>
          <a:bodyPr wrap="square" lIns="0" tIns="0" rIns="0" bIns="0" rtlCol="0" anchor="t"/>
          <a:lstStyle/>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Narrate your actions — examiners cannot read your mind  •  Check patient comfort at least twice during the session  •  Time management: 15 minutes total for dry cupping demonstration</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If you make an error, acknowledge it and correct it — this shows professionalism  •  Clean and pack up equipment properly — this is part of the assessment</a:t>
            </a:r>
            <a:endParaRPr lang="en-US" sz="1000" dirty="0"/>
          </a:p>
        </p:txBody>
      </p:sp>
      <p:sp>
        <p:nvSpPr>
          <p:cNvPr id="13" name="Text 10"/>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05</a:t>
            </a:r>
            <a:endParaRPr lang="en-US" sz="11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Practical: Wet Cupping Assessment</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ASSESSMENT CRITERIA</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2222500"/>
        </p:xfrm>
        <a:graphic>
          <a:graphicData uri="http://schemas.openxmlformats.org/drawingml/2006/table">
            <a:tbl>
              <a:tblPr/>
              <a:tblGrid>
                <a:gridCol w="4511"/>
                <a:gridCol w="7089"/>
                <a:gridCol w="3544"/>
                <a:gridCol w="3544"/>
              </a:tblGrid>
              <a:tr h="62230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Criterion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What Examiners Look For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Points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Pass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Sterile technique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Skin prep, blade handling, no-touch technique, waste disposal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14/20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Incision skill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Correct depth, angle, spacing, minimal tissue trauma</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14/20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119.09722222222221">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Wound care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Cleaning, dressing, aftercare advice, documentation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7/10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0" name="Shape 7"/>
          <p:cNvSpPr/>
          <p:nvPr/>
        </p:nvSpPr>
        <p:spPr>
          <a:xfrm>
            <a:off x="762000" y="4445000"/>
            <a:ext cx="14732000" cy="1270000"/>
          </a:xfrm>
          <a:prstGeom prst="rect">
            <a:avLst/>
          </a:prstGeom>
          <a:solidFill>
            <a:srgbClr val="8B1A1A"/>
          </a:solidFill>
          <a:ln/>
        </p:spPr>
      </p:sp>
      <p:sp>
        <p:nvSpPr>
          <p:cNvPr id="11" name="Text 8"/>
          <p:cNvSpPr/>
          <p:nvPr/>
        </p:nvSpPr>
        <p:spPr>
          <a:xfrm>
            <a:off x="1016000" y="45466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F6F3EE"/>
                </a:solidFill>
                <a:latin typeface="Quattrocento Sans" pitchFamily="34" charset="0"/>
                <a:ea typeface="Quattrocento Sans" pitchFamily="34" charset="-122"/>
                <a:cs typeface="Quattrocento Sans" pitchFamily="34" charset="-120"/>
              </a:rPr>
              <a:t>CRITICAL FAILURES</a:t>
            </a:r>
            <a:endParaRPr lang="en-US" sz="1100" dirty="0"/>
          </a:p>
        </p:txBody>
      </p:sp>
      <p:sp>
        <p:nvSpPr>
          <p:cNvPr id="12" name="Text 9"/>
          <p:cNvSpPr/>
          <p:nvPr/>
        </p:nvSpPr>
        <p:spPr>
          <a:xfrm>
            <a:off x="1016000" y="4851400"/>
            <a:ext cx="14224000" cy="762000"/>
          </a:xfrm>
          <a:prstGeom prst="rect">
            <a:avLst/>
          </a:prstGeom>
          <a:noFill/>
          <a:ln/>
        </p:spPr>
        <p:txBody>
          <a:bodyPr wrap="square" lIns="0" tIns="0" rIns="0" bIns="0" rtlCol="0" anchor="t"/>
          <a:lstStyle/>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Reusing a blade or cup without sterilisation  •  Incising without patient consent  •  Incising contraindicated areas (spine, neck, face)  •  Failing to stop when patient reports severe pain</a:t>
            </a:r>
            <a:endParaRPr lang="en-US" sz="1000" dirty="0"/>
          </a:p>
          <a:p>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Any of these results in automatic failure regardless of other performance. Safety is non-negotiable.</a:t>
            </a:r>
            <a:endParaRPr lang="en-US" sz="1000" dirty="0"/>
          </a:p>
        </p:txBody>
      </p:sp>
      <p:sp>
        <p:nvSpPr>
          <p:cNvPr id="13" name="Text 10"/>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06</a:t>
            </a:r>
            <a:endParaRPr lang="en-US" sz="11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02</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1430000" cy="762000"/>
          </a:xfrm>
          <a:prstGeom prst="rect">
            <a:avLst/>
          </a:prstGeom>
          <a:noFill/>
          <a:ln/>
        </p:spPr>
        <p:txBody>
          <a:bodyPr wrap="none" lIns="0" tIns="0" rIns="0" bIns="0" rtlCol="0" anchor="ctr"/>
          <a:lstStyle/>
          <a:p>
            <a:pPr algn="l">
              <a:lnSpc>
                <a:spcPct val="115000"/>
              </a:lnSpc>
            </a:pPr>
            <a:r>
              <a:rPr lang="en-US" sz="3600" dirty="0">
                <a:solidFill>
                  <a:srgbClr val="F6F3EE"/>
                </a:solidFill>
                <a:latin typeface="Oranienbaum" pitchFamily="34" charset="0"/>
                <a:ea typeface="Oranienbaum" pitchFamily="34" charset="-122"/>
                <a:cs typeface="Oranienbaum" pitchFamily="34" charset="-120"/>
              </a:rPr>
              <a:t>Clinical Simulation and Certification</a:t>
            </a:r>
            <a:endParaRPr lang="en-US" sz="36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Patient Consultation, Safety Protocols, and Your SRA-001 Credential</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Simulated Patient Consultation</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SIMULATION SCENARIOS</a:t>
            </a:r>
            <a:endParaRPr lang="en-US" sz="1200" dirty="0"/>
          </a:p>
        </p:txBody>
      </p:sp>
      <p:sp>
        <p:nvSpPr>
          <p:cNvPr id="9" name="Shape 7"/>
          <p:cNvSpPr/>
          <p:nvPr/>
        </p:nvSpPr>
        <p:spPr>
          <a:xfrm>
            <a:off x="762000" y="2006600"/>
            <a:ext cx="4699000" cy="1778000"/>
          </a:xfrm>
          <a:prstGeom prst="rect">
            <a:avLst/>
          </a:prstGeom>
          <a:solidFill>
            <a:srgbClr val="0E3B2E"/>
          </a:solidFill>
          <a:ln/>
        </p:spPr>
      </p:sp>
      <p:sp>
        <p:nvSpPr>
          <p:cNvPr id="10" name="Text 8"/>
          <p:cNvSpPr/>
          <p:nvPr/>
        </p:nvSpPr>
        <p:spPr>
          <a:xfrm>
            <a:off x="952500" y="2082800"/>
            <a:ext cx="4318000" cy="279400"/>
          </a:xfrm>
          <a:prstGeom prst="rect">
            <a:avLst/>
          </a:prstGeom>
          <a:noFill/>
          <a:ln/>
        </p:spPr>
        <p:txBody>
          <a:bodyPr wrap="none" lIns="0" tIns="0" rIns="0" bIns="0" rtlCol="0" anchor="ctr"/>
          <a:lstStyle/>
          <a:p>
            <a:pPr algn="l">
              <a:lnSpc>
                <a:spcPct val="120000"/>
              </a:lnSpc>
            </a:pPr>
            <a:r>
              <a:rPr lang="en-US" sz="1300" dirty="0">
                <a:solidFill>
                  <a:srgbClr val="C7A25A"/>
                </a:solidFill>
                <a:latin typeface="Oranienbaum" pitchFamily="34" charset="0"/>
                <a:ea typeface="Oranienbaum" pitchFamily="34" charset="-122"/>
                <a:cs typeface="Oranienbaum" pitchFamily="34" charset="-120"/>
              </a:rPr>
              <a:t>Scenario A: Chronic Pain</a:t>
            </a:r>
            <a:endParaRPr lang="en-US" sz="1300" dirty="0"/>
          </a:p>
        </p:txBody>
      </p:sp>
      <p:sp>
        <p:nvSpPr>
          <p:cNvPr id="11" name="Text 9"/>
          <p:cNvSpPr/>
          <p:nvPr/>
        </p:nvSpPr>
        <p:spPr>
          <a:xfrm>
            <a:off x="952500" y="2413000"/>
            <a:ext cx="4318000" cy="12700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52-year-old male, lower back pain 5 years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History of hypertension, on medication</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Previous surgery: appendectomy</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Expects immediate relief</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Assess, plan treatment, manage expectations</a:t>
            </a:r>
            <a:endParaRPr lang="en-US" sz="900" dirty="0"/>
          </a:p>
        </p:txBody>
      </p:sp>
      <p:sp>
        <p:nvSpPr>
          <p:cNvPr id="12" name="Shape 10"/>
          <p:cNvSpPr/>
          <p:nvPr/>
        </p:nvSpPr>
        <p:spPr>
          <a:xfrm>
            <a:off x="5715000" y="2006600"/>
            <a:ext cx="4699000" cy="1778000"/>
          </a:xfrm>
          <a:prstGeom prst="rect">
            <a:avLst/>
          </a:prstGeom>
          <a:solidFill>
            <a:srgbClr val="F0EDE7"/>
          </a:solidFill>
          <a:ln/>
        </p:spPr>
      </p:sp>
      <p:sp>
        <p:nvSpPr>
          <p:cNvPr id="13" name="Text 11"/>
          <p:cNvSpPr/>
          <p:nvPr/>
        </p:nvSpPr>
        <p:spPr>
          <a:xfrm>
            <a:off x="5905500" y="2082800"/>
            <a:ext cx="4318000" cy="279400"/>
          </a:xfrm>
          <a:prstGeom prst="rect">
            <a:avLst/>
          </a:prstGeom>
          <a:noFill/>
          <a:ln/>
        </p:spPr>
        <p:txBody>
          <a:bodyPr wrap="none" lIns="0" tIns="0" rIns="0" bIns="0" rtlCol="0" anchor="ctr"/>
          <a:lstStyle/>
          <a:p>
            <a:pPr algn="l">
              <a:lnSpc>
                <a:spcPct val="120000"/>
              </a:lnSpc>
            </a:pPr>
            <a:r>
              <a:rPr lang="en-US" sz="1300" dirty="0">
                <a:solidFill>
                  <a:srgbClr val="0E3B2E"/>
                </a:solidFill>
                <a:latin typeface="Oranienbaum" pitchFamily="34" charset="0"/>
                <a:ea typeface="Oranienbaum" pitchFamily="34" charset="-122"/>
                <a:cs typeface="Oranienbaum" pitchFamily="34" charset="-120"/>
              </a:rPr>
              <a:t>Scenario B: Women's Health</a:t>
            </a:r>
            <a:endParaRPr lang="en-US" sz="1300" dirty="0"/>
          </a:p>
        </p:txBody>
      </p:sp>
      <p:sp>
        <p:nvSpPr>
          <p:cNvPr id="14" name="Text 12"/>
          <p:cNvSpPr/>
          <p:nvPr/>
        </p:nvSpPr>
        <p:spPr>
          <a:xfrm>
            <a:off x="5905500" y="2413000"/>
            <a:ext cx="4318000" cy="12700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28-year-old female, migraines with menses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Iron deficiency, takes supplements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Wants wet cupping for general wellness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Asks about fertility benefits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Screen, consent, set boundaries</a:t>
            </a:r>
            <a:endParaRPr lang="en-US" sz="900" dirty="0"/>
          </a:p>
        </p:txBody>
      </p:sp>
      <p:sp>
        <p:nvSpPr>
          <p:cNvPr id="15" name="Shape 13"/>
          <p:cNvSpPr/>
          <p:nvPr/>
        </p:nvSpPr>
        <p:spPr>
          <a:xfrm>
            <a:off x="10668000" y="2006600"/>
            <a:ext cx="4826000" cy="1778000"/>
          </a:xfrm>
          <a:prstGeom prst="rect">
            <a:avLst/>
          </a:prstGeom>
          <a:solidFill>
            <a:srgbClr val="0E3B2E"/>
          </a:solidFill>
          <a:ln/>
        </p:spPr>
      </p:sp>
      <p:sp>
        <p:nvSpPr>
          <p:cNvPr id="16" name="Text 14"/>
          <p:cNvSpPr/>
          <p:nvPr/>
        </p:nvSpPr>
        <p:spPr>
          <a:xfrm>
            <a:off x="10858500" y="2082800"/>
            <a:ext cx="4445000" cy="279400"/>
          </a:xfrm>
          <a:prstGeom prst="rect">
            <a:avLst/>
          </a:prstGeom>
          <a:noFill/>
          <a:ln/>
        </p:spPr>
        <p:txBody>
          <a:bodyPr wrap="none" lIns="0" tIns="0" rIns="0" bIns="0" rtlCol="0" anchor="ctr"/>
          <a:lstStyle/>
          <a:p>
            <a:pPr algn="l">
              <a:lnSpc>
                <a:spcPct val="120000"/>
              </a:lnSpc>
            </a:pPr>
            <a:r>
              <a:rPr lang="en-US" sz="1300" dirty="0">
                <a:solidFill>
                  <a:srgbClr val="C7A25A"/>
                </a:solidFill>
                <a:latin typeface="Oranienbaum" pitchFamily="34" charset="0"/>
                <a:ea typeface="Oranienbaum" pitchFamily="34" charset="-122"/>
                <a:cs typeface="Oranienbaum" pitchFamily="34" charset="-120"/>
              </a:rPr>
              <a:t>Scenario C: Complex Case</a:t>
            </a:r>
            <a:endParaRPr lang="en-US" sz="1300" dirty="0"/>
          </a:p>
        </p:txBody>
      </p:sp>
      <p:sp>
        <p:nvSpPr>
          <p:cNvPr id="17" name="Text 15"/>
          <p:cNvSpPr/>
          <p:nvPr/>
        </p:nvSpPr>
        <p:spPr>
          <a:xfrm>
            <a:off x="10858500" y="2413000"/>
            <a:ext cx="4445000" cy="12700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67-year-old female, multiple conditions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Diabetes Type 2, on warfarin, thin skin</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Daughter insisting on treatment</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Patient herself is unsure</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Navigate safety, consent, family dynamics</a:t>
            </a:r>
            <a:endParaRPr lang="en-US" sz="900" dirty="0"/>
          </a:p>
        </p:txBody>
      </p:sp>
      <p:sp>
        <p:nvSpPr>
          <p:cNvPr id="18" name="Shape 16"/>
          <p:cNvSpPr/>
          <p:nvPr/>
        </p:nvSpPr>
        <p:spPr>
          <a:xfrm>
            <a:off x="762000" y="4038600"/>
            <a:ext cx="14732000" cy="1270000"/>
          </a:xfrm>
          <a:prstGeom prst="rect">
            <a:avLst/>
          </a:prstGeom>
          <a:solidFill>
            <a:srgbClr val="F0EDE7"/>
          </a:solidFill>
          <a:ln/>
        </p:spPr>
      </p:sp>
      <p:sp>
        <p:nvSpPr>
          <p:cNvPr id="19" name="Text 17"/>
          <p:cNvSpPr/>
          <p:nvPr/>
        </p:nvSpPr>
        <p:spPr>
          <a:xfrm>
            <a:off x="952500" y="4140200"/>
            <a:ext cx="5080000" cy="254000"/>
          </a:xfrm>
          <a:prstGeom prst="rect">
            <a:avLst/>
          </a:prstGeom>
          <a:noFill/>
          <a:ln/>
        </p:spPr>
        <p:txBody>
          <a:bodyPr wrap="none" lIns="0" tIns="0" rIns="0" bIns="0" rtlCol="0" anchor="ctr"/>
          <a:lstStyle/>
          <a:p>
            <a:pPr algn="l">
              <a:lnSpc>
                <a:spcPct val="120000"/>
              </a:lnSpc>
            </a:pPr>
            <a:r>
              <a:rPr lang="en-US" sz="1100" spc="300" kern="0" dirty="0">
                <a:solidFill>
                  <a:srgbClr val="0E3B2E"/>
                </a:solidFill>
                <a:latin typeface="Quattrocento Sans" pitchFamily="34" charset="0"/>
                <a:ea typeface="Quattrocento Sans" pitchFamily="34" charset="-122"/>
                <a:cs typeface="Quattrocento Sans" pitchFamily="34" charset="-120"/>
              </a:rPr>
              <a:t>MARKING CRITERIA</a:t>
            </a:r>
            <a:endParaRPr lang="en-US" sz="1100" dirty="0"/>
          </a:p>
        </p:txBody>
      </p:sp>
      <p:sp>
        <p:nvSpPr>
          <p:cNvPr id="20" name="Text 18"/>
          <p:cNvSpPr/>
          <p:nvPr/>
        </p:nvSpPr>
        <p:spPr>
          <a:xfrm>
            <a:off x="952500" y="4445000"/>
            <a:ext cx="14351000" cy="762000"/>
          </a:xfrm>
          <a:prstGeom prst="rect">
            <a:avLst/>
          </a:prstGeom>
          <a:noFill/>
          <a:ln/>
        </p:spPr>
        <p:txBody>
          <a:bodyPr wrap="square" lIns="0" tIns="0" rIns="0" bIns="0" rtlCol="0" anchor="t"/>
          <a:lstStyle/>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History taking: completeness, relevant questioning, red flag identification (/15)</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Contraindication screening: thoroughness, appropriate exclusions (/15)</a:t>
            </a:r>
            <a:endParaRPr lang="en-US" sz="1000" dirty="0"/>
          </a:p>
          <a:p>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Treatment planning: point selection rationale, technique choice, safety (/10)  •  Communication: empathy, clarity, expectation management (/10)</a:t>
            </a:r>
            <a:endParaRPr lang="en-US" sz="1000" dirty="0"/>
          </a:p>
        </p:txBody>
      </p:sp>
      <p:sp>
        <p:nvSpPr>
          <p:cNvPr id="21" name="Text 19"/>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08</a:t>
            </a:r>
            <a:endParaRPr lang="en-US" sz="11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Safety and Emergency Protocols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EMERGENCY DRILL SCENARIOS</a:t>
            </a:r>
            <a:endParaRPr lang="en-US" sz="1200" dirty="0"/>
          </a:p>
        </p:txBody>
      </p:sp>
      <p:sp>
        <p:nvSpPr>
          <p:cNvPr id="9" name="Shape 7"/>
          <p:cNvSpPr/>
          <p:nvPr/>
        </p:nvSpPr>
        <p:spPr>
          <a:xfrm>
            <a:off x="762000" y="2006600"/>
            <a:ext cx="7112000" cy="1460500"/>
          </a:xfrm>
          <a:prstGeom prst="rect">
            <a:avLst/>
          </a:prstGeom>
          <a:solidFill>
            <a:srgbClr val="0E3B2E"/>
          </a:solidFill>
          <a:ln/>
        </p:spPr>
      </p:sp>
      <p:sp>
        <p:nvSpPr>
          <p:cNvPr id="10" name="Text 8"/>
          <p:cNvSpPr/>
          <p:nvPr/>
        </p:nvSpPr>
        <p:spPr>
          <a:xfrm>
            <a:off x="952500" y="20828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Drill 1: Vasovagal Response</a:t>
            </a:r>
            <a:endParaRPr lang="en-US" sz="1400" dirty="0"/>
          </a:p>
        </p:txBody>
      </p:sp>
      <p:sp>
        <p:nvSpPr>
          <p:cNvPr id="11" name="Text 9"/>
          <p:cNvSpPr/>
          <p:nvPr/>
        </p:nvSpPr>
        <p:spPr>
          <a:xfrm>
            <a:off x="952500" y="2413000"/>
            <a:ext cx="6731000" cy="9144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Recognise: pallor, sweating, dizziness, nausea</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Immediate: remove all cups, lay patient flat, elevate legs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Monitor: pulse, consciousness, recovery</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After: offer water, do not continue treatment, document fully</a:t>
            </a:r>
            <a:endParaRPr lang="en-US" sz="900" dirty="0"/>
          </a:p>
        </p:txBody>
      </p:sp>
      <p:sp>
        <p:nvSpPr>
          <p:cNvPr id="12" name="Shape 10"/>
          <p:cNvSpPr/>
          <p:nvPr/>
        </p:nvSpPr>
        <p:spPr>
          <a:xfrm>
            <a:off x="8128000" y="2006600"/>
            <a:ext cx="7366000" cy="1460500"/>
          </a:xfrm>
          <a:prstGeom prst="rect">
            <a:avLst/>
          </a:prstGeom>
          <a:solidFill>
            <a:srgbClr val="F0EDE7"/>
          </a:solidFill>
          <a:ln/>
        </p:spPr>
      </p:sp>
      <p:sp>
        <p:nvSpPr>
          <p:cNvPr id="13" name="Text 11"/>
          <p:cNvSpPr/>
          <p:nvPr/>
        </p:nvSpPr>
        <p:spPr>
          <a:xfrm>
            <a:off x="8318500" y="2082800"/>
            <a:ext cx="6985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Drill 2: Excessive Bleeding</a:t>
            </a:r>
            <a:endParaRPr lang="en-US" sz="1400" dirty="0"/>
          </a:p>
        </p:txBody>
      </p:sp>
      <p:sp>
        <p:nvSpPr>
          <p:cNvPr id="14" name="Text 12"/>
          <p:cNvSpPr/>
          <p:nvPr/>
        </p:nvSpPr>
        <p:spPr>
          <a:xfrm>
            <a:off x="8318500" y="2413000"/>
            <a:ext cx="6985000" cy="9144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Recognise: blood not stopping after 15 min pressure</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Immediate: prolonged direct pressure, elevate site, ice pack</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Escalate: call emergency services if not stopped in 30 min</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After: document, review patient medication history</a:t>
            </a:r>
            <a:endParaRPr lang="en-US" sz="900" dirty="0"/>
          </a:p>
        </p:txBody>
      </p:sp>
      <p:sp>
        <p:nvSpPr>
          <p:cNvPr id="15" name="Text 13"/>
          <p:cNvSpPr/>
          <p:nvPr/>
        </p:nvSpPr>
        <p:spPr>
          <a:xfrm>
            <a:off x="762000" y="3746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EMERGENCY KIT CHECKLIST</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4152900"/>
          <a:ext cx="14732000" cy="1905000"/>
        </p:xfrm>
        <a:graphic>
          <a:graphicData uri="http://schemas.openxmlformats.org/drawingml/2006/table">
            <a:tbl>
              <a:tblPr/>
              <a:tblGrid>
                <a:gridCol w="5156"/>
                <a:gridCol w="5156"/>
                <a:gridCol w="4189"/>
                <a:gridCol w="4189"/>
              </a:tblGrid>
              <a:tr h="53340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Item</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Purpose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Check Frequency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Expiry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First aid kit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Bandages, gauze, antiseptic</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Monthly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Check all items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Emergency contacts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000, nearest hospital, poison info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Monthly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N/A</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78105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AED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Defibrillator for cardiac arrest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Monthly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Battery and pads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bl>
          </a:graphicData>
        </a:graphic>
      </p:graphicFrame>
      <p:sp>
        <p:nvSpPr>
          <p:cNvPr id="17" name="Text 14"/>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09</a:t>
            </a:r>
            <a:endParaRPr lang="en-US" sz="11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Certification and Next Steps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SRA-001 CERTIFICATION REQUIREMENTS</a:t>
            </a:r>
            <a:endParaRPr lang="en-US" sz="1200" dirty="0"/>
          </a:p>
        </p:txBody>
      </p:sp>
      <p:sp>
        <p:nvSpPr>
          <p:cNvPr id="9" name="Shape 7"/>
          <p:cNvSpPr/>
          <p:nvPr/>
        </p:nvSpPr>
        <p:spPr>
          <a:xfrm>
            <a:off x="762000" y="2032000"/>
            <a:ext cx="7112000" cy="2413000"/>
          </a:xfrm>
          <a:prstGeom prst="rect">
            <a:avLst/>
          </a:prstGeom>
          <a:solidFill>
            <a:srgbClr val="0E3B2E"/>
          </a:solidFill>
          <a:ln/>
        </p:spPr>
      </p:sp>
      <p:sp>
        <p:nvSpPr>
          <p:cNvPr id="10" name="Text 8"/>
          <p:cNvSpPr/>
          <p:nvPr/>
        </p:nvSpPr>
        <p:spPr>
          <a:xfrm>
            <a:off x="952500" y="21336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To Receive Your Credential</a:t>
            </a:r>
            <a:endParaRPr lang="en-US" sz="1400" dirty="0"/>
          </a:p>
        </p:txBody>
      </p:sp>
      <p:sp>
        <p:nvSpPr>
          <p:cNvPr id="11" name="Text 9"/>
          <p:cNvSpPr/>
          <p:nvPr/>
        </p:nvSpPr>
        <p:spPr>
          <a:xfrm>
            <a:off x="952500" y="2463800"/>
            <a:ext cx="6731000" cy="1879600"/>
          </a:xfrm>
          <a:prstGeom prst="rect">
            <a:avLst/>
          </a:prstGeom>
          <a:noFill/>
          <a:ln/>
        </p:spPr>
        <p:txBody>
          <a:bodyPr wrap="square" lIns="0" tIns="0" rIns="0" bIns="0" rtlCol="0" anchor="t"/>
          <a:lstStyle/>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Pass written examination (70% minimum)</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Pass dry cupping practical (70% minimum)</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Pass wet cupping practical (70% minimum)</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Pass simulated patient consultation (70% minimum)</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Pass safety and emergency protocol drill</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Submit completed logbook with 50 supervised hours</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Current first aid certificate (HLTAID011 or equivalent)</a:t>
            </a:r>
            <a:endParaRPr lang="en-US" sz="900" dirty="0"/>
          </a:p>
          <a:p>
            <a:pPr algn="l">
              <a:lnSpc>
                <a:spcPct val="140000"/>
              </a:lnSpc>
            </a:pPr>
            <a:r>
              <a:rPr lang="en-US" sz="900" dirty="0">
                <a:solidFill>
                  <a:srgbClr val="F6F3EE"/>
                </a:solidFill>
                <a:latin typeface="Quattrocento Sans" pitchFamily="34" charset="0"/>
                <a:ea typeface="Quattrocento Sans" pitchFamily="34" charset="-122"/>
                <a:cs typeface="Quattrocento Sans" pitchFamily="34" charset="-120"/>
              </a:rPr>
              <a:t>• Professional indemnity insurance certificate</a:t>
            </a:r>
            <a:endParaRPr lang="en-US" sz="900" dirty="0"/>
          </a:p>
        </p:txBody>
      </p:sp>
      <p:sp>
        <p:nvSpPr>
          <p:cNvPr id="12" name="Shape 10"/>
          <p:cNvSpPr/>
          <p:nvPr/>
        </p:nvSpPr>
        <p:spPr>
          <a:xfrm>
            <a:off x="8128000" y="2032000"/>
            <a:ext cx="7366000" cy="2413000"/>
          </a:xfrm>
          <a:prstGeom prst="rect">
            <a:avLst/>
          </a:prstGeom>
          <a:solidFill>
            <a:srgbClr val="F0EDE7"/>
          </a:solidFill>
          <a:ln/>
        </p:spPr>
      </p:sp>
      <p:sp>
        <p:nvSpPr>
          <p:cNvPr id="13" name="Text 11"/>
          <p:cNvSpPr/>
          <p:nvPr/>
        </p:nvSpPr>
        <p:spPr>
          <a:xfrm>
            <a:off x="8318500" y="2133600"/>
            <a:ext cx="6985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Ongoing Obligations</a:t>
            </a:r>
            <a:endParaRPr lang="en-US" sz="1400" dirty="0"/>
          </a:p>
        </p:txBody>
      </p:sp>
      <p:sp>
        <p:nvSpPr>
          <p:cNvPr id="14" name="Text 12"/>
          <p:cNvSpPr/>
          <p:nvPr/>
        </p:nvSpPr>
        <p:spPr>
          <a:xfrm>
            <a:off x="8318500" y="2463800"/>
            <a:ext cx="6985000" cy="1879600"/>
          </a:xfrm>
          <a:prstGeom prst="rect">
            <a:avLst/>
          </a:prstGeom>
          <a:noFill/>
          <a:ln/>
        </p:spPr>
        <p:txBody>
          <a:bodyPr wrap="square" lIns="0" tIns="0" rIns="0" bIns="0" rtlCol="0" anchor="t"/>
          <a:lstStyle/>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Maintain 20 hours CPD per year</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Keep professional indemnity insurance current</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Practise within your certified scope</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Adhere to SRA code of conduct</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Report any adverse events to SRA</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Renew certification every 3 years</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Contribute to the profession through mentoring or research</a:t>
            </a:r>
            <a:endParaRPr lang="en-US" sz="900" dirty="0"/>
          </a:p>
          <a:p>
            <a:pPr algn="l">
              <a:lnSpc>
                <a:spcPct val="140000"/>
              </a:lnSpc>
            </a:pPr>
            <a:r>
              <a:rPr lang="en-US" sz="900" dirty="0">
                <a:solidFill>
                  <a:srgbClr val="1A1A1A"/>
                </a:solidFill>
                <a:latin typeface="Quattrocento Sans" pitchFamily="34" charset="0"/>
                <a:ea typeface="Quattrocento Sans" pitchFamily="34" charset="-122"/>
                <a:cs typeface="Quattrocento Sans" pitchFamily="34" charset="-120"/>
              </a:rPr>
              <a:t>• Uphold the ethical and spiritual standards of Hijama</a:t>
            </a:r>
            <a:endParaRPr lang="en-US" sz="900" dirty="0"/>
          </a:p>
        </p:txBody>
      </p:sp>
      <p:sp>
        <p:nvSpPr>
          <p:cNvPr id="15" name="Shape 13"/>
          <p:cNvSpPr/>
          <p:nvPr/>
        </p:nvSpPr>
        <p:spPr>
          <a:xfrm>
            <a:off x="762000" y="4699000"/>
            <a:ext cx="14732000" cy="1016000"/>
          </a:xfrm>
          <a:prstGeom prst="rect">
            <a:avLst/>
          </a:prstGeom>
          <a:solidFill>
            <a:srgbClr val="C7A25A"/>
          </a:solidFill>
          <a:ln/>
        </p:spPr>
      </p:sp>
      <p:sp>
        <p:nvSpPr>
          <p:cNvPr id="16" name="Text 14"/>
          <p:cNvSpPr/>
          <p:nvPr/>
        </p:nvSpPr>
        <p:spPr>
          <a:xfrm>
            <a:off x="1016000" y="4800600"/>
            <a:ext cx="14224000" cy="812800"/>
          </a:xfrm>
          <a:prstGeom prst="rect">
            <a:avLst/>
          </a:prstGeom>
          <a:noFill/>
          <a:ln/>
        </p:spPr>
        <p:txBody>
          <a:bodyPr wrap="square" lIns="0" tIns="0" rIns="0" bIns="0" rtlCol="0" anchor="ctr"/>
          <a:lstStyle/>
          <a:p>
            <a:pPr algn="l">
              <a:lnSpc>
                <a:spcPct val="150000"/>
              </a:lnSpc>
            </a:pPr>
            <a:r>
              <a:rPr lang="en-US" sz="1200" b="1" dirty="0">
                <a:solidFill>
                  <a:srgbClr val="0E3B2E"/>
                </a:solidFill>
                <a:latin typeface="Quattrocento Sans" pitchFamily="34" charset="0"/>
                <a:ea typeface="Quattrocento Sans" pitchFamily="34" charset="-122"/>
                <a:cs typeface="Quattrocento Sans" pitchFamily="34" charset="-120"/>
              </a:rPr>
              <a:t>Upon Certification:</a:t>
            </a:r>
            <a:pPr algn="l">
              <a:lnSpc>
                <a:spcPct val="150000"/>
              </a:lnSpc>
            </a:pPr>
            <a:r>
              <a:rPr lang="en-US" sz="1200" dirty="0">
                <a:solidFill>
                  <a:srgbClr val="0E3B2E"/>
                </a:solidFill>
                <a:latin typeface="Quattrocento Sans" pitchFamily="34" charset="0"/>
                <a:ea typeface="Quattrocento Sans" pitchFamily="34" charset="-122"/>
                <a:cs typeface="Quattrocento Sans" pitchFamily="34" charset="-120"/>
              </a:rPr>
              <a:t> You will receive your SRA-001 Certified Hijama Practitioner certificate, digital badge for your website, listing in the SRA practitioner directory, access to alumni resources and continuing education, and invitation to the annual SRA graduation ceremony. You join a community of practitioners dedicated to excellence in prophetic medicine.</a:t>
            </a:r>
            <a:endParaRPr lang="en-US" sz="1200" dirty="0"/>
          </a:p>
        </p:txBody>
      </p:sp>
      <p:sp>
        <p:nvSpPr>
          <p:cNvPr id="17" name="Text 15"/>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10</a:t>
            </a:r>
            <a:endParaRPr lang="en-US" sz="11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M17</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Capstone: Clinical Competency</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Module 17: Key Takeaways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FIVE ESSENTIAL REMINDERS</a:t>
            </a:r>
            <a:endParaRPr lang="en-US" sz="1200" dirty="0"/>
          </a:p>
        </p:txBody>
      </p:sp>
      <p:sp>
        <p:nvSpPr>
          <p:cNvPr id="9" name="Shape 7"/>
          <p:cNvSpPr/>
          <p:nvPr/>
        </p:nvSpPr>
        <p:spPr>
          <a:xfrm>
            <a:off x="762000" y="2032000"/>
            <a:ext cx="7112000" cy="863600"/>
          </a:xfrm>
          <a:prstGeom prst="rect">
            <a:avLst/>
          </a:prstGeom>
          <a:solidFill>
            <a:srgbClr val="0E3B2E"/>
          </a:solidFill>
          <a:ln/>
        </p:spPr>
      </p:sp>
      <p:sp>
        <p:nvSpPr>
          <p:cNvPr id="10" name="Text 8"/>
          <p:cNvSpPr/>
          <p:nvPr/>
        </p:nvSpPr>
        <p:spPr>
          <a:xfrm>
            <a:off x="889000" y="20955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1</a:t>
            </a:r>
            <a:endParaRPr lang="en-US" sz="2200" dirty="0"/>
          </a:p>
        </p:txBody>
      </p:sp>
      <p:sp>
        <p:nvSpPr>
          <p:cNvPr id="11" name="Text 9"/>
          <p:cNvSpPr/>
          <p:nvPr/>
        </p:nvSpPr>
        <p:spPr>
          <a:xfrm>
            <a:off x="1397000" y="20955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The written exam tests knowledge across all 17 modules.</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Review your weakest areas. 70% is the minimum — aim for mastery, not just passing.</a:t>
            </a:r>
            <a:endParaRPr lang="en-US" sz="1200" dirty="0"/>
          </a:p>
        </p:txBody>
      </p:sp>
      <p:sp>
        <p:nvSpPr>
          <p:cNvPr id="12" name="Shape 10"/>
          <p:cNvSpPr/>
          <p:nvPr/>
        </p:nvSpPr>
        <p:spPr>
          <a:xfrm>
            <a:off x="762000" y="3022600"/>
            <a:ext cx="7112000" cy="863600"/>
          </a:xfrm>
          <a:prstGeom prst="rect">
            <a:avLst/>
          </a:prstGeom>
          <a:solidFill>
            <a:srgbClr val="F0EDE7"/>
          </a:solidFill>
          <a:ln/>
        </p:spPr>
      </p:sp>
      <p:sp>
        <p:nvSpPr>
          <p:cNvPr id="13" name="Text 11"/>
          <p:cNvSpPr/>
          <p:nvPr/>
        </p:nvSpPr>
        <p:spPr>
          <a:xfrm>
            <a:off x="889000" y="3086100"/>
            <a:ext cx="457200" cy="457200"/>
          </a:xfrm>
          <a:prstGeom prst="rect">
            <a:avLst/>
          </a:prstGeom>
          <a:noFill/>
          <a:ln/>
        </p:spPr>
        <p:txBody>
          <a:bodyPr wrap="none" lIns="0" tIns="0" rIns="0" bIns="0" rtlCol="0" anchor="ctr"/>
          <a:lstStyle/>
          <a:p>
            <a:pPr algn="ctr">
              <a:lnSpc>
                <a:spcPct val="120000"/>
              </a:lnSpc>
            </a:pPr>
            <a:r>
              <a:rPr lang="en-US" sz="2200" dirty="0">
                <a:solidFill>
                  <a:srgbClr val="0E3B2E"/>
                </a:solidFill>
                <a:latin typeface="Oranienbaum" pitchFamily="34" charset="0"/>
                <a:ea typeface="Oranienbaum" pitchFamily="34" charset="-122"/>
                <a:cs typeface="Oranienbaum" pitchFamily="34" charset="-120"/>
              </a:rPr>
              <a:t>2</a:t>
            </a:r>
            <a:endParaRPr lang="en-US" sz="2200" dirty="0"/>
          </a:p>
        </p:txBody>
      </p:sp>
      <p:sp>
        <p:nvSpPr>
          <p:cNvPr id="14" name="Text 12"/>
          <p:cNvSpPr/>
          <p:nvPr/>
        </p:nvSpPr>
        <p:spPr>
          <a:xfrm>
            <a:off x="1397000" y="3086100"/>
            <a:ext cx="6350000" cy="698500"/>
          </a:xfrm>
          <a:prstGeom prst="rect">
            <a:avLst/>
          </a:prstGeom>
          <a:noFill/>
          <a:ln/>
        </p:spPr>
        <p:txBody>
          <a:bodyPr wrap="square" lIns="0" tIns="0" rIns="0" bIns="0" rtlCol="0" anchor="t"/>
          <a:lstStyle/>
          <a:p>
            <a:pPr algn="l">
              <a:lnSpc>
                <a:spcPct val="140000"/>
              </a:lnSpc>
            </a:pPr>
            <a:r>
              <a:rPr lang="en-US" sz="1100" b="1" dirty="0">
                <a:solidFill>
                  <a:srgbClr val="1A1A1A"/>
                </a:solidFill>
                <a:latin typeface="Quattrocento Sans" pitchFamily="34" charset="0"/>
                <a:ea typeface="Quattrocento Sans" pitchFamily="34" charset="-122"/>
                <a:cs typeface="Quattrocento Sans" pitchFamily="34" charset="-120"/>
              </a:rPr>
              <a:t>Practical exams reward precision and communication.</a:t>
            </a:r>
            <a:pPr algn="l">
              <a:lnSpc>
                <a:spcPct val="140000"/>
              </a:lnSpc>
            </a:pPr>
            <a:r>
              <a:rPr lang="en-US" sz="1100" dirty="0">
                <a:solidFill>
                  <a:srgbClr val="1A1A1A"/>
                </a:solidFill>
                <a:latin typeface="Quattrocento Sans" pitchFamily="34" charset="0"/>
                <a:ea typeface="Quattrocento Sans" pitchFamily="34" charset="-122"/>
                <a:cs typeface="Quattrocento Sans" pitchFamily="34" charset="-120"/>
              </a:rPr>
              <a:t> Narrate your actions, check patient comfort, maintain sterile technique. Errors acknowledged and corrected show professionalism.</a:t>
            </a:r>
            <a:endParaRPr lang="en-US" sz="1100" dirty="0"/>
          </a:p>
        </p:txBody>
      </p:sp>
      <p:sp>
        <p:nvSpPr>
          <p:cNvPr id="15" name="Shape 13"/>
          <p:cNvSpPr/>
          <p:nvPr/>
        </p:nvSpPr>
        <p:spPr>
          <a:xfrm>
            <a:off x="762000" y="4013200"/>
            <a:ext cx="7112000" cy="863600"/>
          </a:xfrm>
          <a:prstGeom prst="rect">
            <a:avLst/>
          </a:prstGeom>
          <a:solidFill>
            <a:srgbClr val="0E3B2E"/>
          </a:solidFill>
          <a:ln/>
        </p:spPr>
      </p:sp>
      <p:sp>
        <p:nvSpPr>
          <p:cNvPr id="16" name="Text 14"/>
          <p:cNvSpPr/>
          <p:nvPr/>
        </p:nvSpPr>
        <p:spPr>
          <a:xfrm>
            <a:off x="889000" y="40767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3</a:t>
            </a:r>
            <a:endParaRPr lang="en-US" sz="2200" dirty="0"/>
          </a:p>
        </p:txBody>
      </p:sp>
      <p:sp>
        <p:nvSpPr>
          <p:cNvPr id="17" name="Text 15"/>
          <p:cNvSpPr/>
          <p:nvPr/>
        </p:nvSpPr>
        <p:spPr>
          <a:xfrm>
            <a:off x="1397000" y="40767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Patient simulation tests your clinical reasoning.</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History, screening, planning, communication — all must flow together. The patient is a person, not a checklist.</a:t>
            </a:r>
            <a:endParaRPr lang="en-US" sz="1200" dirty="0"/>
          </a:p>
        </p:txBody>
      </p:sp>
      <p:sp>
        <p:nvSpPr>
          <p:cNvPr id="18" name="Shape 16"/>
          <p:cNvSpPr/>
          <p:nvPr/>
        </p:nvSpPr>
        <p:spPr>
          <a:xfrm>
            <a:off x="762000" y="5003800"/>
            <a:ext cx="7112000" cy="863600"/>
          </a:xfrm>
          <a:prstGeom prst="rect">
            <a:avLst/>
          </a:prstGeom>
          <a:solidFill>
            <a:srgbClr val="F0EDE7"/>
          </a:solidFill>
          <a:ln/>
        </p:spPr>
      </p:sp>
      <p:sp>
        <p:nvSpPr>
          <p:cNvPr id="19" name="Text 17"/>
          <p:cNvSpPr/>
          <p:nvPr/>
        </p:nvSpPr>
        <p:spPr>
          <a:xfrm>
            <a:off x="889000" y="5067300"/>
            <a:ext cx="457200" cy="457200"/>
          </a:xfrm>
          <a:prstGeom prst="rect">
            <a:avLst/>
          </a:prstGeom>
          <a:noFill/>
          <a:ln/>
        </p:spPr>
        <p:txBody>
          <a:bodyPr wrap="none" lIns="0" tIns="0" rIns="0" bIns="0" rtlCol="0" anchor="ctr"/>
          <a:lstStyle/>
          <a:p>
            <a:pPr algn="ctr">
              <a:lnSpc>
                <a:spcPct val="120000"/>
              </a:lnSpc>
            </a:pPr>
            <a:r>
              <a:rPr lang="en-US" sz="2200" dirty="0">
                <a:solidFill>
                  <a:srgbClr val="0E3B2E"/>
                </a:solidFill>
                <a:latin typeface="Oranienbaum" pitchFamily="34" charset="0"/>
                <a:ea typeface="Oranienbaum" pitchFamily="34" charset="-122"/>
                <a:cs typeface="Oranienbaum" pitchFamily="34" charset="-120"/>
              </a:rPr>
              <a:t>4</a:t>
            </a:r>
            <a:endParaRPr lang="en-US" sz="2200" dirty="0"/>
          </a:p>
        </p:txBody>
      </p:sp>
      <p:sp>
        <p:nvSpPr>
          <p:cNvPr id="20" name="Text 18"/>
          <p:cNvSpPr/>
          <p:nvPr/>
        </p:nvSpPr>
        <p:spPr>
          <a:xfrm>
            <a:off x="1397000" y="5067300"/>
            <a:ext cx="6350000" cy="698500"/>
          </a:xfrm>
          <a:prstGeom prst="rect">
            <a:avLst/>
          </a:prstGeom>
          <a:noFill/>
          <a:ln/>
        </p:spPr>
        <p:txBody>
          <a:bodyPr wrap="square" lIns="0" tIns="0" rIns="0" bIns="0" rtlCol="0" anchor="t"/>
          <a:lstStyle/>
          <a:p>
            <a:pPr algn="l">
              <a:lnSpc>
                <a:spcPct val="140000"/>
              </a:lnSpc>
            </a:pPr>
            <a:r>
              <a:rPr lang="en-US" sz="1200" b="1" dirty="0">
                <a:solidFill>
                  <a:srgbClr val="1A1A1A"/>
                </a:solidFill>
                <a:latin typeface="Quattrocento Sans" pitchFamily="34" charset="0"/>
                <a:ea typeface="Quattrocento Sans" pitchFamily="34" charset="-122"/>
                <a:cs typeface="Quattrocento Sans" pitchFamily="34" charset="-120"/>
              </a:rPr>
              <a:t>Safety is the ultimate competency.</a:t>
            </a:r>
            <a:pPr algn="l">
              <a:lnSpc>
                <a:spcPct val="140000"/>
              </a:lnSpc>
            </a:pPr>
            <a:r>
              <a:rPr lang="en-US" sz="1200" dirty="0">
                <a:solidFill>
                  <a:srgbClr val="1A1A1A"/>
                </a:solidFill>
                <a:latin typeface="Quattrocento Sans" pitchFamily="34" charset="0"/>
                <a:ea typeface="Quattrocento Sans" pitchFamily="34" charset="-122"/>
                <a:cs typeface="Quattrocento Sans" pitchFamily="34" charset="-120"/>
              </a:rPr>
              <a:t> Emergency protocols, critical failures, sterile technique — these are not exam topics. They are the foundation of every treatment you will ever give.</a:t>
            </a:r>
            <a:endParaRPr lang="en-US" sz="1200" dirty="0"/>
          </a:p>
        </p:txBody>
      </p:sp>
      <p:sp>
        <p:nvSpPr>
          <p:cNvPr id="21" name="Shape 19"/>
          <p:cNvSpPr/>
          <p:nvPr/>
        </p:nvSpPr>
        <p:spPr>
          <a:xfrm>
            <a:off x="762000" y="5994400"/>
            <a:ext cx="7112000" cy="863600"/>
          </a:xfrm>
          <a:prstGeom prst="rect">
            <a:avLst/>
          </a:prstGeom>
          <a:solidFill>
            <a:srgbClr val="0E3B2E"/>
          </a:solidFill>
          <a:ln/>
        </p:spPr>
      </p:sp>
      <p:sp>
        <p:nvSpPr>
          <p:cNvPr id="22" name="Text 20"/>
          <p:cNvSpPr/>
          <p:nvPr/>
        </p:nvSpPr>
        <p:spPr>
          <a:xfrm>
            <a:off x="889000" y="60579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5</a:t>
            </a:r>
            <a:endParaRPr lang="en-US" sz="2200" dirty="0"/>
          </a:p>
        </p:txBody>
      </p:sp>
      <p:sp>
        <p:nvSpPr>
          <p:cNvPr id="23" name="Text 21"/>
          <p:cNvSpPr/>
          <p:nvPr/>
        </p:nvSpPr>
        <p:spPr>
          <a:xfrm>
            <a:off x="1397000" y="60579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Certification is a beginning, not an end.</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CPD, mentoring, research, and ethical practice are lifelong commitments. Your SRA-001 credential is a trust — honour it daily.</a:t>
            </a:r>
            <a:endParaRPr lang="en-US" sz="1200" dirty="0"/>
          </a:p>
        </p:txBody>
      </p:sp>
      <p:sp>
        <p:nvSpPr>
          <p:cNvPr id="24" name="Shape 22"/>
          <p:cNvSpPr/>
          <p:nvPr/>
        </p:nvSpPr>
        <p:spPr>
          <a:xfrm>
            <a:off x="8255000" y="2032000"/>
            <a:ext cx="7239000" cy="4826000"/>
          </a:xfrm>
          <a:prstGeom prst="rect">
            <a:avLst/>
          </a:prstGeom>
          <a:solidFill>
            <a:srgbClr val="0E3B2E"/>
          </a:solidFill>
          <a:ln/>
        </p:spPr>
      </p:sp>
      <p:sp>
        <p:nvSpPr>
          <p:cNvPr id="25" name="Text 23"/>
          <p:cNvSpPr/>
          <p:nvPr/>
        </p:nvSpPr>
        <p:spPr>
          <a:xfrm>
            <a:off x="8572500" y="22225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C7A25A"/>
                </a:solidFill>
                <a:latin typeface="Quattrocento Sans" pitchFamily="34" charset="0"/>
                <a:ea typeface="Quattrocento Sans" pitchFamily="34" charset="-122"/>
                <a:cs typeface="Quattrocento Sans" pitchFamily="34" charset="-120"/>
              </a:rPr>
              <a:t>GRADUATION MESSAGE</a:t>
            </a:r>
            <a:endParaRPr lang="en-US" sz="1100" dirty="0"/>
          </a:p>
        </p:txBody>
      </p:sp>
      <p:sp>
        <p:nvSpPr>
          <p:cNvPr id="26" name="Shape 24"/>
          <p:cNvSpPr/>
          <p:nvPr/>
        </p:nvSpPr>
        <p:spPr>
          <a:xfrm>
            <a:off x="8572500" y="2540000"/>
            <a:ext cx="635000" cy="25400"/>
          </a:xfrm>
          <a:prstGeom prst="rect">
            <a:avLst/>
          </a:prstGeom>
          <a:solidFill>
            <a:srgbClr val="C7A25A"/>
          </a:solidFill>
          <a:ln/>
        </p:spPr>
      </p:sp>
      <p:sp>
        <p:nvSpPr>
          <p:cNvPr id="27" name="Text 25"/>
          <p:cNvSpPr/>
          <p:nvPr/>
        </p:nvSpPr>
        <p:spPr>
          <a:xfrm>
            <a:off x="8572500" y="2730500"/>
            <a:ext cx="6604000" cy="4000500"/>
          </a:xfrm>
          <a:prstGeom prst="rect">
            <a:avLst/>
          </a:prstGeom>
          <a:noFill/>
          <a:ln/>
        </p:spPr>
        <p:txBody>
          <a:bodyPr wrap="square" lIns="0" tIns="0" rIns="0" bIns="0" rtlCol="0" anchor="t"/>
          <a:lstStyle/>
          <a:p>
            <a:pPr algn="l">
              <a:lnSpc>
                <a:spcPct val="160000"/>
              </a:lnSpc>
            </a:pPr>
            <a:r>
              <a:rPr lang="en-US" sz="1200" dirty="0">
                <a:solidFill>
                  <a:srgbClr val="F6F3EE"/>
                </a:solidFill>
                <a:latin typeface="Quattrocento Sans" pitchFamily="34" charset="0"/>
                <a:ea typeface="Quattrocento Sans" pitchFamily="34" charset="-122"/>
                <a:cs typeface="Quattrocento Sans" pitchFamily="34" charset="-120"/>
              </a:rPr>
              <a:t>You have completed 17 modules of rigorous study — from the foundations of prophetic medicine to advanced therapeutics, from business systems to research methodology, from clinical technique to professional mentorship.</a:t>
            </a:r>
            <a:endParaRPr lang="en-US" sz="1200" dirty="0"/>
          </a:p>
          <a:p>
            <a:pPr algn="l">
              <a:lnSpc>
                <a:spcPct val="160000"/>
              </a:lnSpc>
              <a:spcBef>
                <a:spcPts val="800"/>
              </a:spcBef>
            </a:pPr>
            <a:r>
              <a:rPr lang="en-US" sz="1200" dirty="0">
                <a:solidFill>
                  <a:srgbClr val="F6F3EE"/>
                </a:solidFill>
                <a:latin typeface="Quattrocento Sans" pitchFamily="34" charset="0"/>
                <a:ea typeface="Quattrocento Sans" pitchFamily="34" charset="-122"/>
                <a:cs typeface="Quattrocento Sans" pitchFamily="34" charset="-120"/>
              </a:rPr>
              <a:t>You are now ready to serve your community with a skill that has healed humanity for over 1,400 years. Every treatment you give is a continuation of the Sunnah. Every patient you heal is a testimony to the mercy of this prophetic medicine.</a:t>
            </a:r>
            <a:endParaRPr lang="en-US" sz="1200" dirty="0"/>
          </a:p>
          <a:p>
            <a:pPr algn="l">
              <a:lnSpc>
                <a:spcPct val="160000"/>
              </a:lnSpc>
              <a:spcBef>
                <a:spcPts val="800"/>
              </a:spcBef>
            </a:pPr>
            <a:r>
              <a:rPr lang="en-US" sz="1200" dirty="0">
                <a:solidFill>
                  <a:srgbClr val="F6F3EE"/>
                </a:solidFill>
                <a:latin typeface="Quattrocento Sans" pitchFamily="34" charset="0"/>
                <a:ea typeface="Quattrocento Sans" pitchFamily="34" charset="-122"/>
                <a:cs typeface="Quattrocento Sans" pitchFamily="34" charset="-120"/>
              </a:rPr>
              <a:t>Go forth with confidence, humility, and excellence. The Ummah needs you.</a:t>
            </a:r>
            <a:endParaRPr lang="en-US" sz="1200" dirty="0"/>
          </a:p>
          <a:p>
            <a:pPr algn="l">
              <a:lnSpc>
                <a:spcPct val="160000"/>
              </a:lnSpc>
              <a:spcBef>
                <a:spcPts val="800"/>
              </a:spcBef>
            </a:pPr>
            <a:r>
              <a:rPr lang="en-US" sz="1200" i="1" dirty="0">
                <a:solidFill>
                  <a:srgbClr val="F6F3EE"/>
                </a:solidFill>
                <a:latin typeface="Quattrocento Sans" pitchFamily="34" charset="0"/>
                <a:ea typeface="Quattrocento Sans" pitchFamily="34" charset="-122"/>
                <a:cs typeface="Quattrocento Sans" pitchFamily="34" charset="-120"/>
              </a:rPr>
              <a:t>— The SRA Faculty</a:t>
            </a:r>
            <a:endParaRPr lang="en-US" sz="1200" dirty="0"/>
          </a:p>
        </p:txBody>
      </p:sp>
      <p:sp>
        <p:nvSpPr>
          <p:cNvPr id="28" name="Text 26"/>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11</a:t>
            </a:r>
            <a:endParaRPr lang="en-US" sz="11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6858000" y="2286000"/>
            <a:ext cx="2540000" cy="12700"/>
          </a:xfrm>
          <a:prstGeom prst="rect">
            <a:avLst/>
          </a:prstGeom>
          <a:solidFill>
            <a:srgbClr val="C7A25A"/>
          </a:solidFill>
          <a:ln/>
        </p:spPr>
      </p:sp>
      <p:sp>
        <p:nvSpPr>
          <p:cNvPr id="3" name="Text 1"/>
          <p:cNvSpPr/>
          <p:nvPr/>
        </p:nvSpPr>
        <p:spPr>
          <a:xfrm>
            <a:off x="1778000" y="2540000"/>
            <a:ext cx="12700000" cy="2159000"/>
          </a:xfrm>
          <a:prstGeom prst="rect">
            <a:avLst/>
          </a:prstGeom>
          <a:noFill/>
          <a:ln/>
        </p:spPr>
        <p:txBody>
          <a:bodyPr wrap="square" lIns="0" tIns="0" rIns="0" bIns="0" rtlCol="0" anchor="ctr"/>
          <a:lstStyle/>
          <a:p>
            <a:pPr algn="ctr">
              <a:lnSpc>
                <a:spcPct val="150000"/>
              </a:lnSpc>
            </a:pPr>
            <a:r>
              <a:rPr lang="en-US" sz="2400" i="1" dirty="0">
                <a:solidFill>
                  <a:srgbClr val="F6F3EE"/>
                </a:solidFill>
                <a:latin typeface="Oranienbaum" pitchFamily="34" charset="0"/>
                <a:ea typeface="Oranienbaum" pitchFamily="34" charset="-122"/>
                <a:cs typeface="Oranienbaum" pitchFamily="34" charset="-120"/>
              </a:rPr>
              <a:t>"The best among you are those who bring the greatest benefit to others."</a:t>
            </a:r>
            <a:endParaRPr lang="en-US" sz="2400" dirty="0"/>
          </a:p>
          <a:p>
            <a:pPr algn="ctr">
              <a:lnSpc>
                <a:spcPct val="150000"/>
              </a:lnSpc>
              <a:spcBef>
                <a:spcPts val="1000"/>
              </a:spcBef>
            </a:pPr>
            <a:r>
              <a:rPr lang="en-US" sz="1600" dirty="0">
                <a:solidFill>
                  <a:srgbClr val="C7A25A"/>
                </a:solidFill>
                <a:latin typeface="Quattrocento Sans" pitchFamily="34" charset="0"/>
                <a:ea typeface="Quattrocento Sans" pitchFamily="34" charset="-122"/>
                <a:cs typeface="Quattrocento Sans" pitchFamily="34" charset="-120"/>
              </a:rPr>
              <a:t>— Hadith</a:t>
            </a:r>
            <a:endParaRPr lang="en-US" sz="2400" dirty="0"/>
          </a:p>
        </p:txBody>
      </p:sp>
      <p:sp>
        <p:nvSpPr>
          <p:cNvPr id="4" name="Shape 2"/>
          <p:cNvSpPr/>
          <p:nvPr/>
        </p:nvSpPr>
        <p:spPr>
          <a:xfrm>
            <a:off x="6858000" y="5016500"/>
            <a:ext cx="2540000" cy="12700"/>
          </a:xfrm>
          <a:prstGeom prst="rect">
            <a:avLst/>
          </a:prstGeom>
          <a:solidFill>
            <a:srgbClr val="C7A25A"/>
          </a:solidFill>
          <a:ln/>
        </p:spPr>
      </p:sp>
      <p:sp>
        <p:nvSpPr>
          <p:cNvPr id="5" name="Text 3"/>
          <p:cNvSpPr/>
          <p:nvPr/>
        </p:nvSpPr>
        <p:spPr>
          <a:xfrm>
            <a:off x="2413000" y="5270500"/>
            <a:ext cx="11430000" cy="1270000"/>
          </a:xfrm>
          <a:prstGeom prst="rect">
            <a:avLst/>
          </a:prstGeom>
          <a:noFill/>
          <a:ln/>
        </p:spPr>
        <p:txBody>
          <a:bodyPr wrap="square" lIns="0" tIns="0" rIns="0" bIns="0" rtlCol="0" anchor="ctr"/>
          <a:lstStyle/>
          <a:p>
            <a:pPr algn="ctr">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You began this journey seeking knowledge. You complete it as a bearer of healing. The certificate you earn is not merely paper — it is an amanah, a sacred trust between you, your patients, and the legacy of prophetic medicine. May every cup you place be blessed, every incision be precise, and every patient leave your care better than they arrived. You are now a Certified Hijama Practitioner. Serve with excellence.</a:t>
            </a:r>
            <a:endParaRPr lang="en-US" sz="1400" dirty="0"/>
          </a:p>
        </p:txBody>
      </p:sp>
      <p:sp>
        <p:nvSpPr>
          <p:cNvPr id="6" name="Text 4"/>
          <p:cNvSpPr/>
          <p:nvPr/>
        </p:nvSpPr>
        <p:spPr>
          <a:xfrm>
            <a:off x="3048000" y="6858000"/>
            <a:ext cx="10160000" cy="381000"/>
          </a:xfrm>
          <a:prstGeom prst="rect">
            <a:avLst/>
          </a:prstGeom>
          <a:noFill/>
          <a:ln/>
        </p:spPr>
        <p:txBody>
          <a:bodyPr wrap="none" lIns="0" tIns="0" rIns="0" bIns="0" rtlCol="0" anchor="ctr"/>
          <a:lstStyle/>
          <a:p>
            <a:pPr algn="ctr">
              <a:lnSpc>
                <a:spcPct val="120000"/>
              </a:lnSpc>
            </a:pPr>
            <a:r>
              <a:rPr lang="en-US" sz="1400" spc="400" kern="0" dirty="0">
                <a:solidFill>
                  <a:srgbClr val="C7A25A"/>
                </a:solidFill>
                <a:latin typeface="Quattrocento Sans" pitchFamily="34" charset="0"/>
                <a:ea typeface="Quattrocento Sans" pitchFamily="34" charset="-122"/>
                <a:cs typeface="Quattrocento Sans" pitchFamily="34" charset="-120"/>
              </a:rPr>
              <a:t>SRA-001 CERTIFIED HIJAMA PRACTITIONER</a:t>
            </a:r>
            <a:endParaRPr lang="en-US" sz="1400" dirty="0"/>
          </a:p>
        </p:txBody>
      </p:sp>
      <p:sp>
        <p:nvSpPr>
          <p:cNvPr id="7" name="Text 5"/>
          <p:cNvSpPr/>
          <p:nvPr/>
        </p:nvSpPr>
        <p:spPr>
          <a:xfrm>
            <a:off x="3048000" y="7366000"/>
            <a:ext cx="10160000" cy="508000"/>
          </a:xfrm>
          <a:prstGeom prst="rect">
            <a:avLst/>
          </a:prstGeom>
          <a:noFill/>
          <a:ln/>
        </p:spPr>
        <p:txBody>
          <a:bodyPr wrap="none" lIns="0" tIns="0" rIns="0" bIns="0" rtlCol="0" anchor="ctr"/>
          <a:lstStyle/>
          <a:p>
            <a:pPr algn="ctr">
              <a:lnSpc>
                <a:spcPct val="120000"/>
              </a:lnSpc>
            </a:pPr>
            <a:r>
              <a:rPr lang="en-US" sz="3200" dirty="0">
                <a:solidFill>
                  <a:srgbClr val="F6F3EE"/>
                </a:solidFill>
                <a:latin typeface="Oranienbaum" pitchFamily="34" charset="0"/>
                <a:ea typeface="Oranienbaum" pitchFamily="34" charset="-122"/>
                <a:cs typeface="Oranienbaum" pitchFamily="34" charset="-120"/>
              </a:rPr>
              <a:t>Program Complete</a:t>
            </a:r>
            <a:endParaRPr lang="en-US" sz="3200" dirty="0"/>
          </a:p>
        </p:txBody>
      </p:sp>
      <p:sp>
        <p:nvSpPr>
          <p:cNvPr id="8" name="Text 6"/>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SRA-001 | Module 17: Capstone: Clinical Competency Assessment</dc:title>
  <dc:subject>SRA-001 | Module 17: Capstone: Clinical Competency Assessment</dc:subject>
  <dc:creator>Kimi</dc:creator>
  <cp:lastModifiedBy>Kimi</cp:lastModifiedBy>
  <cp:revision>1</cp:revision>
  <dcterms:created xsi:type="dcterms:W3CDTF">2026-07-06T09:18:31Z</dcterms:created>
  <dcterms:modified xsi:type="dcterms:W3CDTF">2026-07-06T09:18:31Z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{"Label":"SRA-001 | Module 17: Capstone: Clinical Competency Assessment","ContentProducer":"001191110108MACG2KBH8F10000","ProduceID":"19f35dcf-8302-8e04-8000-000042085954","ReservedCode1":"","ContentPropagator":"001191110108MACG2KBH8F20000","PropagateID":"19f34489-a1f2-82b2-8000-09219025796f","ReservedCode2":""}</vt:lpwstr>
  </property>
</Properties>
</file>