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Quattrocento Sans" charset="-122" pitchFamily="34"/>
      <p:regular r:id="rId19"/>
    </p:embeddedFont>
    <p:embeddedFont>
      <p:font typeface="Oranienbaum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8000" y="279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SRA-001  |  MODULE 9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858000" y="3365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4" name="Text 2"/>
          <p:cNvSpPr/>
          <p:nvPr/>
        </p:nvSpPr>
        <p:spPr>
          <a:xfrm>
            <a:off x="1778000" y="3683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Hijama Techniques: Dry Cupping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048000" y="4826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spc="2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Suction Principles, Placement, and Movement Techniques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0" y="5524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8128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  ·  INSTITUTE OF PROPHETIC MEDICINE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Module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0"/>
            <a:ext cx="50800" cy="431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159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159000" y="2184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Principles of Suction and Cup Placement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59000" y="2641600"/>
            <a:ext cx="635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Negative pressure mechanics, suction levels, placement guidelines, and moving cupping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59000" y="3429000"/>
            <a:ext cx="635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Suction principles • Pressure parameters • Cup placement • Timing • Moving cupping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431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159000" y="4343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Advanced Dry Cupping Techniques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59000" y="4800600"/>
            <a:ext cx="635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Flash cupping, combined techniques, treatment protocols, and safety management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59000" y="5588000"/>
            <a:ext cx="635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Flash cupping • Combined techniques • Treatment protocols • Safety • Adverse reactions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0" y="2032000"/>
            <a:ext cx="6350000" cy="431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9461500" y="228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FOCUS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61500" y="2641600"/>
            <a:ext cx="762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6" name="Text 14"/>
          <p:cNvSpPr/>
          <p:nvPr/>
        </p:nvSpPr>
        <p:spPr>
          <a:xfrm>
            <a:off x="9461500" y="2857500"/>
            <a:ext cx="5715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module develops your hands-on technical skills with dry cupping.</a:t>
            </a:r>
            <a:endParaRPr lang="en-US" sz="1300" dirty="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the end of this module, you will:</a:t>
            </a:r>
            <a:endParaRPr lang="en-US" sz="13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Apply correct suction levels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Place cups with precision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Perform moving cupping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 flash cupping for stimulation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Manage adverse reactions</a:t>
            </a:r>
            <a:endParaRPr lang="en-US" sz="1300" dirty="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300" i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"Healing is in three things: a drink of honey, the edge of the cupper's knife, and cauterisation by fire." — Sahih al-Bukhari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36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Principles of Suction and Cup Placement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16000" y="508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Negative Pressure for Therapeutic Effect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M9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Hijama Techniques: Dry Cupping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Negative Pressure: How Suction Works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MECHANICS OF THERAPEUTIC SUCTION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7112000" cy="1841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133600"/>
            <a:ext cx="67310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it works: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cup creates a vacuum that draws skin and superficial tissue upward into the cup. This negative pressure: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Increases local blood flow and microcirculation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Releases fascial restrictions and muscle tension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Stimulates the immune system and lymphatic drainage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Activates the body's self-healing mechanisms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000500"/>
          <a:ext cx="7112000" cy="2032000"/>
        </p:xfrm>
        <a:graphic>
          <a:graphicData uri="http://schemas.openxmlformats.org/drawingml/2006/table">
            <a:tbl>
              <a:tblPr/>
              <a:tblGrid>
                <a:gridCol w="933"/>
                <a:gridCol w="1089"/>
                <a:gridCol w="1167"/>
                <a:gridCol w="1167"/>
              </a:tblGrid>
              <a:tr h="65024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Level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Pressure (kPa)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Indication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Caution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106.6666666666666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Light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-20 to -30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Sensitive areas, children, elderly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Minimal marking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106.6666666666666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Medium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-30 to -50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Standard treatment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Normal circular marks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104.4444444444444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Strong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-50 to -70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Deep tissue, experienced patients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Dark marks, more soreness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8255000" y="2032000"/>
            <a:ext cx="7239000" cy="4000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0"/>
          <p:cNvSpPr/>
          <p:nvPr/>
        </p:nvSpPr>
        <p:spPr>
          <a:xfrm>
            <a:off x="8509000" y="2159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SUCTION GUIDELINES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509000" y="2463800"/>
            <a:ext cx="635000" cy="254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5" name="Text 12"/>
          <p:cNvSpPr/>
          <p:nvPr/>
        </p:nvSpPr>
        <p:spPr>
          <a:xfrm>
            <a:off x="8509000" y="2641600"/>
            <a:ext cx="6731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start with light suction.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Increase gradually based on patient tolerance and tissue response.</a:t>
            </a:r>
            <a:endParaRPr lang="en-US" sz="11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Creating suction — step by step: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Place cup on skin at correct angle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Apply pump or heat to create vacuum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Ask patient: "How does that feel?"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Adjust pressure up or down as needed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Never exceed patient's comfort level</a:t>
            </a:r>
            <a:endParaRPr lang="en-US" sz="11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principle: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More suction is not always better. The therapeutic effect comes from sustained negative pressure at the appropriate level, not maximum force.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62000" y="6286500"/>
            <a:ext cx="14732000" cy="635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7" name="Text 14"/>
          <p:cNvSpPr/>
          <p:nvPr/>
        </p:nvSpPr>
        <p:spPr>
          <a:xfrm>
            <a:off x="1016000" y="6350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Clinical Pearl: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patient's feedback is your most important guide. A sensation of "comfortable pulling" is correct. Sharp pain, burning, or intense discomfort means reduce suction immediately.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M9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Hijama Techniques: Dry Cupping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Cup Placement: Angle, Spacing, and Timing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PLACEMENT FUNDAMENTALS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4699000" cy="16764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1336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Angle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2500" y="24638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Place cup perpendicular to skin surface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Ensure full rim contact — no air gaps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On curved areas, use smaller cups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Slight skin traction helps on bony areas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5000" y="2032000"/>
            <a:ext cx="4699000" cy="16764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5905500" y="21336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Spacing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05500" y="24638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Minimum 2–3 cm between cup edges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Avoid overlapping suction zones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Follow anatomical landmarks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Space according to body area size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68000" y="2032000"/>
            <a:ext cx="4826000" cy="16764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8500" y="21336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Timing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858500" y="2463800"/>
            <a:ext cx="444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Standard: 5–10 minutes per cup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First session: start with 5 minutes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Monitor skin colour every 2 minutes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Remove if dark purple or painful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2000" y="38608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SKIN RESPONSE MONITORING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267200"/>
          <a:ext cx="14732000" cy="1727200"/>
        </p:xfrm>
        <a:graphic>
          <a:graphicData uri="http://schemas.openxmlformats.org/drawingml/2006/table">
            <a:tbl>
              <a:tblPr/>
              <a:tblGrid>
                <a:gridCol w="2256"/>
                <a:gridCol w="4189"/>
                <a:gridCol w="4189"/>
                <a:gridCol w="4189"/>
                <a:gridCol w="3867"/>
              </a:tblGrid>
              <a:tr h="51816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Colour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What It Means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Your Action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Patient Communication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Normal?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103.8888888888888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Light pink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Healthy circulation, mild suction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Continue, may increase slightly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Good response - continue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Yes - expected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103.8888888888888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Dark red/purple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Stagnation, strong suction, or prolonged time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Reduce suction or remove cup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Stagnation noted - adjusting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Common - monitor closely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762000" y="6223000"/>
            <a:ext cx="14732000" cy="698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21" name="Text 18"/>
          <p:cNvSpPr/>
          <p:nvPr/>
        </p:nvSpPr>
        <p:spPr>
          <a:xfrm>
            <a:off x="1016000" y="6299200"/>
            <a:ext cx="142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STOP immediately if: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blistering, broken skin, severe pain, or allergic reaction. Document, apply appropriate first aid, and refer if necessary. Never leave cups unattended.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M9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Hijama Techniques: Dry Cupping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Moving Cupping: The Sliding Technique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STEP-BY-STEP TECHNIQUE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7112000" cy="355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159000"/>
            <a:ext cx="6731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Apply lubricant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Use olive oil or massage oil generously on the treatment area. The cup must glide smoothly.</a:t>
            </a:r>
            <a:endParaRPr lang="en-US" sz="11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Create suction</a:t>
            </a:r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Place the cup and apply light to medium suction. Less suction than static cupping.</a:t>
            </a:r>
            <a:endParaRPr lang="en-US" sz="11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Grip and glide</a:t>
            </a:r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Hold the cup by the base (not the top). Move in smooth, continuous strokes.</a:t>
            </a:r>
            <a:endParaRPr lang="en-US" sz="11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Stroke direction</a:t>
            </a:r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Move toward the heart (lymphatic flow). On the back: upward toward the shoulders.</a:t>
            </a:r>
            <a:endParaRPr lang="en-US" sz="11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Pressure and speed</a:t>
            </a:r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Slow, deliberate strokes. 3–5 seconds per stroke. Maintain consistent pressure.</a:t>
            </a:r>
            <a:endParaRPr lang="en-US" sz="11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 Duration</a:t>
            </a:r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5–10 minutes per area. Monitor skin response continuously.</a:t>
            </a:r>
            <a:endParaRPr lang="en-US" sz="11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 Release</a:t>
            </a:r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Break the seal by pressing skin at the cup edge. Never pull the cup off directly.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55000" y="2032000"/>
            <a:ext cx="7239000" cy="3556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2" name="Text 10"/>
          <p:cNvSpPr/>
          <p:nvPr/>
        </p:nvSpPr>
        <p:spPr>
          <a:xfrm>
            <a:off x="8509000" y="2159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 TIPS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09000" y="2463800"/>
            <a:ext cx="635000" cy="254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8509000" y="2641600"/>
            <a:ext cx="6731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Cup selection: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smooth-edged cups. Silicone or glass with rounded rims work best. Avoid cups with sharp edges.</a:t>
            </a:r>
            <a:endParaRPr lang="en-US" sz="11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Oil quantity: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More oil is better than less. Reapply if resistance is felt. Dry sliding causes pain and skin damage.</a:t>
            </a:r>
            <a:endParaRPr lang="en-US" sz="11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Body areas: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Best for large muscle groups (back, thighs, shoulders). Avoid bony areas and joints.</a:t>
            </a:r>
            <a:endParaRPr lang="en-US" sz="11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feedback: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Ask about comfort continuously. Adjust pressure and speed based on response.</a:t>
            </a:r>
            <a:endParaRPr lang="en-US" sz="11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error: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Too much suction makes sliding impossible. Use 30–40% less suction than static cupping.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2000" y="5778500"/>
            <a:ext cx="14732000" cy="635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5842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Clinical Pearl: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Moving cupping is excellent for large muscle groups and preparing an area before wet cupping. It warms the tissue, increases circulation, and helps identify the best points for static cups.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36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Advanced Dry Cupping Techniques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16000" y="508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Flash Cupping, Combined Protocols, and Safety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M9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Hijama Techniques: Dry Cupping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Flash Cupping: Rapid Stimulation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TECHNIQUE AND ITS APPLICATIONS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7112000" cy="2540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133600"/>
            <a:ext cx="673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How to Perform Flash Cupping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2500" y="2489200"/>
            <a:ext cx="6731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Place cup on skin and apply light suction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Leave for 2–3 seconds only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Break the seal and remove immediately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Reapply to the same or adjacent point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Repeat 5–10 times per area</a:t>
            </a:r>
            <a:endParaRPr lang="en-US" sz="11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cup "flashes" on and off rapidly, creating a pumping action that stimulates local circulation without sustained pressure.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55000" y="2032000"/>
            <a:ext cx="7239000" cy="2540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8509000" y="2133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TO USE FLASH CUPPING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09000" y="2438400"/>
            <a:ext cx="635000" cy="254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5" name="Text 13"/>
          <p:cNvSpPr/>
          <p:nvPr/>
        </p:nvSpPr>
        <p:spPr>
          <a:xfrm>
            <a:off x="8509000" y="2590800"/>
            <a:ext cx="6731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Cold or deficient conditions: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Warms and stimulates yang energy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 or elderly patients: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Gentle stimulation without prolonged pressure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Facial cupping: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Brief application for sinus and cosmetic work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Preparation: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Before static cupping to activate the area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Children: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Short duration is better tolerated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2000" y="4572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 VS FLASH VS MOVING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978400"/>
          <a:ext cx="14732000" cy="1651000"/>
        </p:xfrm>
        <a:graphic>
          <a:graphicData uri="http://schemas.openxmlformats.org/drawingml/2006/table">
            <a:tbl>
              <a:tblPr/>
              <a:tblGrid>
                <a:gridCol w="2256"/>
                <a:gridCol w="5478"/>
                <a:gridCol w="5478"/>
                <a:gridCol w="5478"/>
              </a:tblGrid>
              <a:tr h="4622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Feature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Static Cupping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Flash Cupping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Moving Cupping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82550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Duration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5–10 min per cup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2–3 sec per application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5–10 min per area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82550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Effect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Deep tissue release, detox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Surface stimulation, warming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Broad circulation, muscle release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762000" y="6858000"/>
            <a:ext cx="14732000" cy="635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9" name="Text 16"/>
          <p:cNvSpPr/>
          <p:nvPr/>
        </p:nvSpPr>
        <p:spPr>
          <a:xfrm>
            <a:off x="1016000" y="69215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Clinical Pearl: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Flash cupping is often underused but highly effective. It is the gentlest technique and an excellent introduction for nervous first-time patients before progressing to static cups.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M9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Hijama Techniques: Dry Cupping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Combining Techniques: Treatment Protocols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SAMPLE PROTOCOLS BY CONDITION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4699000" cy="1905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1336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General Detox &amp; Wellness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2500" y="2463800"/>
            <a:ext cx="431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Moving cupping: upper back (3 min)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Static cups: Al-Kahil, Al-Akhda'ain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5–7 cups total, medium suction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7–10 minutes per cup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Monthly sessions for maintenance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5000" y="2032000"/>
            <a:ext cx="4699000" cy="1905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5905500" y="21336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Musculoskeletal Pain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05500" y="2463800"/>
            <a:ext cx="431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Moving cupping: affected area (5 min)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Static cups: local Ashi points + distal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7–10 cups, medium to strong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8–10 minutes per cup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Weekly for 4 weeks, then monthly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68000" y="2032000"/>
            <a:ext cx="4826000" cy="1905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8500" y="21336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Stress &amp; Tension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858500" y="2463800"/>
            <a:ext cx="4445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Flash cupping: neck and shoulders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Moving cupping: upper back (5 min)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Static: Al-Akhda'ain, GB20, GB21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Light to medium suction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Fortnightly sessions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2000" y="4191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 SEQUENCE FOR COMBINED SESSION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2000" y="4597400"/>
            <a:ext cx="14732000" cy="1016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" y="4699000"/>
            <a:ext cx="14351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Assessment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Flash cupping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(stimulate) → </a:t>
            </a:r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Moving cupping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(broad release) → </a:t>
            </a:r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Static cupping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(targeted treatment) → </a:t>
            </a:r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Rest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(5 minutes) → </a:t>
            </a:r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 Aftercare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sequence progresses from superficial stimulation to deep tissue work, preparing the body at each stage.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2000" y="5867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ADAPTING PROTOCOLS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2000" y="6273800"/>
            <a:ext cx="14732000" cy="101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6375400"/>
            <a:ext cx="1422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protocols are starting points, not rigid rules. Adapt based on: patient age and constitution, pain tolerance, skin sensitivity, previous response, and concurrent conditions. The skilled practitioner reads the body and responds — this is the art of Hijama.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M9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Hijama Techniques: Dry Cupping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Safety: Adverse Reactions and Management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ADVERSE REACTIONS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14732000" cy="2540000"/>
        </p:xfrm>
        <a:graphic>
          <a:graphicData uri="http://schemas.openxmlformats.org/drawingml/2006/table">
            <a:tbl>
              <a:tblPr/>
              <a:tblGrid>
                <a:gridCol w="2578"/>
                <a:gridCol w="4511"/>
                <a:gridCol w="4511"/>
                <a:gridCol w="3544"/>
                <a:gridCol w="3544"/>
              </a:tblGrid>
              <a:tr h="76200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Reaction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Cause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Prevention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Management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When to Refer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155.5555555555555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Bruising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Strong suction, thin skin, anticoagulants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Use lighter suction on sensitive patients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Reassure, apply arnica gel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If severe or spreading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155.5555555555555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Blistering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Excessive suction or duration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Monitor timing, use moderate suction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Do not rupture. Cover with sterile dressing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If infected or large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155.5555555555555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Dizziness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Vasovagal response, anxiety, low blood sugar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Ensure patient has eaten, calm environment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Remove cups, elevate legs, cool compress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If persistent or fainting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62000" y="4762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AREAS TO AVOID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2000" y="5143500"/>
            <a:ext cx="7112000" cy="15494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2" name="Text 9"/>
          <p:cNvSpPr/>
          <p:nvPr/>
        </p:nvSpPr>
        <p:spPr>
          <a:xfrm>
            <a:off x="952500" y="5207000"/>
            <a:ext cx="6731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Directly over the spine (para-spinal only)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Front of neck (carotid area)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Eyes, nipples, genitalia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Open wounds, moles, varicose veins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Areas with reduced sensation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55000" y="5143500"/>
            <a:ext cx="7239000" cy="15494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4" name="Text 11"/>
          <p:cNvSpPr/>
          <p:nvPr/>
        </p:nvSpPr>
        <p:spPr>
          <a:xfrm>
            <a:off x="8445500" y="5207000"/>
            <a:ext cx="6858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Safety checklist before every session: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Patient screened and consented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Correct cups selected and inspected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Suction device functioning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Timer available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Emergency contact accessible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62000" y="6794500"/>
            <a:ext cx="14732000" cy="698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6" name="Text 13"/>
          <p:cNvSpPr/>
          <p:nvPr/>
        </p:nvSpPr>
        <p:spPr>
          <a:xfrm>
            <a:off x="1016000" y="68580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Clinical Pearl: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Most adverse reactions are preventable. The two most common causes are excessive suction and prolonged duration. When in doubt, use less suction for less time. Patient comfort is your guide.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M9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Hijama Techniques: Dry Cupping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Module 9: Key Takeaways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ESSENTIAL LESSONS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7112000" cy="863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" y="2095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97000" y="2095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 negative pressure.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Suction draws tissue upward, increasing circulation and releasing tension. Start light, increase gradually.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2000" y="3022600"/>
            <a:ext cx="7112000" cy="8636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889000" y="30861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97000" y="30861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skin response.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Light pink is healthy. Dark purple means reduce suction or time. Never leave cups unattended.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2000" y="4013200"/>
            <a:ext cx="7112000" cy="863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889000" y="40767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97000" y="40767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 three techniques.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Static for deep release, moving for broad circulation, flash for gentle stimulation. Combine them for best results.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2000" y="5003800"/>
            <a:ext cx="7112000" cy="8636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9" name="Text 17"/>
          <p:cNvSpPr/>
          <p:nvPr/>
        </p:nvSpPr>
        <p:spPr>
          <a:xfrm>
            <a:off x="889000" y="50673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97000" y="50673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 protocols to the patient.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Sample protocols are starting points. Read the body, listen to feedback, and adjust accordingly.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2000" y="5994400"/>
            <a:ext cx="7112000" cy="863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2" name="Text 20"/>
          <p:cNvSpPr/>
          <p:nvPr/>
        </p:nvSpPr>
        <p:spPr>
          <a:xfrm>
            <a:off x="889000" y="60579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97000" y="60579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Safety first.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Most adverse reactions are preventable. Know the contraindicated areas, manage reactions calmly, and refer when needed.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55000" y="2032000"/>
            <a:ext cx="7239000" cy="482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5" name="Text 23"/>
          <p:cNvSpPr/>
          <p:nvPr/>
        </p:nvSpPr>
        <p:spPr>
          <a:xfrm>
            <a:off x="8572500" y="2222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LOOKING AHEAD: MODULE 10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72500" y="2540000"/>
            <a:ext cx="635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7" name="Text 25"/>
          <p:cNvSpPr/>
          <p:nvPr/>
        </p:nvSpPr>
        <p:spPr>
          <a:xfrm>
            <a:off x="8572500" y="2730500"/>
            <a:ext cx="660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Hijama Techniques: Wet Cupping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572500" y="3302000"/>
            <a:ext cx="66040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Module 10, you will learn:</a:t>
            </a:r>
            <a:endParaRPr lang="en-US" sz="12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The complete wet cupping procedure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Skin preparation and incision techniques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Blood flow management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Wound care and dressing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Advanced wet cupping variations</a:t>
            </a:r>
            <a:endParaRPr lang="en-US" sz="12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dry cupping skills from this module form the essential foundation for safe and effective wet cupping practice.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5400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3" name="Text 1"/>
          <p:cNvSpPr/>
          <p:nvPr/>
        </p:nvSpPr>
        <p:spPr>
          <a:xfrm>
            <a:off x="2413000" y="2794000"/>
            <a:ext cx="1143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i="1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"Healing is in three things: a drink of honey, the edge of the cupper's knife, and cauterisation by fire. But I forbid my Ummah from cauterisation."</a:t>
            </a:r>
            <a:endParaRPr lang="en-US" sz="2200" dirty="0"/>
          </a:p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Sahih al-Bukhari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5016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3048000" y="52705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cup in your hand is an instrument of healing passed down through generations. Use it with knowledge, skill, and the consciousness that you are continuing a prophetic tradition.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18000" y="6858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4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9 COMPLETE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48000" y="7366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Hijama Techniques: Dry Cupping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318000" y="8128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  ·  INSTITUTE OF PROPHETIC MEDICINE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SRA-001 | Module 9: Hijama Techniques: Dry Cupping</dc:title>
  <dc:subject>SRA-001 | Module 9: Hijama Techniques: Dry Cupping</dc:subject>
  <dc:creator>Kimi</dc:creator>
  <cp:lastModifiedBy>Kimi</cp:lastModifiedBy>
  <cp:revision>1</cp:revision>
  <dcterms:created xsi:type="dcterms:W3CDTF">2026-07-06T09:17:27Z</dcterms:created>
  <dcterms:modified xsi:type="dcterms:W3CDTF">2026-07-06T09:17:27Z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{"Label":"SRA-001 | Module 9: Hijama Techniques: Dry Cupping","ContentProducer":"001191110108MACG2KBH8F10000","ProduceID":"19f351c5-13b2-83e4-8000-000002c0b83d","ReservedCode1":"","ContentPropagator":"001191110108MACG2KBH8F20000","PropagateID":"19f34489-a1f2-82b2-8000-09219025796f","ReservedCode2":""}</vt:lpwstr>
  </property>
</Properties>
</file>