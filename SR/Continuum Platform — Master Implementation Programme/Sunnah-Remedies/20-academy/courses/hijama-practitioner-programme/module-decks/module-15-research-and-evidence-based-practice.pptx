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6256000" cy="9144000"/>
  <p:notesSz cx="9144000" cy="16256000"/>
  <p:embeddedFontLst>
    <p:embeddedFont>
      <p:font typeface="Quattrocento Sans" charset="-122" pitchFamily="34"/>
      <p:regular r:id="rId19"/>
    </p:embeddedFont>
    <p:embeddedFont>
      <p:font typeface="Oranienbaum" charset="-122" pitchFamily="34"/>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4318000" y="2794000"/>
            <a:ext cx="7620000" cy="381000"/>
          </a:xfrm>
          <a:prstGeom prst="rect">
            <a:avLst/>
          </a:prstGeom>
          <a:noFill/>
          <a:ln/>
        </p:spPr>
        <p:txBody>
          <a:bodyPr wrap="none" lIns="0" tIns="0" rIns="0" bIns="0" rtlCol="0" anchor="ctr"/>
          <a:lstStyle/>
          <a:p>
            <a:pPr algn="ctr">
              <a:lnSpc>
                <a:spcPct val="120000"/>
              </a:lnSpc>
            </a:pPr>
            <a:r>
              <a:rPr lang="en-US" sz="1400" spc="400" kern="0" dirty="0">
                <a:solidFill>
                  <a:srgbClr val="F6F3EE"/>
                </a:solidFill>
                <a:latin typeface="Quattrocento Sans" pitchFamily="34" charset="0"/>
                <a:ea typeface="Quattrocento Sans" pitchFamily="34" charset="-122"/>
                <a:cs typeface="Quattrocento Sans" pitchFamily="34" charset="-120"/>
              </a:rPr>
              <a:t>SRA-001  |  MODULE 15</a:t>
            </a:r>
            <a:endParaRPr lang="en-US" sz="1400" dirty="0"/>
          </a:p>
        </p:txBody>
      </p:sp>
      <p:sp>
        <p:nvSpPr>
          <p:cNvPr id="3" name="Shape 1"/>
          <p:cNvSpPr/>
          <p:nvPr/>
        </p:nvSpPr>
        <p:spPr>
          <a:xfrm>
            <a:off x="6858000" y="3365500"/>
            <a:ext cx="2540000" cy="12700"/>
          </a:xfrm>
          <a:prstGeom prst="rect">
            <a:avLst/>
          </a:prstGeom>
          <a:solidFill>
            <a:srgbClr val="C7A25A"/>
          </a:solidFill>
          <a:ln/>
        </p:spPr>
      </p:sp>
      <p:sp>
        <p:nvSpPr>
          <p:cNvPr id="4" name="Text 2"/>
          <p:cNvSpPr/>
          <p:nvPr/>
        </p:nvSpPr>
        <p:spPr>
          <a:xfrm>
            <a:off x="2413000" y="3683000"/>
            <a:ext cx="11430000" cy="889000"/>
          </a:xfrm>
          <a:prstGeom prst="rect">
            <a:avLst/>
          </a:prstGeom>
          <a:noFill/>
          <a:ln/>
        </p:spPr>
        <p:txBody>
          <a:bodyPr wrap="none" lIns="0" tIns="0" rIns="0" bIns="0" rtlCol="0" anchor="ctr"/>
          <a:lstStyle/>
          <a:p>
            <a:pPr algn="ctr">
              <a:lnSpc>
                <a:spcPct val="120000"/>
              </a:lnSpc>
            </a:pPr>
            <a:r>
              <a:rPr lang="en-US" sz="4800" dirty="0">
                <a:solidFill>
                  <a:srgbClr val="F6F3EE"/>
                </a:solidFill>
                <a:latin typeface="Oranienbaum" pitchFamily="34" charset="0"/>
                <a:ea typeface="Oranienbaum" pitchFamily="34" charset="-122"/>
                <a:cs typeface="Oranienbaum" pitchFamily="34" charset="-120"/>
              </a:rPr>
              <a:t>Research and Evidence-Based Practice</a:t>
            </a:r>
            <a:endParaRPr lang="en-US" sz="4800" dirty="0"/>
          </a:p>
        </p:txBody>
      </p:sp>
      <p:sp>
        <p:nvSpPr>
          <p:cNvPr id="5" name="Text 3"/>
          <p:cNvSpPr/>
          <p:nvPr/>
        </p:nvSpPr>
        <p:spPr>
          <a:xfrm>
            <a:off x="3048000" y="4826000"/>
            <a:ext cx="10160000" cy="381000"/>
          </a:xfrm>
          <a:prstGeom prst="rect">
            <a:avLst/>
          </a:prstGeom>
          <a:noFill/>
          <a:ln/>
        </p:spPr>
        <p:txBody>
          <a:bodyPr wrap="none" lIns="0" tIns="0" rIns="0" bIns="0" rtlCol="0" anchor="ctr"/>
          <a:lstStyle/>
          <a:p>
            <a:pPr algn="ctr">
              <a:lnSpc>
                <a:spcPct val="120000"/>
              </a:lnSpc>
            </a:pPr>
            <a:r>
              <a:rPr lang="en-US" sz="1800" spc="200" kern="0" dirty="0">
                <a:solidFill>
                  <a:srgbClr val="C7A25A"/>
                </a:solidFill>
                <a:latin typeface="Quattrocento Sans" pitchFamily="34" charset="0"/>
                <a:ea typeface="Quattrocento Sans" pitchFamily="34" charset="-122"/>
                <a:cs typeface="Quattrocento Sans" pitchFamily="34" charset="-120"/>
              </a:rPr>
              <a:t>Reading Research, Critical Appraisal, and Contributing to the Evidence Base</a:t>
            </a:r>
            <a:endParaRPr lang="en-US" sz="1800" dirty="0"/>
          </a:p>
        </p:txBody>
      </p:sp>
      <p:sp>
        <p:nvSpPr>
          <p:cNvPr id="6" name="Shape 4"/>
          <p:cNvSpPr/>
          <p:nvPr/>
        </p:nvSpPr>
        <p:spPr>
          <a:xfrm>
            <a:off x="6858000" y="5524500"/>
            <a:ext cx="2540000" cy="12700"/>
          </a:xfrm>
          <a:prstGeom prst="rect">
            <a:avLst/>
          </a:prstGeom>
          <a:solidFill>
            <a:srgbClr val="C7A25A"/>
          </a:solidFill>
          <a:ln/>
        </p:spPr>
      </p:sp>
      <p:sp>
        <p:nvSpPr>
          <p:cNvPr id="7" name="Text 5"/>
          <p:cNvSpPr/>
          <p:nvPr/>
        </p:nvSpPr>
        <p:spPr>
          <a:xfrm>
            <a:off x="4318000" y="8128000"/>
            <a:ext cx="7620000" cy="304800"/>
          </a:xfrm>
          <a:prstGeom prst="rect">
            <a:avLst/>
          </a:prstGeom>
          <a:noFill/>
          <a:ln/>
        </p:spPr>
        <p:txBody>
          <a:bodyPr wrap="none" lIns="0" tIns="0" rIns="0" bIns="0" rtlCol="0" anchor="ctr"/>
          <a:lstStyle/>
          <a:p>
            <a:pPr algn="ctr">
              <a:lnSpc>
                <a:spcPct val="120000"/>
              </a:lnSpc>
            </a:pPr>
            <a:r>
              <a:rPr lang="en-US" sz="1200" spc="400" kern="0" dirty="0">
                <a:solidFill>
                  <a:srgbClr val="F6F3EE"/>
                </a:solidFill>
                <a:latin typeface="Quattrocento Sans" pitchFamily="34" charset="0"/>
                <a:ea typeface="Quattrocento Sans" pitchFamily="34" charset="-122"/>
                <a:cs typeface="Quattrocento Sans" pitchFamily="34" charset="-120"/>
              </a:rPr>
              <a:t>SUNNAH REMEDIES  ·  INSTITUTE OF PROPHETIC MEDICINE</a:t>
            </a:r>
            <a:endParaRPr lang="en-US" sz="12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M15</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Research and Evidence-Based Practice</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635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Module Contents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Shape 6"/>
          <p:cNvSpPr/>
          <p:nvPr/>
        </p:nvSpPr>
        <p:spPr>
          <a:xfrm>
            <a:off x="762000" y="1778000"/>
            <a:ext cx="7112000" cy="2921000"/>
          </a:xfrm>
          <a:prstGeom prst="rect">
            <a:avLst/>
          </a:prstGeom>
          <a:solidFill>
            <a:srgbClr val="0E3B2E"/>
          </a:solidFill>
          <a:ln/>
        </p:spPr>
      </p:sp>
      <p:sp>
        <p:nvSpPr>
          <p:cNvPr id="9" name="Text 7"/>
          <p:cNvSpPr/>
          <p:nvPr/>
        </p:nvSpPr>
        <p:spPr>
          <a:xfrm>
            <a:off x="1016000" y="1905000"/>
            <a:ext cx="762000" cy="508000"/>
          </a:xfrm>
          <a:prstGeom prst="rect">
            <a:avLst/>
          </a:prstGeom>
          <a:noFill/>
          <a:ln/>
        </p:spPr>
        <p:txBody>
          <a:bodyPr wrap="none" lIns="0" tIns="0" rIns="0" bIns="0" rtlCol="0" anchor="ctr"/>
          <a:lstStyle/>
          <a:p>
            <a:pPr algn="l">
              <a:lnSpc>
                <a:spcPct val="120000"/>
              </a:lnSpc>
            </a:pPr>
            <a:r>
              <a:rPr lang="en-US" sz="3200" dirty="0">
                <a:solidFill>
                  <a:srgbClr val="C7A25A"/>
                </a:solidFill>
                <a:latin typeface="Oranienbaum" pitchFamily="34" charset="0"/>
                <a:ea typeface="Oranienbaum" pitchFamily="34" charset="-122"/>
                <a:cs typeface="Oranienbaum" pitchFamily="34" charset="-120"/>
              </a:rPr>
              <a:t>01</a:t>
            </a:r>
            <a:endParaRPr lang="en-US" sz="3200" dirty="0"/>
          </a:p>
        </p:txBody>
      </p:sp>
      <p:sp>
        <p:nvSpPr>
          <p:cNvPr id="10" name="Text 8"/>
          <p:cNvSpPr/>
          <p:nvPr/>
        </p:nvSpPr>
        <p:spPr>
          <a:xfrm>
            <a:off x="1016000" y="2476500"/>
            <a:ext cx="6604000" cy="381000"/>
          </a:xfrm>
          <a:prstGeom prst="rect">
            <a:avLst/>
          </a:prstGeom>
          <a:noFill/>
          <a:ln/>
        </p:spPr>
        <p:txBody>
          <a:bodyPr wrap="none" lIns="0" tIns="0" rIns="0" bIns="0" rtlCol="0" anchor="ctr"/>
          <a:lstStyle/>
          <a:p>
            <a:pPr algn="l">
              <a:lnSpc>
                <a:spcPct val="120000"/>
              </a:lnSpc>
            </a:pPr>
            <a:r>
              <a:rPr lang="en-US" sz="1800" dirty="0">
                <a:solidFill>
                  <a:srgbClr val="F6F3EE"/>
                </a:solidFill>
                <a:latin typeface="Oranienbaum" pitchFamily="34" charset="0"/>
                <a:ea typeface="Oranienbaum" pitchFamily="34" charset="-122"/>
                <a:cs typeface="Oranienbaum" pitchFamily="34" charset="-120"/>
              </a:rPr>
              <a:t>Understanding Research</a:t>
            </a:r>
            <a:endParaRPr lang="en-US" sz="1800" dirty="0"/>
          </a:p>
        </p:txBody>
      </p:sp>
      <p:sp>
        <p:nvSpPr>
          <p:cNvPr id="11" name="Text 9"/>
          <p:cNvSpPr/>
          <p:nvPr/>
        </p:nvSpPr>
        <p:spPr>
          <a:xfrm>
            <a:off x="1016000" y="2921000"/>
            <a:ext cx="6604000" cy="1587500"/>
          </a:xfrm>
          <a:prstGeom prst="rect">
            <a:avLst/>
          </a:prstGeom>
          <a:noFill/>
          <a:ln/>
        </p:spPr>
        <p:txBody>
          <a:bodyPr wrap="square" lIns="0" tIns="0" rIns="0" bIns="0" rtlCol="0" anchor="t"/>
          <a:lstStyle/>
          <a:p>
            <a:pPr algn="l">
              <a:lnSpc>
                <a:spcPct val="160000"/>
              </a:lnSpc>
            </a:pPr>
            <a:r>
              <a:rPr lang="en-US" sz="1200" dirty="0">
                <a:solidFill>
                  <a:srgbClr val="F6F3EE"/>
                </a:solidFill>
                <a:latin typeface="Quattrocento Sans" pitchFamily="34" charset="0"/>
                <a:ea typeface="Quattrocento Sans" pitchFamily="34" charset="-122"/>
                <a:cs typeface="Quattrocento Sans" pitchFamily="34" charset="-120"/>
              </a:rPr>
              <a:t>• Current Hijama research landscape</a:t>
            </a:r>
            <a:endParaRPr lang="en-US" sz="1200" dirty="0"/>
          </a:p>
          <a:p>
            <a:pPr algn="l">
              <a:lnSpc>
                <a:spcPct val="160000"/>
              </a:lnSpc>
            </a:pPr>
            <a:r>
              <a:rPr lang="en-US" sz="1200" dirty="0">
                <a:solidFill>
                  <a:srgbClr val="F6F3EE"/>
                </a:solidFill>
                <a:latin typeface="Quattrocento Sans" pitchFamily="34" charset="0"/>
                <a:ea typeface="Quattrocento Sans" pitchFamily="34" charset="-122"/>
                <a:cs typeface="Quattrocento Sans" pitchFamily="34" charset="-120"/>
              </a:rPr>
              <a:t>• Study types and research methodology</a:t>
            </a:r>
            <a:endParaRPr lang="en-US" sz="1200" dirty="0"/>
          </a:p>
          <a:p>
            <a:pPr algn="l">
              <a:lnSpc>
                <a:spcPct val="160000"/>
              </a:lnSpc>
            </a:pPr>
            <a:r>
              <a:rPr lang="en-US" sz="1200" dirty="0">
                <a:solidFill>
                  <a:srgbClr val="F6F3EE"/>
                </a:solidFill>
                <a:latin typeface="Quattrocento Sans" pitchFamily="34" charset="0"/>
                <a:ea typeface="Quattrocento Sans" pitchFamily="34" charset="-122"/>
                <a:cs typeface="Quattrocento Sans" pitchFamily="34" charset="-120"/>
              </a:rPr>
              <a:t>• Critical appraisal and levels of evidence</a:t>
            </a:r>
            <a:endParaRPr lang="en-US" sz="1200" dirty="0"/>
          </a:p>
        </p:txBody>
      </p:sp>
      <p:sp>
        <p:nvSpPr>
          <p:cNvPr id="12" name="Shape 10"/>
          <p:cNvSpPr/>
          <p:nvPr/>
        </p:nvSpPr>
        <p:spPr>
          <a:xfrm>
            <a:off x="8382000" y="1778000"/>
            <a:ext cx="7112000" cy="2921000"/>
          </a:xfrm>
          <a:prstGeom prst="rect">
            <a:avLst/>
          </a:prstGeom>
          <a:solidFill>
            <a:srgbClr val="F0EDE7"/>
          </a:solidFill>
          <a:ln/>
        </p:spPr>
      </p:sp>
      <p:sp>
        <p:nvSpPr>
          <p:cNvPr id="13" name="Text 11"/>
          <p:cNvSpPr/>
          <p:nvPr/>
        </p:nvSpPr>
        <p:spPr>
          <a:xfrm>
            <a:off x="8636000" y="1905000"/>
            <a:ext cx="762000" cy="508000"/>
          </a:xfrm>
          <a:prstGeom prst="rect">
            <a:avLst/>
          </a:prstGeom>
          <a:noFill/>
          <a:ln/>
        </p:spPr>
        <p:txBody>
          <a:bodyPr wrap="none" lIns="0" tIns="0" rIns="0" bIns="0" rtlCol="0" anchor="ctr"/>
          <a:lstStyle/>
          <a:p>
            <a:pPr algn="l">
              <a:lnSpc>
                <a:spcPct val="120000"/>
              </a:lnSpc>
            </a:pPr>
            <a:r>
              <a:rPr lang="en-US" sz="3200" dirty="0">
                <a:solidFill>
                  <a:srgbClr val="0E3B2E"/>
                </a:solidFill>
                <a:latin typeface="Oranienbaum" pitchFamily="34" charset="0"/>
                <a:ea typeface="Oranienbaum" pitchFamily="34" charset="-122"/>
                <a:cs typeface="Oranienbaum" pitchFamily="34" charset="-120"/>
              </a:rPr>
              <a:t>02</a:t>
            </a:r>
            <a:endParaRPr lang="en-US" sz="3200" dirty="0"/>
          </a:p>
        </p:txBody>
      </p:sp>
      <p:sp>
        <p:nvSpPr>
          <p:cNvPr id="14" name="Text 12"/>
          <p:cNvSpPr/>
          <p:nvPr/>
        </p:nvSpPr>
        <p:spPr>
          <a:xfrm>
            <a:off x="8636000" y="2476500"/>
            <a:ext cx="6604000" cy="381000"/>
          </a:xfrm>
          <a:prstGeom prst="rect">
            <a:avLst/>
          </a:prstGeom>
          <a:noFill/>
          <a:ln/>
        </p:spPr>
        <p:txBody>
          <a:bodyPr wrap="none" lIns="0" tIns="0" rIns="0" bIns="0" rtlCol="0" anchor="ctr"/>
          <a:lstStyle/>
          <a:p>
            <a:pPr algn="l">
              <a:lnSpc>
                <a:spcPct val="120000"/>
              </a:lnSpc>
            </a:pPr>
            <a:r>
              <a:rPr lang="en-US" sz="1800" dirty="0">
                <a:solidFill>
                  <a:srgbClr val="0E3B2E"/>
                </a:solidFill>
                <a:latin typeface="Oranienbaum" pitchFamily="34" charset="0"/>
                <a:ea typeface="Oranienbaum" pitchFamily="34" charset="-122"/>
                <a:cs typeface="Oranienbaum" pitchFamily="34" charset="-120"/>
              </a:rPr>
              <a:t>Contributing to the Evidence Base</a:t>
            </a:r>
            <a:endParaRPr lang="en-US" sz="1800" dirty="0"/>
          </a:p>
        </p:txBody>
      </p:sp>
      <p:sp>
        <p:nvSpPr>
          <p:cNvPr id="15" name="Text 13"/>
          <p:cNvSpPr/>
          <p:nvPr/>
        </p:nvSpPr>
        <p:spPr>
          <a:xfrm>
            <a:off x="8636000" y="2921000"/>
            <a:ext cx="6604000" cy="1587500"/>
          </a:xfrm>
          <a:prstGeom prst="rect">
            <a:avLst/>
          </a:prstGeom>
          <a:noFill/>
          <a:ln/>
        </p:spPr>
        <p:txBody>
          <a:bodyPr wrap="square" lIns="0" tIns="0" rIns="0" bIns="0" rtlCol="0" anchor="t"/>
          <a:lstStyle/>
          <a:p>
            <a:pPr algn="l">
              <a:lnSpc>
                <a:spcPct val="160000"/>
              </a:lnSpc>
            </a:pPr>
            <a:r>
              <a:rPr lang="en-US" sz="1200" dirty="0">
                <a:solidFill>
                  <a:srgbClr val="1A1A1A"/>
                </a:solidFill>
                <a:latin typeface="Quattrocento Sans" pitchFamily="34" charset="0"/>
                <a:ea typeface="Quattrocento Sans" pitchFamily="34" charset="-122"/>
                <a:cs typeface="Quattrocento Sans" pitchFamily="34" charset="-120"/>
              </a:rPr>
              <a:t>• Case studies and case series</a:t>
            </a:r>
            <a:endParaRPr lang="en-US" sz="1200" dirty="0"/>
          </a:p>
          <a:p>
            <a:pPr algn="l">
              <a:lnSpc>
                <a:spcPct val="160000"/>
              </a:lnSpc>
            </a:pPr>
            <a:r>
              <a:rPr lang="en-US" sz="1200" dirty="0">
                <a:solidFill>
                  <a:srgbClr val="1A1A1A"/>
                </a:solidFill>
                <a:latin typeface="Quattrocento Sans" pitchFamily="34" charset="0"/>
                <a:ea typeface="Quattrocento Sans" pitchFamily="34" charset="-122"/>
                <a:cs typeface="Quattrocento Sans" pitchFamily="34" charset="-120"/>
              </a:rPr>
              <a:t>• Clinical audit methodology</a:t>
            </a:r>
            <a:endParaRPr lang="en-US" sz="1200" dirty="0"/>
          </a:p>
          <a:p>
            <a:pPr algn="l">
              <a:lnSpc>
                <a:spcPct val="160000"/>
              </a:lnSpc>
            </a:pPr>
            <a:r>
              <a:rPr lang="en-US" sz="1200" dirty="0">
                <a:solidFill>
                  <a:srgbClr val="1A1A1A"/>
                </a:solidFill>
                <a:latin typeface="Quattrocento Sans" pitchFamily="34" charset="0"/>
                <a:ea typeface="Quattrocento Sans" pitchFamily="34" charset="-122"/>
                <a:cs typeface="Quattrocento Sans" pitchFamily="34" charset="-120"/>
              </a:rPr>
              <a:t>• Bridging tradition with science</a:t>
            </a:r>
            <a:endParaRPr lang="en-US" sz="1200" dirty="0"/>
          </a:p>
        </p:txBody>
      </p:sp>
      <p:sp>
        <p:nvSpPr>
          <p:cNvPr id="16" name="Text 14"/>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02</a:t>
            </a:r>
            <a:endParaRPr lang="en-US" sz="11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1016000" y="1524000"/>
            <a:ext cx="3810000" cy="1270000"/>
          </a:xfrm>
          <a:prstGeom prst="rect">
            <a:avLst/>
          </a:prstGeom>
          <a:noFill/>
          <a:ln/>
        </p:spPr>
        <p:txBody>
          <a:bodyPr wrap="none" lIns="0" tIns="0" rIns="0" bIns="0" rtlCol="0" anchor="ctr"/>
          <a:lstStyle/>
          <a:p>
            <a:pPr algn="l">
              <a:lnSpc>
                <a:spcPct val="100000"/>
              </a:lnSpc>
            </a:pPr>
            <a:r>
              <a:rPr lang="en-US" sz="12000" dirty="0">
                <a:solidFill>
                  <a:srgbClr val="C7A25A"/>
                </a:solidFill>
                <a:latin typeface="Oranienbaum" pitchFamily="34" charset="0"/>
                <a:ea typeface="Oranienbaum" pitchFamily="34" charset="-122"/>
                <a:cs typeface="Oranienbaum" pitchFamily="34" charset="-120"/>
              </a:rPr>
              <a:t>01</a:t>
            </a:r>
            <a:endParaRPr lang="en-US" sz="12000" dirty="0"/>
          </a:p>
        </p:txBody>
      </p:sp>
      <p:sp>
        <p:nvSpPr>
          <p:cNvPr id="3" name="Text 1"/>
          <p:cNvSpPr/>
          <p:nvPr/>
        </p:nvSpPr>
        <p:spPr>
          <a:xfrm>
            <a:off x="1016000" y="3048000"/>
            <a:ext cx="1524000" cy="635000"/>
          </a:xfrm>
          <a:prstGeom prst="rect">
            <a:avLst/>
          </a:prstGeom>
          <a:noFill/>
          <a:ln/>
        </p:spPr>
        <p:txBody>
          <a:bodyPr wrap="none" lIns="0" tIns="0" rIns="0" bIns="0" rtlCol="0" anchor="ctr"/>
          <a:lstStyle/>
          <a:p>
            <a:pPr algn="l">
              <a:lnSpc>
                <a:spcPct val="120000"/>
              </a:lnSpc>
            </a:pPr>
            <a:r>
              <a:rPr lang="en-US" sz="1800" spc="300" kern="0" dirty="0">
                <a:solidFill>
                  <a:srgbClr val="C7A25A"/>
                </a:solidFill>
                <a:latin typeface="Quattrocento Sans" pitchFamily="34" charset="0"/>
                <a:ea typeface="Quattrocento Sans" pitchFamily="34" charset="-122"/>
                <a:cs typeface="Quattrocento Sans" pitchFamily="34" charset="-120"/>
              </a:rPr>
              <a:t>CHAPTER</a:t>
            </a:r>
            <a:endParaRPr lang="en-US" sz="1800" dirty="0"/>
          </a:p>
        </p:txBody>
      </p:sp>
      <p:sp>
        <p:nvSpPr>
          <p:cNvPr id="4" name="Shape 2"/>
          <p:cNvSpPr/>
          <p:nvPr/>
        </p:nvSpPr>
        <p:spPr>
          <a:xfrm>
            <a:off x="1016000" y="3937000"/>
            <a:ext cx="1524000" cy="25400"/>
          </a:xfrm>
          <a:prstGeom prst="rect">
            <a:avLst/>
          </a:prstGeom>
          <a:solidFill>
            <a:srgbClr val="C7A25A"/>
          </a:solidFill>
          <a:ln/>
        </p:spPr>
      </p:sp>
      <p:sp>
        <p:nvSpPr>
          <p:cNvPr id="5" name="Text 3"/>
          <p:cNvSpPr/>
          <p:nvPr/>
        </p:nvSpPr>
        <p:spPr>
          <a:xfrm>
            <a:off x="1016000" y="4191000"/>
            <a:ext cx="11430000" cy="762000"/>
          </a:xfrm>
          <a:prstGeom prst="rect">
            <a:avLst/>
          </a:prstGeom>
          <a:noFill/>
          <a:ln/>
        </p:spPr>
        <p:txBody>
          <a:bodyPr wrap="none" lIns="0" tIns="0" rIns="0" bIns="0" rtlCol="0" anchor="ctr"/>
          <a:lstStyle/>
          <a:p>
            <a:pPr algn="l">
              <a:lnSpc>
                <a:spcPct val="115000"/>
              </a:lnSpc>
            </a:pPr>
            <a:r>
              <a:rPr lang="en-US" sz="3600" dirty="0">
                <a:solidFill>
                  <a:srgbClr val="F6F3EE"/>
                </a:solidFill>
                <a:latin typeface="Oranienbaum" pitchFamily="34" charset="0"/>
                <a:ea typeface="Oranienbaum" pitchFamily="34" charset="-122"/>
                <a:cs typeface="Oranienbaum" pitchFamily="34" charset="-120"/>
              </a:rPr>
              <a:t>Understanding Research</a:t>
            </a:r>
            <a:endParaRPr lang="en-US" sz="3600" dirty="0"/>
          </a:p>
        </p:txBody>
      </p:sp>
      <p:sp>
        <p:nvSpPr>
          <p:cNvPr id="6" name="Text 4"/>
          <p:cNvSpPr/>
          <p:nvPr/>
        </p:nvSpPr>
        <p:spPr>
          <a:xfrm>
            <a:off x="1016000" y="5080000"/>
            <a:ext cx="8890000" cy="381000"/>
          </a:xfrm>
          <a:prstGeom prst="rect">
            <a:avLst/>
          </a:prstGeom>
          <a:noFill/>
          <a:ln/>
        </p:spPr>
        <p:txBody>
          <a:bodyPr wrap="none" lIns="0" tIns="0" rIns="0" bIns="0" rtlCol="0" anchor="ctr"/>
          <a:lstStyle/>
          <a:p>
            <a:pPr algn="l">
              <a:lnSpc>
                <a:spcPct val="120000"/>
              </a:lnSpc>
            </a:pPr>
            <a:r>
              <a:rPr lang="en-US" sz="1600" dirty="0">
                <a:solidFill>
                  <a:srgbClr val="F6F3EE"/>
                </a:solidFill>
                <a:latin typeface="Quattrocento Sans" pitchFamily="34" charset="0"/>
                <a:ea typeface="Quattrocento Sans" pitchFamily="34" charset="-122"/>
                <a:cs typeface="Quattrocento Sans" pitchFamily="34" charset="-120"/>
              </a:rPr>
              <a:t>The Landscape, Study Types, and Critical Appraisal</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M15</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Research and Evidence-Based Practice</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The Hijama Research Landscape</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KEY RESEARCH AREAS</a:t>
            </a:r>
            <a:endParaRPr lang="en-US" sz="1200" dirty="0"/>
          </a:p>
        </p:txBody>
      </p:sp>
      <p:sp>
        <p:nvSpPr>
          <p:cNvPr id="9" name="Shape 7"/>
          <p:cNvSpPr/>
          <p:nvPr/>
        </p:nvSpPr>
        <p:spPr>
          <a:xfrm>
            <a:off x="762000" y="2032000"/>
            <a:ext cx="4699000" cy="1778000"/>
          </a:xfrm>
          <a:prstGeom prst="rect">
            <a:avLst/>
          </a:prstGeom>
          <a:solidFill>
            <a:srgbClr val="0E3B2E"/>
          </a:solidFill>
          <a:ln/>
        </p:spPr>
      </p:sp>
      <p:sp>
        <p:nvSpPr>
          <p:cNvPr id="10" name="Text 8"/>
          <p:cNvSpPr/>
          <p:nvPr/>
        </p:nvSpPr>
        <p:spPr>
          <a:xfrm>
            <a:off x="952500" y="2133600"/>
            <a:ext cx="4318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Pain Management</a:t>
            </a:r>
            <a:endParaRPr lang="en-US" sz="1400" dirty="0"/>
          </a:p>
        </p:txBody>
      </p:sp>
      <p:sp>
        <p:nvSpPr>
          <p:cNvPr id="11" name="Text 9"/>
          <p:cNvSpPr/>
          <p:nvPr/>
        </p:nvSpPr>
        <p:spPr>
          <a:xfrm>
            <a:off x="952500" y="2463800"/>
            <a:ext cx="4318000" cy="1244600"/>
          </a:xfrm>
          <a:prstGeom prst="rect">
            <a:avLst/>
          </a:prstGeom>
          <a:noFill/>
          <a:ln/>
        </p:spPr>
        <p:txBody>
          <a:bodyPr wrap="square" lIns="0" tIns="0" rIns="0" bIns="0" rtlCol="0" anchor="t"/>
          <a:lstStyle/>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Most studied application of cupping</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RCTs show benefit for chronic back pain</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Mechanism: gate control, blood flow</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VAS reductions of 2-4 points reported</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Comparable to acupuncture in some trials</a:t>
            </a:r>
            <a:endParaRPr lang="en-US" sz="900" dirty="0"/>
          </a:p>
        </p:txBody>
      </p:sp>
      <p:sp>
        <p:nvSpPr>
          <p:cNvPr id="12" name="Shape 10"/>
          <p:cNvSpPr/>
          <p:nvPr/>
        </p:nvSpPr>
        <p:spPr>
          <a:xfrm>
            <a:off x="5715000" y="2032000"/>
            <a:ext cx="4699000" cy="1778000"/>
          </a:xfrm>
          <a:prstGeom prst="rect">
            <a:avLst/>
          </a:prstGeom>
          <a:solidFill>
            <a:srgbClr val="F0EDE7"/>
          </a:solidFill>
          <a:ln/>
        </p:spPr>
      </p:sp>
      <p:sp>
        <p:nvSpPr>
          <p:cNvPr id="13" name="Text 11"/>
          <p:cNvSpPr/>
          <p:nvPr/>
        </p:nvSpPr>
        <p:spPr>
          <a:xfrm>
            <a:off x="5905500" y="2133600"/>
            <a:ext cx="4318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Immune Modulation</a:t>
            </a:r>
            <a:endParaRPr lang="en-US" sz="1400" dirty="0"/>
          </a:p>
        </p:txBody>
      </p:sp>
      <p:sp>
        <p:nvSpPr>
          <p:cNvPr id="14" name="Text 12"/>
          <p:cNvSpPr/>
          <p:nvPr/>
        </p:nvSpPr>
        <p:spPr>
          <a:xfrm>
            <a:off x="5905500" y="2463800"/>
            <a:ext cx="4318000" cy="1244600"/>
          </a:xfrm>
          <a:prstGeom prst="rect">
            <a:avLst/>
          </a:prstGeom>
          <a:noFill/>
          <a:ln/>
        </p:spPr>
        <p:txBody>
          <a:bodyPr wrap="square" lIns="0" tIns="0" rIns="0" bIns="0" rtlCol="0" anchor="t"/>
          <a:lstStyle/>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Emerging area of investigation</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Changes in inflammatory markers observed</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TNF-alpha, IL-6 reduction post-wet cupping</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Potential role in autoimmune support</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More high-quality studies needed</a:t>
            </a:r>
            <a:endParaRPr lang="en-US" sz="900" dirty="0"/>
          </a:p>
        </p:txBody>
      </p:sp>
      <p:sp>
        <p:nvSpPr>
          <p:cNvPr id="15" name="Shape 13"/>
          <p:cNvSpPr/>
          <p:nvPr/>
        </p:nvSpPr>
        <p:spPr>
          <a:xfrm>
            <a:off x="10668000" y="2032000"/>
            <a:ext cx="4826000" cy="1778000"/>
          </a:xfrm>
          <a:prstGeom prst="rect">
            <a:avLst/>
          </a:prstGeom>
          <a:solidFill>
            <a:srgbClr val="0E3B2E"/>
          </a:solidFill>
          <a:ln/>
        </p:spPr>
      </p:sp>
      <p:sp>
        <p:nvSpPr>
          <p:cNvPr id="16" name="Text 14"/>
          <p:cNvSpPr/>
          <p:nvPr/>
        </p:nvSpPr>
        <p:spPr>
          <a:xfrm>
            <a:off x="10858500" y="2133600"/>
            <a:ext cx="4445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Neurological and Other</a:t>
            </a:r>
            <a:endParaRPr lang="en-US" sz="1400" dirty="0"/>
          </a:p>
        </p:txBody>
      </p:sp>
      <p:sp>
        <p:nvSpPr>
          <p:cNvPr id="17" name="Text 15"/>
          <p:cNvSpPr/>
          <p:nvPr/>
        </p:nvSpPr>
        <p:spPr>
          <a:xfrm>
            <a:off x="10858500" y="2463800"/>
            <a:ext cx="4445000" cy="1244600"/>
          </a:xfrm>
          <a:prstGeom prst="rect">
            <a:avLst/>
          </a:prstGeom>
          <a:noFill/>
          <a:ln/>
        </p:spPr>
        <p:txBody>
          <a:bodyPr wrap="square" lIns="0" tIns="0" rIns="0" bIns="0" rtlCol="0" anchor="t"/>
          <a:lstStyle/>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Migraine and tension headache studies</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Hypertension: mixed results</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Mental health: anxiety, stress reduction</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Sports recovery: increasing interest</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Herpes zoster: promising case series</a:t>
            </a:r>
            <a:endParaRPr lang="en-US" sz="900" dirty="0"/>
          </a:p>
        </p:txBody>
      </p:sp>
      <p:sp>
        <p:nvSpPr>
          <p:cNvPr id="18" name="Shape 16"/>
          <p:cNvSpPr/>
          <p:nvPr/>
        </p:nvSpPr>
        <p:spPr>
          <a:xfrm>
            <a:off x="762000" y="4064000"/>
            <a:ext cx="14732000" cy="1333500"/>
          </a:xfrm>
          <a:prstGeom prst="rect">
            <a:avLst/>
          </a:prstGeom>
          <a:solidFill>
            <a:srgbClr val="F0EDE7"/>
          </a:solidFill>
          <a:ln/>
        </p:spPr>
      </p:sp>
      <p:sp>
        <p:nvSpPr>
          <p:cNvPr id="19" name="Text 17"/>
          <p:cNvSpPr/>
          <p:nvPr/>
        </p:nvSpPr>
        <p:spPr>
          <a:xfrm>
            <a:off x="952500" y="4165600"/>
            <a:ext cx="5080000" cy="254000"/>
          </a:xfrm>
          <a:prstGeom prst="rect">
            <a:avLst/>
          </a:prstGeom>
          <a:noFill/>
          <a:ln/>
        </p:spPr>
        <p:txBody>
          <a:bodyPr wrap="none" lIns="0" tIns="0" rIns="0" bIns="0" rtlCol="0" anchor="ctr"/>
          <a:lstStyle/>
          <a:p>
            <a:pPr algn="l">
              <a:lnSpc>
                <a:spcPct val="120000"/>
              </a:lnSpc>
            </a:pPr>
            <a:r>
              <a:rPr lang="en-US" sz="1100" spc="300" kern="0" dirty="0">
                <a:solidFill>
                  <a:srgbClr val="0E3B2E"/>
                </a:solidFill>
                <a:latin typeface="Quattrocento Sans" pitchFamily="34" charset="0"/>
                <a:ea typeface="Quattrocento Sans" pitchFamily="34" charset="-122"/>
                <a:cs typeface="Quattrocento Sans" pitchFamily="34" charset="-120"/>
              </a:rPr>
              <a:t>RESEARCH GAPS AND CHALLENGES</a:t>
            </a:r>
            <a:endParaRPr lang="en-US" sz="1100" dirty="0"/>
          </a:p>
        </p:txBody>
      </p:sp>
      <p:sp>
        <p:nvSpPr>
          <p:cNvPr id="20" name="Text 18"/>
          <p:cNvSpPr/>
          <p:nvPr/>
        </p:nvSpPr>
        <p:spPr>
          <a:xfrm>
            <a:off x="952500" y="4470400"/>
            <a:ext cx="14351000" cy="838200"/>
          </a:xfrm>
          <a:prstGeom prst="rect">
            <a:avLst/>
          </a:prstGeom>
          <a:noFill/>
          <a:ln/>
        </p:spPr>
        <p:txBody>
          <a:bodyPr wrap="square" lIns="0" tIns="0" rIns="0" bIns="0" rtlCol="0" anchor="t"/>
          <a:lstStyle/>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Small sample sizes in most studies • Lack of standardised treatment protocols • Inconsistent outcome measures across trials</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Few studies on wet cupping specifically • Limited long-term follow-up data • Publication bias toward positive results</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Need for practitioner-blinded RCTs • Limited research funding for traditional therapies</a:t>
            </a:r>
            <a:endParaRPr lang="en-US" sz="900" dirty="0"/>
          </a:p>
        </p:txBody>
      </p:sp>
      <p:sp>
        <p:nvSpPr>
          <p:cNvPr id="21" name="Text 19"/>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04</a:t>
            </a:r>
            <a:endParaRPr lang="en-US" sz="11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M15</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Research and Evidence-Based Practice</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How to Read a Research Paper</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STUDY TYPES HIERARCHY</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62000" y="1968500"/>
          <a:ext cx="14732000" cy="1968500"/>
        </p:xfrm>
        <a:graphic>
          <a:graphicData uri="http://schemas.openxmlformats.org/drawingml/2006/table">
            <a:tbl>
              <a:tblPr/>
              <a:tblGrid>
                <a:gridCol w="3222"/>
                <a:gridCol w="5800"/>
                <a:gridCol w="4833"/>
                <a:gridCol w="4833"/>
              </a:tblGrid>
              <a:tr h="5511800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Study Type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Description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Strength</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Limitation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82677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Systematic review</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Pool all studies on a topic, analyse collectively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Highest evidence level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Quality depends on included studies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82677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RCT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Random allocation to treatment vs control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Reduces bias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Expensive, may lack ecological validity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82677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Case series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Report on series of treated patients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Generates hypotheses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No control group</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bl>
          </a:graphicData>
        </a:graphic>
      </p:graphicFrame>
      <p:sp>
        <p:nvSpPr>
          <p:cNvPr id="10" name="Text 7"/>
          <p:cNvSpPr/>
          <p:nvPr/>
        </p:nvSpPr>
        <p:spPr>
          <a:xfrm>
            <a:off x="762000" y="41910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READING SEQUENCE</a:t>
            </a:r>
            <a:endParaRPr lang="en-US" sz="1200" dirty="0"/>
          </a:p>
        </p:txBody>
      </p:sp>
      <p:sp>
        <p:nvSpPr>
          <p:cNvPr id="11" name="Shape 8"/>
          <p:cNvSpPr/>
          <p:nvPr/>
        </p:nvSpPr>
        <p:spPr>
          <a:xfrm>
            <a:off x="762000" y="4597400"/>
            <a:ext cx="3492500" cy="1460500"/>
          </a:xfrm>
          <a:prstGeom prst="rect">
            <a:avLst/>
          </a:prstGeom>
          <a:solidFill>
            <a:srgbClr val="0E3B2E"/>
          </a:solidFill>
          <a:ln/>
        </p:spPr>
      </p:sp>
      <p:sp>
        <p:nvSpPr>
          <p:cNvPr id="12" name="Text 9"/>
          <p:cNvSpPr/>
          <p:nvPr/>
        </p:nvSpPr>
        <p:spPr>
          <a:xfrm>
            <a:off x="914400" y="4699000"/>
            <a:ext cx="3175000" cy="1270000"/>
          </a:xfrm>
          <a:prstGeom prst="rect">
            <a:avLst/>
          </a:prstGeom>
          <a:noFill/>
          <a:ln/>
        </p:spPr>
        <p:txBody>
          <a:bodyPr wrap="square" lIns="0" tIns="0" rIns="0" bIns="0" rtlCol="0" anchor="t"/>
          <a:lstStyle/>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1. Abstract first</a:t>
            </a:r>
            <a:endParaRPr lang="en-US" sz="1000" dirty="0"/>
          </a:p>
          <a:p>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Read for relevance. Does it answer a question you have? Check study type and conclusion before committing time.</a:t>
            </a:r>
            <a:endParaRPr lang="en-US" sz="1000" dirty="0"/>
          </a:p>
        </p:txBody>
      </p:sp>
      <p:sp>
        <p:nvSpPr>
          <p:cNvPr id="13" name="Shape 10"/>
          <p:cNvSpPr/>
          <p:nvPr/>
        </p:nvSpPr>
        <p:spPr>
          <a:xfrm>
            <a:off x="4508500" y="4597400"/>
            <a:ext cx="3492500" cy="1460500"/>
          </a:xfrm>
          <a:prstGeom prst="rect">
            <a:avLst/>
          </a:prstGeom>
          <a:solidFill>
            <a:srgbClr val="F0EDE7"/>
          </a:solidFill>
          <a:ln/>
        </p:spPr>
      </p:sp>
      <p:sp>
        <p:nvSpPr>
          <p:cNvPr id="14" name="Text 11"/>
          <p:cNvSpPr/>
          <p:nvPr/>
        </p:nvSpPr>
        <p:spPr>
          <a:xfrm>
            <a:off x="4660900" y="4699000"/>
            <a:ext cx="3175000" cy="1270000"/>
          </a:xfrm>
          <a:prstGeom prst="rect">
            <a:avLst/>
          </a:prstGeom>
          <a:noFill/>
          <a:ln/>
        </p:spPr>
        <p:txBody>
          <a:bodyPr wrap="square" lIns="0" tIns="0" rIns="0" bIns="0" rtlCol="0" anchor="t"/>
          <a:lstStyle/>
          <a:p>
            <a:pPr algn="l">
              <a:lnSpc>
                <a:spcPct val="145000"/>
              </a:lnSpc>
            </a:pPr>
            <a:r>
              <a:rPr lang="en-US" sz="1000" b="1" dirty="0">
                <a:solidFill>
                  <a:srgbClr val="1A1A1A"/>
                </a:solidFill>
                <a:latin typeface="Quattrocento Sans" pitchFamily="34" charset="0"/>
                <a:ea typeface="Quattrocento Sans" pitchFamily="34" charset="-122"/>
                <a:cs typeface="Quattrocento Sans" pitchFamily="34" charset="-120"/>
              </a:rPr>
              <a:t>2. Methods next</a:t>
            </a:r>
            <a:endParaRPr lang="en-US" sz="1000" dirty="0"/>
          </a:p>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How many participants? What was the intervention? How was outcome measured? This is where quality lives.</a:t>
            </a:r>
            <a:endParaRPr lang="en-US" sz="1000" dirty="0"/>
          </a:p>
        </p:txBody>
      </p:sp>
      <p:sp>
        <p:nvSpPr>
          <p:cNvPr id="15" name="Shape 12"/>
          <p:cNvSpPr/>
          <p:nvPr/>
        </p:nvSpPr>
        <p:spPr>
          <a:xfrm>
            <a:off x="8255000" y="4597400"/>
            <a:ext cx="3492500" cy="1460500"/>
          </a:xfrm>
          <a:prstGeom prst="rect">
            <a:avLst/>
          </a:prstGeom>
          <a:solidFill>
            <a:srgbClr val="0E3B2E"/>
          </a:solidFill>
          <a:ln/>
        </p:spPr>
      </p:sp>
      <p:sp>
        <p:nvSpPr>
          <p:cNvPr id="16" name="Text 13"/>
          <p:cNvSpPr/>
          <p:nvPr/>
        </p:nvSpPr>
        <p:spPr>
          <a:xfrm>
            <a:off x="8407400" y="4699000"/>
            <a:ext cx="3175000" cy="1270000"/>
          </a:xfrm>
          <a:prstGeom prst="rect">
            <a:avLst/>
          </a:prstGeom>
          <a:noFill/>
          <a:ln/>
        </p:spPr>
        <p:txBody>
          <a:bodyPr wrap="square" lIns="0" tIns="0" rIns="0" bIns="0" rtlCol="0" anchor="t"/>
          <a:lstStyle/>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3. Results carefully</a:t>
            </a:r>
            <a:endParaRPr lang="en-US" sz="1000" dirty="0"/>
          </a:p>
          <a:p>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Look at numbers, not just words. Was the difference statistically significant? Was it clinically meaningful?</a:t>
            </a:r>
            <a:endParaRPr lang="en-US" sz="1000" dirty="0"/>
          </a:p>
        </p:txBody>
      </p:sp>
      <p:sp>
        <p:nvSpPr>
          <p:cNvPr id="17" name="Shape 14"/>
          <p:cNvSpPr/>
          <p:nvPr/>
        </p:nvSpPr>
        <p:spPr>
          <a:xfrm>
            <a:off x="12001500" y="4597400"/>
            <a:ext cx="3492500" cy="1460500"/>
          </a:xfrm>
          <a:prstGeom prst="rect">
            <a:avLst/>
          </a:prstGeom>
          <a:solidFill>
            <a:srgbClr val="F0EDE7"/>
          </a:solidFill>
          <a:ln/>
        </p:spPr>
      </p:sp>
      <p:sp>
        <p:nvSpPr>
          <p:cNvPr id="18" name="Text 15"/>
          <p:cNvSpPr/>
          <p:nvPr/>
        </p:nvSpPr>
        <p:spPr>
          <a:xfrm>
            <a:off x="12153900" y="4699000"/>
            <a:ext cx="3175000" cy="1270000"/>
          </a:xfrm>
          <a:prstGeom prst="rect">
            <a:avLst/>
          </a:prstGeom>
          <a:noFill/>
          <a:ln/>
        </p:spPr>
        <p:txBody>
          <a:bodyPr wrap="square" lIns="0" tIns="0" rIns="0" bIns="0" rtlCol="0" anchor="t"/>
          <a:lstStyle/>
          <a:p>
            <a:pPr algn="l">
              <a:lnSpc>
                <a:spcPct val="145000"/>
              </a:lnSpc>
            </a:pPr>
            <a:r>
              <a:rPr lang="en-US" sz="1000" b="1" dirty="0">
                <a:solidFill>
                  <a:srgbClr val="1A1A1A"/>
                </a:solidFill>
                <a:latin typeface="Quattrocento Sans" pitchFamily="34" charset="0"/>
                <a:ea typeface="Quattrocento Sans" pitchFamily="34" charset="-122"/>
                <a:cs typeface="Quattrocento Sans" pitchFamily="34" charset="-120"/>
              </a:rPr>
              <a:t>4. Discussion last</a:t>
            </a:r>
            <a:endParaRPr lang="en-US" sz="1000" dirty="0"/>
          </a:p>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Authors interpret their findings here. Check if conclusions match the actual results. Look for admitted limitations.</a:t>
            </a:r>
            <a:endParaRPr lang="en-US" sz="1000" dirty="0"/>
          </a:p>
        </p:txBody>
      </p:sp>
      <p:sp>
        <p:nvSpPr>
          <p:cNvPr id="19" name="Text 16"/>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05</a:t>
            </a:r>
            <a:endParaRPr lang="en-US" sz="11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M15</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Research and Evidence-Based Practice</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Critical Appraisal Framework</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COMMON BIASES TO WATCH FOR</a:t>
            </a:r>
            <a:endParaRPr lang="en-US" sz="1200" dirty="0"/>
          </a:p>
        </p:txBody>
      </p:sp>
      <p:sp>
        <p:nvSpPr>
          <p:cNvPr id="9" name="Shape 7"/>
          <p:cNvSpPr/>
          <p:nvPr/>
        </p:nvSpPr>
        <p:spPr>
          <a:xfrm>
            <a:off x="762000" y="2006600"/>
            <a:ext cx="7112000" cy="1270000"/>
          </a:xfrm>
          <a:prstGeom prst="rect">
            <a:avLst/>
          </a:prstGeom>
          <a:solidFill>
            <a:srgbClr val="0E3B2E"/>
          </a:solidFill>
          <a:ln/>
        </p:spPr>
      </p:sp>
      <p:sp>
        <p:nvSpPr>
          <p:cNvPr id="10" name="Text 8"/>
          <p:cNvSpPr/>
          <p:nvPr/>
        </p:nvSpPr>
        <p:spPr>
          <a:xfrm>
            <a:off x="952500" y="2082800"/>
            <a:ext cx="6731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Selection Bias</a:t>
            </a:r>
            <a:endParaRPr lang="en-US" sz="1400" dirty="0"/>
          </a:p>
        </p:txBody>
      </p:sp>
      <p:sp>
        <p:nvSpPr>
          <p:cNvPr id="11" name="Text 9"/>
          <p:cNvSpPr/>
          <p:nvPr/>
        </p:nvSpPr>
        <p:spPr>
          <a:xfrm>
            <a:off x="952500" y="2413000"/>
            <a:ext cx="6731000" cy="762000"/>
          </a:xfrm>
          <a:prstGeom prst="rect">
            <a:avLst/>
          </a:prstGeom>
          <a:noFill/>
          <a:ln/>
        </p:spPr>
        <p:txBody>
          <a:bodyPr wrap="square" lIns="0" tIns="0" rIns="0" bIns="0" rtlCol="0" anchor="t"/>
          <a:lstStyle/>
          <a:p>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Study participants are not representative of real patients. Example: a cupping trial that only includes young healthy adults may not apply to elderly patients with multiple conditions.</a:t>
            </a:r>
            <a:endParaRPr lang="en-US" sz="1000" dirty="0"/>
          </a:p>
        </p:txBody>
      </p:sp>
      <p:sp>
        <p:nvSpPr>
          <p:cNvPr id="12" name="Shape 10"/>
          <p:cNvSpPr/>
          <p:nvPr/>
        </p:nvSpPr>
        <p:spPr>
          <a:xfrm>
            <a:off x="8128000" y="2006600"/>
            <a:ext cx="7366000" cy="1270000"/>
          </a:xfrm>
          <a:prstGeom prst="rect">
            <a:avLst/>
          </a:prstGeom>
          <a:solidFill>
            <a:srgbClr val="F0EDE7"/>
          </a:solidFill>
          <a:ln/>
        </p:spPr>
      </p:sp>
      <p:sp>
        <p:nvSpPr>
          <p:cNvPr id="13" name="Text 11"/>
          <p:cNvSpPr/>
          <p:nvPr/>
        </p:nvSpPr>
        <p:spPr>
          <a:xfrm>
            <a:off x="8318500" y="2082800"/>
            <a:ext cx="6985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Publication Bias</a:t>
            </a:r>
            <a:endParaRPr lang="en-US" sz="1400" dirty="0"/>
          </a:p>
        </p:txBody>
      </p:sp>
      <p:sp>
        <p:nvSpPr>
          <p:cNvPr id="14" name="Text 12"/>
          <p:cNvSpPr/>
          <p:nvPr/>
        </p:nvSpPr>
        <p:spPr>
          <a:xfrm>
            <a:off x="8318500" y="2413000"/>
            <a:ext cx="6985000" cy="762000"/>
          </a:xfrm>
          <a:prstGeom prst="rect">
            <a:avLst/>
          </a:prstGeom>
          <a:noFill/>
          <a:ln/>
        </p:spPr>
        <p:txBody>
          <a:bodyPr wrap="square" lIns="0" tIns="0" rIns="0" bIns="0" rtlCol="0" anchor="t"/>
          <a:lstStyle/>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Studies with positive results are more likely to be published than negative ones. This creates a distorted picture of effectiveness. Look for trials registered before they started.</a:t>
            </a:r>
            <a:endParaRPr lang="en-US" sz="1000" dirty="0"/>
          </a:p>
        </p:txBody>
      </p:sp>
      <p:sp>
        <p:nvSpPr>
          <p:cNvPr id="15" name="Text 13"/>
          <p:cNvSpPr/>
          <p:nvPr/>
        </p:nvSpPr>
        <p:spPr>
          <a:xfrm>
            <a:off x="762000" y="35306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LEVELS OF EVIDENCE</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62000" y="3937000"/>
          <a:ext cx="14732000" cy="1905000"/>
        </p:xfrm>
        <a:graphic>
          <a:graphicData uri="http://schemas.openxmlformats.org/drawingml/2006/table">
            <a:tbl>
              <a:tblPr/>
              <a:tblGrid>
                <a:gridCol w="1933"/>
                <a:gridCol w="8700"/>
                <a:gridCol w="8056"/>
              </a:tblGrid>
              <a:tr h="5334000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Level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Evidence Type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Clinical Action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78105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I</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Systematic review of RCTs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Strong recommendation for practice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78105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II</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Individual RCT, cohort study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Moderate recommendation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78105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III</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Case-control, case series, expert opinion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Consider in context, weak recommendation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bl>
          </a:graphicData>
        </a:graphic>
      </p:graphicFrame>
      <p:sp>
        <p:nvSpPr>
          <p:cNvPr id="17" name="Text 14"/>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06</a:t>
            </a:r>
            <a:endParaRPr lang="en-US" sz="11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1016000" y="1524000"/>
            <a:ext cx="3810000" cy="1270000"/>
          </a:xfrm>
          <a:prstGeom prst="rect">
            <a:avLst/>
          </a:prstGeom>
          <a:noFill/>
          <a:ln/>
        </p:spPr>
        <p:txBody>
          <a:bodyPr wrap="none" lIns="0" tIns="0" rIns="0" bIns="0" rtlCol="0" anchor="ctr"/>
          <a:lstStyle/>
          <a:p>
            <a:pPr algn="l">
              <a:lnSpc>
                <a:spcPct val="100000"/>
              </a:lnSpc>
            </a:pPr>
            <a:r>
              <a:rPr lang="en-US" sz="12000" dirty="0">
                <a:solidFill>
                  <a:srgbClr val="C7A25A"/>
                </a:solidFill>
                <a:latin typeface="Oranienbaum" pitchFamily="34" charset="0"/>
                <a:ea typeface="Oranienbaum" pitchFamily="34" charset="-122"/>
                <a:cs typeface="Oranienbaum" pitchFamily="34" charset="-120"/>
              </a:rPr>
              <a:t>02</a:t>
            </a:r>
            <a:endParaRPr lang="en-US" sz="12000" dirty="0"/>
          </a:p>
        </p:txBody>
      </p:sp>
      <p:sp>
        <p:nvSpPr>
          <p:cNvPr id="3" name="Text 1"/>
          <p:cNvSpPr/>
          <p:nvPr/>
        </p:nvSpPr>
        <p:spPr>
          <a:xfrm>
            <a:off x="1016000" y="3048000"/>
            <a:ext cx="1524000" cy="635000"/>
          </a:xfrm>
          <a:prstGeom prst="rect">
            <a:avLst/>
          </a:prstGeom>
          <a:noFill/>
          <a:ln/>
        </p:spPr>
        <p:txBody>
          <a:bodyPr wrap="none" lIns="0" tIns="0" rIns="0" bIns="0" rtlCol="0" anchor="ctr"/>
          <a:lstStyle/>
          <a:p>
            <a:pPr algn="l">
              <a:lnSpc>
                <a:spcPct val="120000"/>
              </a:lnSpc>
            </a:pPr>
            <a:r>
              <a:rPr lang="en-US" sz="1800" spc="300" kern="0" dirty="0">
                <a:solidFill>
                  <a:srgbClr val="C7A25A"/>
                </a:solidFill>
                <a:latin typeface="Quattrocento Sans" pitchFamily="34" charset="0"/>
                <a:ea typeface="Quattrocento Sans" pitchFamily="34" charset="-122"/>
                <a:cs typeface="Quattrocento Sans" pitchFamily="34" charset="-120"/>
              </a:rPr>
              <a:t>CHAPTER</a:t>
            </a:r>
            <a:endParaRPr lang="en-US" sz="1800" dirty="0"/>
          </a:p>
        </p:txBody>
      </p:sp>
      <p:sp>
        <p:nvSpPr>
          <p:cNvPr id="4" name="Shape 2"/>
          <p:cNvSpPr/>
          <p:nvPr/>
        </p:nvSpPr>
        <p:spPr>
          <a:xfrm>
            <a:off x="1016000" y="3937000"/>
            <a:ext cx="1524000" cy="25400"/>
          </a:xfrm>
          <a:prstGeom prst="rect">
            <a:avLst/>
          </a:prstGeom>
          <a:solidFill>
            <a:srgbClr val="C7A25A"/>
          </a:solidFill>
          <a:ln/>
        </p:spPr>
      </p:sp>
      <p:sp>
        <p:nvSpPr>
          <p:cNvPr id="5" name="Text 3"/>
          <p:cNvSpPr/>
          <p:nvPr/>
        </p:nvSpPr>
        <p:spPr>
          <a:xfrm>
            <a:off x="1016000" y="4191000"/>
            <a:ext cx="11430000" cy="762000"/>
          </a:xfrm>
          <a:prstGeom prst="rect">
            <a:avLst/>
          </a:prstGeom>
          <a:noFill/>
          <a:ln/>
        </p:spPr>
        <p:txBody>
          <a:bodyPr wrap="none" lIns="0" tIns="0" rIns="0" bIns="0" rtlCol="0" anchor="ctr"/>
          <a:lstStyle/>
          <a:p>
            <a:pPr algn="l">
              <a:lnSpc>
                <a:spcPct val="115000"/>
              </a:lnSpc>
            </a:pPr>
            <a:r>
              <a:rPr lang="en-US" sz="3600" dirty="0">
                <a:solidFill>
                  <a:srgbClr val="F6F3EE"/>
                </a:solidFill>
                <a:latin typeface="Oranienbaum" pitchFamily="34" charset="0"/>
                <a:ea typeface="Oranienbaum" pitchFamily="34" charset="-122"/>
                <a:cs typeface="Oranienbaum" pitchFamily="34" charset="-120"/>
              </a:rPr>
              <a:t>Contributing to the Evidence Base</a:t>
            </a:r>
            <a:endParaRPr lang="en-US" sz="3600" dirty="0"/>
          </a:p>
        </p:txBody>
      </p:sp>
      <p:sp>
        <p:nvSpPr>
          <p:cNvPr id="6" name="Text 4"/>
          <p:cNvSpPr/>
          <p:nvPr/>
        </p:nvSpPr>
        <p:spPr>
          <a:xfrm>
            <a:off x="1016000" y="5080000"/>
            <a:ext cx="8890000" cy="381000"/>
          </a:xfrm>
          <a:prstGeom prst="rect">
            <a:avLst/>
          </a:prstGeom>
          <a:noFill/>
          <a:ln/>
        </p:spPr>
        <p:txBody>
          <a:bodyPr wrap="none" lIns="0" tIns="0" rIns="0" bIns="0" rtlCol="0" anchor="ctr"/>
          <a:lstStyle/>
          <a:p>
            <a:pPr algn="l">
              <a:lnSpc>
                <a:spcPct val="120000"/>
              </a:lnSpc>
            </a:pPr>
            <a:r>
              <a:rPr lang="en-US" sz="1600" dirty="0">
                <a:solidFill>
                  <a:srgbClr val="F6F3EE"/>
                </a:solidFill>
                <a:latin typeface="Quattrocento Sans" pitchFamily="34" charset="0"/>
                <a:ea typeface="Quattrocento Sans" pitchFamily="34" charset="-122"/>
                <a:cs typeface="Quattrocento Sans" pitchFamily="34" charset="-120"/>
              </a:rPr>
              <a:t>Case Studies, Clinical Audit, and Bridging Tradition with Science</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M15</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Research and Evidence-Based Practice</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Conducting Case Studies and Series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CASE STUDY STRUCTURE</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2000" y="1968500"/>
          <a:ext cx="14732000" cy="2222500"/>
        </p:xfrm>
        <a:graphic>
          <a:graphicData uri="http://schemas.openxmlformats.org/drawingml/2006/table">
            <a:tbl>
              <a:tblPr/>
              <a:tblGrid>
                <a:gridCol w="2900"/>
                <a:gridCol w="8056"/>
                <a:gridCol w="3867"/>
                <a:gridCol w="3867"/>
              </a:tblGrid>
              <a:tr h="6223000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Section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What to Include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Example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Tips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119.09722222222221">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Introduction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Patient demographics, presenting complaint, relevant history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45M, chronic LBP 3yr, VAS 7/10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De-identify all data</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119.09722222222221">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Treatment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Points, techniques, frequency, duration of treatment course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BL23, BL25 wet, weekly x 6</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Be specific and reproducible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119.09722222222221">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Outcomes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Pre/post measures, patient-reported changes, follow-up</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VAS 7 to 3, ROM +15 degrees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Use validated tools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bl>
          </a:graphicData>
        </a:graphic>
      </p:graphicFrame>
      <p:sp>
        <p:nvSpPr>
          <p:cNvPr id="10" name="Shape 7"/>
          <p:cNvSpPr/>
          <p:nvPr/>
        </p:nvSpPr>
        <p:spPr>
          <a:xfrm>
            <a:off x="762000" y="4445000"/>
            <a:ext cx="7112000" cy="1397000"/>
          </a:xfrm>
          <a:prstGeom prst="rect">
            <a:avLst/>
          </a:prstGeom>
          <a:solidFill>
            <a:srgbClr val="0E3B2E"/>
          </a:solidFill>
          <a:ln/>
        </p:spPr>
      </p:sp>
      <p:sp>
        <p:nvSpPr>
          <p:cNvPr id="11" name="Text 8"/>
          <p:cNvSpPr/>
          <p:nvPr/>
        </p:nvSpPr>
        <p:spPr>
          <a:xfrm>
            <a:off x="952500" y="4546600"/>
            <a:ext cx="6731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From Case Study to Case Series</a:t>
            </a:r>
            <a:endParaRPr lang="en-US" sz="1400" dirty="0"/>
          </a:p>
        </p:txBody>
      </p:sp>
      <p:sp>
        <p:nvSpPr>
          <p:cNvPr id="12" name="Text 9"/>
          <p:cNvSpPr/>
          <p:nvPr/>
        </p:nvSpPr>
        <p:spPr>
          <a:xfrm>
            <a:off x="952500" y="4876800"/>
            <a:ext cx="6731000" cy="863600"/>
          </a:xfrm>
          <a:prstGeom prst="rect">
            <a:avLst/>
          </a:prstGeom>
          <a:noFill/>
          <a:ln/>
        </p:spPr>
        <p:txBody>
          <a:bodyPr wrap="square" lIns="0" tIns="0" rIns="0" bIns="0" rtlCol="0" anchor="t"/>
          <a:lstStyle/>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A case series collects 5+ similar cases with same condition and treatment protocol</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Use identical outcome measures for all cases</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Report response rate: how many improved, by how much</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Publish in complementary medicine journals or present at conferences</a:t>
            </a:r>
            <a:endParaRPr lang="en-US" sz="900" dirty="0"/>
          </a:p>
        </p:txBody>
      </p:sp>
      <p:sp>
        <p:nvSpPr>
          <p:cNvPr id="13" name="Shape 10"/>
          <p:cNvSpPr/>
          <p:nvPr/>
        </p:nvSpPr>
        <p:spPr>
          <a:xfrm>
            <a:off x="8128000" y="4445000"/>
            <a:ext cx="7366000" cy="1397000"/>
          </a:xfrm>
          <a:prstGeom prst="rect">
            <a:avLst/>
          </a:prstGeom>
          <a:solidFill>
            <a:srgbClr val="F0EDE7"/>
          </a:solidFill>
          <a:ln/>
        </p:spPr>
      </p:sp>
      <p:sp>
        <p:nvSpPr>
          <p:cNvPr id="14" name="Text 11"/>
          <p:cNvSpPr/>
          <p:nvPr/>
        </p:nvSpPr>
        <p:spPr>
          <a:xfrm>
            <a:off x="8318500" y="4546600"/>
            <a:ext cx="6985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Ethical Considerations</a:t>
            </a:r>
            <a:endParaRPr lang="en-US" sz="1400" dirty="0"/>
          </a:p>
        </p:txBody>
      </p:sp>
      <p:sp>
        <p:nvSpPr>
          <p:cNvPr id="15" name="Text 12"/>
          <p:cNvSpPr/>
          <p:nvPr/>
        </p:nvSpPr>
        <p:spPr>
          <a:xfrm>
            <a:off x="8318500" y="4876800"/>
            <a:ext cx="6985000" cy="863600"/>
          </a:xfrm>
          <a:prstGeom prst="rect">
            <a:avLst/>
          </a:prstGeom>
          <a:noFill/>
          <a:ln/>
        </p:spPr>
        <p:txBody>
          <a:bodyPr wrap="square" lIns="0" tIns="0" rIns="0" bIns="0" rtlCol="0" anchor="t"/>
          <a:lstStyle/>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Obtain written consent for publication of case details</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De-identify: change age by ±2 years, remove identifying features</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Patient can withdraw consent at any time</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Never publish without patient approval — even de-identified</a:t>
            </a:r>
            <a:endParaRPr lang="en-US" sz="900" dirty="0"/>
          </a:p>
        </p:txBody>
      </p:sp>
      <p:sp>
        <p:nvSpPr>
          <p:cNvPr id="16" name="Text 13"/>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08</a:t>
            </a:r>
            <a:endParaRPr lang="en-US" sz="11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M15</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Research and Evidence-Based Practice</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Clinical Audit for Quality Improvement</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THE AUDIT CYCLE</a:t>
            </a:r>
            <a:endParaRPr lang="en-US" sz="1200" dirty="0"/>
          </a:p>
        </p:txBody>
      </p:sp>
      <p:sp>
        <p:nvSpPr>
          <p:cNvPr id="9" name="Shape 7"/>
          <p:cNvSpPr/>
          <p:nvPr/>
        </p:nvSpPr>
        <p:spPr>
          <a:xfrm>
            <a:off x="762000" y="2006600"/>
            <a:ext cx="3492500" cy="1460500"/>
          </a:xfrm>
          <a:prstGeom prst="rect">
            <a:avLst/>
          </a:prstGeom>
          <a:solidFill>
            <a:srgbClr val="0E3B2E"/>
          </a:solidFill>
          <a:ln/>
        </p:spPr>
      </p:sp>
      <p:sp>
        <p:nvSpPr>
          <p:cNvPr id="10" name="Text 8"/>
          <p:cNvSpPr/>
          <p:nvPr/>
        </p:nvSpPr>
        <p:spPr>
          <a:xfrm>
            <a:off x="914400" y="2108200"/>
            <a:ext cx="3175000" cy="1270000"/>
          </a:xfrm>
          <a:prstGeom prst="rect">
            <a:avLst/>
          </a:prstGeom>
          <a:noFill/>
          <a:ln/>
        </p:spPr>
        <p:txBody>
          <a:bodyPr wrap="square" lIns="0" tIns="0" rIns="0" bIns="0" rtlCol="0" anchor="t"/>
          <a:lstStyle/>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1. Set Standard</a:t>
            </a:r>
            <a:endParaRPr lang="en-US" sz="1000" dirty="0"/>
          </a:p>
          <a:p>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Define what good practice looks like. Example: All patients should have VAS recorded at baseline and discharge.</a:t>
            </a:r>
            <a:endParaRPr lang="en-US" sz="1000" dirty="0"/>
          </a:p>
        </p:txBody>
      </p:sp>
      <p:sp>
        <p:nvSpPr>
          <p:cNvPr id="11" name="Shape 9"/>
          <p:cNvSpPr/>
          <p:nvPr/>
        </p:nvSpPr>
        <p:spPr>
          <a:xfrm>
            <a:off x="4508500" y="2006600"/>
            <a:ext cx="3492500" cy="1460500"/>
          </a:xfrm>
          <a:prstGeom prst="rect">
            <a:avLst/>
          </a:prstGeom>
          <a:solidFill>
            <a:srgbClr val="F0EDE7"/>
          </a:solidFill>
          <a:ln/>
        </p:spPr>
      </p:sp>
      <p:sp>
        <p:nvSpPr>
          <p:cNvPr id="12" name="Text 10"/>
          <p:cNvSpPr/>
          <p:nvPr/>
        </p:nvSpPr>
        <p:spPr>
          <a:xfrm>
            <a:off x="4660900" y="2108200"/>
            <a:ext cx="3175000" cy="1270000"/>
          </a:xfrm>
          <a:prstGeom prst="rect">
            <a:avLst/>
          </a:prstGeom>
          <a:noFill/>
          <a:ln/>
        </p:spPr>
        <p:txBody>
          <a:bodyPr wrap="square" lIns="0" tIns="0" rIns="0" bIns="0" rtlCol="0" anchor="t"/>
          <a:lstStyle/>
          <a:p>
            <a:pPr algn="l">
              <a:lnSpc>
                <a:spcPct val="145000"/>
              </a:lnSpc>
            </a:pPr>
            <a:r>
              <a:rPr lang="en-US" sz="1000" b="1" dirty="0">
                <a:solidFill>
                  <a:srgbClr val="1A1A1A"/>
                </a:solidFill>
                <a:latin typeface="Quattrocento Sans" pitchFamily="34" charset="0"/>
                <a:ea typeface="Quattrocento Sans" pitchFamily="34" charset="-122"/>
                <a:cs typeface="Quattrocento Sans" pitchFamily="34" charset="-120"/>
              </a:rPr>
              <a:t>2. Measure</a:t>
            </a:r>
            <a:endParaRPr lang="en-US" sz="1000" dirty="0"/>
          </a:p>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Collect data from your practice. Example: Review last 20 patient files. How many have baseline VAS recorded?</a:t>
            </a:r>
            <a:endParaRPr lang="en-US" sz="1000" dirty="0"/>
          </a:p>
        </p:txBody>
      </p:sp>
      <p:sp>
        <p:nvSpPr>
          <p:cNvPr id="13" name="Shape 11"/>
          <p:cNvSpPr/>
          <p:nvPr/>
        </p:nvSpPr>
        <p:spPr>
          <a:xfrm>
            <a:off x="8255000" y="2006600"/>
            <a:ext cx="3492500" cy="1460500"/>
          </a:xfrm>
          <a:prstGeom prst="rect">
            <a:avLst/>
          </a:prstGeom>
          <a:solidFill>
            <a:srgbClr val="0E3B2E"/>
          </a:solidFill>
          <a:ln/>
        </p:spPr>
      </p:sp>
      <p:sp>
        <p:nvSpPr>
          <p:cNvPr id="14" name="Text 12"/>
          <p:cNvSpPr/>
          <p:nvPr/>
        </p:nvSpPr>
        <p:spPr>
          <a:xfrm>
            <a:off x="8407400" y="2108200"/>
            <a:ext cx="3175000" cy="1270000"/>
          </a:xfrm>
          <a:prstGeom prst="rect">
            <a:avLst/>
          </a:prstGeom>
          <a:noFill/>
          <a:ln/>
        </p:spPr>
        <p:txBody>
          <a:bodyPr wrap="square" lIns="0" tIns="0" rIns="0" bIns="0" rtlCol="0" anchor="t"/>
          <a:lstStyle/>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3. Compare</a:t>
            </a:r>
            <a:endParaRPr lang="en-US" sz="1000" dirty="0"/>
          </a:p>
          <a:p>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Compare your results to the standard. Example: 12/20 have VAS (60%). Target is 100%. Gap = 40%.</a:t>
            </a:r>
            <a:endParaRPr lang="en-US" sz="1000" dirty="0"/>
          </a:p>
        </p:txBody>
      </p:sp>
      <p:sp>
        <p:nvSpPr>
          <p:cNvPr id="15" name="Shape 13"/>
          <p:cNvSpPr/>
          <p:nvPr/>
        </p:nvSpPr>
        <p:spPr>
          <a:xfrm>
            <a:off x="12001500" y="2006600"/>
            <a:ext cx="3492500" cy="1460500"/>
          </a:xfrm>
          <a:prstGeom prst="rect">
            <a:avLst/>
          </a:prstGeom>
          <a:solidFill>
            <a:srgbClr val="F0EDE7"/>
          </a:solidFill>
          <a:ln/>
        </p:spPr>
      </p:sp>
      <p:sp>
        <p:nvSpPr>
          <p:cNvPr id="16" name="Text 14"/>
          <p:cNvSpPr/>
          <p:nvPr/>
        </p:nvSpPr>
        <p:spPr>
          <a:xfrm>
            <a:off x="12153900" y="2108200"/>
            <a:ext cx="3175000" cy="1270000"/>
          </a:xfrm>
          <a:prstGeom prst="rect">
            <a:avLst/>
          </a:prstGeom>
          <a:noFill/>
          <a:ln/>
        </p:spPr>
        <p:txBody>
          <a:bodyPr wrap="square" lIns="0" tIns="0" rIns="0" bIns="0" rtlCol="0" anchor="t"/>
          <a:lstStyle/>
          <a:p>
            <a:pPr algn="l">
              <a:lnSpc>
                <a:spcPct val="145000"/>
              </a:lnSpc>
            </a:pPr>
            <a:r>
              <a:rPr lang="en-US" sz="1000" b="1" dirty="0">
                <a:solidFill>
                  <a:srgbClr val="1A1A1A"/>
                </a:solidFill>
                <a:latin typeface="Quattrocento Sans" pitchFamily="34" charset="0"/>
                <a:ea typeface="Quattrocento Sans" pitchFamily="34" charset="-122"/>
                <a:cs typeface="Quattrocento Sans" pitchFamily="34" charset="-120"/>
              </a:rPr>
              <a:t>4. Improve</a:t>
            </a:r>
            <a:endParaRPr lang="en-US" sz="1000" dirty="0"/>
          </a:p>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Make changes to close the gap. Example: Add VAS field to intake form. Re-audit in 3 months.</a:t>
            </a:r>
            <a:endParaRPr lang="en-US" sz="1000" dirty="0"/>
          </a:p>
        </p:txBody>
      </p:sp>
      <p:sp>
        <p:nvSpPr>
          <p:cNvPr id="17" name="Text 15"/>
          <p:cNvSpPr/>
          <p:nvPr/>
        </p:nvSpPr>
        <p:spPr>
          <a:xfrm>
            <a:off x="762000" y="3746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AUDIT STANDARDS FOR HIJAMA PRACTICE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2000" y="4152900"/>
          <a:ext cx="14732000" cy="1905000"/>
        </p:xfrm>
        <a:graphic>
          <a:graphicData uri="http://schemas.openxmlformats.org/drawingml/2006/table">
            <a:tbl>
              <a:tblPr/>
              <a:tblGrid>
                <a:gridCol w="5800"/>
                <a:gridCol w="6444"/>
                <a:gridCol w="3222"/>
                <a:gridCol w="3222"/>
              </a:tblGrid>
              <a:tr h="5334000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Standard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Measurement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Target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Frequency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78105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Informed consent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 of patients with signed consent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100%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Monthly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78105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Outcome measurement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 with baseline and discharge VAS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100%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Quarterly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78105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Patient satisfaction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 rating service good or excellent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90%+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Quarterly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bl>
          </a:graphicData>
        </a:graphic>
      </p:graphicFrame>
      <p:sp>
        <p:nvSpPr>
          <p:cNvPr id="19" name="Text 16"/>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09</a:t>
            </a:r>
            <a:endParaRPr lang="en-US" sz="11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M15</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Research and Evidence-Based Practice</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Bridging Tradition with Science</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THE INTEGRATION FRAMEWORK</a:t>
            </a:r>
            <a:endParaRPr lang="en-US" sz="1200" dirty="0"/>
          </a:p>
        </p:txBody>
      </p:sp>
      <p:sp>
        <p:nvSpPr>
          <p:cNvPr id="9" name="Shape 7"/>
          <p:cNvSpPr/>
          <p:nvPr/>
        </p:nvSpPr>
        <p:spPr>
          <a:xfrm>
            <a:off x="762000" y="2032000"/>
            <a:ext cx="7112000" cy="1651000"/>
          </a:xfrm>
          <a:prstGeom prst="rect">
            <a:avLst/>
          </a:prstGeom>
          <a:solidFill>
            <a:srgbClr val="0E3B2E"/>
          </a:solidFill>
          <a:ln/>
        </p:spPr>
      </p:sp>
      <p:sp>
        <p:nvSpPr>
          <p:cNvPr id="10" name="Text 8"/>
          <p:cNvSpPr/>
          <p:nvPr/>
        </p:nvSpPr>
        <p:spPr>
          <a:xfrm>
            <a:off x="952500" y="2133600"/>
            <a:ext cx="6731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Traditional Knowledge — What We Preserve</a:t>
            </a:r>
            <a:endParaRPr lang="en-US" sz="1400" dirty="0"/>
          </a:p>
        </p:txBody>
      </p:sp>
      <p:sp>
        <p:nvSpPr>
          <p:cNvPr id="11" name="Text 9"/>
          <p:cNvSpPr/>
          <p:nvPr/>
        </p:nvSpPr>
        <p:spPr>
          <a:xfrm>
            <a:off x="952500" y="2463800"/>
            <a:ext cx="6731000" cy="1117600"/>
          </a:xfrm>
          <a:prstGeom prst="rect">
            <a:avLst/>
          </a:prstGeom>
          <a:noFill/>
          <a:ln/>
        </p:spPr>
        <p:txBody>
          <a:bodyPr wrap="square" lIns="0" tIns="0" rIns="0" bIns="0" rtlCol="0" anchor="t"/>
          <a:lstStyle/>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The prophetic method: specific dates, points, and spiritual intention</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Empirical knowledge passed through generations of practitioners</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Holistic framework: treating the person, not just the symptom</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The barakah of following the Sunnah — this transcends measurement</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Individualised treatment based on constitution and presentation</a:t>
            </a:r>
            <a:endParaRPr lang="en-US" sz="900" dirty="0"/>
          </a:p>
        </p:txBody>
      </p:sp>
      <p:sp>
        <p:nvSpPr>
          <p:cNvPr id="12" name="Shape 10"/>
          <p:cNvSpPr/>
          <p:nvPr/>
        </p:nvSpPr>
        <p:spPr>
          <a:xfrm>
            <a:off x="8128000" y="2032000"/>
            <a:ext cx="7366000" cy="1651000"/>
          </a:xfrm>
          <a:prstGeom prst="rect">
            <a:avLst/>
          </a:prstGeom>
          <a:solidFill>
            <a:srgbClr val="F0EDE7"/>
          </a:solidFill>
          <a:ln/>
        </p:spPr>
      </p:sp>
      <p:sp>
        <p:nvSpPr>
          <p:cNvPr id="13" name="Text 11"/>
          <p:cNvSpPr/>
          <p:nvPr/>
        </p:nvSpPr>
        <p:spPr>
          <a:xfrm>
            <a:off x="8318500" y="2133600"/>
            <a:ext cx="6985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Scientific Method — What We Add</a:t>
            </a:r>
            <a:endParaRPr lang="en-US" sz="1400" dirty="0"/>
          </a:p>
        </p:txBody>
      </p:sp>
      <p:sp>
        <p:nvSpPr>
          <p:cNvPr id="14" name="Text 12"/>
          <p:cNvSpPr/>
          <p:nvPr/>
        </p:nvSpPr>
        <p:spPr>
          <a:xfrm>
            <a:off x="8318500" y="2463800"/>
            <a:ext cx="6985000" cy="1117600"/>
          </a:xfrm>
          <a:prstGeom prst="rect">
            <a:avLst/>
          </a:prstGeom>
          <a:noFill/>
          <a:ln/>
        </p:spPr>
        <p:txBody>
          <a:bodyPr wrap="square" lIns="0" tIns="0" rIns="0" bIns="0" rtlCol="0" anchor="t"/>
          <a:lstStyle/>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Systematic observation and documentation of outcomes</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Standardised protocols that can be replicated and taught</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Safety monitoring and adverse event reporting</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Evidence that convinces sceptics and secures professional recognition</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Quality assurance through measurement and review</a:t>
            </a:r>
            <a:endParaRPr lang="en-US" sz="900" dirty="0"/>
          </a:p>
        </p:txBody>
      </p:sp>
      <p:sp>
        <p:nvSpPr>
          <p:cNvPr id="15" name="Shape 13"/>
          <p:cNvSpPr/>
          <p:nvPr/>
        </p:nvSpPr>
        <p:spPr>
          <a:xfrm>
            <a:off x="762000" y="3937000"/>
            <a:ext cx="14732000" cy="1333500"/>
          </a:xfrm>
          <a:prstGeom prst="rect">
            <a:avLst/>
          </a:prstGeom>
          <a:solidFill>
            <a:srgbClr val="C7A25A"/>
          </a:solidFill>
          <a:ln/>
        </p:spPr>
      </p:sp>
      <p:sp>
        <p:nvSpPr>
          <p:cNvPr id="16" name="Text 14"/>
          <p:cNvSpPr/>
          <p:nvPr/>
        </p:nvSpPr>
        <p:spPr>
          <a:xfrm>
            <a:off x="1016000" y="4064000"/>
            <a:ext cx="14224000" cy="1079500"/>
          </a:xfrm>
          <a:prstGeom prst="rect">
            <a:avLst/>
          </a:prstGeom>
          <a:noFill/>
          <a:ln/>
        </p:spPr>
        <p:txBody>
          <a:bodyPr wrap="square" lIns="0" tIns="0" rIns="0" bIns="0" rtlCol="0" anchor="ctr"/>
          <a:lstStyle/>
          <a:p>
            <a:pPr algn="l">
              <a:lnSpc>
                <a:spcPct val="150000"/>
              </a:lnSpc>
            </a:pPr>
            <a:r>
              <a:rPr lang="en-US" sz="1200" b="1" dirty="0">
                <a:solidFill>
                  <a:srgbClr val="0E3B2E"/>
                </a:solidFill>
                <a:latin typeface="Quattrocento Sans" pitchFamily="34" charset="0"/>
                <a:ea typeface="Quattrocento Sans" pitchFamily="34" charset="-122"/>
                <a:cs typeface="Quattrocento Sans" pitchFamily="34" charset="-120"/>
              </a:rPr>
              <a:t>The Middle Path:</a:t>
            </a:r>
            <a:pPr algn="l">
              <a:lnSpc>
                <a:spcPct val="150000"/>
              </a:lnSpc>
            </a:pPr>
            <a:r>
              <a:rPr lang="en-US" sz="1200" dirty="0">
                <a:solidFill>
                  <a:srgbClr val="0E3B2E"/>
                </a:solidFill>
                <a:latin typeface="Quattrocento Sans" pitchFamily="34" charset="0"/>
                <a:ea typeface="Quattrocento Sans" pitchFamily="34" charset="-122"/>
                <a:cs typeface="Quattrocento Sans" pitchFamily="34" charset="-120"/>
              </a:rPr>
              <a:t> We do not abandon tradition for science, nor reject science for tradition. The Prophet's medicine was revealed by the All-Knowing — our role is to understand its mechanisms through respectful inquiry. Science confirms what the heart already knows: Hijama is a gift of healing. Our documentation and research honour that gift by making it accessible to all.</a:t>
            </a:r>
            <a:endParaRPr lang="en-US" sz="1200" dirty="0"/>
          </a:p>
        </p:txBody>
      </p:sp>
      <p:sp>
        <p:nvSpPr>
          <p:cNvPr id="17" name="Shape 15"/>
          <p:cNvSpPr/>
          <p:nvPr/>
        </p:nvSpPr>
        <p:spPr>
          <a:xfrm>
            <a:off x="762000" y="5524500"/>
            <a:ext cx="14732000" cy="889000"/>
          </a:xfrm>
          <a:prstGeom prst="rect">
            <a:avLst/>
          </a:prstGeom>
          <a:solidFill>
            <a:srgbClr val="F0EDE7"/>
          </a:solidFill>
          <a:ln/>
        </p:spPr>
      </p:sp>
      <p:sp>
        <p:nvSpPr>
          <p:cNvPr id="18" name="Text 16"/>
          <p:cNvSpPr/>
          <p:nvPr/>
        </p:nvSpPr>
        <p:spPr>
          <a:xfrm>
            <a:off x="952500" y="5613400"/>
            <a:ext cx="3810000" cy="254000"/>
          </a:xfrm>
          <a:prstGeom prst="rect">
            <a:avLst/>
          </a:prstGeom>
          <a:noFill/>
          <a:ln/>
        </p:spPr>
        <p:txBody>
          <a:bodyPr wrap="none" lIns="0" tIns="0" rIns="0" bIns="0" rtlCol="0" anchor="ctr"/>
          <a:lstStyle/>
          <a:p>
            <a:pPr algn="l">
              <a:lnSpc>
                <a:spcPct val="120000"/>
              </a:lnSpc>
            </a:pPr>
            <a:r>
              <a:rPr lang="en-US" sz="1100" spc="300" kern="0" dirty="0">
                <a:solidFill>
                  <a:srgbClr val="0E3B2E"/>
                </a:solidFill>
                <a:latin typeface="Quattrocento Sans" pitchFamily="34" charset="0"/>
                <a:ea typeface="Quattrocento Sans" pitchFamily="34" charset="-122"/>
                <a:cs typeface="Quattrocento Sans" pitchFamily="34" charset="-120"/>
              </a:rPr>
              <a:t>YOUR ACTION PLAN</a:t>
            </a:r>
            <a:endParaRPr lang="en-US" sz="1100" dirty="0"/>
          </a:p>
        </p:txBody>
      </p:sp>
      <p:sp>
        <p:nvSpPr>
          <p:cNvPr id="19" name="Text 17"/>
          <p:cNvSpPr/>
          <p:nvPr/>
        </p:nvSpPr>
        <p:spPr>
          <a:xfrm>
            <a:off x="952500" y="5918200"/>
            <a:ext cx="14351000" cy="406400"/>
          </a:xfrm>
          <a:prstGeom prst="rect">
            <a:avLst/>
          </a:prstGeom>
          <a:noFill/>
          <a:ln/>
        </p:spPr>
        <p:txBody>
          <a:bodyPr wrap="square" lIns="0" tIns="0" rIns="0" bIns="0" rtlCol="0" anchor="t"/>
          <a:lstStyle/>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 Start documenting outcomes from your very next patient  •  Set up one clinical audit cycle this quarter  •  Write your first case study within 6 months  •  Join the SRA research network</a:t>
            </a:r>
            <a:endParaRPr lang="en-US" sz="1000" dirty="0"/>
          </a:p>
        </p:txBody>
      </p:sp>
      <p:sp>
        <p:nvSpPr>
          <p:cNvPr id="20" name="Text 18"/>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10</a:t>
            </a:r>
            <a:endParaRPr lang="en-US" sz="11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M15</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Research and Evidence-Based Practice</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Module 15: Key Takeaways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FIVE ESSENTIAL LESSONS</a:t>
            </a:r>
            <a:endParaRPr lang="en-US" sz="1200" dirty="0"/>
          </a:p>
        </p:txBody>
      </p:sp>
      <p:sp>
        <p:nvSpPr>
          <p:cNvPr id="9" name="Shape 7"/>
          <p:cNvSpPr/>
          <p:nvPr/>
        </p:nvSpPr>
        <p:spPr>
          <a:xfrm>
            <a:off x="762000" y="2032000"/>
            <a:ext cx="7112000" cy="863600"/>
          </a:xfrm>
          <a:prstGeom prst="rect">
            <a:avLst/>
          </a:prstGeom>
          <a:solidFill>
            <a:srgbClr val="0E3B2E"/>
          </a:solidFill>
          <a:ln/>
        </p:spPr>
      </p:sp>
      <p:sp>
        <p:nvSpPr>
          <p:cNvPr id="10" name="Text 8"/>
          <p:cNvSpPr/>
          <p:nvPr/>
        </p:nvSpPr>
        <p:spPr>
          <a:xfrm>
            <a:off x="889000" y="2095500"/>
            <a:ext cx="457200" cy="457200"/>
          </a:xfrm>
          <a:prstGeom prst="rect">
            <a:avLst/>
          </a:prstGeom>
          <a:noFill/>
          <a:ln/>
        </p:spPr>
        <p:txBody>
          <a:bodyPr wrap="none" lIns="0" tIns="0" rIns="0" bIns="0" rtlCol="0" anchor="ctr"/>
          <a:lstStyle/>
          <a:p>
            <a:pPr algn="ctr">
              <a:lnSpc>
                <a:spcPct val="120000"/>
              </a:lnSpc>
            </a:pPr>
            <a:r>
              <a:rPr lang="en-US" sz="2200" dirty="0">
                <a:solidFill>
                  <a:srgbClr val="C7A25A"/>
                </a:solidFill>
                <a:latin typeface="Oranienbaum" pitchFamily="34" charset="0"/>
                <a:ea typeface="Oranienbaum" pitchFamily="34" charset="-122"/>
                <a:cs typeface="Oranienbaum" pitchFamily="34" charset="-120"/>
              </a:rPr>
              <a:t>1</a:t>
            </a:r>
            <a:endParaRPr lang="en-US" sz="2200" dirty="0"/>
          </a:p>
        </p:txBody>
      </p:sp>
      <p:sp>
        <p:nvSpPr>
          <p:cNvPr id="11" name="Text 9"/>
          <p:cNvSpPr/>
          <p:nvPr/>
        </p:nvSpPr>
        <p:spPr>
          <a:xfrm>
            <a:off x="1397000" y="2095500"/>
            <a:ext cx="6350000" cy="698500"/>
          </a:xfrm>
          <a:prstGeom prst="rect">
            <a:avLst/>
          </a:prstGeom>
          <a:noFill/>
          <a:ln/>
        </p:spPr>
        <p:txBody>
          <a:bodyPr wrap="square" lIns="0" tIns="0" rIns="0" bIns="0" rtlCol="0" anchor="t"/>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Research on Hijama is growing but incomplete.</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Pain management has the strongest evidence. Immune and neurological areas need more high-quality studies.</a:t>
            </a:r>
            <a:endParaRPr lang="en-US" sz="1200" dirty="0"/>
          </a:p>
        </p:txBody>
      </p:sp>
      <p:sp>
        <p:nvSpPr>
          <p:cNvPr id="12" name="Shape 10"/>
          <p:cNvSpPr/>
          <p:nvPr/>
        </p:nvSpPr>
        <p:spPr>
          <a:xfrm>
            <a:off x="762000" y="3022600"/>
            <a:ext cx="7112000" cy="863600"/>
          </a:xfrm>
          <a:prstGeom prst="rect">
            <a:avLst/>
          </a:prstGeom>
          <a:solidFill>
            <a:srgbClr val="F0EDE7"/>
          </a:solidFill>
          <a:ln/>
        </p:spPr>
      </p:sp>
      <p:sp>
        <p:nvSpPr>
          <p:cNvPr id="13" name="Text 11"/>
          <p:cNvSpPr/>
          <p:nvPr/>
        </p:nvSpPr>
        <p:spPr>
          <a:xfrm>
            <a:off x="889000" y="3086100"/>
            <a:ext cx="457200" cy="457200"/>
          </a:xfrm>
          <a:prstGeom prst="rect">
            <a:avLst/>
          </a:prstGeom>
          <a:noFill/>
          <a:ln/>
        </p:spPr>
        <p:txBody>
          <a:bodyPr wrap="none" lIns="0" tIns="0" rIns="0" bIns="0" rtlCol="0" anchor="ctr"/>
          <a:lstStyle/>
          <a:p>
            <a:pPr algn="ctr">
              <a:lnSpc>
                <a:spcPct val="120000"/>
              </a:lnSpc>
            </a:pPr>
            <a:r>
              <a:rPr lang="en-US" sz="2200" dirty="0">
                <a:solidFill>
                  <a:srgbClr val="0E3B2E"/>
                </a:solidFill>
                <a:latin typeface="Oranienbaum" pitchFamily="34" charset="0"/>
                <a:ea typeface="Oranienbaum" pitchFamily="34" charset="-122"/>
                <a:cs typeface="Oranienbaum" pitchFamily="34" charset="-120"/>
              </a:rPr>
              <a:t>2</a:t>
            </a:r>
            <a:endParaRPr lang="en-US" sz="2200" dirty="0"/>
          </a:p>
        </p:txBody>
      </p:sp>
      <p:sp>
        <p:nvSpPr>
          <p:cNvPr id="14" name="Text 12"/>
          <p:cNvSpPr/>
          <p:nvPr/>
        </p:nvSpPr>
        <p:spPr>
          <a:xfrm>
            <a:off x="1397000" y="3086100"/>
            <a:ext cx="6350000" cy="698500"/>
          </a:xfrm>
          <a:prstGeom prst="rect">
            <a:avLst/>
          </a:prstGeom>
          <a:noFill/>
          <a:ln/>
        </p:spPr>
        <p:txBody>
          <a:bodyPr wrap="square" lIns="0" tIns="0" rIns="0" bIns="0" rtlCol="0" anchor="t"/>
          <a:lstStyle/>
          <a:p>
            <a:pPr algn="l">
              <a:lnSpc>
                <a:spcPct val="140000"/>
              </a:lnSpc>
            </a:pPr>
            <a:r>
              <a:rPr lang="en-US" sz="1200" b="1" dirty="0">
                <a:solidFill>
                  <a:srgbClr val="1A1A1A"/>
                </a:solidFill>
                <a:latin typeface="Quattrocento Sans" pitchFamily="34" charset="0"/>
                <a:ea typeface="Quattrocento Sans" pitchFamily="34" charset="-122"/>
                <a:cs typeface="Quattrocento Sans" pitchFamily="34" charset="-120"/>
              </a:rPr>
              <a:t>Read research systematically.</a:t>
            </a:r>
            <a:pPr algn="l">
              <a:lnSpc>
                <a:spcPct val="140000"/>
              </a:lnSpc>
            </a:pPr>
            <a:r>
              <a:rPr lang="en-US" sz="1200" dirty="0">
                <a:solidFill>
                  <a:srgbClr val="1A1A1A"/>
                </a:solidFill>
                <a:latin typeface="Quattrocento Sans" pitchFamily="34" charset="0"/>
                <a:ea typeface="Quattrocento Sans" pitchFamily="34" charset="-122"/>
                <a:cs typeface="Quattrocento Sans" pitchFamily="34" charset="-120"/>
              </a:rPr>
              <a:t> Abstract first, then methods, then results, then discussion. Always check if conclusions match the actual data presented.</a:t>
            </a:r>
            <a:endParaRPr lang="en-US" sz="1200" dirty="0"/>
          </a:p>
        </p:txBody>
      </p:sp>
      <p:sp>
        <p:nvSpPr>
          <p:cNvPr id="15" name="Shape 13"/>
          <p:cNvSpPr/>
          <p:nvPr/>
        </p:nvSpPr>
        <p:spPr>
          <a:xfrm>
            <a:off x="762000" y="4013200"/>
            <a:ext cx="7112000" cy="863600"/>
          </a:xfrm>
          <a:prstGeom prst="rect">
            <a:avLst/>
          </a:prstGeom>
          <a:solidFill>
            <a:srgbClr val="0E3B2E"/>
          </a:solidFill>
          <a:ln/>
        </p:spPr>
      </p:sp>
      <p:sp>
        <p:nvSpPr>
          <p:cNvPr id="16" name="Text 14"/>
          <p:cNvSpPr/>
          <p:nvPr/>
        </p:nvSpPr>
        <p:spPr>
          <a:xfrm>
            <a:off x="889000" y="4076700"/>
            <a:ext cx="457200" cy="457200"/>
          </a:xfrm>
          <a:prstGeom prst="rect">
            <a:avLst/>
          </a:prstGeom>
          <a:noFill/>
          <a:ln/>
        </p:spPr>
        <p:txBody>
          <a:bodyPr wrap="none" lIns="0" tIns="0" rIns="0" bIns="0" rtlCol="0" anchor="ctr"/>
          <a:lstStyle/>
          <a:p>
            <a:pPr algn="ctr">
              <a:lnSpc>
                <a:spcPct val="120000"/>
              </a:lnSpc>
            </a:pPr>
            <a:r>
              <a:rPr lang="en-US" sz="2200" dirty="0">
                <a:solidFill>
                  <a:srgbClr val="C7A25A"/>
                </a:solidFill>
                <a:latin typeface="Oranienbaum" pitchFamily="34" charset="0"/>
                <a:ea typeface="Oranienbaum" pitchFamily="34" charset="-122"/>
                <a:cs typeface="Oranienbaum" pitchFamily="34" charset="-120"/>
              </a:rPr>
              <a:t>3</a:t>
            </a:r>
            <a:endParaRPr lang="en-US" sz="2200" dirty="0"/>
          </a:p>
        </p:txBody>
      </p:sp>
      <p:sp>
        <p:nvSpPr>
          <p:cNvPr id="17" name="Text 15"/>
          <p:cNvSpPr/>
          <p:nvPr/>
        </p:nvSpPr>
        <p:spPr>
          <a:xfrm>
            <a:off x="1397000" y="4076700"/>
            <a:ext cx="6350000" cy="698500"/>
          </a:xfrm>
          <a:prstGeom prst="rect">
            <a:avLst/>
          </a:prstGeom>
          <a:noFill/>
          <a:ln/>
        </p:spPr>
        <p:txBody>
          <a:bodyPr wrap="square" lIns="0" tIns="0" rIns="0" bIns="0" rtlCol="0" anchor="t"/>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Every practitioner can contribute evidence.</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A well-documented case study is more valuable than an opinion. A case series of 10 patients can change practice patterns.</a:t>
            </a:r>
            <a:endParaRPr lang="en-US" sz="1200" dirty="0"/>
          </a:p>
        </p:txBody>
      </p:sp>
      <p:sp>
        <p:nvSpPr>
          <p:cNvPr id="18" name="Shape 16"/>
          <p:cNvSpPr/>
          <p:nvPr/>
        </p:nvSpPr>
        <p:spPr>
          <a:xfrm>
            <a:off x="762000" y="5003800"/>
            <a:ext cx="7112000" cy="863600"/>
          </a:xfrm>
          <a:prstGeom prst="rect">
            <a:avLst/>
          </a:prstGeom>
          <a:solidFill>
            <a:srgbClr val="F0EDE7"/>
          </a:solidFill>
          <a:ln/>
        </p:spPr>
      </p:sp>
      <p:sp>
        <p:nvSpPr>
          <p:cNvPr id="19" name="Text 17"/>
          <p:cNvSpPr/>
          <p:nvPr/>
        </p:nvSpPr>
        <p:spPr>
          <a:xfrm>
            <a:off x="889000" y="5067300"/>
            <a:ext cx="457200" cy="457200"/>
          </a:xfrm>
          <a:prstGeom prst="rect">
            <a:avLst/>
          </a:prstGeom>
          <a:noFill/>
          <a:ln/>
        </p:spPr>
        <p:txBody>
          <a:bodyPr wrap="none" lIns="0" tIns="0" rIns="0" bIns="0" rtlCol="0" anchor="ctr"/>
          <a:lstStyle/>
          <a:p>
            <a:pPr algn="ctr">
              <a:lnSpc>
                <a:spcPct val="120000"/>
              </a:lnSpc>
            </a:pPr>
            <a:r>
              <a:rPr lang="en-US" sz="2200" dirty="0">
                <a:solidFill>
                  <a:srgbClr val="0E3B2E"/>
                </a:solidFill>
                <a:latin typeface="Oranienbaum" pitchFamily="34" charset="0"/>
                <a:ea typeface="Oranienbaum" pitchFamily="34" charset="-122"/>
                <a:cs typeface="Oranienbaum" pitchFamily="34" charset="-120"/>
              </a:rPr>
              <a:t>4</a:t>
            </a:r>
            <a:endParaRPr lang="en-US" sz="2200" dirty="0"/>
          </a:p>
        </p:txBody>
      </p:sp>
      <p:sp>
        <p:nvSpPr>
          <p:cNvPr id="20" name="Text 18"/>
          <p:cNvSpPr/>
          <p:nvPr/>
        </p:nvSpPr>
        <p:spPr>
          <a:xfrm>
            <a:off x="1397000" y="5067300"/>
            <a:ext cx="6350000" cy="698500"/>
          </a:xfrm>
          <a:prstGeom prst="rect">
            <a:avLst/>
          </a:prstGeom>
          <a:noFill/>
          <a:ln/>
        </p:spPr>
        <p:txBody>
          <a:bodyPr wrap="square" lIns="0" tIns="0" rIns="0" bIns="0" rtlCol="0" anchor="t"/>
          <a:lstStyle/>
          <a:p>
            <a:pPr algn="l">
              <a:lnSpc>
                <a:spcPct val="140000"/>
              </a:lnSpc>
            </a:pPr>
            <a:r>
              <a:rPr lang="en-US" sz="1200" b="1" dirty="0">
                <a:solidFill>
                  <a:srgbClr val="1A1A1A"/>
                </a:solidFill>
                <a:latin typeface="Quattrocento Sans" pitchFamily="34" charset="0"/>
                <a:ea typeface="Quattrocento Sans" pitchFamily="34" charset="-122"/>
                <a:cs typeface="Quattrocento Sans" pitchFamily="34" charset="-120"/>
              </a:rPr>
              <a:t>Clinical audit drives quality improvement.</a:t>
            </a:r>
            <a:pPr algn="l">
              <a:lnSpc>
                <a:spcPct val="140000"/>
              </a:lnSpc>
            </a:pPr>
            <a:r>
              <a:rPr lang="en-US" sz="1200" dirty="0">
                <a:solidFill>
                  <a:srgbClr val="1A1A1A"/>
                </a:solidFill>
                <a:latin typeface="Quattrocento Sans" pitchFamily="34" charset="0"/>
                <a:ea typeface="Quattrocento Sans" pitchFamily="34" charset="-122"/>
                <a:cs typeface="Quattrocento Sans" pitchFamily="34" charset="-120"/>
              </a:rPr>
              <a:t> The audit cycle — set standard, measure, compare, improve — transforms good intentions into consistent excellence.</a:t>
            </a:r>
            <a:endParaRPr lang="en-US" sz="1200" dirty="0"/>
          </a:p>
        </p:txBody>
      </p:sp>
      <p:sp>
        <p:nvSpPr>
          <p:cNvPr id="21" name="Shape 19"/>
          <p:cNvSpPr/>
          <p:nvPr/>
        </p:nvSpPr>
        <p:spPr>
          <a:xfrm>
            <a:off x="762000" y="5994400"/>
            <a:ext cx="7112000" cy="863600"/>
          </a:xfrm>
          <a:prstGeom prst="rect">
            <a:avLst/>
          </a:prstGeom>
          <a:solidFill>
            <a:srgbClr val="0E3B2E"/>
          </a:solidFill>
          <a:ln/>
        </p:spPr>
      </p:sp>
      <p:sp>
        <p:nvSpPr>
          <p:cNvPr id="22" name="Text 20"/>
          <p:cNvSpPr/>
          <p:nvPr/>
        </p:nvSpPr>
        <p:spPr>
          <a:xfrm>
            <a:off x="889000" y="6057900"/>
            <a:ext cx="457200" cy="457200"/>
          </a:xfrm>
          <a:prstGeom prst="rect">
            <a:avLst/>
          </a:prstGeom>
          <a:noFill/>
          <a:ln/>
        </p:spPr>
        <p:txBody>
          <a:bodyPr wrap="none" lIns="0" tIns="0" rIns="0" bIns="0" rtlCol="0" anchor="ctr"/>
          <a:lstStyle/>
          <a:p>
            <a:pPr algn="ctr">
              <a:lnSpc>
                <a:spcPct val="120000"/>
              </a:lnSpc>
            </a:pPr>
            <a:r>
              <a:rPr lang="en-US" sz="2200" dirty="0">
                <a:solidFill>
                  <a:srgbClr val="C7A25A"/>
                </a:solidFill>
                <a:latin typeface="Oranienbaum" pitchFamily="34" charset="0"/>
                <a:ea typeface="Oranienbaum" pitchFamily="34" charset="-122"/>
                <a:cs typeface="Oranienbaum" pitchFamily="34" charset="-120"/>
              </a:rPr>
              <a:t>5</a:t>
            </a:r>
            <a:endParaRPr lang="en-US" sz="2200" dirty="0"/>
          </a:p>
        </p:txBody>
      </p:sp>
      <p:sp>
        <p:nvSpPr>
          <p:cNvPr id="23" name="Text 21"/>
          <p:cNvSpPr/>
          <p:nvPr/>
        </p:nvSpPr>
        <p:spPr>
          <a:xfrm>
            <a:off x="1397000" y="6057900"/>
            <a:ext cx="6350000" cy="698500"/>
          </a:xfrm>
          <a:prstGeom prst="rect">
            <a:avLst/>
          </a:prstGeom>
          <a:noFill/>
          <a:ln/>
        </p:spPr>
        <p:txBody>
          <a:bodyPr wrap="square" lIns="0" tIns="0" rIns="0" bIns="0" rtlCol="0" anchor="t"/>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Tradition and science are partners, not opponents.</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The Sunnah guides our practice. Research validates and refines it. Both serve the patient.</a:t>
            </a:r>
            <a:endParaRPr lang="en-US" sz="1200" dirty="0"/>
          </a:p>
        </p:txBody>
      </p:sp>
      <p:sp>
        <p:nvSpPr>
          <p:cNvPr id="24" name="Shape 22"/>
          <p:cNvSpPr/>
          <p:nvPr/>
        </p:nvSpPr>
        <p:spPr>
          <a:xfrm>
            <a:off x="8255000" y="2032000"/>
            <a:ext cx="7239000" cy="4826000"/>
          </a:xfrm>
          <a:prstGeom prst="rect">
            <a:avLst/>
          </a:prstGeom>
          <a:solidFill>
            <a:srgbClr val="0E3B2E"/>
          </a:solidFill>
          <a:ln/>
        </p:spPr>
      </p:sp>
      <p:sp>
        <p:nvSpPr>
          <p:cNvPr id="25" name="Text 23"/>
          <p:cNvSpPr/>
          <p:nvPr/>
        </p:nvSpPr>
        <p:spPr>
          <a:xfrm>
            <a:off x="8572500" y="2222500"/>
            <a:ext cx="3810000" cy="254000"/>
          </a:xfrm>
          <a:prstGeom prst="rect">
            <a:avLst/>
          </a:prstGeom>
          <a:noFill/>
          <a:ln/>
        </p:spPr>
        <p:txBody>
          <a:bodyPr wrap="none" lIns="0" tIns="0" rIns="0" bIns="0" rtlCol="0" anchor="ctr"/>
          <a:lstStyle/>
          <a:p>
            <a:pPr algn="l">
              <a:lnSpc>
                <a:spcPct val="120000"/>
              </a:lnSpc>
            </a:pPr>
            <a:r>
              <a:rPr lang="en-US" sz="1100" spc="300" kern="0" dirty="0">
                <a:solidFill>
                  <a:srgbClr val="C7A25A"/>
                </a:solidFill>
                <a:latin typeface="Quattrocento Sans" pitchFamily="34" charset="0"/>
                <a:ea typeface="Quattrocento Sans" pitchFamily="34" charset="-122"/>
                <a:cs typeface="Quattrocento Sans" pitchFamily="34" charset="-120"/>
              </a:rPr>
              <a:t>LOOKING AHEAD: MODULE 16</a:t>
            </a:r>
            <a:endParaRPr lang="en-US" sz="1100" dirty="0"/>
          </a:p>
        </p:txBody>
      </p:sp>
      <p:sp>
        <p:nvSpPr>
          <p:cNvPr id="26" name="Shape 24"/>
          <p:cNvSpPr/>
          <p:nvPr/>
        </p:nvSpPr>
        <p:spPr>
          <a:xfrm>
            <a:off x="8572500" y="2540000"/>
            <a:ext cx="635000" cy="25400"/>
          </a:xfrm>
          <a:prstGeom prst="rect">
            <a:avLst/>
          </a:prstGeom>
          <a:solidFill>
            <a:srgbClr val="C7A25A"/>
          </a:solidFill>
          <a:ln/>
        </p:spPr>
      </p:sp>
      <p:sp>
        <p:nvSpPr>
          <p:cNvPr id="27" name="Text 25"/>
          <p:cNvSpPr/>
          <p:nvPr/>
        </p:nvSpPr>
        <p:spPr>
          <a:xfrm>
            <a:off x="8572500" y="2730500"/>
            <a:ext cx="6604000" cy="444500"/>
          </a:xfrm>
          <a:prstGeom prst="rect">
            <a:avLst/>
          </a:prstGeom>
          <a:noFill/>
          <a:ln/>
        </p:spPr>
        <p:txBody>
          <a:bodyPr wrap="none" lIns="0" tIns="0" rIns="0" bIns="0" rtlCol="0" anchor="ctr"/>
          <a:lstStyle/>
          <a:p>
            <a:pPr algn="l">
              <a:lnSpc>
                <a:spcPct val="120000"/>
              </a:lnSpc>
            </a:pPr>
            <a:r>
              <a:rPr lang="en-US" sz="2200" dirty="0">
                <a:solidFill>
                  <a:srgbClr val="F6F3EE"/>
                </a:solidFill>
                <a:latin typeface="Oranienbaum" pitchFamily="34" charset="0"/>
                <a:ea typeface="Oranienbaum" pitchFamily="34" charset="-122"/>
                <a:cs typeface="Oranienbaum" pitchFamily="34" charset="-120"/>
              </a:rPr>
              <a:t>Professional Development and Mentorship</a:t>
            </a:r>
            <a:endParaRPr lang="en-US" sz="2200" dirty="0"/>
          </a:p>
        </p:txBody>
      </p:sp>
      <p:sp>
        <p:nvSpPr>
          <p:cNvPr id="28" name="Text 26"/>
          <p:cNvSpPr/>
          <p:nvPr/>
        </p:nvSpPr>
        <p:spPr>
          <a:xfrm>
            <a:off x="8572500" y="3302000"/>
            <a:ext cx="6604000" cy="3365500"/>
          </a:xfrm>
          <a:prstGeom prst="rect">
            <a:avLst/>
          </a:prstGeom>
          <a:noFill/>
          <a:ln/>
        </p:spPr>
        <p:txBody>
          <a:bodyPr wrap="square" lIns="0" tIns="0" rIns="0" bIns="0" rtlCol="0" anchor="t"/>
          <a:lstStyle/>
          <a:p>
            <a:pPr algn="l">
              <a:lnSpc>
                <a:spcPct val="150000"/>
              </a:lnSpc>
            </a:pPr>
            <a:r>
              <a:rPr lang="en-US" sz="1200" dirty="0">
                <a:solidFill>
                  <a:srgbClr val="F6F3EE"/>
                </a:solidFill>
                <a:latin typeface="Quattrocento Sans" pitchFamily="34" charset="0"/>
                <a:ea typeface="Quattrocento Sans" pitchFamily="34" charset="-122"/>
                <a:cs typeface="Quattrocento Sans" pitchFamily="34" charset="-120"/>
              </a:rPr>
              <a:t>In Module 16, you will learn:</a:t>
            </a:r>
            <a:endParaRPr lang="en-US" sz="1200" dirty="0"/>
          </a:p>
          <a:p>
            <a:pPr algn="l">
              <a:lnSpc>
                <a:spcPct val="150000"/>
              </a:lnSpc>
              <a:spcBef>
                <a:spcPts val="600"/>
              </a:spcBef>
            </a:pPr>
            <a:r>
              <a:rPr lang="en-US" sz="1200" dirty="0">
                <a:solidFill>
                  <a:srgbClr val="F6F3EE"/>
                </a:solidFill>
                <a:latin typeface="Quattrocento Sans" pitchFamily="34" charset="0"/>
                <a:ea typeface="Quattrocento Sans" pitchFamily="34" charset="-122"/>
                <a:cs typeface="Quattrocento Sans" pitchFamily="34" charset="-120"/>
              </a:rPr>
              <a:t>• Continuing professional development planning</a:t>
            </a:r>
            <a:endParaRPr lang="en-US" sz="1200" dirty="0"/>
          </a:p>
          <a:p>
            <a:pPr algn="l">
              <a:lnSpc>
                <a:spcPct val="150000"/>
              </a:lnSpc>
            </a:pPr>
            <a:r>
              <a:rPr lang="en-US" sz="1200" dirty="0">
                <a:solidFill>
                  <a:srgbClr val="F6F3EE"/>
                </a:solidFill>
                <a:latin typeface="Quattrocento Sans" pitchFamily="34" charset="0"/>
                <a:ea typeface="Quattrocento Sans" pitchFamily="34" charset="-122"/>
                <a:cs typeface="Quattrocento Sans" pitchFamily="34" charset="-120"/>
              </a:rPr>
              <a:t>• Mentoring junior practitioners</a:t>
            </a:r>
            <a:endParaRPr lang="en-US" sz="1200" dirty="0"/>
          </a:p>
          <a:p>
            <a:pPr algn="l">
              <a:lnSpc>
                <a:spcPct val="150000"/>
              </a:lnSpc>
            </a:pPr>
            <a:r>
              <a:rPr lang="en-US" sz="1200" dirty="0">
                <a:solidFill>
                  <a:srgbClr val="F6F3EE"/>
                </a:solidFill>
                <a:latin typeface="Quattrocento Sans" pitchFamily="34" charset="0"/>
                <a:ea typeface="Quattrocento Sans" pitchFamily="34" charset="-122"/>
                <a:cs typeface="Quattrocento Sans" pitchFamily="34" charset="-120"/>
              </a:rPr>
              <a:t>• Teaching Hijama effectively</a:t>
            </a:r>
            <a:endParaRPr lang="en-US" sz="1200" dirty="0"/>
          </a:p>
          <a:p>
            <a:pPr algn="l">
              <a:lnSpc>
                <a:spcPct val="150000"/>
              </a:lnSpc>
            </a:pPr>
            <a:r>
              <a:rPr lang="en-US" sz="1200" dirty="0">
                <a:solidFill>
                  <a:srgbClr val="F6F3EE"/>
                </a:solidFill>
                <a:latin typeface="Quattrocento Sans" pitchFamily="34" charset="0"/>
                <a:ea typeface="Quattrocento Sans" pitchFamily="34" charset="-122"/>
                <a:cs typeface="Quattrocento Sans" pitchFamily="34" charset="-120"/>
              </a:rPr>
              <a:t>• Building professional networks</a:t>
            </a:r>
            <a:endParaRPr lang="en-US" sz="1200" dirty="0"/>
          </a:p>
          <a:p>
            <a:pPr algn="l">
              <a:lnSpc>
                <a:spcPct val="150000"/>
              </a:lnSpc>
            </a:pPr>
            <a:r>
              <a:rPr lang="en-US" sz="1200" dirty="0">
                <a:solidFill>
                  <a:srgbClr val="F6F3EE"/>
                </a:solidFill>
                <a:latin typeface="Quattrocento Sans" pitchFamily="34" charset="0"/>
                <a:ea typeface="Quattrocento Sans" pitchFamily="34" charset="-122"/>
                <a:cs typeface="Quattrocento Sans" pitchFamily="34" charset="-120"/>
              </a:rPr>
              <a:t>• Career pathways in Hijama</a:t>
            </a:r>
            <a:endParaRPr lang="en-US" sz="1200" dirty="0"/>
          </a:p>
          <a:p>
            <a:pPr algn="l">
              <a:lnSpc>
                <a:spcPct val="150000"/>
              </a:lnSpc>
              <a:spcBef>
                <a:spcPts val="1000"/>
              </a:spcBef>
            </a:pPr>
            <a:r>
              <a:rPr lang="en-US" sz="1200" dirty="0">
                <a:solidFill>
                  <a:srgbClr val="F6F3EE"/>
                </a:solidFill>
                <a:latin typeface="Quattrocento Sans" pitchFamily="34" charset="0"/>
                <a:ea typeface="Quattrocento Sans" pitchFamily="34" charset="-122"/>
                <a:cs typeface="Quattrocento Sans" pitchFamily="34" charset="-120"/>
              </a:rPr>
              <a:t>Module 16 prepares you not just to practise, but to lead — mentoring others and advancing the profession.</a:t>
            </a:r>
            <a:endParaRPr lang="en-US" sz="1200" dirty="0"/>
          </a:p>
        </p:txBody>
      </p:sp>
      <p:sp>
        <p:nvSpPr>
          <p:cNvPr id="29" name="Text 27"/>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11</a:t>
            </a:r>
            <a:endParaRPr lang="en-US" sz="11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3B2E"/>
        </a:solidFill>
      </p:bgPr>
    </p:bg>
    <p:spTree>
      <p:nvGrpSpPr>
        <p:cNvPr id="1" name=""/>
        <p:cNvGrpSpPr/>
        <p:nvPr/>
      </p:nvGrpSpPr>
      <p:grpSpPr>
        <a:xfrm>
          <a:off x="0" y="0"/>
          <a:ext cx="0" cy="0"/>
          <a:chOff x="0" y="0"/>
          <a:chExt cx="0" cy="0"/>
        </a:xfrm>
      </p:grpSpPr>
      <p:sp>
        <p:nvSpPr>
          <p:cNvPr id="2" name="Shape 0"/>
          <p:cNvSpPr/>
          <p:nvPr/>
        </p:nvSpPr>
        <p:spPr>
          <a:xfrm>
            <a:off x="6858000" y="2540000"/>
            <a:ext cx="2540000" cy="12700"/>
          </a:xfrm>
          <a:prstGeom prst="rect">
            <a:avLst/>
          </a:prstGeom>
          <a:solidFill>
            <a:srgbClr val="C7A25A"/>
          </a:solidFill>
          <a:ln/>
        </p:spPr>
      </p:sp>
      <p:sp>
        <p:nvSpPr>
          <p:cNvPr id="3" name="Text 1"/>
          <p:cNvSpPr/>
          <p:nvPr/>
        </p:nvSpPr>
        <p:spPr>
          <a:xfrm>
            <a:off x="2413000" y="2794000"/>
            <a:ext cx="11430000" cy="1841500"/>
          </a:xfrm>
          <a:prstGeom prst="rect">
            <a:avLst/>
          </a:prstGeom>
          <a:noFill/>
          <a:ln/>
        </p:spPr>
        <p:txBody>
          <a:bodyPr wrap="square" lIns="0" tIns="0" rIns="0" bIns="0" rtlCol="0" anchor="ctr"/>
          <a:lstStyle/>
          <a:p>
            <a:pPr algn="ctr">
              <a:lnSpc>
                <a:spcPct val="150000"/>
              </a:lnSpc>
            </a:pPr>
            <a:r>
              <a:rPr lang="en-US" sz="2200" i="1" dirty="0">
                <a:solidFill>
                  <a:srgbClr val="F6F3EE"/>
                </a:solidFill>
                <a:latin typeface="Oranienbaum" pitchFamily="34" charset="0"/>
                <a:ea typeface="Oranienbaum" pitchFamily="34" charset="-122"/>
                <a:cs typeface="Oranienbaum" pitchFamily="34" charset="-120"/>
              </a:rPr>
              <a:t>"The ink of the scholar is more beloved to Allah than the blood of the martyr."</a:t>
            </a:r>
            <a:endParaRPr lang="en-US" sz="2200" dirty="0"/>
          </a:p>
          <a:p>
            <a:pPr algn="ctr">
              <a:lnSpc>
                <a:spcPct val="150000"/>
              </a:lnSpc>
              <a:spcBef>
                <a:spcPts val="1000"/>
              </a:spcBef>
            </a:pPr>
            <a:r>
              <a:rPr lang="en-US" sz="1600" dirty="0">
                <a:solidFill>
                  <a:srgbClr val="C7A25A"/>
                </a:solidFill>
                <a:latin typeface="Quattrocento Sans" pitchFamily="34" charset="0"/>
                <a:ea typeface="Quattrocento Sans" pitchFamily="34" charset="-122"/>
                <a:cs typeface="Quattrocento Sans" pitchFamily="34" charset="-120"/>
              </a:rPr>
              <a:t>— Hadith</a:t>
            </a:r>
            <a:endParaRPr lang="en-US" sz="2200" dirty="0"/>
          </a:p>
        </p:txBody>
      </p:sp>
      <p:sp>
        <p:nvSpPr>
          <p:cNvPr id="4" name="Shape 2"/>
          <p:cNvSpPr/>
          <p:nvPr/>
        </p:nvSpPr>
        <p:spPr>
          <a:xfrm>
            <a:off x="6858000" y="5016500"/>
            <a:ext cx="2540000" cy="12700"/>
          </a:xfrm>
          <a:prstGeom prst="rect">
            <a:avLst/>
          </a:prstGeom>
          <a:solidFill>
            <a:srgbClr val="C7A25A"/>
          </a:solidFill>
          <a:ln/>
        </p:spPr>
      </p:sp>
      <p:sp>
        <p:nvSpPr>
          <p:cNvPr id="5" name="Text 3"/>
          <p:cNvSpPr/>
          <p:nvPr/>
        </p:nvSpPr>
        <p:spPr>
          <a:xfrm>
            <a:off x="3048000" y="5270500"/>
            <a:ext cx="10160000" cy="1016000"/>
          </a:xfrm>
          <a:prstGeom prst="rect">
            <a:avLst/>
          </a:prstGeom>
          <a:noFill/>
          <a:ln/>
        </p:spPr>
        <p:txBody>
          <a:bodyPr wrap="square" lIns="0" tIns="0" rIns="0" bIns="0" rtlCol="0" anchor="ctr"/>
          <a:lstStyle/>
          <a:p>
            <a:pPr algn="ctr">
              <a:lnSpc>
                <a:spcPct val="150000"/>
              </a:lnSpc>
            </a:pPr>
            <a:r>
              <a:rPr lang="en-US" sz="1400" dirty="0">
                <a:solidFill>
                  <a:srgbClr val="F6F3EE"/>
                </a:solidFill>
                <a:latin typeface="Quattrocento Sans" pitchFamily="34" charset="0"/>
                <a:ea typeface="Quattrocento Sans" pitchFamily="34" charset="-122"/>
                <a:cs typeface="Quattrocento Sans" pitchFamily="34" charset="-120"/>
              </a:rPr>
              <a:t>When you document a case, conduct an audit, or publish findings, you are performing ibadah. You are preserving the legacy of Hijama for future generations. The pen in your hand carries the weight of tradition and the promise of progress. Write with integrity. Research with humility. Practise with excellence.</a:t>
            </a:r>
            <a:endParaRPr lang="en-US" sz="1400" dirty="0"/>
          </a:p>
        </p:txBody>
      </p:sp>
      <p:sp>
        <p:nvSpPr>
          <p:cNvPr id="6" name="Text 4"/>
          <p:cNvSpPr/>
          <p:nvPr/>
        </p:nvSpPr>
        <p:spPr>
          <a:xfrm>
            <a:off x="4318000" y="6858000"/>
            <a:ext cx="7620000" cy="381000"/>
          </a:xfrm>
          <a:prstGeom prst="rect">
            <a:avLst/>
          </a:prstGeom>
          <a:noFill/>
          <a:ln/>
        </p:spPr>
        <p:txBody>
          <a:bodyPr wrap="none" lIns="0" tIns="0" rIns="0" bIns="0" rtlCol="0" anchor="ctr"/>
          <a:lstStyle/>
          <a:p>
            <a:pPr algn="ctr">
              <a:lnSpc>
                <a:spcPct val="120000"/>
              </a:lnSpc>
            </a:pPr>
            <a:r>
              <a:rPr lang="en-US" sz="1400" spc="400" kern="0" dirty="0">
                <a:solidFill>
                  <a:srgbClr val="C7A25A"/>
                </a:solidFill>
                <a:latin typeface="Quattrocento Sans" pitchFamily="34" charset="0"/>
                <a:ea typeface="Quattrocento Sans" pitchFamily="34" charset="-122"/>
                <a:cs typeface="Quattrocento Sans" pitchFamily="34" charset="-120"/>
              </a:rPr>
              <a:t>MODULE 15 COMPLETE</a:t>
            </a:r>
            <a:endParaRPr lang="en-US" sz="1400" dirty="0"/>
          </a:p>
        </p:txBody>
      </p:sp>
      <p:sp>
        <p:nvSpPr>
          <p:cNvPr id="7" name="Text 5"/>
          <p:cNvSpPr/>
          <p:nvPr/>
        </p:nvSpPr>
        <p:spPr>
          <a:xfrm>
            <a:off x="3048000" y="7366000"/>
            <a:ext cx="10160000" cy="508000"/>
          </a:xfrm>
          <a:prstGeom prst="rect">
            <a:avLst/>
          </a:prstGeom>
          <a:noFill/>
          <a:ln/>
        </p:spPr>
        <p:txBody>
          <a:bodyPr wrap="none" lIns="0" tIns="0" rIns="0" bIns="0" rtlCol="0" anchor="ctr"/>
          <a:lstStyle/>
          <a:p>
            <a:pPr algn="ctr">
              <a:lnSpc>
                <a:spcPct val="120000"/>
              </a:lnSpc>
            </a:pPr>
            <a:r>
              <a:rPr lang="en-US" sz="2800" dirty="0">
                <a:solidFill>
                  <a:srgbClr val="F6F3EE"/>
                </a:solidFill>
                <a:latin typeface="Oranienbaum" pitchFamily="34" charset="0"/>
                <a:ea typeface="Oranienbaum" pitchFamily="34" charset="-122"/>
                <a:cs typeface="Oranienbaum" pitchFamily="34" charset="-120"/>
              </a:rPr>
              <a:t>Research and Evidence-Based Practice</a:t>
            </a:r>
            <a:endParaRPr lang="en-US" sz="2800" dirty="0"/>
          </a:p>
        </p:txBody>
      </p:sp>
      <p:sp>
        <p:nvSpPr>
          <p:cNvPr id="8" name="Text 6"/>
          <p:cNvSpPr/>
          <p:nvPr/>
        </p:nvSpPr>
        <p:spPr>
          <a:xfrm>
            <a:off x="4318000" y="8128000"/>
            <a:ext cx="7620000" cy="304800"/>
          </a:xfrm>
          <a:prstGeom prst="rect">
            <a:avLst/>
          </a:prstGeom>
          <a:noFill/>
          <a:ln/>
        </p:spPr>
        <p:txBody>
          <a:bodyPr wrap="none" lIns="0" tIns="0" rIns="0" bIns="0" rtlCol="0" anchor="ctr"/>
          <a:lstStyle/>
          <a:p>
            <a:pPr algn="ctr">
              <a:lnSpc>
                <a:spcPct val="120000"/>
              </a:lnSpc>
            </a:pPr>
            <a:r>
              <a:rPr lang="en-US" sz="1200" spc="400" kern="0" dirty="0">
                <a:solidFill>
                  <a:srgbClr val="F6F3EE"/>
                </a:solidFill>
                <a:latin typeface="Quattrocento Sans" pitchFamily="34" charset="0"/>
                <a:ea typeface="Quattrocento Sans" pitchFamily="34" charset="-122"/>
                <a:cs typeface="Quattrocento Sans" pitchFamily="34" charset="-120"/>
              </a:rPr>
              <a:t>SUNNAH REMEDIES  ·  INSTITUTE OF PROPHETIC MEDICINE</a:t>
            </a:r>
            <a:endParaRPr lang="en-US" sz="1200" dirty="0"/>
          </a:p>
        </p:txBody>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SRA-001 | Module 15: Research and Evidence-Based Practice</dc:title>
  <dc:subject>SRA-001 | Module 15: Research and Evidence-Based Practice</dc:subject>
  <dc:creator>Kimi</dc:creator>
  <cp:lastModifiedBy>Kimi</cp:lastModifiedBy>
  <cp:revision>1</cp:revision>
  <dcterms:created xsi:type="dcterms:W3CDTF">2026-07-06T09:18:19Z</dcterms:created>
  <dcterms:modified xsi:type="dcterms:W3CDTF">2026-07-06T09:18:19Z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{"Label":"SRA-001 | Module 15: Research and Evidence-Based Practice","ContentProducer":"001191110108MACG2KBH8F10000","ProduceID":"19f35c3a-b6c2-84c9-8000-00006ce35152","ReservedCode1":"","ContentPropagator":"001191110108MACG2KBH8F20000","PropagateID":"19f34489-a1f2-82b2-8000-09219025796f","ReservedCode2":""}</vt:lpwstr>
  </property>
</Properties>
</file>